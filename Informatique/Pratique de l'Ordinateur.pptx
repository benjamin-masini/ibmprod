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5"/>
  </p:notesMasterIdLst>
  <p:sldIdLst>
    <p:sldId id="297" r:id="rId2"/>
    <p:sldId id="299" r:id="rId3"/>
    <p:sldId id="300" r:id="rId4"/>
    <p:sldId id="301" r:id="rId5"/>
    <p:sldId id="302" r:id="rId6"/>
    <p:sldId id="303" r:id="rId7"/>
    <p:sldId id="304" r:id="rId8"/>
    <p:sldId id="305" r:id="rId9"/>
    <p:sldId id="306" r:id="rId10"/>
    <p:sldId id="307" r:id="rId11"/>
    <p:sldId id="308" r:id="rId12"/>
    <p:sldId id="309" r:id="rId13"/>
    <p:sldId id="310" r:id="rId14"/>
    <p:sldId id="311" r:id="rId15"/>
    <p:sldId id="312" r:id="rId16"/>
    <p:sldId id="313" r:id="rId17"/>
    <p:sldId id="314" r:id="rId18"/>
    <p:sldId id="315" r:id="rId19"/>
    <p:sldId id="316" r:id="rId20"/>
    <p:sldId id="317" r:id="rId21"/>
    <p:sldId id="318" r:id="rId22"/>
    <p:sldId id="319" r:id="rId23"/>
    <p:sldId id="320" r:id="rId24"/>
    <p:sldId id="321" r:id="rId25"/>
    <p:sldId id="322" r:id="rId26"/>
    <p:sldId id="323" r:id="rId27"/>
    <p:sldId id="324" r:id="rId28"/>
    <p:sldId id="325" r:id="rId29"/>
    <p:sldId id="326" r:id="rId30"/>
    <p:sldId id="327" r:id="rId31"/>
    <p:sldId id="328" r:id="rId32"/>
    <p:sldId id="329" r:id="rId33"/>
    <p:sldId id="330" r:id="rId34"/>
    <p:sldId id="331" r:id="rId35"/>
    <p:sldId id="332" r:id="rId36"/>
    <p:sldId id="333" r:id="rId37"/>
    <p:sldId id="334" r:id="rId38"/>
    <p:sldId id="335" r:id="rId39"/>
    <p:sldId id="336" r:id="rId40"/>
    <p:sldId id="337" r:id="rId41"/>
    <p:sldId id="338" r:id="rId42"/>
    <p:sldId id="339" r:id="rId43"/>
    <p:sldId id="340" r:id="rId44"/>
    <p:sldId id="341" r:id="rId45"/>
    <p:sldId id="342" r:id="rId46"/>
    <p:sldId id="343" r:id="rId47"/>
    <p:sldId id="344" r:id="rId48"/>
    <p:sldId id="345" r:id="rId49"/>
    <p:sldId id="346" r:id="rId50"/>
    <p:sldId id="347" r:id="rId51"/>
    <p:sldId id="348" r:id="rId52"/>
    <p:sldId id="349" r:id="rId53"/>
    <p:sldId id="350" r:id="rId54"/>
    <p:sldId id="351" r:id="rId55"/>
    <p:sldId id="352" r:id="rId56"/>
    <p:sldId id="353" r:id="rId57"/>
    <p:sldId id="354" r:id="rId58"/>
    <p:sldId id="355" r:id="rId59"/>
    <p:sldId id="356" r:id="rId60"/>
    <p:sldId id="357" r:id="rId61"/>
    <p:sldId id="358" r:id="rId62"/>
    <p:sldId id="359" r:id="rId63"/>
    <p:sldId id="360" r:id="rId64"/>
    <p:sldId id="361" r:id="rId65"/>
    <p:sldId id="362" r:id="rId66"/>
    <p:sldId id="363" r:id="rId67"/>
    <p:sldId id="364" r:id="rId68"/>
    <p:sldId id="365" r:id="rId69"/>
    <p:sldId id="366" r:id="rId70"/>
    <p:sldId id="367" r:id="rId71"/>
    <p:sldId id="368" r:id="rId72"/>
    <p:sldId id="369" r:id="rId73"/>
    <p:sldId id="370" r:id="rId74"/>
    <p:sldId id="371" r:id="rId75"/>
    <p:sldId id="372" r:id="rId76"/>
    <p:sldId id="373" r:id="rId77"/>
    <p:sldId id="374" r:id="rId78"/>
    <p:sldId id="375" r:id="rId79"/>
    <p:sldId id="376" r:id="rId80"/>
    <p:sldId id="377" r:id="rId81"/>
    <p:sldId id="378" r:id="rId82"/>
    <p:sldId id="379" r:id="rId83"/>
    <p:sldId id="380" r:id="rId84"/>
    <p:sldId id="381" r:id="rId85"/>
    <p:sldId id="257" r:id="rId86"/>
    <p:sldId id="259" r:id="rId87"/>
    <p:sldId id="260" r:id="rId88"/>
    <p:sldId id="261" r:id="rId89"/>
    <p:sldId id="262" r:id="rId90"/>
    <p:sldId id="263" r:id="rId91"/>
    <p:sldId id="264" r:id="rId92"/>
    <p:sldId id="265" r:id="rId93"/>
    <p:sldId id="266" r:id="rId94"/>
    <p:sldId id="267" r:id="rId95"/>
    <p:sldId id="268" r:id="rId96"/>
    <p:sldId id="269" r:id="rId97"/>
    <p:sldId id="270" r:id="rId98"/>
    <p:sldId id="271" r:id="rId99"/>
    <p:sldId id="272" r:id="rId100"/>
    <p:sldId id="273" r:id="rId101"/>
    <p:sldId id="274" r:id="rId102"/>
    <p:sldId id="275" r:id="rId103"/>
    <p:sldId id="276" r:id="rId104"/>
    <p:sldId id="277" r:id="rId105"/>
    <p:sldId id="278" r:id="rId106"/>
    <p:sldId id="279" r:id="rId107"/>
    <p:sldId id="280" r:id="rId108"/>
    <p:sldId id="281" r:id="rId109"/>
    <p:sldId id="282" r:id="rId110"/>
    <p:sldId id="283" r:id="rId111"/>
    <p:sldId id="284" r:id="rId112"/>
    <p:sldId id="285" r:id="rId113"/>
    <p:sldId id="286" r:id="rId114"/>
    <p:sldId id="287" r:id="rId115"/>
    <p:sldId id="288" r:id="rId116"/>
    <p:sldId id="289" r:id="rId117"/>
    <p:sldId id="290" r:id="rId118"/>
    <p:sldId id="291" r:id="rId119"/>
    <p:sldId id="292" r:id="rId120"/>
    <p:sldId id="293" r:id="rId121"/>
    <p:sldId id="294" r:id="rId122"/>
    <p:sldId id="295" r:id="rId123"/>
    <p:sldId id="296" r:id="rId1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png"/></Relationships>
</file>

<file path=ppt/drawings/_rels/vmlDrawing3.v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image" Target="../media/image5.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A8D905-BF1E-4681-ABB5-844519B871F4}" type="datetimeFigureOut">
              <a:rPr lang="en-US" smtClean="0"/>
              <a:t>5/22/2022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842625-064B-4876-B990-94F3E12F5DDA}" type="slidenum">
              <a:rPr lang="en-US" smtClean="0"/>
              <a:t>‹#›</a:t>
            </a:fld>
            <a:endParaRPr lang="en-US"/>
          </a:p>
        </p:txBody>
      </p:sp>
    </p:spTree>
    <p:extLst>
      <p:ext uri="{BB962C8B-B14F-4D97-AF65-F5344CB8AC3E}">
        <p14:creationId xmlns:p14="http://schemas.microsoft.com/office/powerpoint/2010/main" val="38712125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40</a:t>
            </a:fld>
            <a:endParaRPr lang="fr-FR"/>
          </a:p>
        </p:txBody>
      </p:sp>
    </p:spTree>
    <p:extLst>
      <p:ext uri="{BB962C8B-B14F-4D97-AF65-F5344CB8AC3E}">
        <p14:creationId xmlns:p14="http://schemas.microsoft.com/office/powerpoint/2010/main" val="4631223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41</a:t>
            </a:fld>
            <a:endParaRPr lang="fr-FR"/>
          </a:p>
        </p:txBody>
      </p:sp>
    </p:spTree>
    <p:extLst>
      <p:ext uri="{BB962C8B-B14F-4D97-AF65-F5344CB8AC3E}">
        <p14:creationId xmlns:p14="http://schemas.microsoft.com/office/powerpoint/2010/main" val="39434273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42</a:t>
            </a:fld>
            <a:endParaRPr lang="fr-FR"/>
          </a:p>
        </p:txBody>
      </p:sp>
    </p:spTree>
    <p:extLst>
      <p:ext uri="{BB962C8B-B14F-4D97-AF65-F5344CB8AC3E}">
        <p14:creationId xmlns:p14="http://schemas.microsoft.com/office/powerpoint/2010/main" val="35934158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43</a:t>
            </a:fld>
            <a:endParaRPr lang="fr-FR"/>
          </a:p>
        </p:txBody>
      </p:sp>
    </p:spTree>
    <p:extLst>
      <p:ext uri="{BB962C8B-B14F-4D97-AF65-F5344CB8AC3E}">
        <p14:creationId xmlns:p14="http://schemas.microsoft.com/office/powerpoint/2010/main" val="31916849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44</a:t>
            </a:fld>
            <a:endParaRPr lang="fr-FR"/>
          </a:p>
        </p:txBody>
      </p:sp>
    </p:spTree>
    <p:extLst>
      <p:ext uri="{BB962C8B-B14F-4D97-AF65-F5344CB8AC3E}">
        <p14:creationId xmlns:p14="http://schemas.microsoft.com/office/powerpoint/2010/main" val="23915678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45</a:t>
            </a:fld>
            <a:endParaRPr lang="fr-FR"/>
          </a:p>
        </p:txBody>
      </p:sp>
    </p:spTree>
    <p:extLst>
      <p:ext uri="{BB962C8B-B14F-4D97-AF65-F5344CB8AC3E}">
        <p14:creationId xmlns:p14="http://schemas.microsoft.com/office/powerpoint/2010/main" val="1481635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46</a:t>
            </a:fld>
            <a:endParaRPr lang="fr-FR"/>
          </a:p>
        </p:txBody>
      </p:sp>
    </p:spTree>
    <p:extLst>
      <p:ext uri="{BB962C8B-B14F-4D97-AF65-F5344CB8AC3E}">
        <p14:creationId xmlns:p14="http://schemas.microsoft.com/office/powerpoint/2010/main" val="1271942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47</a:t>
            </a:fld>
            <a:endParaRPr lang="fr-FR"/>
          </a:p>
        </p:txBody>
      </p:sp>
    </p:spTree>
    <p:extLst>
      <p:ext uri="{BB962C8B-B14F-4D97-AF65-F5344CB8AC3E}">
        <p14:creationId xmlns:p14="http://schemas.microsoft.com/office/powerpoint/2010/main" val="29997827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48</a:t>
            </a:fld>
            <a:endParaRPr lang="fr-FR"/>
          </a:p>
        </p:txBody>
      </p:sp>
    </p:spTree>
    <p:extLst>
      <p:ext uri="{BB962C8B-B14F-4D97-AF65-F5344CB8AC3E}">
        <p14:creationId xmlns:p14="http://schemas.microsoft.com/office/powerpoint/2010/main" val="6964935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49</a:t>
            </a:fld>
            <a:endParaRPr lang="fr-FR"/>
          </a:p>
        </p:txBody>
      </p:sp>
    </p:spTree>
    <p:extLst>
      <p:ext uri="{BB962C8B-B14F-4D97-AF65-F5344CB8AC3E}">
        <p14:creationId xmlns:p14="http://schemas.microsoft.com/office/powerpoint/2010/main" val="13573068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50</a:t>
            </a:fld>
            <a:endParaRPr lang="fr-FR"/>
          </a:p>
        </p:txBody>
      </p:sp>
    </p:spTree>
    <p:extLst>
      <p:ext uri="{BB962C8B-B14F-4D97-AF65-F5344CB8AC3E}">
        <p14:creationId xmlns:p14="http://schemas.microsoft.com/office/powerpoint/2010/main" val="37248767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51</a:t>
            </a:fld>
            <a:endParaRPr lang="fr-FR"/>
          </a:p>
        </p:txBody>
      </p:sp>
    </p:spTree>
    <p:extLst>
      <p:ext uri="{BB962C8B-B14F-4D97-AF65-F5344CB8AC3E}">
        <p14:creationId xmlns:p14="http://schemas.microsoft.com/office/powerpoint/2010/main" val="29677855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52</a:t>
            </a:fld>
            <a:endParaRPr lang="fr-FR"/>
          </a:p>
        </p:txBody>
      </p:sp>
    </p:spTree>
    <p:extLst>
      <p:ext uri="{BB962C8B-B14F-4D97-AF65-F5344CB8AC3E}">
        <p14:creationId xmlns:p14="http://schemas.microsoft.com/office/powerpoint/2010/main" val="39551143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53</a:t>
            </a:fld>
            <a:endParaRPr lang="fr-FR"/>
          </a:p>
        </p:txBody>
      </p:sp>
    </p:spTree>
    <p:extLst>
      <p:ext uri="{BB962C8B-B14F-4D97-AF65-F5344CB8AC3E}">
        <p14:creationId xmlns:p14="http://schemas.microsoft.com/office/powerpoint/2010/main" val="33831913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54</a:t>
            </a:fld>
            <a:endParaRPr lang="fr-FR"/>
          </a:p>
        </p:txBody>
      </p:sp>
    </p:spTree>
    <p:extLst>
      <p:ext uri="{BB962C8B-B14F-4D97-AF65-F5344CB8AC3E}">
        <p14:creationId xmlns:p14="http://schemas.microsoft.com/office/powerpoint/2010/main" val="37411103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55</a:t>
            </a:fld>
            <a:endParaRPr lang="fr-FR"/>
          </a:p>
        </p:txBody>
      </p:sp>
    </p:spTree>
    <p:extLst>
      <p:ext uri="{BB962C8B-B14F-4D97-AF65-F5344CB8AC3E}">
        <p14:creationId xmlns:p14="http://schemas.microsoft.com/office/powerpoint/2010/main" val="21291062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56</a:t>
            </a:fld>
            <a:endParaRPr lang="fr-FR"/>
          </a:p>
        </p:txBody>
      </p:sp>
    </p:spTree>
    <p:extLst>
      <p:ext uri="{BB962C8B-B14F-4D97-AF65-F5344CB8AC3E}">
        <p14:creationId xmlns:p14="http://schemas.microsoft.com/office/powerpoint/2010/main" val="37803990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57</a:t>
            </a:fld>
            <a:endParaRPr lang="fr-FR"/>
          </a:p>
        </p:txBody>
      </p:sp>
    </p:spTree>
    <p:extLst>
      <p:ext uri="{BB962C8B-B14F-4D97-AF65-F5344CB8AC3E}">
        <p14:creationId xmlns:p14="http://schemas.microsoft.com/office/powerpoint/2010/main" val="2290800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58</a:t>
            </a:fld>
            <a:endParaRPr lang="fr-FR"/>
          </a:p>
        </p:txBody>
      </p:sp>
    </p:spTree>
    <p:extLst>
      <p:ext uri="{BB962C8B-B14F-4D97-AF65-F5344CB8AC3E}">
        <p14:creationId xmlns:p14="http://schemas.microsoft.com/office/powerpoint/2010/main" val="16609090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59</a:t>
            </a:fld>
            <a:endParaRPr lang="fr-FR"/>
          </a:p>
        </p:txBody>
      </p:sp>
    </p:spTree>
    <p:extLst>
      <p:ext uri="{BB962C8B-B14F-4D97-AF65-F5344CB8AC3E}">
        <p14:creationId xmlns:p14="http://schemas.microsoft.com/office/powerpoint/2010/main" val="456464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60</a:t>
            </a:fld>
            <a:endParaRPr lang="fr-FR"/>
          </a:p>
        </p:txBody>
      </p:sp>
    </p:spTree>
    <p:extLst>
      <p:ext uri="{BB962C8B-B14F-4D97-AF65-F5344CB8AC3E}">
        <p14:creationId xmlns:p14="http://schemas.microsoft.com/office/powerpoint/2010/main" val="15753612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61</a:t>
            </a:fld>
            <a:endParaRPr lang="fr-FR"/>
          </a:p>
        </p:txBody>
      </p:sp>
    </p:spTree>
    <p:extLst>
      <p:ext uri="{BB962C8B-B14F-4D97-AF65-F5344CB8AC3E}">
        <p14:creationId xmlns:p14="http://schemas.microsoft.com/office/powerpoint/2010/main" val="14123724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62</a:t>
            </a:fld>
            <a:endParaRPr lang="fr-FR"/>
          </a:p>
        </p:txBody>
      </p:sp>
    </p:spTree>
    <p:extLst>
      <p:ext uri="{BB962C8B-B14F-4D97-AF65-F5344CB8AC3E}">
        <p14:creationId xmlns:p14="http://schemas.microsoft.com/office/powerpoint/2010/main" val="15425370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63</a:t>
            </a:fld>
            <a:endParaRPr lang="fr-FR"/>
          </a:p>
        </p:txBody>
      </p:sp>
    </p:spTree>
    <p:extLst>
      <p:ext uri="{BB962C8B-B14F-4D97-AF65-F5344CB8AC3E}">
        <p14:creationId xmlns:p14="http://schemas.microsoft.com/office/powerpoint/2010/main" val="15057945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64</a:t>
            </a:fld>
            <a:endParaRPr lang="fr-FR"/>
          </a:p>
        </p:txBody>
      </p:sp>
    </p:spTree>
    <p:extLst>
      <p:ext uri="{BB962C8B-B14F-4D97-AF65-F5344CB8AC3E}">
        <p14:creationId xmlns:p14="http://schemas.microsoft.com/office/powerpoint/2010/main" val="17606509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65</a:t>
            </a:fld>
            <a:endParaRPr lang="fr-FR"/>
          </a:p>
        </p:txBody>
      </p:sp>
    </p:spTree>
    <p:extLst>
      <p:ext uri="{BB962C8B-B14F-4D97-AF65-F5344CB8AC3E}">
        <p14:creationId xmlns:p14="http://schemas.microsoft.com/office/powerpoint/2010/main" val="14235206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66</a:t>
            </a:fld>
            <a:endParaRPr lang="fr-FR"/>
          </a:p>
        </p:txBody>
      </p:sp>
    </p:spTree>
    <p:extLst>
      <p:ext uri="{BB962C8B-B14F-4D97-AF65-F5344CB8AC3E}">
        <p14:creationId xmlns:p14="http://schemas.microsoft.com/office/powerpoint/2010/main" val="4490928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67</a:t>
            </a:fld>
            <a:endParaRPr lang="fr-FR"/>
          </a:p>
        </p:txBody>
      </p:sp>
    </p:spTree>
    <p:extLst>
      <p:ext uri="{BB962C8B-B14F-4D97-AF65-F5344CB8AC3E}">
        <p14:creationId xmlns:p14="http://schemas.microsoft.com/office/powerpoint/2010/main" val="12486818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68</a:t>
            </a:fld>
            <a:endParaRPr lang="fr-FR"/>
          </a:p>
        </p:txBody>
      </p:sp>
    </p:spTree>
    <p:extLst>
      <p:ext uri="{BB962C8B-B14F-4D97-AF65-F5344CB8AC3E}">
        <p14:creationId xmlns:p14="http://schemas.microsoft.com/office/powerpoint/2010/main" val="42565196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69</a:t>
            </a:fld>
            <a:endParaRPr lang="fr-FR"/>
          </a:p>
        </p:txBody>
      </p:sp>
    </p:spTree>
    <p:extLst>
      <p:ext uri="{BB962C8B-B14F-4D97-AF65-F5344CB8AC3E}">
        <p14:creationId xmlns:p14="http://schemas.microsoft.com/office/powerpoint/2010/main" val="4539992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70</a:t>
            </a:fld>
            <a:endParaRPr lang="fr-FR"/>
          </a:p>
        </p:txBody>
      </p:sp>
    </p:spTree>
    <p:extLst>
      <p:ext uri="{BB962C8B-B14F-4D97-AF65-F5344CB8AC3E}">
        <p14:creationId xmlns:p14="http://schemas.microsoft.com/office/powerpoint/2010/main" val="41252799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71</a:t>
            </a:fld>
            <a:endParaRPr lang="fr-FR"/>
          </a:p>
        </p:txBody>
      </p:sp>
    </p:spTree>
    <p:extLst>
      <p:ext uri="{BB962C8B-B14F-4D97-AF65-F5344CB8AC3E}">
        <p14:creationId xmlns:p14="http://schemas.microsoft.com/office/powerpoint/2010/main" val="22737653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72</a:t>
            </a:fld>
            <a:endParaRPr lang="fr-FR"/>
          </a:p>
        </p:txBody>
      </p:sp>
    </p:spTree>
    <p:extLst>
      <p:ext uri="{BB962C8B-B14F-4D97-AF65-F5344CB8AC3E}">
        <p14:creationId xmlns:p14="http://schemas.microsoft.com/office/powerpoint/2010/main" val="345734325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73</a:t>
            </a:fld>
            <a:endParaRPr lang="fr-FR"/>
          </a:p>
        </p:txBody>
      </p:sp>
    </p:spTree>
    <p:extLst>
      <p:ext uri="{BB962C8B-B14F-4D97-AF65-F5344CB8AC3E}">
        <p14:creationId xmlns:p14="http://schemas.microsoft.com/office/powerpoint/2010/main" val="40325402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74</a:t>
            </a:fld>
            <a:endParaRPr lang="fr-FR"/>
          </a:p>
        </p:txBody>
      </p:sp>
    </p:spTree>
    <p:extLst>
      <p:ext uri="{BB962C8B-B14F-4D97-AF65-F5344CB8AC3E}">
        <p14:creationId xmlns:p14="http://schemas.microsoft.com/office/powerpoint/2010/main" val="249338188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75</a:t>
            </a:fld>
            <a:endParaRPr lang="fr-FR"/>
          </a:p>
        </p:txBody>
      </p:sp>
    </p:spTree>
    <p:extLst>
      <p:ext uri="{BB962C8B-B14F-4D97-AF65-F5344CB8AC3E}">
        <p14:creationId xmlns:p14="http://schemas.microsoft.com/office/powerpoint/2010/main" val="267854884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76</a:t>
            </a:fld>
            <a:endParaRPr lang="fr-FR"/>
          </a:p>
        </p:txBody>
      </p:sp>
    </p:spTree>
    <p:extLst>
      <p:ext uri="{BB962C8B-B14F-4D97-AF65-F5344CB8AC3E}">
        <p14:creationId xmlns:p14="http://schemas.microsoft.com/office/powerpoint/2010/main" val="84492701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77</a:t>
            </a:fld>
            <a:endParaRPr lang="fr-FR"/>
          </a:p>
        </p:txBody>
      </p:sp>
    </p:spTree>
    <p:extLst>
      <p:ext uri="{BB962C8B-B14F-4D97-AF65-F5344CB8AC3E}">
        <p14:creationId xmlns:p14="http://schemas.microsoft.com/office/powerpoint/2010/main" val="17420619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78</a:t>
            </a:fld>
            <a:endParaRPr lang="fr-FR"/>
          </a:p>
        </p:txBody>
      </p:sp>
    </p:spTree>
    <p:extLst>
      <p:ext uri="{BB962C8B-B14F-4D97-AF65-F5344CB8AC3E}">
        <p14:creationId xmlns:p14="http://schemas.microsoft.com/office/powerpoint/2010/main" val="362394879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79</a:t>
            </a:fld>
            <a:endParaRPr lang="fr-FR"/>
          </a:p>
        </p:txBody>
      </p:sp>
    </p:spTree>
    <p:extLst>
      <p:ext uri="{BB962C8B-B14F-4D97-AF65-F5344CB8AC3E}">
        <p14:creationId xmlns:p14="http://schemas.microsoft.com/office/powerpoint/2010/main" val="9364694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80</a:t>
            </a:fld>
            <a:endParaRPr lang="fr-FR"/>
          </a:p>
        </p:txBody>
      </p:sp>
    </p:spTree>
    <p:extLst>
      <p:ext uri="{BB962C8B-B14F-4D97-AF65-F5344CB8AC3E}">
        <p14:creationId xmlns:p14="http://schemas.microsoft.com/office/powerpoint/2010/main" val="36119287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81</a:t>
            </a:fld>
            <a:endParaRPr lang="fr-FR"/>
          </a:p>
        </p:txBody>
      </p:sp>
    </p:spTree>
    <p:extLst>
      <p:ext uri="{BB962C8B-B14F-4D97-AF65-F5344CB8AC3E}">
        <p14:creationId xmlns:p14="http://schemas.microsoft.com/office/powerpoint/2010/main" val="318358487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82</a:t>
            </a:fld>
            <a:endParaRPr lang="fr-FR"/>
          </a:p>
        </p:txBody>
      </p:sp>
    </p:spTree>
    <p:extLst>
      <p:ext uri="{BB962C8B-B14F-4D97-AF65-F5344CB8AC3E}">
        <p14:creationId xmlns:p14="http://schemas.microsoft.com/office/powerpoint/2010/main" val="167289451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83</a:t>
            </a:fld>
            <a:endParaRPr lang="fr-FR"/>
          </a:p>
        </p:txBody>
      </p:sp>
    </p:spTree>
    <p:extLst>
      <p:ext uri="{BB962C8B-B14F-4D97-AF65-F5344CB8AC3E}">
        <p14:creationId xmlns:p14="http://schemas.microsoft.com/office/powerpoint/2010/main" val="365400516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pPr>
              <a:defRPr/>
            </a:pPr>
            <a:fld id="{63C8574A-E6D2-44C1-8173-E4A02C75E7FE}" type="slidenum">
              <a:rPr lang="fr-FR" smtClean="0"/>
              <a:t>84</a:t>
            </a:fld>
            <a:endParaRPr lang="fr-FR"/>
          </a:p>
        </p:txBody>
      </p:sp>
    </p:spTree>
    <p:extLst>
      <p:ext uri="{BB962C8B-B14F-4D97-AF65-F5344CB8AC3E}">
        <p14:creationId xmlns:p14="http://schemas.microsoft.com/office/powerpoint/2010/main" val="2034466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95619A0-A29A-4C26-838F-C8A518F921D2}" type="datetimeFigureOut">
              <a:rPr lang="en-US" smtClean="0"/>
              <a:t>5/22/2022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FC61B3-A70A-400D-9F1A-7437E304A3A4}" type="slidenum">
              <a:rPr lang="en-US" smtClean="0"/>
              <a:t>‹#›</a:t>
            </a:fld>
            <a:endParaRPr lang="en-US"/>
          </a:p>
        </p:txBody>
      </p:sp>
    </p:spTree>
    <p:extLst>
      <p:ext uri="{BB962C8B-B14F-4D97-AF65-F5344CB8AC3E}">
        <p14:creationId xmlns:p14="http://schemas.microsoft.com/office/powerpoint/2010/main" val="21411485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95619A0-A29A-4C26-838F-C8A518F921D2}" type="datetimeFigureOut">
              <a:rPr lang="en-US" smtClean="0"/>
              <a:t>5/22/2022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FC61B3-A70A-400D-9F1A-7437E304A3A4}" type="slidenum">
              <a:rPr lang="en-US" smtClean="0"/>
              <a:t>‹#›</a:t>
            </a:fld>
            <a:endParaRPr lang="en-US"/>
          </a:p>
        </p:txBody>
      </p:sp>
    </p:spTree>
    <p:extLst>
      <p:ext uri="{BB962C8B-B14F-4D97-AF65-F5344CB8AC3E}">
        <p14:creationId xmlns:p14="http://schemas.microsoft.com/office/powerpoint/2010/main" val="21183673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95619A0-A29A-4C26-838F-C8A518F921D2}" type="datetimeFigureOut">
              <a:rPr lang="en-US" smtClean="0"/>
              <a:t>5/22/2022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FC61B3-A70A-400D-9F1A-7437E304A3A4}" type="slidenum">
              <a:rPr lang="en-US" smtClean="0"/>
              <a:t>‹#›</a:t>
            </a:fld>
            <a:endParaRPr lang="en-US"/>
          </a:p>
        </p:txBody>
      </p:sp>
    </p:spTree>
    <p:extLst>
      <p:ext uri="{BB962C8B-B14F-4D97-AF65-F5344CB8AC3E}">
        <p14:creationId xmlns:p14="http://schemas.microsoft.com/office/powerpoint/2010/main" val="1624743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95619A0-A29A-4C26-838F-C8A518F921D2}" type="datetimeFigureOut">
              <a:rPr lang="en-US" smtClean="0"/>
              <a:t>5/22/2022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FC61B3-A70A-400D-9F1A-7437E304A3A4}" type="slidenum">
              <a:rPr lang="en-US" smtClean="0"/>
              <a:t>‹#›</a:t>
            </a:fld>
            <a:endParaRPr lang="en-US"/>
          </a:p>
        </p:txBody>
      </p:sp>
    </p:spTree>
    <p:extLst>
      <p:ext uri="{BB962C8B-B14F-4D97-AF65-F5344CB8AC3E}">
        <p14:creationId xmlns:p14="http://schemas.microsoft.com/office/powerpoint/2010/main" val="37639959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95619A0-A29A-4C26-838F-C8A518F921D2}" type="datetimeFigureOut">
              <a:rPr lang="en-US" smtClean="0"/>
              <a:t>5/22/2022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8FC61B3-A70A-400D-9F1A-7437E304A3A4}" type="slidenum">
              <a:rPr lang="en-US" smtClean="0"/>
              <a:t>‹#›</a:t>
            </a:fld>
            <a:endParaRPr lang="en-US"/>
          </a:p>
        </p:txBody>
      </p:sp>
    </p:spTree>
    <p:extLst>
      <p:ext uri="{BB962C8B-B14F-4D97-AF65-F5344CB8AC3E}">
        <p14:creationId xmlns:p14="http://schemas.microsoft.com/office/powerpoint/2010/main" val="2941584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95619A0-A29A-4C26-838F-C8A518F921D2}" type="datetimeFigureOut">
              <a:rPr lang="en-US" smtClean="0"/>
              <a:t>5/22/2022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8FC61B3-A70A-400D-9F1A-7437E304A3A4}" type="slidenum">
              <a:rPr lang="en-US" smtClean="0"/>
              <a:t>‹#›</a:t>
            </a:fld>
            <a:endParaRPr lang="en-US"/>
          </a:p>
        </p:txBody>
      </p:sp>
    </p:spTree>
    <p:extLst>
      <p:ext uri="{BB962C8B-B14F-4D97-AF65-F5344CB8AC3E}">
        <p14:creationId xmlns:p14="http://schemas.microsoft.com/office/powerpoint/2010/main" val="33615389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5619A0-A29A-4C26-838F-C8A518F921D2}" type="datetimeFigureOut">
              <a:rPr lang="en-US" smtClean="0"/>
              <a:t>5/22/2022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8FC61B3-A70A-400D-9F1A-7437E304A3A4}" type="slidenum">
              <a:rPr lang="en-US" smtClean="0"/>
              <a:t>‹#›</a:t>
            </a:fld>
            <a:endParaRPr lang="en-US"/>
          </a:p>
        </p:txBody>
      </p:sp>
    </p:spTree>
    <p:extLst>
      <p:ext uri="{BB962C8B-B14F-4D97-AF65-F5344CB8AC3E}">
        <p14:creationId xmlns:p14="http://schemas.microsoft.com/office/powerpoint/2010/main" val="35748649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95619A0-A29A-4C26-838F-C8A518F921D2}" type="datetimeFigureOut">
              <a:rPr lang="en-US" smtClean="0"/>
              <a:t>5/22/2022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FC61B3-A70A-400D-9F1A-7437E304A3A4}" type="slidenum">
              <a:rPr lang="en-US" smtClean="0"/>
              <a:t>‹#›</a:t>
            </a:fld>
            <a:endParaRPr lang="en-US"/>
          </a:p>
        </p:txBody>
      </p:sp>
    </p:spTree>
    <p:extLst>
      <p:ext uri="{BB962C8B-B14F-4D97-AF65-F5344CB8AC3E}">
        <p14:creationId xmlns:p14="http://schemas.microsoft.com/office/powerpoint/2010/main" val="3087606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95619A0-A29A-4C26-838F-C8A518F921D2}" type="datetimeFigureOut">
              <a:rPr lang="en-US" smtClean="0"/>
              <a:t>5/22/2022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FC61B3-A70A-400D-9F1A-7437E304A3A4}" type="slidenum">
              <a:rPr lang="en-US" smtClean="0"/>
              <a:t>‹#›</a:t>
            </a:fld>
            <a:endParaRPr lang="en-US"/>
          </a:p>
        </p:txBody>
      </p:sp>
    </p:spTree>
    <p:extLst>
      <p:ext uri="{BB962C8B-B14F-4D97-AF65-F5344CB8AC3E}">
        <p14:creationId xmlns:p14="http://schemas.microsoft.com/office/powerpoint/2010/main" val="14877082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95619A0-A29A-4C26-838F-C8A518F921D2}" type="datetimeFigureOut">
              <a:rPr lang="en-US" smtClean="0"/>
              <a:t>5/22/2022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FC61B3-A70A-400D-9F1A-7437E304A3A4}" type="slidenum">
              <a:rPr lang="en-US" smtClean="0"/>
              <a:t>‹#›</a:t>
            </a:fld>
            <a:endParaRPr lang="en-US"/>
          </a:p>
        </p:txBody>
      </p:sp>
    </p:spTree>
    <p:extLst>
      <p:ext uri="{BB962C8B-B14F-4D97-AF65-F5344CB8AC3E}">
        <p14:creationId xmlns:p14="http://schemas.microsoft.com/office/powerpoint/2010/main" val="153153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95619A0-A29A-4C26-838F-C8A518F921D2}" type="datetimeFigureOut">
              <a:rPr lang="en-US" smtClean="0"/>
              <a:t>5/22/2022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FC61B3-A70A-400D-9F1A-7437E304A3A4}" type="slidenum">
              <a:rPr lang="en-US" smtClean="0"/>
              <a:t>‹#›</a:t>
            </a:fld>
            <a:endParaRPr lang="en-US"/>
          </a:p>
        </p:txBody>
      </p:sp>
    </p:spTree>
    <p:extLst>
      <p:ext uri="{BB962C8B-B14F-4D97-AF65-F5344CB8AC3E}">
        <p14:creationId xmlns:p14="http://schemas.microsoft.com/office/powerpoint/2010/main" val="34036668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5619A0-A29A-4C26-838F-C8A518F921D2}" type="datetimeFigureOut">
              <a:rPr lang="en-US" smtClean="0"/>
              <a:t>5/22/2022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FC61B3-A70A-400D-9F1A-7437E304A3A4}" type="slidenum">
              <a:rPr lang="en-US" smtClean="0"/>
              <a:t>‹#›</a:t>
            </a:fld>
            <a:endParaRPr lang="en-US"/>
          </a:p>
        </p:txBody>
      </p:sp>
    </p:spTree>
    <p:extLst>
      <p:ext uri="{BB962C8B-B14F-4D97-AF65-F5344CB8AC3E}">
        <p14:creationId xmlns:p14="http://schemas.microsoft.com/office/powerpoint/2010/main" val="17657670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6.png"/><Relationship Id="rId5" Type="http://schemas.openxmlformats.org/officeDocument/2006/relationships/oleObject" Target="../embeddings/oleObject4.bin"/><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Documents%20and%20Settings/user/Bureau/Materiel%20&amp;%20Maintenance/Sujets/Dict/microprocesseur.htm" TargetMode="External"/><Relationship Id="rId2" Type="http://schemas.openxmlformats.org/officeDocument/2006/relationships/image" Target="../media/image8.jpeg"/><Relationship Id="rId1" Type="http://schemas.openxmlformats.org/officeDocument/2006/relationships/slideLayout" Target="../slideLayouts/slideLayout7.xml"/><Relationship Id="rId4" Type="http://schemas.openxmlformats.org/officeDocument/2006/relationships/hyperlink" Target="../../Documents%20and%20Settings/user/Bureau/Materiel%20&amp;%20Maintenance/Sujets/Dict/memoire_barette.htm"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7.xml"/><Relationship Id="rId4" Type="http://schemas.openxmlformats.org/officeDocument/2006/relationships/image" Target="../media/image18.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jpeg"/><Relationship Id="rId2" Type="http://schemas.openxmlformats.org/officeDocument/2006/relationships/image" Target="../media/image23.png"/><Relationship Id="rId1" Type="http://schemas.openxmlformats.org/officeDocument/2006/relationships/slideLayout" Target="../slideLayouts/slideLayout1.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jpeg"/><Relationship Id="rId9" Type="http://schemas.openxmlformats.org/officeDocument/2006/relationships/image" Target="../media/image30.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45.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GIF"/><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 Id="rId9" Type="http://schemas.openxmlformats.org/officeDocument/2006/relationships/image" Target="../media/image45.png"/></Relationships>
</file>

<file path=ppt/slides/_rels/slide4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57.png"/><Relationship Id="rId3" Type="http://schemas.openxmlformats.org/officeDocument/2006/relationships/image" Target="../media/image47.png"/><Relationship Id="rId7" Type="http://schemas.openxmlformats.org/officeDocument/2006/relationships/image" Target="../media/image51.png"/><Relationship Id="rId12" Type="http://schemas.openxmlformats.org/officeDocument/2006/relationships/image" Target="../media/image56.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50.png"/><Relationship Id="rId11" Type="http://schemas.openxmlformats.org/officeDocument/2006/relationships/image" Target="../media/image55.png"/><Relationship Id="rId5" Type="http://schemas.openxmlformats.org/officeDocument/2006/relationships/image" Target="../media/image49.png"/><Relationship Id="rId15" Type="http://schemas.openxmlformats.org/officeDocument/2006/relationships/image" Target="../media/image59.pn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png"/><Relationship Id="rId14" Type="http://schemas.openxmlformats.org/officeDocument/2006/relationships/image" Target="../media/image58.png"/></Relationships>
</file>

<file path=ppt/slides/_rels/slide48.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63.jpeg"/><Relationship Id="rId4" Type="http://schemas.openxmlformats.org/officeDocument/2006/relationships/image" Target="../media/image62.png"/></Relationships>
</file>

<file path=ppt/slides/_rels/slide51.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67.png"/><Relationship Id="rId5" Type="http://schemas.openxmlformats.org/officeDocument/2006/relationships/image" Target="../media/image66.jpeg"/><Relationship Id="rId4" Type="http://schemas.openxmlformats.org/officeDocument/2006/relationships/image" Target="../media/image65.jpe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69.jpeg"/><Relationship Id="rId7" Type="http://schemas.openxmlformats.org/officeDocument/2006/relationships/image" Target="../media/image73.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72.GIF"/><Relationship Id="rId5" Type="http://schemas.openxmlformats.org/officeDocument/2006/relationships/image" Target="../media/image71.jpeg"/><Relationship Id="rId4" Type="http://schemas.openxmlformats.org/officeDocument/2006/relationships/image" Target="../media/image70.jpeg"/></Relationships>
</file>

<file path=ppt/slides/_rels/slide55.xml.rels><?xml version="1.0" encoding="UTF-8" standalone="yes"?>
<Relationships xmlns="http://schemas.openxmlformats.org/package/2006/relationships"><Relationship Id="rId3" Type="http://schemas.openxmlformats.org/officeDocument/2006/relationships/image" Target="../media/image74.GIF"/><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77.jpeg"/><Relationship Id="rId5" Type="http://schemas.openxmlformats.org/officeDocument/2006/relationships/image" Target="../media/image76.png"/><Relationship Id="rId4" Type="http://schemas.openxmlformats.org/officeDocument/2006/relationships/image" Target="../media/image75.jpe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78.GIF"/><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80.png"/><Relationship Id="rId4" Type="http://schemas.openxmlformats.org/officeDocument/2006/relationships/image" Target="../media/image79.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78.GIF"/><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90.png"/></Relationships>
</file>

<file path=ppt/slides/_rels/slide71.xml.rels><?xml version="1.0" encoding="UTF-8" standalone="yes"?>
<Relationships xmlns="http://schemas.openxmlformats.org/package/2006/relationships"><Relationship Id="rId3" Type="http://schemas.openxmlformats.org/officeDocument/2006/relationships/image" Target="../media/image78.GIF"/><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91.png"/></Relationships>
</file>

<file path=ppt/slides/_rels/slide72.xml.rels><?xml version="1.0" encoding="UTF-8" standalone="yes"?>
<Relationships xmlns="http://schemas.openxmlformats.org/package/2006/relationships"><Relationship Id="rId3" Type="http://schemas.openxmlformats.org/officeDocument/2006/relationships/image" Target="../media/image78.GIF"/><Relationship Id="rId2" Type="http://schemas.openxmlformats.org/officeDocument/2006/relationships/notesSlide" Target="../notesSlides/notesSlide33.xml"/><Relationship Id="rId1" Type="http://schemas.openxmlformats.org/officeDocument/2006/relationships/slideLayout" Target="../slideLayouts/slideLayout7.xml"/><Relationship Id="rId5" Type="http://schemas.openxmlformats.org/officeDocument/2006/relationships/image" Target="../media/image93.png"/><Relationship Id="rId4" Type="http://schemas.openxmlformats.org/officeDocument/2006/relationships/image" Target="../media/image92.png"/></Relationships>
</file>

<file path=ppt/slides/_rels/slide73.xml.rels><?xml version="1.0" encoding="UTF-8" standalone="yes"?>
<Relationships xmlns="http://schemas.openxmlformats.org/package/2006/relationships"><Relationship Id="rId3" Type="http://schemas.openxmlformats.org/officeDocument/2006/relationships/image" Target="../media/image78.GIF"/><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78.GIF"/><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78.GIF"/><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78.GIF"/><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94.png"/></Relationships>
</file>

<file path=ppt/slides/_rels/slide77.xml.rels><?xml version="1.0" encoding="UTF-8" standalone="yes"?>
<Relationships xmlns="http://schemas.openxmlformats.org/package/2006/relationships"><Relationship Id="rId3" Type="http://schemas.openxmlformats.org/officeDocument/2006/relationships/image" Target="../media/image78.GIF"/><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95.png"/></Relationships>
</file>

<file path=ppt/slides/_rels/slide78.xml.rels><?xml version="1.0" encoding="UTF-8" standalone="yes"?>
<Relationships xmlns="http://schemas.openxmlformats.org/package/2006/relationships"><Relationship Id="rId3" Type="http://schemas.openxmlformats.org/officeDocument/2006/relationships/image" Target="../media/image78.GIF"/><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96.png"/></Relationships>
</file>

<file path=ppt/slides/_rels/slide79.xml.rels><?xml version="1.0" encoding="UTF-8" standalone="yes"?>
<Relationships xmlns="http://schemas.openxmlformats.org/package/2006/relationships"><Relationship Id="rId3" Type="http://schemas.openxmlformats.org/officeDocument/2006/relationships/image" Target="../media/image78.GIF"/><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78.GIF"/><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78.GIF"/><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78.GIF"/><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78.GIF"/><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 Id="rId4" Type="http://schemas.openxmlformats.org/officeDocument/2006/relationships/image" Target="../media/image99.png"/></Relationships>
</file>

<file path=ppt/slides/_rels/slide88.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image" Target="../media/image128.png"/><Relationship Id="rId1" Type="http://schemas.openxmlformats.org/officeDocument/2006/relationships/slideLayout" Target="../slideLayouts/slideLayout2.xml"/><Relationship Id="rId6" Type="http://schemas.openxmlformats.org/officeDocument/2006/relationships/image" Target="../media/image132.png"/><Relationship Id="rId5" Type="http://schemas.openxmlformats.org/officeDocument/2006/relationships/image" Target="../media/image131.png"/><Relationship Id="rId4" Type="http://schemas.openxmlformats.org/officeDocument/2006/relationships/image" Target="../media/image130.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5601"/>
          <p:cNvSpPr txBox="1"/>
          <p:nvPr/>
        </p:nvSpPr>
        <p:spPr>
          <a:xfrm>
            <a:off x="2514600" y="1633732"/>
            <a:ext cx="6858000" cy="4524315"/>
          </a:xfrm>
          <a:prstGeom prst="rect">
            <a:avLst/>
          </a:prstGeom>
          <a:noFill/>
          <a:ln w="9525">
            <a:noFill/>
          </a:ln>
        </p:spPr>
        <p:txBody>
          <a:bodyPr>
            <a:spAutoFit/>
          </a:bodyPr>
          <a:lstStyle/>
          <a:p>
            <a:pPr algn="ctr">
              <a:spcBef>
                <a:spcPct val="50000"/>
              </a:spcBef>
            </a:pPr>
            <a:endParaRPr sz="4800" b="1" dirty="0">
              <a:solidFill>
                <a:srgbClr val="FF0000"/>
              </a:solidFill>
              <a:latin typeface="Times New Roman" panose="02020603050405020304" charset="0"/>
            </a:endParaRPr>
          </a:p>
          <a:p>
            <a:pPr algn="ctr">
              <a:spcBef>
                <a:spcPct val="50000"/>
              </a:spcBef>
            </a:pPr>
            <a:r>
              <a:rPr lang="fr-CD" sz="4800" b="1" dirty="0">
                <a:solidFill>
                  <a:srgbClr val="FF0000"/>
                </a:solidFill>
                <a:latin typeface="Times New Roman" panose="02020603050405020304" charset="0"/>
              </a:rPr>
              <a:t>Pratique de l’Ordinateur</a:t>
            </a:r>
          </a:p>
          <a:p>
            <a:pPr algn="ctr">
              <a:spcBef>
                <a:spcPct val="50000"/>
              </a:spcBef>
            </a:pPr>
            <a:r>
              <a:rPr lang="fr-CD" sz="3600" b="1" dirty="0">
                <a:solidFill>
                  <a:srgbClr val="FF0000"/>
                </a:solidFill>
                <a:latin typeface="Times New Roman" panose="02020603050405020304" charset="0"/>
              </a:rPr>
              <a:t>Première </a:t>
            </a:r>
            <a:r>
              <a:rPr lang="fr-CD" sz="3600" b="1" dirty="0" smtClean="0">
                <a:solidFill>
                  <a:srgbClr val="FF0000"/>
                </a:solidFill>
                <a:latin typeface="Times New Roman" panose="02020603050405020304" charset="0"/>
              </a:rPr>
              <a:t>partie </a:t>
            </a:r>
          </a:p>
          <a:p>
            <a:pPr algn="ctr">
              <a:spcBef>
                <a:spcPct val="50000"/>
              </a:spcBef>
            </a:pPr>
            <a:r>
              <a:rPr lang="fr-BE" sz="4000" b="1" dirty="0" smtClean="0">
                <a:latin typeface="Times New Roman" panose="02020603050405020304" charset="0"/>
              </a:rPr>
              <a:t>Architecture des ordinateurs</a:t>
            </a:r>
            <a:endParaRPr sz="4800" dirty="0">
              <a:solidFill>
                <a:srgbClr val="FFFFFF"/>
              </a:solidFill>
              <a:latin typeface="Times New Roman" panose="02020603050405020304" charset="0"/>
            </a:endParaRPr>
          </a:p>
          <a:p>
            <a:pPr lvl="4">
              <a:spcBef>
                <a:spcPct val="50000"/>
              </a:spcBef>
            </a:pPr>
            <a:endParaRPr dirty="0">
              <a:solidFill>
                <a:srgbClr val="FFFFFF"/>
              </a:solidFill>
              <a:latin typeface="Arial" panose="020B0604020202020204" pitchFamily="34" charset="0"/>
            </a:endParaRPr>
          </a:p>
          <a:p>
            <a:pPr lvl="4">
              <a:spcBef>
                <a:spcPct val="50000"/>
              </a:spcBef>
            </a:pPr>
            <a:r>
              <a:rPr dirty="0">
                <a:solidFill>
                  <a:srgbClr val="0000FF"/>
                </a:solidFill>
                <a:latin typeface="Arial" panose="020B0604020202020204" pitchFamily="34" charset="0"/>
              </a:rPr>
              <a:t>     </a:t>
            </a:r>
          </a:p>
        </p:txBody>
      </p:sp>
    </p:spTree>
    <p:extLst>
      <p:ext uri="{BB962C8B-B14F-4D97-AF65-F5344CB8AC3E}">
        <p14:creationId xmlns:p14="http://schemas.microsoft.com/office/powerpoint/2010/main" val="1942177631"/>
      </p:ext>
    </p:extLst>
  </p:cSld>
  <p:clrMapOvr>
    <a:masterClrMapping/>
  </p:clrMapOvr>
  <p:timing>
    <p:tnLst>
      <p:par>
        <p:cTn id="1" dur="indefinite" restart="never" nodeType="tmRoot"/>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3073"/>
          <p:cNvSpPr>
            <a:spLocks noGrp="1"/>
          </p:cNvSpPr>
          <p:nvPr>
            <p:ph type="title"/>
          </p:nvPr>
        </p:nvSpPr>
        <p:spPr>
          <a:ln/>
        </p:spPr>
        <p:txBody>
          <a:bodyPr anchor="ctr" anchorCtr="0"/>
          <a:lstStyle/>
          <a:p>
            <a:r>
              <a:t>Définition d’un ordinateur </a:t>
            </a:r>
          </a:p>
        </p:txBody>
      </p:sp>
      <p:sp>
        <p:nvSpPr>
          <p:cNvPr id="3075" name="Text Placeholder 3074"/>
          <p:cNvSpPr>
            <a:spLocks noGrp="1"/>
          </p:cNvSpPr>
          <p:nvPr>
            <p:ph type="body" idx="1"/>
          </p:nvPr>
        </p:nvSpPr>
        <p:spPr>
          <a:ln/>
        </p:spPr>
        <p:txBody>
          <a:bodyPr/>
          <a:lstStyle/>
          <a:p>
            <a:pPr>
              <a:buNone/>
            </a:pPr>
            <a:r>
              <a:t>   L’ordinateurs est une machine qui permet de stocker des données (informations) structurées et de les traiter à la demande de l’utilisateur afin de produire  un résultat voulu.</a:t>
            </a:r>
          </a:p>
          <a:p>
            <a:pPr>
              <a:buNone/>
            </a:pPr>
            <a:r>
              <a:t>    l’ordinateur ne réfléchit pas à la place de l’utilisateur, il ne fait que l’assister et de suggérer des solutions.</a:t>
            </a:r>
          </a:p>
        </p:txBody>
      </p:sp>
    </p:spTree>
    <p:extLst>
      <p:ext uri="{BB962C8B-B14F-4D97-AF65-F5344CB8AC3E}">
        <p14:creationId xmlns:p14="http://schemas.microsoft.com/office/powerpoint/2010/main" val="1710248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74"/>
                                        </p:tgtEl>
                                        <p:attrNameLst>
                                          <p:attrName>style.visibility</p:attrName>
                                        </p:attrNameLst>
                                      </p:cBhvr>
                                      <p:to>
                                        <p:strVal val="visible"/>
                                      </p:to>
                                    </p:set>
                                    <p:anim calcmode="lin" valueType="num">
                                      <p:cBhvr additive="base">
                                        <p:cTn id="7" dur="500" fill="hold"/>
                                        <p:tgtEl>
                                          <p:spTgt spid="3074"/>
                                        </p:tgtEl>
                                        <p:attrNameLst>
                                          <p:attrName>ppt_x</p:attrName>
                                        </p:attrNameLst>
                                      </p:cBhvr>
                                      <p:tavLst>
                                        <p:tav tm="0">
                                          <p:val>
                                            <p:strVal val="0-#ppt_w/2"/>
                                          </p:val>
                                        </p:tav>
                                        <p:tav tm="100000">
                                          <p:val>
                                            <p:strVal val="#ppt_x"/>
                                          </p:val>
                                        </p:tav>
                                      </p:tavLst>
                                    </p:anim>
                                    <p:anim calcmode="lin" valueType="num">
                                      <p:cBhvr additive="base">
                                        <p:cTn id="8" dur="500" fill="hold"/>
                                        <p:tgtEl>
                                          <p:spTgt spid="307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075">
                                            <p:txEl>
                                              <p:pRg st="0" end="0"/>
                                            </p:txEl>
                                          </p:spTgt>
                                        </p:tgtEl>
                                        <p:attrNameLst>
                                          <p:attrName>style.visibility</p:attrName>
                                        </p:attrNameLst>
                                      </p:cBhvr>
                                      <p:to>
                                        <p:strVal val="visible"/>
                                      </p:to>
                                    </p:set>
                                    <p:anim calcmode="lin" valueType="num">
                                      <p:cBhvr additive="base">
                                        <p:cTn id="13" dur="500" fill="hold"/>
                                        <p:tgtEl>
                                          <p:spTgt spid="3075">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07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075">
                                            <p:txEl>
                                              <p:pRg st="1" end="1"/>
                                            </p:txEl>
                                          </p:spTgt>
                                        </p:tgtEl>
                                        <p:attrNameLst>
                                          <p:attrName>style.visibility</p:attrName>
                                        </p:attrNameLst>
                                      </p:cBhvr>
                                      <p:to>
                                        <p:strVal val="visible"/>
                                      </p:to>
                                    </p:set>
                                    <p:anim calcmode="lin" valueType="num">
                                      <p:cBhvr additive="base">
                                        <p:cTn id="19" dur="500" fill="hold"/>
                                        <p:tgtEl>
                                          <p:spTgt spid="3075">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075">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4" grpId="0" animBg="1"/>
      <p:bldP spid="307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35841"/>
          <p:cNvSpPr>
            <a:spLocks noGrp="1"/>
          </p:cNvSpPr>
          <p:nvPr>
            <p:ph type="title"/>
          </p:nvPr>
        </p:nvSpPr>
        <p:spPr>
          <a:xfrm>
            <a:off x="4343400" y="304800"/>
            <a:ext cx="4572000" cy="762000"/>
          </a:xfrm>
          <a:ln/>
        </p:spPr>
        <p:txBody>
          <a:bodyPr anchor="ctr" anchorCtr="0">
            <a:normAutofit fontScale="90000"/>
          </a:bodyPr>
          <a:lstStyle/>
          <a:p>
            <a:r>
              <a:rPr>
                <a:cs typeface="Times New Roman" panose="02020603050405020304" charset="0"/>
              </a:rPr>
              <a:t/>
            </a:r>
            <a:br>
              <a:rPr>
                <a:cs typeface="Times New Roman" panose="02020603050405020304" charset="0"/>
              </a:rPr>
            </a:br>
            <a:r>
              <a:rPr>
                <a:cs typeface="Times New Roman" panose="02020603050405020304" charset="0"/>
              </a:rPr>
              <a:t> </a:t>
            </a:r>
            <a:r>
              <a:rPr>
                <a:solidFill>
                  <a:srgbClr val="3333CC"/>
                </a:solidFill>
                <a:cs typeface="Times New Roman" panose="02020603050405020304" charset="0"/>
              </a:rPr>
              <a:t>  </a:t>
            </a:r>
            <a:r>
              <a:rPr sz="3200" b="1" i="1">
                <a:solidFill>
                  <a:srgbClr val="008080"/>
                </a:solidFill>
                <a:cs typeface="Times New Roman" panose="02020603050405020304" charset="0"/>
              </a:rPr>
              <a:t>Micro-ordinateur</a:t>
            </a:r>
            <a:r>
              <a:rPr>
                <a:cs typeface="Times New Roman" panose="02020603050405020304" charset="0"/>
              </a:rPr>
              <a:t> </a:t>
            </a:r>
            <a:br>
              <a:rPr>
                <a:cs typeface="Times New Roman" panose="02020603050405020304" charset="0"/>
              </a:rPr>
            </a:br>
            <a:endParaRPr>
              <a:ea typeface="Times New Roman" panose="02020603050405020304" charset="0"/>
            </a:endParaRPr>
          </a:p>
        </p:txBody>
      </p:sp>
      <p:sp>
        <p:nvSpPr>
          <p:cNvPr id="35843" name="Text Box 35842"/>
          <p:cNvSpPr txBox="1"/>
          <p:nvPr/>
        </p:nvSpPr>
        <p:spPr>
          <a:xfrm>
            <a:off x="3733800" y="2819400"/>
            <a:ext cx="2286000" cy="369332"/>
          </a:xfrm>
          <a:prstGeom prst="rect">
            <a:avLst/>
          </a:prstGeom>
          <a:noFill/>
          <a:ln w="9525">
            <a:noFill/>
          </a:ln>
        </p:spPr>
        <p:txBody>
          <a:bodyPr>
            <a:spAutoFit/>
          </a:bodyPr>
          <a:lstStyle/>
          <a:p>
            <a:pPr>
              <a:spcBef>
                <a:spcPct val="50000"/>
              </a:spcBef>
            </a:pPr>
            <a:r>
              <a:rPr dirty="0">
                <a:latin typeface="Arial Narrow" panose="020B0606020202030204" pitchFamily="34" charset="0"/>
              </a:rPr>
              <a:t>  </a:t>
            </a:r>
          </a:p>
        </p:txBody>
      </p:sp>
      <p:sp>
        <p:nvSpPr>
          <p:cNvPr id="35845" name="Text Box 35844"/>
          <p:cNvSpPr txBox="1"/>
          <p:nvPr/>
        </p:nvSpPr>
        <p:spPr>
          <a:xfrm>
            <a:off x="2133600" y="1219200"/>
            <a:ext cx="2057400" cy="3251200"/>
          </a:xfrm>
          <a:prstGeom prst="rect">
            <a:avLst/>
          </a:prstGeom>
          <a:noFill/>
          <a:ln w="9525">
            <a:noFill/>
          </a:ln>
        </p:spPr>
        <p:txBody>
          <a:bodyPr>
            <a:spAutoFit/>
          </a:bodyPr>
          <a:lstStyle/>
          <a:p>
            <a:pPr>
              <a:spcBef>
                <a:spcPct val="50000"/>
              </a:spcBef>
            </a:pPr>
            <a:r>
              <a:rPr>
                <a:latin typeface="Arial Narrow" panose="020B0606020202030204" pitchFamily="34" charset="0"/>
                <a:cs typeface="Times New Roman" panose="02020603050405020304" charset="0"/>
              </a:rPr>
              <a:t>Un </a:t>
            </a:r>
            <a:r>
              <a:rPr b="1">
                <a:latin typeface="Arial Narrow" panose="020B0606020202030204" pitchFamily="34" charset="0"/>
                <a:cs typeface="Times New Roman" panose="02020603050405020304" charset="0"/>
              </a:rPr>
              <a:t>micro-ordinateur</a:t>
            </a:r>
            <a:r>
              <a:rPr>
                <a:latin typeface="Arial Narrow" panose="020B0606020202030204" pitchFamily="34" charset="0"/>
                <a:cs typeface="Times New Roman" panose="02020603050405020304" charset="0"/>
              </a:rPr>
              <a:t> est un appareil électronique conçu pour traiter de l'information. L'ordinateur lui-même et tous ses composants matériels s'appelle le matériel (hardware en anglais).</a:t>
            </a:r>
            <a:r>
              <a:rPr>
                <a:solidFill>
                  <a:srgbClr val="3333CC"/>
                </a:solidFill>
                <a:latin typeface="Arial Narrow" panose="020B0606020202030204" pitchFamily="34" charset="0"/>
                <a:cs typeface="Times New Roman" panose="02020603050405020304" charset="0"/>
              </a:rPr>
              <a:t> </a:t>
            </a:r>
            <a:endParaRPr>
              <a:latin typeface="Arial Narrow" panose="020B0606020202030204" pitchFamily="34" charset="0"/>
              <a:cs typeface="Times New Roman" panose="02020603050405020304" charset="0"/>
            </a:endParaRPr>
          </a:p>
          <a:p>
            <a:pPr>
              <a:spcBef>
                <a:spcPct val="50000"/>
              </a:spcBef>
            </a:pPr>
            <a:endParaRPr>
              <a:latin typeface="Arial Narrow" panose="020B0606020202030204" pitchFamily="34" charset="0"/>
            </a:endParaRPr>
          </a:p>
        </p:txBody>
      </p:sp>
      <p:pic>
        <p:nvPicPr>
          <p:cNvPr id="35846" name="Picture 35845" descr="C:\WINDOWS\Bureau\image001.jpg"/>
          <p:cNvPicPr>
            <a:picLocks noChangeAspect="1"/>
          </p:cNvPicPr>
          <p:nvPr/>
        </p:nvPicPr>
        <p:blipFill>
          <a:blip r:embed="rId2"/>
          <a:stretch>
            <a:fillRect/>
          </a:stretch>
        </p:blipFill>
        <p:spPr>
          <a:xfrm>
            <a:off x="4267200" y="1066800"/>
            <a:ext cx="5334000" cy="4687888"/>
          </a:xfrm>
          <a:prstGeom prst="rect">
            <a:avLst/>
          </a:prstGeom>
          <a:noFill/>
          <a:ln w="9525">
            <a:noFill/>
          </a:ln>
        </p:spPr>
      </p:pic>
    </p:spTree>
    <p:extLst>
      <p:ext uri="{BB962C8B-B14F-4D97-AF65-F5344CB8AC3E}">
        <p14:creationId xmlns:p14="http://schemas.microsoft.com/office/powerpoint/2010/main" val="234265336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26625"/>
          <p:cNvSpPr txBox="1"/>
          <p:nvPr/>
        </p:nvSpPr>
        <p:spPr>
          <a:xfrm>
            <a:off x="3429000" y="393701"/>
            <a:ext cx="4572000" cy="519113"/>
          </a:xfrm>
          <a:prstGeom prst="rect">
            <a:avLst/>
          </a:prstGeom>
          <a:noFill/>
          <a:ln w="9525">
            <a:noFill/>
          </a:ln>
        </p:spPr>
        <p:txBody>
          <a:bodyPr>
            <a:spAutoFit/>
          </a:bodyPr>
          <a:lstStyle/>
          <a:p>
            <a:pPr eaLnBrk="0" hangingPunct="0">
              <a:spcBef>
                <a:spcPct val="50000"/>
              </a:spcBef>
            </a:pPr>
            <a:r>
              <a:rPr sz="2800" b="1"/>
              <a:t>L'utilisateur et l'ordinateur</a:t>
            </a:r>
          </a:p>
        </p:txBody>
      </p:sp>
      <p:grpSp>
        <p:nvGrpSpPr>
          <p:cNvPr id="26627" name="Group 26626"/>
          <p:cNvGrpSpPr/>
          <p:nvPr/>
        </p:nvGrpSpPr>
        <p:grpSpPr>
          <a:xfrm>
            <a:off x="2590800" y="2451101"/>
            <a:ext cx="5918200" cy="4289425"/>
            <a:chOff x="336" y="2112"/>
            <a:chExt cx="3728" cy="2702"/>
          </a:xfrm>
        </p:grpSpPr>
        <p:sp>
          <p:nvSpPr>
            <p:cNvPr id="26628" name="Text Box 26627"/>
            <p:cNvSpPr txBox="1"/>
            <p:nvPr/>
          </p:nvSpPr>
          <p:spPr>
            <a:xfrm>
              <a:off x="1472" y="2112"/>
              <a:ext cx="1056" cy="250"/>
            </a:xfrm>
            <a:prstGeom prst="rect">
              <a:avLst/>
            </a:prstGeom>
            <a:noFill/>
            <a:ln w="9525">
              <a:noFill/>
            </a:ln>
          </p:spPr>
          <p:txBody>
            <a:bodyPr>
              <a:spAutoFit/>
            </a:bodyPr>
            <a:lstStyle/>
            <a:p>
              <a:pPr eaLnBrk="0" hangingPunct="0">
                <a:spcBef>
                  <a:spcPct val="50000"/>
                </a:spcBef>
              </a:pPr>
              <a:r>
                <a:rPr sz="2000"/>
                <a:t>   Utilisateur</a:t>
              </a:r>
            </a:p>
          </p:txBody>
        </p:sp>
        <p:grpSp>
          <p:nvGrpSpPr>
            <p:cNvPr id="26629" name="Group 26628"/>
            <p:cNvGrpSpPr/>
            <p:nvPr/>
          </p:nvGrpSpPr>
          <p:grpSpPr>
            <a:xfrm>
              <a:off x="992" y="3312"/>
              <a:ext cx="2016" cy="1502"/>
              <a:chOff x="992" y="3312"/>
              <a:chExt cx="2016" cy="1502"/>
            </a:xfrm>
          </p:grpSpPr>
          <p:sp>
            <p:nvSpPr>
              <p:cNvPr id="26630" name="Text Box 26629"/>
              <p:cNvSpPr txBox="1"/>
              <p:nvPr/>
            </p:nvSpPr>
            <p:spPr>
              <a:xfrm>
                <a:off x="992" y="3360"/>
                <a:ext cx="2016" cy="1454"/>
              </a:xfrm>
              <a:prstGeom prst="rect">
                <a:avLst/>
              </a:prstGeom>
              <a:noFill/>
              <a:ln w="9525">
                <a:noFill/>
              </a:ln>
            </p:spPr>
            <p:txBody>
              <a:bodyPr>
                <a:spAutoFit/>
              </a:bodyPr>
              <a:lstStyle/>
              <a:p>
                <a:pPr algn="ctr" eaLnBrk="0" hangingPunct="0">
                  <a:spcBef>
                    <a:spcPct val="50000"/>
                  </a:spcBef>
                </a:pPr>
                <a:r>
                  <a:rPr/>
                  <a:t>Unités périphériques</a:t>
                </a:r>
              </a:p>
              <a:p>
                <a:pPr algn="ctr" eaLnBrk="0" hangingPunct="0">
                  <a:spcBef>
                    <a:spcPct val="50000"/>
                  </a:spcBef>
                </a:pPr>
                <a:endParaRPr/>
              </a:p>
              <a:p>
                <a:pPr algn="ctr" eaLnBrk="0" hangingPunct="0"/>
                <a:r>
                  <a:rPr/>
                  <a:t>Unité centrale</a:t>
                </a:r>
              </a:p>
              <a:p>
                <a:pPr algn="ctr" eaLnBrk="0" hangingPunct="0"/>
                <a:endParaRPr/>
              </a:p>
              <a:p>
                <a:pPr algn="ctr" eaLnBrk="0" hangingPunct="0"/>
                <a:r>
                  <a:rPr/>
                  <a:t>Mémoire </a:t>
                </a:r>
              </a:p>
              <a:p>
                <a:pPr algn="ctr" eaLnBrk="0" hangingPunct="0"/>
                <a:r>
                  <a:rPr/>
                  <a:t>centrale</a:t>
                </a:r>
              </a:p>
              <a:p>
                <a:pPr algn="ctr" eaLnBrk="0" hangingPunct="0">
                  <a:spcBef>
                    <a:spcPct val="50000"/>
                  </a:spcBef>
                </a:pPr>
                <a:endParaRPr/>
              </a:p>
            </p:txBody>
          </p:sp>
          <p:sp>
            <p:nvSpPr>
              <p:cNvPr id="26631" name="Rectangles 26630"/>
              <p:cNvSpPr/>
              <p:nvPr/>
            </p:nvSpPr>
            <p:spPr>
              <a:xfrm>
                <a:off x="1328" y="3312"/>
                <a:ext cx="1296" cy="1440"/>
              </a:xfrm>
              <a:prstGeom prst="rect">
                <a:avLst/>
              </a:prstGeom>
              <a:noFill/>
              <a:ln w="9525" cap="flat" cmpd="sng">
                <a:solidFill>
                  <a:srgbClr val="FF0000"/>
                </a:solidFill>
                <a:prstDash val="solid"/>
                <a:miter/>
                <a:headEnd type="none" w="med" len="med"/>
                <a:tailEnd type="none" w="med" len="med"/>
              </a:ln>
            </p:spPr>
            <p:txBody>
              <a:bodyPr/>
              <a:lstStyle/>
              <a:p>
                <a:endParaRPr lang="en-US"/>
              </a:p>
            </p:txBody>
          </p:sp>
          <p:sp>
            <p:nvSpPr>
              <p:cNvPr id="26632" name="Oval 26631"/>
              <p:cNvSpPr/>
              <p:nvPr/>
            </p:nvSpPr>
            <p:spPr>
              <a:xfrm>
                <a:off x="1472" y="3648"/>
                <a:ext cx="1008" cy="960"/>
              </a:xfrm>
              <a:prstGeom prst="ellipse">
                <a:avLst/>
              </a:prstGeom>
              <a:noFill/>
              <a:ln w="9525" cap="flat" cmpd="sng">
                <a:solidFill>
                  <a:srgbClr val="3333CC"/>
                </a:solidFill>
                <a:prstDash val="solid"/>
                <a:headEnd type="none" w="med" len="med"/>
                <a:tailEnd type="none" w="med" len="med"/>
              </a:ln>
            </p:spPr>
            <p:txBody>
              <a:bodyPr/>
              <a:lstStyle/>
              <a:p>
                <a:endParaRPr lang="en-US"/>
              </a:p>
            </p:txBody>
          </p:sp>
          <p:sp>
            <p:nvSpPr>
              <p:cNvPr id="26633" name="Straight Connector 26632"/>
              <p:cNvSpPr/>
              <p:nvPr/>
            </p:nvSpPr>
            <p:spPr>
              <a:xfrm>
                <a:off x="1955" y="3984"/>
                <a:ext cx="0" cy="192"/>
              </a:xfrm>
              <a:prstGeom prst="line">
                <a:avLst/>
              </a:prstGeom>
              <a:ln w="9525" cap="flat" cmpd="sng">
                <a:solidFill>
                  <a:schemeClr val="tx1"/>
                </a:solidFill>
                <a:prstDash val="solid"/>
                <a:headEnd type="arrow" w="med" len="med"/>
                <a:tailEnd type="arrow" w="med" len="med"/>
              </a:ln>
            </p:spPr>
          </p:sp>
        </p:grpSp>
        <p:sp>
          <p:nvSpPr>
            <p:cNvPr id="26634" name="Text Box 26633"/>
            <p:cNvSpPr txBox="1"/>
            <p:nvPr/>
          </p:nvSpPr>
          <p:spPr>
            <a:xfrm>
              <a:off x="704" y="3552"/>
              <a:ext cx="768" cy="404"/>
            </a:xfrm>
            <a:prstGeom prst="rect">
              <a:avLst/>
            </a:prstGeom>
            <a:noFill/>
            <a:ln w="9525">
              <a:noFill/>
            </a:ln>
          </p:spPr>
          <p:txBody>
            <a:bodyPr>
              <a:spAutoFit/>
            </a:bodyPr>
            <a:lstStyle/>
            <a:p>
              <a:pPr algn="ctr" eaLnBrk="0" hangingPunct="0">
                <a:spcBef>
                  <a:spcPct val="50000"/>
                </a:spcBef>
              </a:pPr>
              <a:r>
                <a:rPr/>
                <a:t>unité d'entrée</a:t>
              </a:r>
            </a:p>
          </p:txBody>
        </p:sp>
        <p:sp>
          <p:nvSpPr>
            <p:cNvPr id="26635" name="Text Box 26634"/>
            <p:cNvSpPr txBox="1"/>
            <p:nvPr/>
          </p:nvSpPr>
          <p:spPr>
            <a:xfrm>
              <a:off x="2576" y="4176"/>
              <a:ext cx="768" cy="404"/>
            </a:xfrm>
            <a:prstGeom prst="rect">
              <a:avLst/>
            </a:prstGeom>
            <a:noFill/>
            <a:ln w="9525">
              <a:noFill/>
            </a:ln>
          </p:spPr>
          <p:txBody>
            <a:bodyPr>
              <a:spAutoFit/>
            </a:bodyPr>
            <a:lstStyle/>
            <a:p>
              <a:pPr algn="ctr" eaLnBrk="0" hangingPunct="0"/>
              <a:r>
                <a:rPr/>
                <a:t>unité </a:t>
              </a:r>
            </a:p>
            <a:p>
              <a:pPr algn="ctr" eaLnBrk="0" hangingPunct="0"/>
              <a:r>
                <a:rPr/>
                <a:t>de sortie</a:t>
              </a:r>
            </a:p>
          </p:txBody>
        </p:sp>
        <p:sp>
          <p:nvSpPr>
            <p:cNvPr id="26636" name="Text Box 26635"/>
            <p:cNvSpPr txBox="1"/>
            <p:nvPr/>
          </p:nvSpPr>
          <p:spPr>
            <a:xfrm>
              <a:off x="608" y="4080"/>
              <a:ext cx="720" cy="231"/>
            </a:xfrm>
            <a:prstGeom prst="rect">
              <a:avLst/>
            </a:prstGeom>
            <a:noFill/>
            <a:ln w="9525">
              <a:noFill/>
            </a:ln>
          </p:spPr>
          <p:txBody>
            <a:bodyPr>
              <a:spAutoFit/>
            </a:bodyPr>
            <a:lstStyle/>
            <a:p>
              <a:pPr eaLnBrk="0" hangingPunct="0">
                <a:spcBef>
                  <a:spcPct val="50000"/>
                </a:spcBef>
              </a:pPr>
              <a:r>
                <a:rPr/>
                <a:t>Données</a:t>
              </a:r>
            </a:p>
          </p:txBody>
        </p:sp>
        <p:sp>
          <p:nvSpPr>
            <p:cNvPr id="26637" name="Freeform 26636"/>
            <p:cNvSpPr/>
            <p:nvPr/>
          </p:nvSpPr>
          <p:spPr>
            <a:xfrm>
              <a:off x="2496" y="2304"/>
              <a:ext cx="1216" cy="1728"/>
            </a:xfrm>
            <a:custGeom>
              <a:avLst/>
              <a:gdLst/>
              <a:ahLst/>
              <a:cxnLst/>
              <a:rect l="0" t="0" r="0" b="0"/>
              <a:pathLst>
                <a:path w="1312" h="1824">
                  <a:moveTo>
                    <a:pt x="0" y="0"/>
                  </a:moveTo>
                  <a:cubicBezTo>
                    <a:pt x="256" y="32"/>
                    <a:pt x="512" y="64"/>
                    <a:pt x="720" y="192"/>
                  </a:cubicBezTo>
                  <a:cubicBezTo>
                    <a:pt x="928" y="320"/>
                    <a:pt x="1184" y="528"/>
                    <a:pt x="1248" y="768"/>
                  </a:cubicBezTo>
                  <a:cubicBezTo>
                    <a:pt x="1312" y="1008"/>
                    <a:pt x="1272" y="1456"/>
                    <a:pt x="1104" y="1632"/>
                  </a:cubicBezTo>
                  <a:cubicBezTo>
                    <a:pt x="936" y="1808"/>
                    <a:pt x="384" y="1792"/>
                    <a:pt x="240" y="1824"/>
                  </a:cubicBezTo>
                </a:path>
              </a:pathLst>
            </a:custGeom>
            <a:noFill/>
            <a:ln w="9525" cap="flat" cmpd="sng">
              <a:solidFill>
                <a:schemeClr val="accent2"/>
              </a:solidFill>
              <a:prstDash val="solid"/>
              <a:headEnd type="arrow" w="med" len="med"/>
              <a:tailEnd type="none" w="med" len="med"/>
            </a:ln>
          </p:spPr>
          <p:txBody>
            <a:bodyPr/>
            <a:lstStyle/>
            <a:p>
              <a:endParaRPr lang="en-US"/>
            </a:p>
          </p:txBody>
        </p:sp>
        <p:sp>
          <p:nvSpPr>
            <p:cNvPr id="26638" name="Text Box 26637"/>
            <p:cNvSpPr txBox="1"/>
            <p:nvPr/>
          </p:nvSpPr>
          <p:spPr>
            <a:xfrm>
              <a:off x="3392" y="3936"/>
              <a:ext cx="672" cy="231"/>
            </a:xfrm>
            <a:prstGeom prst="rect">
              <a:avLst/>
            </a:prstGeom>
            <a:noFill/>
            <a:ln w="9525">
              <a:noFill/>
            </a:ln>
          </p:spPr>
          <p:txBody>
            <a:bodyPr>
              <a:spAutoFit/>
            </a:bodyPr>
            <a:lstStyle/>
            <a:p>
              <a:pPr eaLnBrk="0" hangingPunct="0">
                <a:spcBef>
                  <a:spcPct val="50000"/>
                </a:spcBef>
              </a:pPr>
              <a:r>
                <a:rPr/>
                <a:t>Résultats</a:t>
              </a:r>
            </a:p>
          </p:txBody>
        </p:sp>
        <p:sp>
          <p:nvSpPr>
            <p:cNvPr id="26639" name="Freeform 26638"/>
            <p:cNvSpPr/>
            <p:nvPr/>
          </p:nvSpPr>
          <p:spPr>
            <a:xfrm>
              <a:off x="336" y="2304"/>
              <a:ext cx="1088" cy="1680"/>
            </a:xfrm>
            <a:custGeom>
              <a:avLst/>
              <a:gdLst/>
              <a:ahLst/>
              <a:cxnLst/>
              <a:rect l="0" t="0" r="0" b="0"/>
              <a:pathLst>
                <a:path w="1088" h="1680">
                  <a:moveTo>
                    <a:pt x="1088" y="0"/>
                  </a:moveTo>
                  <a:cubicBezTo>
                    <a:pt x="880" y="24"/>
                    <a:pt x="672" y="48"/>
                    <a:pt x="512" y="144"/>
                  </a:cubicBezTo>
                  <a:cubicBezTo>
                    <a:pt x="352" y="240"/>
                    <a:pt x="208" y="368"/>
                    <a:pt x="128" y="576"/>
                  </a:cubicBezTo>
                  <a:cubicBezTo>
                    <a:pt x="48" y="784"/>
                    <a:pt x="0" y="1216"/>
                    <a:pt x="32" y="1392"/>
                  </a:cubicBezTo>
                  <a:cubicBezTo>
                    <a:pt x="64" y="1568"/>
                    <a:pt x="168" y="1584"/>
                    <a:pt x="320" y="1632"/>
                  </a:cubicBezTo>
                  <a:cubicBezTo>
                    <a:pt x="472" y="1680"/>
                    <a:pt x="840" y="1672"/>
                    <a:pt x="944" y="1680"/>
                  </a:cubicBezTo>
                </a:path>
              </a:pathLst>
            </a:custGeom>
            <a:noFill/>
            <a:ln w="9525" cap="flat" cmpd="sng">
              <a:solidFill>
                <a:schemeClr val="accent2"/>
              </a:solidFill>
              <a:prstDash val="solid"/>
              <a:headEnd type="none" w="med" len="med"/>
              <a:tailEnd type="arrow" w="med" len="med"/>
            </a:ln>
          </p:spPr>
          <p:txBody>
            <a:bodyPr/>
            <a:lstStyle/>
            <a:p>
              <a:endParaRPr lang="en-US"/>
            </a:p>
          </p:txBody>
        </p:sp>
      </p:grpSp>
      <p:graphicFrame>
        <p:nvGraphicFramePr>
          <p:cNvPr id="26640" name="Object 26639"/>
          <p:cNvGraphicFramePr/>
          <p:nvPr/>
        </p:nvGraphicFramePr>
        <p:xfrm>
          <a:off x="5105401" y="1079500"/>
          <a:ext cx="669925" cy="1295400"/>
        </p:xfrm>
        <a:graphic>
          <a:graphicData uri="http://schemas.openxmlformats.org/presentationml/2006/ole">
            <mc:AlternateContent xmlns:mc="http://schemas.openxmlformats.org/markup-compatibility/2006">
              <mc:Choice xmlns:v="urn:schemas-microsoft-com:vml" Requires="v">
                <p:oleObj spid="_x0000_s1031" r:id="rId3" imgW="1268095" imgH="2449830" progId="MS_ClipArt_Gallery.2">
                  <p:embed/>
                </p:oleObj>
              </mc:Choice>
              <mc:Fallback>
                <p:oleObj r:id="rId3" imgW="1268095" imgH="2449830" progId="MS_ClipArt_Gallery.2">
                  <p:embed/>
                  <p:pic>
                    <p:nvPicPr>
                      <p:cNvPr id="0" name=""/>
                      <p:cNvPicPr/>
                      <p:nvPr/>
                    </p:nvPicPr>
                    <p:blipFill>
                      <a:blip r:embed="rId4"/>
                      <a:stretch>
                        <a:fillRect/>
                      </a:stretch>
                    </p:blipFill>
                    <p:spPr>
                      <a:xfrm>
                        <a:off x="5105401" y="1079500"/>
                        <a:ext cx="669925" cy="1295400"/>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115217536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7649"/>
          <p:cNvPicPr>
            <a:picLocks noChangeAspect="1"/>
          </p:cNvPicPr>
          <p:nvPr/>
        </p:nvPicPr>
        <p:blipFill>
          <a:blip r:embed="rId2"/>
          <a:stretch>
            <a:fillRect/>
          </a:stretch>
        </p:blipFill>
        <p:spPr>
          <a:xfrm>
            <a:off x="2209800" y="457200"/>
            <a:ext cx="7467600" cy="6046788"/>
          </a:xfrm>
          <a:prstGeom prst="rect">
            <a:avLst/>
          </a:prstGeom>
          <a:noFill/>
          <a:ln w="9525">
            <a:noFill/>
          </a:ln>
        </p:spPr>
      </p:pic>
    </p:spTree>
    <p:extLst>
      <p:ext uri="{BB962C8B-B14F-4D97-AF65-F5344CB8AC3E}">
        <p14:creationId xmlns:p14="http://schemas.microsoft.com/office/powerpoint/2010/main" val="114476738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36865"/>
          <p:cNvSpPr txBox="1"/>
          <p:nvPr/>
        </p:nvSpPr>
        <p:spPr>
          <a:xfrm>
            <a:off x="4572000" y="25401"/>
            <a:ext cx="3200400" cy="396875"/>
          </a:xfrm>
          <a:prstGeom prst="rect">
            <a:avLst/>
          </a:prstGeom>
          <a:noFill/>
          <a:ln w="9525">
            <a:noFill/>
          </a:ln>
        </p:spPr>
        <p:txBody>
          <a:bodyPr>
            <a:spAutoFit/>
          </a:bodyPr>
          <a:lstStyle/>
          <a:p>
            <a:pPr>
              <a:spcBef>
                <a:spcPct val="50000"/>
              </a:spcBef>
            </a:pPr>
            <a:r>
              <a:rPr sz="2000" b="1">
                <a:solidFill>
                  <a:srgbClr val="FF0066"/>
                </a:solidFill>
              </a:rPr>
              <a:t>Architecture d’un PC .</a:t>
            </a:r>
          </a:p>
        </p:txBody>
      </p:sp>
      <p:grpSp>
        <p:nvGrpSpPr>
          <p:cNvPr id="36867" name="Group 36866"/>
          <p:cNvGrpSpPr/>
          <p:nvPr/>
        </p:nvGrpSpPr>
        <p:grpSpPr>
          <a:xfrm>
            <a:off x="1905000" y="533401"/>
            <a:ext cx="7924800" cy="6118225"/>
            <a:chOff x="288" y="263"/>
            <a:chExt cx="4992" cy="3854"/>
          </a:xfrm>
        </p:grpSpPr>
        <p:sp>
          <p:nvSpPr>
            <p:cNvPr id="36868" name="Text Box 36867"/>
            <p:cNvSpPr txBox="1"/>
            <p:nvPr/>
          </p:nvSpPr>
          <p:spPr>
            <a:xfrm>
              <a:off x="288" y="263"/>
              <a:ext cx="4992" cy="3854"/>
            </a:xfrm>
            <a:prstGeom prst="rect">
              <a:avLst/>
            </a:prstGeom>
            <a:noFill/>
            <a:ln w="9525">
              <a:noFill/>
            </a:ln>
          </p:spPr>
          <p:txBody>
            <a:bodyPr>
              <a:spAutoFit/>
            </a:bodyPr>
            <a:lstStyle/>
            <a:p>
              <a:pPr>
                <a:spcBef>
                  <a:spcPct val="50000"/>
                </a:spcBef>
              </a:pPr>
              <a:r>
                <a:rPr sz="2000" b="1">
                  <a:solidFill>
                    <a:srgbClr val="FF0066"/>
                  </a:solidFill>
                </a:rPr>
                <a:t>L’Écran.</a:t>
              </a:r>
            </a:p>
            <a:p>
              <a:pPr>
                <a:spcBef>
                  <a:spcPct val="50000"/>
                </a:spcBef>
              </a:pPr>
              <a:r>
                <a:rPr sz="2000" b="1">
                  <a:solidFill>
                    <a:srgbClr val="FF0066"/>
                  </a:solidFill>
                </a:rPr>
                <a:t>Le Clavier.</a:t>
              </a:r>
            </a:p>
            <a:p>
              <a:pPr>
                <a:spcBef>
                  <a:spcPct val="50000"/>
                </a:spcBef>
              </a:pPr>
              <a:r>
                <a:rPr sz="2000" b="1">
                  <a:solidFill>
                    <a:srgbClr val="FF0066"/>
                  </a:solidFill>
                </a:rPr>
                <a:t>La souris.</a:t>
              </a:r>
            </a:p>
            <a:p>
              <a:pPr>
                <a:spcBef>
                  <a:spcPct val="50000"/>
                </a:spcBef>
              </a:pPr>
              <a:r>
                <a:rPr sz="2000" b="1">
                  <a:solidFill>
                    <a:srgbClr val="FF0066"/>
                  </a:solidFill>
                </a:rPr>
                <a:t>	               	</a:t>
              </a:r>
              <a:r>
                <a:rPr b="1">
                  <a:solidFill>
                    <a:srgbClr val="0000FF"/>
                  </a:solidFill>
                </a:rPr>
                <a:t>Carte Mère </a:t>
              </a:r>
            </a:p>
            <a:p>
              <a:pPr>
                <a:spcBef>
                  <a:spcPct val="50000"/>
                </a:spcBef>
              </a:pPr>
              <a:r>
                <a:rPr b="1">
                  <a:solidFill>
                    <a:srgbClr val="0000FF"/>
                  </a:solidFill>
                </a:rPr>
                <a:t>			Disque Dur</a:t>
              </a:r>
            </a:p>
            <a:p>
              <a:pPr>
                <a:spcBef>
                  <a:spcPct val="50000"/>
                </a:spcBef>
              </a:pPr>
              <a:r>
                <a:rPr b="1">
                  <a:solidFill>
                    <a:srgbClr val="0000FF"/>
                  </a:solidFill>
                </a:rPr>
                <a:t>			RAM</a:t>
              </a:r>
            </a:p>
            <a:p>
              <a:pPr>
                <a:spcBef>
                  <a:spcPct val="50000"/>
                </a:spcBef>
              </a:pPr>
              <a:r>
                <a:rPr b="1">
                  <a:solidFill>
                    <a:srgbClr val="0000FF"/>
                  </a:solidFill>
                </a:rPr>
                <a:t>                                                ROM </a:t>
              </a:r>
            </a:p>
            <a:p>
              <a:pPr>
                <a:spcBef>
                  <a:spcPct val="50000"/>
                </a:spcBef>
              </a:pPr>
              <a:r>
                <a:rPr b="1">
                  <a:solidFill>
                    <a:srgbClr val="0000FF"/>
                  </a:solidFill>
                </a:rPr>
                <a:t>                                              </a:t>
              </a:r>
              <a:r>
                <a:rPr b="1" dirty="0">
                  <a:solidFill>
                    <a:srgbClr val="0000FF"/>
                  </a:solidFill>
                </a:rPr>
                <a:t> </a:t>
              </a:r>
              <a:r>
                <a:rPr b="1">
                  <a:solidFill>
                    <a:srgbClr val="0000FF"/>
                  </a:solidFill>
                </a:rPr>
                <a:t> Mémoire Cache</a:t>
              </a:r>
            </a:p>
            <a:p>
              <a:pPr>
                <a:spcBef>
                  <a:spcPct val="50000"/>
                </a:spcBef>
              </a:pPr>
              <a:r>
                <a:rPr b="1">
                  <a:solidFill>
                    <a:srgbClr val="0000FF"/>
                  </a:solidFill>
                </a:rPr>
                <a:t>			Les Lecteurs</a:t>
              </a:r>
            </a:p>
            <a:p>
              <a:pPr>
                <a:spcBef>
                  <a:spcPct val="50000"/>
                </a:spcBef>
              </a:pPr>
              <a:r>
                <a:rPr sz="2000" b="1">
                  <a:solidFill>
                    <a:srgbClr val="0000FF"/>
                  </a:solidFill>
                </a:rPr>
                <a:t> </a:t>
              </a:r>
              <a:r>
                <a:rPr sz="2000" b="1">
                  <a:solidFill>
                    <a:srgbClr val="FF0066"/>
                  </a:solidFill>
                </a:rPr>
                <a:t>Unité centrale :</a:t>
              </a:r>
              <a:r>
                <a:rPr sz="2000" b="1">
                  <a:solidFill>
                    <a:srgbClr val="0000FF"/>
                  </a:solidFill>
                </a:rPr>
                <a:t>		</a:t>
              </a:r>
              <a:r>
                <a:rPr sz="2000">
                  <a:solidFill>
                    <a:srgbClr val="0000FF"/>
                  </a:solidFill>
                </a:rPr>
                <a:t>Microprocesseur</a:t>
              </a:r>
            </a:p>
            <a:p>
              <a:pPr>
                <a:spcBef>
                  <a:spcPct val="50000"/>
                </a:spcBef>
              </a:pPr>
              <a:r>
                <a:rPr sz="2000" b="1">
                  <a:solidFill>
                    <a:srgbClr val="0000FF"/>
                  </a:solidFill>
                </a:rPr>
                <a:t>			</a:t>
              </a:r>
              <a:r>
                <a:rPr sz="2000">
                  <a:solidFill>
                    <a:srgbClr val="0000FF"/>
                  </a:solidFill>
                </a:rPr>
                <a:t>BIOS</a:t>
              </a:r>
            </a:p>
            <a:p>
              <a:pPr>
                <a:spcBef>
                  <a:spcPct val="50000"/>
                </a:spcBef>
              </a:pPr>
              <a:r>
                <a:rPr sz="2000" b="1">
                  <a:solidFill>
                    <a:srgbClr val="0000FF"/>
                  </a:solidFill>
                </a:rPr>
                <a:t>			</a:t>
              </a:r>
              <a:r>
                <a:rPr sz="2000">
                  <a:solidFill>
                    <a:srgbClr val="0000FF"/>
                  </a:solidFill>
                </a:rPr>
                <a:t>Bus</a:t>
              </a:r>
            </a:p>
            <a:p>
              <a:pPr>
                <a:spcBef>
                  <a:spcPct val="50000"/>
                </a:spcBef>
              </a:pPr>
              <a:r>
                <a:rPr sz="2000" b="1">
                  <a:solidFill>
                    <a:srgbClr val="0000FF"/>
                  </a:solidFill>
                </a:rPr>
                <a:t>			</a:t>
              </a:r>
              <a:r>
                <a:rPr sz="2000">
                  <a:solidFill>
                    <a:srgbClr val="0000FF"/>
                  </a:solidFill>
                </a:rPr>
                <a:t>Boîte d’alimentation</a:t>
              </a:r>
            </a:p>
            <a:p>
              <a:pPr>
                <a:spcBef>
                  <a:spcPct val="50000"/>
                </a:spcBef>
              </a:pPr>
              <a:r>
                <a:rPr sz="2000" b="1">
                  <a:solidFill>
                    <a:srgbClr val="0000FF"/>
                  </a:solidFill>
                </a:rPr>
                <a:t>			</a:t>
              </a:r>
              <a:r>
                <a:rPr sz="2000">
                  <a:solidFill>
                    <a:srgbClr val="0000FF"/>
                  </a:solidFill>
                </a:rPr>
                <a:t>Les Cartes d’Interfaces</a:t>
              </a:r>
              <a:r>
                <a:rPr sz="2000" b="1">
                  <a:solidFill>
                    <a:srgbClr val="0000FF"/>
                  </a:solidFill>
                </a:rPr>
                <a:t>		</a:t>
              </a:r>
              <a:endParaRPr lang="en-US" altLang="x-none" sz="2000" b="1">
                <a:solidFill>
                  <a:srgbClr val="0000FF"/>
                </a:solidFill>
              </a:endParaRPr>
            </a:p>
          </p:txBody>
        </p:sp>
        <p:sp>
          <p:nvSpPr>
            <p:cNvPr id="36869" name="Left Brace 36868"/>
            <p:cNvSpPr/>
            <p:nvPr/>
          </p:nvSpPr>
          <p:spPr>
            <a:xfrm>
              <a:off x="1623" y="1392"/>
              <a:ext cx="288" cy="2640"/>
            </a:xfrm>
            <a:prstGeom prst="leftBrace">
              <a:avLst>
                <a:gd name="adj1" fmla="val 76388"/>
                <a:gd name="adj2" fmla="val 50000"/>
              </a:avLst>
            </a:prstGeom>
            <a:noFill/>
            <a:ln w="50800" cap="flat" cmpd="sng">
              <a:solidFill>
                <a:srgbClr val="FF6600"/>
              </a:solidFill>
              <a:prstDash val="solid"/>
              <a:headEnd type="none" w="med" len="med"/>
              <a:tailEnd type="none" w="med" len="med"/>
            </a:ln>
          </p:spPr>
          <p:txBody>
            <a:bodyPr/>
            <a:lstStyle/>
            <a:p>
              <a:endParaRPr lang="en-US"/>
            </a:p>
          </p:txBody>
        </p:sp>
      </p:grpSp>
    </p:spTree>
    <p:extLst>
      <p:ext uri="{BB962C8B-B14F-4D97-AF65-F5344CB8AC3E}">
        <p14:creationId xmlns:p14="http://schemas.microsoft.com/office/powerpoint/2010/main" val="3874514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4097"/>
          <p:cNvSpPr>
            <a:spLocks noGrp="1"/>
          </p:cNvSpPr>
          <p:nvPr>
            <p:ph type="title"/>
          </p:nvPr>
        </p:nvSpPr>
        <p:spPr>
          <a:ln/>
        </p:spPr>
        <p:txBody>
          <a:bodyPr anchor="ctr" anchorCtr="0"/>
          <a:lstStyle/>
          <a:p>
            <a:r>
              <a:t>Fonctionnement de l’ordinateur </a:t>
            </a:r>
          </a:p>
        </p:txBody>
      </p:sp>
      <p:sp>
        <p:nvSpPr>
          <p:cNvPr id="4099" name="Text Placeholder 4098"/>
          <p:cNvSpPr>
            <a:spLocks noGrp="1"/>
          </p:cNvSpPr>
          <p:nvPr>
            <p:ph type="body" idx="1"/>
          </p:nvPr>
        </p:nvSpPr>
        <p:spPr>
          <a:ln/>
        </p:spPr>
        <p:txBody>
          <a:bodyPr/>
          <a:lstStyle/>
          <a:p>
            <a:pPr>
              <a:buNone/>
            </a:pPr>
            <a:r>
              <a:rPr/>
              <a:t>Globalement un ordinateur est composé :</a:t>
            </a:r>
          </a:p>
          <a:p>
            <a:pPr>
              <a:buNone/>
            </a:pPr>
            <a:endParaRPr/>
          </a:p>
          <a:p>
            <a:pPr>
              <a:buNone/>
            </a:pPr>
            <a:r>
              <a:rPr/>
              <a:t>   - d’organes d’entre (souries,clavier,….)</a:t>
            </a:r>
          </a:p>
          <a:p>
            <a:pPr>
              <a:buNone/>
            </a:pPr>
            <a:endParaRPr/>
          </a:p>
          <a:p>
            <a:pPr>
              <a:buNone/>
            </a:pPr>
            <a:r>
              <a:rPr/>
              <a:t>   - une unité centrale qui traite les information</a:t>
            </a:r>
          </a:p>
          <a:p>
            <a:pPr>
              <a:buNone/>
            </a:pPr>
            <a:endParaRPr/>
          </a:p>
          <a:p>
            <a:pPr>
              <a:buNone/>
            </a:pPr>
            <a:r>
              <a:rPr/>
              <a:t>   - d’organes de sortie ( Ecran, l’impriment,..).</a:t>
            </a:r>
          </a:p>
          <a:p>
            <a:pPr>
              <a:buNone/>
            </a:pPr>
            <a:r>
              <a:rPr/>
              <a:t>  </a:t>
            </a:r>
          </a:p>
          <a:p>
            <a:pPr>
              <a:buNone/>
            </a:pPr>
            <a:endParaRPr/>
          </a:p>
        </p:txBody>
      </p:sp>
    </p:spTree>
    <p:extLst>
      <p:ext uri="{BB962C8B-B14F-4D97-AF65-F5344CB8AC3E}">
        <p14:creationId xmlns:p14="http://schemas.microsoft.com/office/powerpoint/2010/main" val="3498038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098"/>
                                        </p:tgtEl>
                                        <p:attrNameLst>
                                          <p:attrName>style.visibility</p:attrName>
                                        </p:attrNameLst>
                                      </p:cBhvr>
                                      <p:to>
                                        <p:strVal val="visible"/>
                                      </p:to>
                                    </p:set>
                                    <p:anim calcmode="lin" valueType="num">
                                      <p:cBhvr additive="base">
                                        <p:cTn id="7" dur="500" fill="hold"/>
                                        <p:tgtEl>
                                          <p:spTgt spid="4098"/>
                                        </p:tgtEl>
                                        <p:attrNameLst>
                                          <p:attrName>ppt_x</p:attrName>
                                        </p:attrNameLst>
                                      </p:cBhvr>
                                      <p:tavLst>
                                        <p:tav tm="0">
                                          <p:val>
                                            <p:strVal val="0-#ppt_w/2"/>
                                          </p:val>
                                        </p:tav>
                                        <p:tav tm="100000">
                                          <p:val>
                                            <p:strVal val="#ppt_x"/>
                                          </p:val>
                                        </p:tav>
                                      </p:tavLst>
                                    </p:anim>
                                    <p:anim calcmode="lin" valueType="num">
                                      <p:cBhvr additive="base">
                                        <p:cTn id="8" dur="500" fill="hold"/>
                                        <p:tgtEl>
                                          <p:spTgt spid="409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099">
                                            <p:txEl>
                                              <p:pRg st="0" end="0"/>
                                            </p:txEl>
                                          </p:spTgt>
                                        </p:tgtEl>
                                        <p:attrNameLst>
                                          <p:attrName>style.visibility</p:attrName>
                                        </p:attrNameLst>
                                      </p:cBhvr>
                                      <p:to>
                                        <p:strVal val="visible"/>
                                      </p:to>
                                    </p:set>
                                    <p:anim calcmode="lin" valueType="num">
                                      <p:cBhvr additive="base">
                                        <p:cTn id="13" dur="500" fill="hold"/>
                                        <p:tgtEl>
                                          <p:spTgt spid="4099">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0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099">
                                            <p:txEl>
                                              <p:pRg st="2" end="2"/>
                                            </p:txEl>
                                          </p:spTgt>
                                        </p:tgtEl>
                                        <p:attrNameLst>
                                          <p:attrName>style.visibility</p:attrName>
                                        </p:attrNameLst>
                                      </p:cBhvr>
                                      <p:to>
                                        <p:strVal val="visible"/>
                                      </p:to>
                                    </p:set>
                                    <p:anim calcmode="lin" valueType="num">
                                      <p:cBhvr additive="base">
                                        <p:cTn id="19" dur="500" fill="hold"/>
                                        <p:tgtEl>
                                          <p:spTgt spid="409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09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099">
                                            <p:txEl>
                                              <p:pRg st="4" end="4"/>
                                            </p:txEl>
                                          </p:spTgt>
                                        </p:tgtEl>
                                        <p:attrNameLst>
                                          <p:attrName>style.visibility</p:attrName>
                                        </p:attrNameLst>
                                      </p:cBhvr>
                                      <p:to>
                                        <p:strVal val="visible"/>
                                      </p:to>
                                    </p:set>
                                    <p:anim calcmode="lin" valueType="num">
                                      <p:cBhvr additive="base">
                                        <p:cTn id="25" dur="500" fill="hold"/>
                                        <p:tgtEl>
                                          <p:spTgt spid="4099">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09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099">
                                            <p:txEl>
                                              <p:pRg st="6" end="6"/>
                                            </p:txEl>
                                          </p:spTgt>
                                        </p:tgtEl>
                                        <p:attrNameLst>
                                          <p:attrName>style.visibility</p:attrName>
                                        </p:attrNameLst>
                                      </p:cBhvr>
                                      <p:to>
                                        <p:strVal val="visible"/>
                                      </p:to>
                                    </p:set>
                                    <p:anim calcmode="lin" valueType="num">
                                      <p:cBhvr additive="base">
                                        <p:cTn id="31" dur="500" fill="hold"/>
                                        <p:tgtEl>
                                          <p:spTgt spid="4099">
                                            <p:txEl>
                                              <p:pRg st="6" end="6"/>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099">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4099">
                                            <p:txEl>
                                              <p:pRg st="7" end="7"/>
                                            </p:txEl>
                                          </p:spTgt>
                                        </p:tgtEl>
                                        <p:attrNameLst>
                                          <p:attrName>style.visibility</p:attrName>
                                        </p:attrNameLst>
                                      </p:cBhvr>
                                      <p:to>
                                        <p:strVal val="visible"/>
                                      </p:to>
                                    </p:set>
                                    <p:anim calcmode="lin" valueType="num">
                                      <p:cBhvr additive="base">
                                        <p:cTn id="37" dur="500" fill="hold"/>
                                        <p:tgtEl>
                                          <p:spTgt spid="4099">
                                            <p:txEl>
                                              <p:pRg st="7" end="7"/>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4099">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 grpId="0" animBg="1"/>
      <p:bldP spid="4099"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5121"/>
          <p:cNvSpPr>
            <a:spLocks noGrp="1"/>
          </p:cNvSpPr>
          <p:nvPr>
            <p:ph type="title"/>
          </p:nvPr>
        </p:nvSpPr>
        <p:spPr>
          <a:ln/>
        </p:spPr>
        <p:txBody>
          <a:bodyPr anchor="ctr" anchorCtr="0"/>
          <a:lstStyle/>
          <a:p>
            <a:r>
              <a:t>Les composantes de l’ordinateur</a:t>
            </a:r>
          </a:p>
        </p:txBody>
      </p:sp>
      <p:sp>
        <p:nvSpPr>
          <p:cNvPr id="5123" name="Text Placeholder 5122"/>
          <p:cNvSpPr>
            <a:spLocks noGrp="1"/>
          </p:cNvSpPr>
          <p:nvPr>
            <p:ph type="body" idx="1"/>
          </p:nvPr>
        </p:nvSpPr>
        <p:spPr>
          <a:ln/>
        </p:spPr>
        <p:txBody>
          <a:bodyPr/>
          <a:lstStyle/>
          <a:p>
            <a:pPr>
              <a:buNone/>
            </a:pPr>
            <a:r>
              <a:t>L’ordinateurs et composé de quatre éléments principaux, qui sont:</a:t>
            </a:r>
          </a:p>
          <a:p>
            <a:pPr>
              <a:buNone/>
            </a:pPr>
            <a:r>
              <a:t>  -l’unité centrale </a:t>
            </a:r>
          </a:p>
          <a:p>
            <a:pPr>
              <a:buNone/>
            </a:pPr>
            <a:r>
              <a:t>  - l’écran </a:t>
            </a:r>
          </a:p>
          <a:p>
            <a:pPr>
              <a:buNone/>
            </a:pPr>
            <a:r>
              <a:t>  - le clavier </a:t>
            </a:r>
          </a:p>
          <a:p>
            <a:pPr>
              <a:buNone/>
            </a:pPr>
            <a:r>
              <a:t>  -la souris.</a:t>
            </a:r>
          </a:p>
          <a:p>
            <a:pPr>
              <a:buNone/>
            </a:pPr>
            <a:endParaRPr/>
          </a:p>
        </p:txBody>
      </p:sp>
    </p:spTree>
    <p:extLst>
      <p:ext uri="{BB962C8B-B14F-4D97-AF65-F5344CB8AC3E}">
        <p14:creationId xmlns:p14="http://schemas.microsoft.com/office/powerpoint/2010/main" val="3392753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anim calcmode="lin" valueType="num">
                                      <p:cBhvr additive="base">
                                        <p:cTn id="7" dur="500" fill="hold"/>
                                        <p:tgtEl>
                                          <p:spTgt spid="5122"/>
                                        </p:tgtEl>
                                        <p:attrNameLst>
                                          <p:attrName>ppt_x</p:attrName>
                                        </p:attrNameLst>
                                      </p:cBhvr>
                                      <p:tavLst>
                                        <p:tav tm="0">
                                          <p:val>
                                            <p:strVal val="0-#ppt_w/2"/>
                                          </p:val>
                                        </p:tav>
                                        <p:tav tm="100000">
                                          <p:val>
                                            <p:strVal val="#ppt_x"/>
                                          </p:val>
                                        </p:tav>
                                      </p:tavLst>
                                    </p:anim>
                                    <p:anim calcmode="lin" valueType="num">
                                      <p:cBhvr additive="base">
                                        <p:cTn id="8" dur="500" fill="hold"/>
                                        <p:tgtEl>
                                          <p:spTgt spid="512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123">
                                            <p:txEl>
                                              <p:pRg st="0" end="0"/>
                                            </p:txEl>
                                          </p:spTgt>
                                        </p:tgtEl>
                                        <p:attrNameLst>
                                          <p:attrName>style.visibility</p:attrName>
                                        </p:attrNameLst>
                                      </p:cBhvr>
                                      <p:to>
                                        <p:strVal val="visible"/>
                                      </p:to>
                                    </p:set>
                                    <p:anim calcmode="lin" valueType="num">
                                      <p:cBhvr additive="base">
                                        <p:cTn id="13" dur="500" fill="hold"/>
                                        <p:tgtEl>
                                          <p:spTgt spid="5123">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1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123">
                                            <p:txEl>
                                              <p:pRg st="1" end="1"/>
                                            </p:txEl>
                                          </p:spTgt>
                                        </p:tgtEl>
                                        <p:attrNameLst>
                                          <p:attrName>style.visibility</p:attrName>
                                        </p:attrNameLst>
                                      </p:cBhvr>
                                      <p:to>
                                        <p:strVal val="visible"/>
                                      </p:to>
                                    </p:set>
                                    <p:anim calcmode="lin" valueType="num">
                                      <p:cBhvr additive="base">
                                        <p:cTn id="19" dur="500" fill="hold"/>
                                        <p:tgtEl>
                                          <p:spTgt spid="5123">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1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123">
                                            <p:txEl>
                                              <p:pRg st="2" end="2"/>
                                            </p:txEl>
                                          </p:spTgt>
                                        </p:tgtEl>
                                        <p:attrNameLst>
                                          <p:attrName>style.visibility</p:attrName>
                                        </p:attrNameLst>
                                      </p:cBhvr>
                                      <p:to>
                                        <p:strVal val="visible"/>
                                      </p:to>
                                    </p:set>
                                    <p:anim calcmode="lin" valueType="num">
                                      <p:cBhvr additive="base">
                                        <p:cTn id="25" dur="500" fill="hold"/>
                                        <p:tgtEl>
                                          <p:spTgt spid="5123">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12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123">
                                            <p:txEl>
                                              <p:pRg st="3" end="3"/>
                                            </p:txEl>
                                          </p:spTgt>
                                        </p:tgtEl>
                                        <p:attrNameLst>
                                          <p:attrName>style.visibility</p:attrName>
                                        </p:attrNameLst>
                                      </p:cBhvr>
                                      <p:to>
                                        <p:strVal val="visible"/>
                                      </p:to>
                                    </p:set>
                                    <p:anim calcmode="lin" valueType="num">
                                      <p:cBhvr additive="base">
                                        <p:cTn id="31" dur="500" fill="hold"/>
                                        <p:tgtEl>
                                          <p:spTgt spid="5123">
                                            <p:txEl>
                                              <p:pRg st="3" end="3"/>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12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5123">
                                            <p:txEl>
                                              <p:pRg st="4" end="4"/>
                                            </p:txEl>
                                          </p:spTgt>
                                        </p:tgtEl>
                                        <p:attrNameLst>
                                          <p:attrName>style.visibility</p:attrName>
                                        </p:attrNameLst>
                                      </p:cBhvr>
                                      <p:to>
                                        <p:strVal val="visible"/>
                                      </p:to>
                                    </p:set>
                                    <p:anim calcmode="lin" valueType="num">
                                      <p:cBhvr additive="base">
                                        <p:cTn id="37" dur="500" fill="hold"/>
                                        <p:tgtEl>
                                          <p:spTgt spid="5123">
                                            <p:txEl>
                                              <p:pRg st="4" end="4"/>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512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animBg="1"/>
      <p:bldP spid="512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6145"/>
          <p:cNvSpPr>
            <a:spLocks noGrp="1"/>
          </p:cNvSpPr>
          <p:nvPr>
            <p:ph type="title"/>
          </p:nvPr>
        </p:nvSpPr>
        <p:spPr>
          <a:ln/>
        </p:spPr>
        <p:txBody>
          <a:bodyPr anchor="ctr" anchorCtr="0"/>
          <a:lstStyle/>
          <a:p>
            <a:r>
              <a:t>L’unité central</a:t>
            </a:r>
          </a:p>
        </p:txBody>
      </p:sp>
      <p:sp>
        <p:nvSpPr>
          <p:cNvPr id="6147" name="Text Placeholder 6146"/>
          <p:cNvSpPr>
            <a:spLocks noGrp="1"/>
          </p:cNvSpPr>
          <p:nvPr>
            <p:ph type="body" idx="1"/>
          </p:nvPr>
        </p:nvSpPr>
        <p:spPr>
          <a:ln/>
        </p:spPr>
        <p:txBody>
          <a:bodyPr/>
          <a:lstStyle/>
          <a:p>
            <a:r>
              <a:t>L’unité central est l’élément principal de l’ordinateur puisque c’est elle qui renferme  les composants électroniques qui vont faire fonctionner l’ensemble dans l’unité centrale, on trouve les composants suivants.</a:t>
            </a:r>
          </a:p>
          <a:p>
            <a:pPr>
              <a:buNone/>
            </a:pPr>
            <a:r>
              <a:t>    </a:t>
            </a:r>
          </a:p>
        </p:txBody>
      </p:sp>
    </p:spTree>
    <p:extLst>
      <p:ext uri="{BB962C8B-B14F-4D97-AF65-F5344CB8AC3E}">
        <p14:creationId xmlns:p14="http://schemas.microsoft.com/office/powerpoint/2010/main" val="3241164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146"/>
                                        </p:tgtEl>
                                        <p:attrNameLst>
                                          <p:attrName>style.visibility</p:attrName>
                                        </p:attrNameLst>
                                      </p:cBhvr>
                                      <p:to>
                                        <p:strVal val="visible"/>
                                      </p:to>
                                    </p:set>
                                    <p:anim calcmode="lin" valueType="num">
                                      <p:cBhvr additive="base">
                                        <p:cTn id="7" dur="500" fill="hold"/>
                                        <p:tgtEl>
                                          <p:spTgt spid="6146"/>
                                        </p:tgtEl>
                                        <p:attrNameLst>
                                          <p:attrName>ppt_x</p:attrName>
                                        </p:attrNameLst>
                                      </p:cBhvr>
                                      <p:tavLst>
                                        <p:tav tm="0">
                                          <p:val>
                                            <p:strVal val="0-#ppt_w/2"/>
                                          </p:val>
                                        </p:tav>
                                        <p:tav tm="100000">
                                          <p:val>
                                            <p:strVal val="#ppt_x"/>
                                          </p:val>
                                        </p:tav>
                                      </p:tavLst>
                                    </p:anim>
                                    <p:anim calcmode="lin" valueType="num">
                                      <p:cBhvr additive="base">
                                        <p:cTn id="8" dur="500" fill="hold"/>
                                        <p:tgtEl>
                                          <p:spTgt spid="614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147">
                                            <p:txEl>
                                              <p:pRg st="0" end="0"/>
                                            </p:txEl>
                                          </p:spTgt>
                                        </p:tgtEl>
                                        <p:attrNameLst>
                                          <p:attrName>style.visibility</p:attrName>
                                        </p:attrNameLst>
                                      </p:cBhvr>
                                      <p:to>
                                        <p:strVal val="visible"/>
                                      </p:to>
                                    </p:set>
                                    <p:anim calcmode="lin" valueType="num">
                                      <p:cBhvr additive="base">
                                        <p:cTn id="13" dur="500" fill="hold"/>
                                        <p:tgtEl>
                                          <p:spTgt spid="6147">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1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147">
                                            <p:txEl>
                                              <p:pRg st="1" end="1"/>
                                            </p:txEl>
                                          </p:spTgt>
                                        </p:tgtEl>
                                        <p:attrNameLst>
                                          <p:attrName>style.visibility</p:attrName>
                                        </p:attrNameLst>
                                      </p:cBhvr>
                                      <p:to>
                                        <p:strVal val="visible"/>
                                      </p:to>
                                    </p:set>
                                    <p:anim calcmode="lin" valueType="num">
                                      <p:cBhvr additive="base">
                                        <p:cTn id="19" dur="500" fill="hold"/>
                                        <p:tgtEl>
                                          <p:spTgt spid="6147">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147">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animBg="1"/>
      <p:bldP spid="6147"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32769"/>
          <p:cNvSpPr txBox="1"/>
          <p:nvPr/>
        </p:nvSpPr>
        <p:spPr>
          <a:xfrm>
            <a:off x="3429000" y="457201"/>
            <a:ext cx="5410200" cy="519113"/>
          </a:xfrm>
          <a:prstGeom prst="rect">
            <a:avLst/>
          </a:prstGeom>
          <a:noFill/>
          <a:ln w="9525">
            <a:noFill/>
          </a:ln>
        </p:spPr>
        <p:txBody>
          <a:bodyPr>
            <a:spAutoFit/>
          </a:bodyPr>
          <a:lstStyle/>
          <a:p>
            <a:pPr>
              <a:spcBef>
                <a:spcPct val="50000"/>
              </a:spcBef>
            </a:pPr>
            <a:r>
              <a:rPr sz="2800" b="1" u="sng">
                <a:solidFill>
                  <a:srgbClr val="FF0066"/>
                </a:solidFill>
              </a:rPr>
              <a:t>Le boîtier Horizontal (</a:t>
            </a:r>
            <a:r>
              <a:rPr sz="2800" b="1" u="sng" err="1">
                <a:solidFill>
                  <a:srgbClr val="FF0066"/>
                </a:solidFill>
              </a:rPr>
              <a:t>Desktop</a:t>
            </a:r>
            <a:r>
              <a:rPr sz="2800" b="1" u="sng">
                <a:solidFill>
                  <a:srgbClr val="FF0066"/>
                </a:solidFill>
              </a:rPr>
              <a:t>)</a:t>
            </a:r>
            <a:endParaRPr lang="en-US" altLang="x-none" sz="2800" b="1" u="sng" dirty="0">
              <a:solidFill>
                <a:srgbClr val="FF0066"/>
              </a:solidFill>
            </a:endParaRPr>
          </a:p>
        </p:txBody>
      </p:sp>
      <p:graphicFrame>
        <p:nvGraphicFramePr>
          <p:cNvPr id="32771" name="Object 32770"/>
          <p:cNvGraphicFramePr/>
          <p:nvPr/>
        </p:nvGraphicFramePr>
        <p:xfrm>
          <a:off x="4191000" y="1600201"/>
          <a:ext cx="4019550" cy="1038225"/>
        </p:xfrm>
        <a:graphic>
          <a:graphicData uri="http://schemas.openxmlformats.org/presentationml/2006/ole">
            <mc:AlternateContent xmlns:mc="http://schemas.openxmlformats.org/markup-compatibility/2006">
              <mc:Choice xmlns:v="urn:schemas-microsoft-com:vml" Requires="v">
                <p:oleObj spid="_x0000_s2055" r:id="rId3" imgW="4019550" imgH="1038225" progId="Paint.Picture">
                  <p:embed/>
                </p:oleObj>
              </mc:Choice>
              <mc:Fallback>
                <p:oleObj r:id="rId3" imgW="4019550" imgH="1038225" progId="Paint.Picture">
                  <p:embed/>
                  <p:pic>
                    <p:nvPicPr>
                      <p:cNvPr id="0" name=""/>
                      <p:cNvPicPr/>
                      <p:nvPr/>
                    </p:nvPicPr>
                    <p:blipFill>
                      <a:blip r:embed="rId4"/>
                      <a:stretch>
                        <a:fillRect/>
                      </a:stretch>
                    </p:blipFill>
                    <p:spPr>
                      <a:xfrm>
                        <a:off x="4191000" y="1600201"/>
                        <a:ext cx="4019550" cy="1038225"/>
                      </a:xfrm>
                      <a:prstGeom prst="rect">
                        <a:avLst/>
                      </a:prstGeom>
                      <a:noFill/>
                      <a:ln w="38100">
                        <a:noFill/>
                        <a:miter/>
                      </a:ln>
                    </p:spPr>
                  </p:pic>
                </p:oleObj>
              </mc:Fallback>
            </mc:AlternateContent>
          </a:graphicData>
        </a:graphic>
      </p:graphicFrame>
      <p:sp>
        <p:nvSpPr>
          <p:cNvPr id="32772" name="Text Box 32771"/>
          <p:cNvSpPr txBox="1"/>
          <p:nvPr/>
        </p:nvSpPr>
        <p:spPr>
          <a:xfrm>
            <a:off x="2438400" y="4095750"/>
            <a:ext cx="7543800" cy="369332"/>
          </a:xfrm>
          <a:prstGeom prst="rect">
            <a:avLst/>
          </a:prstGeom>
          <a:noFill/>
          <a:ln w="9525">
            <a:noFill/>
          </a:ln>
        </p:spPr>
        <p:txBody>
          <a:bodyPr>
            <a:spAutoFit/>
          </a:bodyPr>
          <a:lstStyle/>
          <a:p>
            <a:pPr>
              <a:spcBef>
                <a:spcPct val="50000"/>
              </a:spcBef>
            </a:pPr>
            <a:r>
              <a:t>- Permet de poser le moniteur dessus (jusqu’aux écran17’) .</a:t>
            </a:r>
            <a:endParaRPr lang="en-US" altLang="x-none" dirty="0"/>
          </a:p>
        </p:txBody>
      </p:sp>
      <p:sp>
        <p:nvSpPr>
          <p:cNvPr id="32773" name="Text Box 32772"/>
          <p:cNvSpPr txBox="1"/>
          <p:nvPr/>
        </p:nvSpPr>
        <p:spPr>
          <a:xfrm>
            <a:off x="2438400" y="4857750"/>
            <a:ext cx="7391400" cy="369332"/>
          </a:xfrm>
          <a:prstGeom prst="rect">
            <a:avLst/>
          </a:prstGeom>
          <a:noFill/>
          <a:ln w="9525">
            <a:noFill/>
          </a:ln>
        </p:spPr>
        <p:txBody>
          <a:bodyPr>
            <a:spAutoFit/>
          </a:bodyPr>
          <a:lstStyle/>
          <a:p>
            <a:pPr>
              <a:spcBef>
                <a:spcPct val="50000"/>
              </a:spcBef>
            </a:pPr>
            <a:r>
              <a:t>- Problème de circulation de l’air .</a:t>
            </a:r>
            <a:endParaRPr lang="en-US" altLang="x-none" dirty="0"/>
          </a:p>
        </p:txBody>
      </p:sp>
    </p:spTree>
    <p:extLst>
      <p:ext uri="{BB962C8B-B14F-4D97-AF65-F5344CB8AC3E}">
        <p14:creationId xmlns:p14="http://schemas.microsoft.com/office/powerpoint/2010/main" val="4074134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2770"/>
                                        </p:tgtEl>
                                        <p:attrNameLst>
                                          <p:attrName>style.visibility</p:attrName>
                                        </p:attrNameLst>
                                      </p:cBhvr>
                                      <p:to>
                                        <p:strVal val="visible"/>
                                      </p:to>
                                    </p:set>
                                    <p:animEffect transition="in" filter="box(in)">
                                      <p:cBhvr>
                                        <p:cTn id="7" dur="500"/>
                                        <p:tgtEl>
                                          <p:spTgt spid="32770"/>
                                        </p:tgtEl>
                                      </p:cBhvr>
                                    </p:animEffect>
                                  </p:childTnLst>
                                </p:cTn>
                              </p:par>
                            </p:childTnLst>
                          </p:cTn>
                        </p:par>
                      </p:childTnLst>
                    </p:cTn>
                  </p:par>
                  <p:par>
                    <p:cTn id="8" fill="hold">
                      <p:stCondLst>
                        <p:cond delay="indefinite"/>
                      </p:stCondLst>
                      <p:childTnLst>
                        <p:par>
                          <p:cTn id="9" fill="hold">
                            <p:stCondLst>
                              <p:cond delay="0"/>
                            </p:stCondLst>
                            <p:childTnLst>
                              <p:par>
                                <p:cTn id="10" presetID="15" presetClass="entr" presetSubtype="0" fill="hold" nodeType="clickEffect">
                                  <p:stCondLst>
                                    <p:cond delay="0"/>
                                  </p:stCondLst>
                                  <p:childTnLst>
                                    <p:set>
                                      <p:cBhvr>
                                        <p:cTn id="11" dur="1" fill="hold">
                                          <p:stCondLst>
                                            <p:cond delay="0"/>
                                          </p:stCondLst>
                                        </p:cTn>
                                        <p:tgtEl>
                                          <p:spTgt spid="32771"/>
                                        </p:tgtEl>
                                        <p:attrNameLst>
                                          <p:attrName>style.visibility</p:attrName>
                                        </p:attrNameLst>
                                      </p:cBhvr>
                                      <p:to>
                                        <p:strVal val="visible"/>
                                      </p:to>
                                    </p:set>
                                    <p:anim calcmode="lin" valueType="num">
                                      <p:cBhvr>
                                        <p:cTn id="12" dur="1000" fill="hold"/>
                                        <p:tgtEl>
                                          <p:spTgt spid="32771"/>
                                        </p:tgtEl>
                                        <p:attrNameLst>
                                          <p:attrName>ppt_w</p:attrName>
                                        </p:attrNameLst>
                                      </p:cBhvr>
                                      <p:tavLst>
                                        <p:tav tm="0">
                                          <p:val>
                                            <p:fltVal val="0"/>
                                          </p:val>
                                        </p:tav>
                                        <p:tav tm="100000">
                                          <p:val>
                                            <p:strVal val="#ppt_w"/>
                                          </p:val>
                                        </p:tav>
                                      </p:tavLst>
                                    </p:anim>
                                    <p:anim calcmode="lin" valueType="num">
                                      <p:cBhvr>
                                        <p:cTn id="13" dur="1000" fill="hold"/>
                                        <p:tgtEl>
                                          <p:spTgt spid="32771"/>
                                        </p:tgtEl>
                                        <p:attrNameLst>
                                          <p:attrName>ppt_h</p:attrName>
                                        </p:attrNameLst>
                                      </p:cBhvr>
                                      <p:tavLst>
                                        <p:tav tm="0">
                                          <p:val>
                                            <p:fltVal val="0"/>
                                          </p:val>
                                        </p:tav>
                                        <p:tav tm="100000">
                                          <p:val>
                                            <p:strVal val="#ppt_h"/>
                                          </p:val>
                                        </p:tav>
                                      </p:tavLst>
                                    </p:anim>
                                    <p:anim calcmode="lin" valueType="num">
                                      <p:cBhvr>
                                        <p:cTn id="14" dur="1000" fill="hold"/>
                                        <p:tgtEl>
                                          <p:spTgt spid="32771"/>
                                        </p:tgtEl>
                                        <p:attrNameLst>
                                          <p:attrName>ppt_x</p:attrName>
                                        </p:attrNameLst>
                                      </p:cBhvr>
                                      <p:tavLst>
                                        <p:tav tm="0" fmla="#ppt_x+(cos(-2*pi*(1-$))*-#ppt_x-sin(-2*pi*(1-$))*(1-#ppt_y))*(1-$)">
                                          <p:val>
                                            <p:fltVal val="0"/>
                                          </p:val>
                                        </p:tav>
                                        <p:tav tm="100000">
                                          <p:val>
                                            <p:fltVal val="0"/>
                                          </p:val>
                                        </p:tav>
                                      </p:tavLst>
                                    </p:anim>
                                    <p:anim calcmode="lin" valueType="num">
                                      <p:cBhvr>
                                        <p:cTn id="15" dur="1000" fill="hold"/>
                                        <p:tgtEl>
                                          <p:spTgt spid="32771"/>
                                        </p:tgtEl>
                                        <p:attrNameLst>
                                          <p:attrName>ppt_y</p:attrName>
                                        </p:attrNameLst>
                                      </p:cBhvr>
                                      <p:tavLst>
                                        <p:tav tm="0" fmla="#ppt_y+(sin(-2*pi*(1-$))*-#ppt_x+cos(-2*pi*(1-$))*(1-#ppt_y))*(1-$)">
                                          <p:val>
                                            <p:fltVal val="0"/>
                                          </p:val>
                                        </p:tav>
                                        <p:tav tm="100000">
                                          <p:val>
                                            <p:fltVal val="0"/>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12" fill="hold" grpId="0" nodeType="clickEffect">
                                  <p:stCondLst>
                                    <p:cond delay="0"/>
                                  </p:stCondLst>
                                  <p:childTnLst>
                                    <p:set>
                                      <p:cBhvr>
                                        <p:cTn id="19" dur="1" fill="hold">
                                          <p:stCondLst>
                                            <p:cond delay="0"/>
                                          </p:stCondLst>
                                        </p:cTn>
                                        <p:tgtEl>
                                          <p:spTgt spid="32772"/>
                                        </p:tgtEl>
                                        <p:attrNameLst>
                                          <p:attrName>style.visibility</p:attrName>
                                        </p:attrNameLst>
                                      </p:cBhvr>
                                      <p:to>
                                        <p:strVal val="visible"/>
                                      </p:to>
                                    </p:set>
                                    <p:anim calcmode="lin" valueType="num">
                                      <p:cBhvr additive="base">
                                        <p:cTn id="20" dur="500" fill="hold"/>
                                        <p:tgtEl>
                                          <p:spTgt spid="32772"/>
                                        </p:tgtEl>
                                        <p:attrNameLst>
                                          <p:attrName>ppt_x</p:attrName>
                                        </p:attrNameLst>
                                      </p:cBhvr>
                                      <p:tavLst>
                                        <p:tav tm="0">
                                          <p:val>
                                            <p:strVal val="0-#ppt_w/2"/>
                                          </p:val>
                                        </p:tav>
                                        <p:tav tm="100000">
                                          <p:val>
                                            <p:strVal val="#ppt_x"/>
                                          </p:val>
                                        </p:tav>
                                      </p:tavLst>
                                    </p:anim>
                                    <p:anim calcmode="lin" valueType="num">
                                      <p:cBhvr additive="base">
                                        <p:cTn id="21" dur="500" fill="hold"/>
                                        <p:tgtEl>
                                          <p:spTgt spid="32772"/>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6" fill="hold" grpId="0" nodeType="clickEffect">
                                  <p:stCondLst>
                                    <p:cond delay="0"/>
                                  </p:stCondLst>
                                  <p:childTnLst>
                                    <p:set>
                                      <p:cBhvr>
                                        <p:cTn id="25" dur="1" fill="hold">
                                          <p:stCondLst>
                                            <p:cond delay="0"/>
                                          </p:stCondLst>
                                        </p:cTn>
                                        <p:tgtEl>
                                          <p:spTgt spid="32773"/>
                                        </p:tgtEl>
                                        <p:attrNameLst>
                                          <p:attrName>style.visibility</p:attrName>
                                        </p:attrNameLst>
                                      </p:cBhvr>
                                      <p:to>
                                        <p:strVal val="visible"/>
                                      </p:to>
                                    </p:set>
                                    <p:anim calcmode="lin" valueType="num">
                                      <p:cBhvr additive="base">
                                        <p:cTn id="26" dur="500" fill="hold"/>
                                        <p:tgtEl>
                                          <p:spTgt spid="32773"/>
                                        </p:tgtEl>
                                        <p:attrNameLst>
                                          <p:attrName>ppt_x</p:attrName>
                                        </p:attrNameLst>
                                      </p:cBhvr>
                                      <p:tavLst>
                                        <p:tav tm="0">
                                          <p:val>
                                            <p:strVal val="1+#ppt_w/2"/>
                                          </p:val>
                                        </p:tav>
                                        <p:tav tm="100000">
                                          <p:val>
                                            <p:strVal val="#ppt_x"/>
                                          </p:val>
                                        </p:tav>
                                      </p:tavLst>
                                    </p:anim>
                                    <p:anim calcmode="lin" valueType="num">
                                      <p:cBhvr additive="base">
                                        <p:cTn id="27" dur="500" fill="hold"/>
                                        <p:tgtEl>
                                          <p:spTgt spid="327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p:bldP spid="32772" grpId="0"/>
      <p:bldP spid="3277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794" name="Object 33793"/>
          <p:cNvGraphicFramePr/>
          <p:nvPr/>
        </p:nvGraphicFramePr>
        <p:xfrm>
          <a:off x="8229600" y="2057400"/>
          <a:ext cx="1905000" cy="3219450"/>
        </p:xfrm>
        <a:graphic>
          <a:graphicData uri="http://schemas.openxmlformats.org/presentationml/2006/ole">
            <mc:AlternateContent xmlns:mc="http://schemas.openxmlformats.org/markup-compatibility/2006">
              <mc:Choice xmlns:v="urn:schemas-microsoft-com:vml" Requires="v">
                <p:oleObj spid="_x0000_s3084" r:id="rId3" imgW="1905000" imgH="3219450" progId="Paint.Picture">
                  <p:embed/>
                </p:oleObj>
              </mc:Choice>
              <mc:Fallback>
                <p:oleObj r:id="rId3" imgW="1905000" imgH="3219450" progId="Paint.Picture">
                  <p:embed/>
                  <p:pic>
                    <p:nvPicPr>
                      <p:cNvPr id="0" name=""/>
                      <p:cNvPicPr/>
                      <p:nvPr/>
                    </p:nvPicPr>
                    <p:blipFill>
                      <a:blip r:embed="rId4"/>
                      <a:stretch>
                        <a:fillRect/>
                      </a:stretch>
                    </p:blipFill>
                    <p:spPr>
                      <a:xfrm>
                        <a:off x="8229600" y="2057400"/>
                        <a:ext cx="1905000" cy="3219450"/>
                      </a:xfrm>
                      <a:prstGeom prst="rect">
                        <a:avLst/>
                      </a:prstGeom>
                      <a:noFill/>
                      <a:ln w="38100">
                        <a:noFill/>
                        <a:miter/>
                      </a:ln>
                    </p:spPr>
                  </p:pic>
                </p:oleObj>
              </mc:Fallback>
            </mc:AlternateContent>
          </a:graphicData>
        </a:graphic>
      </p:graphicFrame>
      <p:graphicFrame>
        <p:nvGraphicFramePr>
          <p:cNvPr id="33795" name="Object 33794"/>
          <p:cNvGraphicFramePr/>
          <p:nvPr/>
        </p:nvGraphicFramePr>
        <p:xfrm>
          <a:off x="2514600" y="1752600"/>
          <a:ext cx="1752600" cy="4533900"/>
        </p:xfrm>
        <a:graphic>
          <a:graphicData uri="http://schemas.openxmlformats.org/presentationml/2006/ole">
            <mc:AlternateContent xmlns:mc="http://schemas.openxmlformats.org/markup-compatibility/2006">
              <mc:Choice xmlns:v="urn:schemas-microsoft-com:vml" Requires="v">
                <p:oleObj spid="_x0000_s3085" r:id="rId5" imgW="1752600" imgH="4533900" progId="Paint.Picture">
                  <p:embed/>
                </p:oleObj>
              </mc:Choice>
              <mc:Fallback>
                <p:oleObj r:id="rId5" imgW="1752600" imgH="4533900" progId="Paint.Picture">
                  <p:embed/>
                  <p:pic>
                    <p:nvPicPr>
                      <p:cNvPr id="0" name=""/>
                      <p:cNvPicPr/>
                      <p:nvPr/>
                    </p:nvPicPr>
                    <p:blipFill>
                      <a:blip r:embed="rId6"/>
                      <a:stretch>
                        <a:fillRect/>
                      </a:stretch>
                    </p:blipFill>
                    <p:spPr>
                      <a:xfrm>
                        <a:off x="2514600" y="1752600"/>
                        <a:ext cx="1752600" cy="4533900"/>
                      </a:xfrm>
                      <a:prstGeom prst="rect">
                        <a:avLst/>
                      </a:prstGeom>
                      <a:noFill/>
                      <a:ln w="38100">
                        <a:noFill/>
                        <a:miter/>
                      </a:ln>
                    </p:spPr>
                  </p:pic>
                </p:oleObj>
              </mc:Fallback>
            </mc:AlternateContent>
          </a:graphicData>
        </a:graphic>
      </p:graphicFrame>
      <p:sp>
        <p:nvSpPr>
          <p:cNvPr id="33796" name="Text Box 33795"/>
          <p:cNvSpPr txBox="1"/>
          <p:nvPr/>
        </p:nvSpPr>
        <p:spPr>
          <a:xfrm>
            <a:off x="4648200" y="457201"/>
            <a:ext cx="3124200" cy="519113"/>
          </a:xfrm>
          <a:prstGeom prst="rect">
            <a:avLst/>
          </a:prstGeom>
          <a:noFill/>
          <a:ln w="9525">
            <a:noFill/>
          </a:ln>
        </p:spPr>
        <p:txBody>
          <a:bodyPr>
            <a:spAutoFit/>
          </a:bodyPr>
          <a:lstStyle/>
          <a:p>
            <a:pPr>
              <a:spcBef>
                <a:spcPct val="50000"/>
              </a:spcBef>
            </a:pPr>
            <a:r>
              <a:rPr sz="2800" b="1" u="sng">
                <a:solidFill>
                  <a:srgbClr val="FF0066"/>
                </a:solidFill>
              </a:rPr>
              <a:t>Le boîtier Vertical</a:t>
            </a:r>
            <a:endParaRPr lang="en-US" altLang="x-none" sz="2800" b="1" u="sng" dirty="0">
              <a:solidFill>
                <a:srgbClr val="FF0066"/>
              </a:solidFill>
            </a:endParaRPr>
          </a:p>
        </p:txBody>
      </p:sp>
    </p:spTree>
    <p:extLst>
      <p:ext uri="{BB962C8B-B14F-4D97-AF65-F5344CB8AC3E}">
        <p14:creationId xmlns:p14="http://schemas.microsoft.com/office/powerpoint/2010/main" val="3291342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3796"/>
                                        </p:tgtEl>
                                        <p:attrNameLst>
                                          <p:attrName>style.visibility</p:attrName>
                                        </p:attrNameLst>
                                      </p:cBhvr>
                                      <p:to>
                                        <p:strVal val="visible"/>
                                      </p:to>
                                    </p:set>
                                    <p:animEffect transition="in" filter="checkerboard(across)">
                                      <p:cBhvr>
                                        <p:cTn id="7" dur="500"/>
                                        <p:tgtEl>
                                          <p:spTgt spid="33796"/>
                                        </p:tgtEl>
                                      </p:cBhvr>
                                    </p:animEffect>
                                  </p:childTnLst>
                                </p:cTn>
                              </p:par>
                            </p:childTnLst>
                          </p:cTn>
                        </p:par>
                      </p:childTnLst>
                    </p:cTn>
                  </p:par>
                  <p:par>
                    <p:cTn id="8" fill="hold">
                      <p:stCondLst>
                        <p:cond delay="indefinite"/>
                      </p:stCondLst>
                      <p:childTnLst>
                        <p:par>
                          <p:cTn id="9" fill="hold">
                            <p:stCondLst>
                              <p:cond delay="0"/>
                            </p:stCondLst>
                            <p:childTnLst>
                              <p:par>
                                <p:cTn id="10" presetID="15" presetClass="entr" presetSubtype="0" fill="hold" nodeType="clickEffect">
                                  <p:stCondLst>
                                    <p:cond delay="0"/>
                                  </p:stCondLst>
                                  <p:childTnLst>
                                    <p:set>
                                      <p:cBhvr>
                                        <p:cTn id="11" dur="1" fill="hold">
                                          <p:stCondLst>
                                            <p:cond delay="0"/>
                                          </p:stCondLst>
                                        </p:cTn>
                                        <p:tgtEl>
                                          <p:spTgt spid="33795"/>
                                        </p:tgtEl>
                                        <p:attrNameLst>
                                          <p:attrName>style.visibility</p:attrName>
                                        </p:attrNameLst>
                                      </p:cBhvr>
                                      <p:to>
                                        <p:strVal val="visible"/>
                                      </p:to>
                                    </p:set>
                                    <p:anim calcmode="lin" valueType="num">
                                      <p:cBhvr>
                                        <p:cTn id="12" dur="1000" fill="hold"/>
                                        <p:tgtEl>
                                          <p:spTgt spid="33795"/>
                                        </p:tgtEl>
                                        <p:attrNameLst>
                                          <p:attrName>ppt_w</p:attrName>
                                        </p:attrNameLst>
                                      </p:cBhvr>
                                      <p:tavLst>
                                        <p:tav tm="0">
                                          <p:val>
                                            <p:fltVal val="0"/>
                                          </p:val>
                                        </p:tav>
                                        <p:tav tm="100000">
                                          <p:val>
                                            <p:strVal val="#ppt_w"/>
                                          </p:val>
                                        </p:tav>
                                      </p:tavLst>
                                    </p:anim>
                                    <p:anim calcmode="lin" valueType="num">
                                      <p:cBhvr>
                                        <p:cTn id="13" dur="1000" fill="hold"/>
                                        <p:tgtEl>
                                          <p:spTgt spid="33795"/>
                                        </p:tgtEl>
                                        <p:attrNameLst>
                                          <p:attrName>ppt_h</p:attrName>
                                        </p:attrNameLst>
                                      </p:cBhvr>
                                      <p:tavLst>
                                        <p:tav tm="0">
                                          <p:val>
                                            <p:fltVal val="0"/>
                                          </p:val>
                                        </p:tav>
                                        <p:tav tm="100000">
                                          <p:val>
                                            <p:strVal val="#ppt_h"/>
                                          </p:val>
                                        </p:tav>
                                      </p:tavLst>
                                    </p:anim>
                                    <p:anim calcmode="lin" valueType="num">
                                      <p:cBhvr>
                                        <p:cTn id="14" dur="1000" fill="hold"/>
                                        <p:tgtEl>
                                          <p:spTgt spid="33795"/>
                                        </p:tgtEl>
                                        <p:attrNameLst>
                                          <p:attrName>ppt_x</p:attrName>
                                        </p:attrNameLst>
                                      </p:cBhvr>
                                      <p:tavLst>
                                        <p:tav tm="0" fmla="#ppt_x+(cos(-2*pi*(1-$))*-#ppt_x-sin(-2*pi*(1-$))*(1-#ppt_y))*(1-$)">
                                          <p:val>
                                            <p:fltVal val="0"/>
                                          </p:val>
                                        </p:tav>
                                        <p:tav tm="100000">
                                          <p:val>
                                            <p:fltVal val="0"/>
                                          </p:val>
                                        </p:tav>
                                      </p:tavLst>
                                    </p:anim>
                                    <p:anim calcmode="lin" valueType="num">
                                      <p:cBhvr>
                                        <p:cTn id="15" dur="1000" fill="hold"/>
                                        <p:tgtEl>
                                          <p:spTgt spid="33795"/>
                                        </p:tgtEl>
                                        <p:attrNameLst>
                                          <p:attrName>ppt_y</p:attrName>
                                        </p:attrNameLst>
                                      </p:cBhvr>
                                      <p:tavLst>
                                        <p:tav tm="0" fmla="#ppt_y+(sin(-2*pi*(1-$))*-#ppt_x+cos(-2*pi*(1-$))*(1-#ppt_y))*(1-$)">
                                          <p:val>
                                            <p:fltVal val="0"/>
                                          </p:val>
                                        </p:tav>
                                        <p:tav tm="100000">
                                          <p:val>
                                            <p:fltVal val="0"/>
                                          </p:val>
                                        </p:tav>
                                      </p:tavLst>
                                    </p:anim>
                                  </p:childTnLst>
                                </p:cTn>
                              </p:par>
                            </p:childTnLst>
                          </p:cTn>
                        </p:par>
                      </p:childTnLst>
                    </p:cTn>
                  </p:par>
                  <p:par>
                    <p:cTn id="16" fill="hold">
                      <p:stCondLst>
                        <p:cond delay="indefinite"/>
                      </p:stCondLst>
                      <p:childTnLst>
                        <p:par>
                          <p:cTn id="17" fill="hold">
                            <p:stCondLst>
                              <p:cond delay="0"/>
                            </p:stCondLst>
                            <p:childTnLst>
                              <p:par>
                                <p:cTn id="18" presetID="15" presetClass="entr" presetSubtype="0" fill="hold" nodeType="clickEffect">
                                  <p:stCondLst>
                                    <p:cond delay="0"/>
                                  </p:stCondLst>
                                  <p:childTnLst>
                                    <p:set>
                                      <p:cBhvr>
                                        <p:cTn id="19" dur="1" fill="hold">
                                          <p:stCondLst>
                                            <p:cond delay="0"/>
                                          </p:stCondLst>
                                        </p:cTn>
                                        <p:tgtEl>
                                          <p:spTgt spid="33794"/>
                                        </p:tgtEl>
                                        <p:attrNameLst>
                                          <p:attrName>style.visibility</p:attrName>
                                        </p:attrNameLst>
                                      </p:cBhvr>
                                      <p:to>
                                        <p:strVal val="visible"/>
                                      </p:to>
                                    </p:set>
                                    <p:anim calcmode="lin" valueType="num">
                                      <p:cBhvr>
                                        <p:cTn id="20" dur="1000" fill="hold"/>
                                        <p:tgtEl>
                                          <p:spTgt spid="33794"/>
                                        </p:tgtEl>
                                        <p:attrNameLst>
                                          <p:attrName>ppt_w</p:attrName>
                                        </p:attrNameLst>
                                      </p:cBhvr>
                                      <p:tavLst>
                                        <p:tav tm="0">
                                          <p:val>
                                            <p:fltVal val="0"/>
                                          </p:val>
                                        </p:tav>
                                        <p:tav tm="100000">
                                          <p:val>
                                            <p:strVal val="#ppt_w"/>
                                          </p:val>
                                        </p:tav>
                                      </p:tavLst>
                                    </p:anim>
                                    <p:anim calcmode="lin" valueType="num">
                                      <p:cBhvr>
                                        <p:cTn id="21" dur="1000" fill="hold"/>
                                        <p:tgtEl>
                                          <p:spTgt spid="33794"/>
                                        </p:tgtEl>
                                        <p:attrNameLst>
                                          <p:attrName>ppt_h</p:attrName>
                                        </p:attrNameLst>
                                      </p:cBhvr>
                                      <p:tavLst>
                                        <p:tav tm="0">
                                          <p:val>
                                            <p:fltVal val="0"/>
                                          </p:val>
                                        </p:tav>
                                        <p:tav tm="100000">
                                          <p:val>
                                            <p:strVal val="#ppt_h"/>
                                          </p:val>
                                        </p:tav>
                                      </p:tavLst>
                                    </p:anim>
                                    <p:anim calcmode="lin" valueType="num">
                                      <p:cBhvr>
                                        <p:cTn id="22" dur="1000" fill="hold"/>
                                        <p:tgtEl>
                                          <p:spTgt spid="33794"/>
                                        </p:tgtEl>
                                        <p:attrNameLst>
                                          <p:attrName>ppt_x</p:attrName>
                                        </p:attrNameLst>
                                      </p:cBhvr>
                                      <p:tavLst>
                                        <p:tav tm="0" fmla="#ppt_x+(cos(-2*pi*(1-$))*-#ppt_x-sin(-2*pi*(1-$))*(1-#ppt_y))*(1-$)">
                                          <p:val>
                                            <p:fltVal val="0"/>
                                          </p:val>
                                        </p:tav>
                                        <p:tav tm="100000">
                                          <p:val>
                                            <p:fltVal val="0"/>
                                          </p:val>
                                        </p:tav>
                                      </p:tavLst>
                                    </p:anim>
                                    <p:anim calcmode="lin" valueType="num">
                                      <p:cBhvr>
                                        <p:cTn id="23" dur="1000" fill="hold"/>
                                        <p:tgtEl>
                                          <p:spTgt spid="33794"/>
                                        </p:tgtEl>
                                        <p:attrNameLst>
                                          <p:attrName>ppt_y</p:attrName>
                                        </p:attrNameLst>
                                      </p:cBhvr>
                                      <p:tavLst>
                                        <p:tav tm="0" fmla="#ppt_y+(sin(-2*pi*(1-$))*-#ppt_x+cos(-2*pi*(1-$))*(1-#ppt_y))*(1-$)">
                                          <p:val>
                                            <p:fltVal val="0"/>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37889" descr="C:\WINDOWS\Bureau\image002.gif"/>
          <p:cNvPicPr>
            <a:picLocks noChangeAspect="1"/>
          </p:cNvPicPr>
          <p:nvPr/>
        </p:nvPicPr>
        <p:blipFill>
          <a:blip r:embed="rId2"/>
          <a:stretch>
            <a:fillRect/>
          </a:stretch>
        </p:blipFill>
        <p:spPr>
          <a:xfrm>
            <a:off x="2438400" y="228600"/>
            <a:ext cx="7620000" cy="5867400"/>
          </a:xfrm>
          <a:prstGeom prst="rect">
            <a:avLst/>
          </a:prstGeom>
          <a:noFill/>
          <a:ln w="9525">
            <a:noFill/>
          </a:ln>
        </p:spPr>
      </p:pic>
      <p:sp>
        <p:nvSpPr>
          <p:cNvPr id="37891" name="Text Box 37890"/>
          <p:cNvSpPr txBox="1"/>
          <p:nvPr/>
        </p:nvSpPr>
        <p:spPr>
          <a:xfrm>
            <a:off x="1143000" y="5105400"/>
            <a:ext cx="6400800" cy="369332"/>
          </a:xfrm>
          <a:prstGeom prst="rect">
            <a:avLst/>
          </a:prstGeom>
          <a:noFill/>
          <a:ln w="9525">
            <a:noFill/>
          </a:ln>
        </p:spPr>
        <p:txBody>
          <a:bodyPr>
            <a:spAutoFit/>
          </a:bodyPr>
          <a:lstStyle/>
          <a:p>
            <a:pPr>
              <a:spcBef>
                <a:spcPct val="50000"/>
              </a:spcBef>
            </a:pPr>
            <a:endParaRPr dirty="0">
              <a:latin typeface="Arial Narrow" panose="020B0606020202030204" pitchFamily="34" charset="0"/>
            </a:endParaRPr>
          </a:p>
        </p:txBody>
      </p:sp>
      <p:sp>
        <p:nvSpPr>
          <p:cNvPr id="37892" name="Text Box 37891"/>
          <p:cNvSpPr txBox="1"/>
          <p:nvPr/>
        </p:nvSpPr>
        <p:spPr>
          <a:xfrm>
            <a:off x="8077200" y="5326064"/>
            <a:ext cx="3581400" cy="396875"/>
          </a:xfrm>
          <a:prstGeom prst="rect">
            <a:avLst/>
          </a:prstGeom>
          <a:noFill/>
          <a:ln w="9525">
            <a:noFill/>
          </a:ln>
        </p:spPr>
        <p:txBody>
          <a:bodyPr>
            <a:spAutoFit/>
          </a:bodyPr>
          <a:lstStyle/>
          <a:p>
            <a:pPr>
              <a:spcBef>
                <a:spcPct val="50000"/>
              </a:spcBef>
            </a:pPr>
            <a:endParaRPr sz="2000" b="1" dirty="0"/>
          </a:p>
        </p:txBody>
      </p:sp>
    </p:spTree>
    <p:extLst>
      <p:ext uri="{BB962C8B-B14F-4D97-AF65-F5344CB8AC3E}">
        <p14:creationId xmlns:p14="http://schemas.microsoft.com/office/powerpoint/2010/main" val="119836921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38913" descr="C:\WINDOWS\Bureau\Materiel &amp; Maintenance\Sujets\Diapos\Diapo004_fichiers\image002.jpg"/>
          <p:cNvPicPr>
            <a:picLocks noChangeAspect="1"/>
          </p:cNvPicPr>
          <p:nvPr/>
        </p:nvPicPr>
        <p:blipFill>
          <a:blip r:embed="rId2"/>
          <a:stretch>
            <a:fillRect/>
          </a:stretch>
        </p:blipFill>
        <p:spPr>
          <a:xfrm>
            <a:off x="3962400" y="152400"/>
            <a:ext cx="4267200" cy="2971800"/>
          </a:xfrm>
          <a:prstGeom prst="rect">
            <a:avLst/>
          </a:prstGeom>
          <a:noFill/>
          <a:ln w="9525">
            <a:noFill/>
          </a:ln>
        </p:spPr>
      </p:pic>
      <p:sp>
        <p:nvSpPr>
          <p:cNvPr id="38915" name="Text Box 38914"/>
          <p:cNvSpPr txBox="1"/>
          <p:nvPr/>
        </p:nvSpPr>
        <p:spPr>
          <a:xfrm>
            <a:off x="2057400" y="3124201"/>
            <a:ext cx="7848600" cy="4359275"/>
          </a:xfrm>
          <a:prstGeom prst="rect">
            <a:avLst/>
          </a:prstGeom>
          <a:noFill/>
          <a:ln w="9525">
            <a:noFill/>
          </a:ln>
        </p:spPr>
        <p:txBody>
          <a:bodyPr>
            <a:spAutoFit/>
          </a:bodyPr>
          <a:lstStyle/>
          <a:p>
            <a:pPr>
              <a:spcBef>
                <a:spcPct val="50000"/>
              </a:spcBef>
            </a:pPr>
            <a:r>
              <a:rPr sz="2000">
                <a:cs typeface="Times New Roman" panose="02020603050405020304" charset="0"/>
              </a:rPr>
              <a:t>C'est la base matérielle de l'ordinateur. Tous les composants dans l’unité centrale sont connectés </a:t>
            </a:r>
            <a:r>
              <a:rPr sz="2000">
                <a:latin typeface="Times New Roman" panose="02020603050405020304" charset="0"/>
                <a:ea typeface="Times New Roman" panose="02020603050405020304" charset="0"/>
              </a:rPr>
              <a:t>à</a:t>
            </a:r>
            <a:r>
              <a:rPr sz="2000">
                <a:cs typeface="Times New Roman" panose="02020603050405020304" charset="0"/>
              </a:rPr>
              <a:t> celle-ci. Elle a 3 fonctions principales :</a:t>
            </a:r>
            <a:br>
              <a:rPr sz="2000">
                <a:cs typeface="Times New Roman" panose="02020603050405020304" charset="0"/>
              </a:rPr>
            </a:br>
            <a:r>
              <a:rPr sz="2000">
                <a:cs typeface="Times New Roman" panose="02020603050405020304" charset="0"/>
              </a:rPr>
              <a:t>      La bonne synchronisation des divers éléments de l’unité centrale.</a:t>
            </a:r>
            <a:br>
              <a:rPr sz="2000">
                <a:cs typeface="Times New Roman" panose="02020603050405020304" charset="0"/>
              </a:rPr>
            </a:br>
            <a:r>
              <a:rPr sz="2000">
                <a:cs typeface="Times New Roman" panose="02020603050405020304" charset="0"/>
              </a:rPr>
              <a:t>      Le transport de données d’un élément </a:t>
            </a:r>
            <a:r>
              <a:rPr sz="2000">
                <a:latin typeface="Times New Roman" panose="02020603050405020304" charset="0"/>
                <a:ea typeface="Times New Roman" panose="02020603050405020304" charset="0"/>
              </a:rPr>
              <a:t>à</a:t>
            </a:r>
            <a:r>
              <a:rPr sz="2000">
                <a:cs typeface="Times New Roman" panose="02020603050405020304" charset="0"/>
              </a:rPr>
              <a:t> un autre.</a:t>
            </a:r>
            <a:br>
              <a:rPr sz="2000">
                <a:cs typeface="Times New Roman" panose="02020603050405020304" charset="0"/>
              </a:rPr>
            </a:br>
            <a:r>
              <a:rPr sz="2000">
                <a:cs typeface="Times New Roman" panose="02020603050405020304" charset="0"/>
              </a:rPr>
              <a:t>      Elle alimente en courant de nombreux composants de l’unité centrale et certains périphériques. </a:t>
            </a:r>
          </a:p>
          <a:p>
            <a:pPr>
              <a:spcBef>
                <a:spcPct val="50000"/>
              </a:spcBef>
            </a:pPr>
            <a:r>
              <a:rPr sz="2000">
                <a:cs typeface="Times New Roman" panose="02020603050405020304" charset="0"/>
              </a:rPr>
              <a:t>C'est un ensemble de composants électroniques qui intègre :</a:t>
            </a:r>
            <a:br>
              <a:rPr sz="2000">
                <a:cs typeface="Times New Roman" panose="02020603050405020304" charset="0"/>
              </a:rPr>
            </a:br>
            <a:r>
              <a:rPr sz="2000">
                <a:cs typeface="Times New Roman" panose="02020603050405020304" charset="0"/>
              </a:rPr>
              <a:t>      le support du </a:t>
            </a:r>
            <a:r>
              <a:rPr sz="2000">
                <a:cs typeface="Times New Roman" panose="02020603050405020304" charset="0"/>
                <a:hlinkClick r:id="rId3" action="ppaction://hlinkfile"/>
              </a:rPr>
              <a:t>microprocesseur</a:t>
            </a:r>
            <a:r>
              <a:rPr sz="2000">
                <a:cs typeface="Times New Roman" panose="02020603050405020304" charset="0"/>
              </a:rPr>
              <a:t>, </a:t>
            </a:r>
            <a:br>
              <a:rPr sz="2000">
                <a:cs typeface="Times New Roman" panose="02020603050405020304" charset="0"/>
              </a:rPr>
            </a:br>
            <a:r>
              <a:rPr sz="2000">
                <a:cs typeface="Times New Roman" panose="02020603050405020304" charset="0"/>
              </a:rPr>
              <a:t>      les supports des barrettes </a:t>
            </a:r>
            <a:r>
              <a:rPr sz="2000">
                <a:cs typeface="Times New Roman" panose="02020603050405020304" charset="0"/>
                <a:hlinkClick r:id="rId4" action="ppaction://hlinkfile"/>
              </a:rPr>
              <a:t>mémoire </a:t>
            </a:r>
            <a:r>
              <a:rPr sz="2000">
                <a:cs typeface="Times New Roman" panose="02020603050405020304" charset="0"/>
              </a:rPr>
              <a:t>(RAM), </a:t>
            </a:r>
            <a:br>
              <a:rPr sz="2000">
                <a:cs typeface="Times New Roman" panose="02020603050405020304" charset="0"/>
              </a:rPr>
            </a:br>
            <a:r>
              <a:rPr sz="2000">
                <a:cs typeface="Times New Roman" panose="02020603050405020304" charset="0"/>
              </a:rPr>
              <a:t>      les connecteurs d'extensions (où seront intégrées les cartes d'extensions). </a:t>
            </a:r>
            <a:br>
              <a:rPr sz="2000">
                <a:cs typeface="Times New Roman" panose="02020603050405020304" charset="0"/>
              </a:rPr>
            </a:br>
            <a:endParaRPr sz="2000">
              <a:cs typeface="Times New Roman" panose="02020603050405020304" charset="0"/>
            </a:endParaRPr>
          </a:p>
          <a:p>
            <a:pPr>
              <a:spcBef>
                <a:spcPct val="50000"/>
              </a:spcBef>
            </a:pPr>
            <a:endParaRPr sz="2000">
              <a:latin typeface="Arial Narrow" panose="020B0606020202030204" pitchFamily="34" charset="0"/>
            </a:endParaRPr>
          </a:p>
        </p:txBody>
      </p:sp>
      <p:sp>
        <p:nvSpPr>
          <p:cNvPr id="38916" name="Text Box 38915"/>
          <p:cNvSpPr txBox="1"/>
          <p:nvPr/>
        </p:nvSpPr>
        <p:spPr>
          <a:xfrm>
            <a:off x="1828800" y="381001"/>
            <a:ext cx="2286000" cy="519113"/>
          </a:xfrm>
          <a:prstGeom prst="rect">
            <a:avLst/>
          </a:prstGeom>
          <a:noFill/>
          <a:ln w="9525">
            <a:noFill/>
          </a:ln>
        </p:spPr>
        <p:txBody>
          <a:bodyPr>
            <a:spAutoFit/>
          </a:bodyPr>
          <a:lstStyle/>
          <a:p>
            <a:pPr>
              <a:spcBef>
                <a:spcPct val="50000"/>
              </a:spcBef>
            </a:pPr>
            <a:r>
              <a:rPr sz="2800" b="1" u="sng">
                <a:solidFill>
                  <a:srgbClr val="FF5050"/>
                </a:solidFill>
                <a:latin typeface="Arial Narrow" panose="020B0606020202030204" pitchFamily="34" charset="0"/>
              </a:rPr>
              <a:t>La carte mère</a:t>
            </a:r>
          </a:p>
        </p:txBody>
      </p:sp>
    </p:spTree>
    <p:extLst>
      <p:ext uri="{BB962C8B-B14F-4D97-AF65-F5344CB8AC3E}">
        <p14:creationId xmlns:p14="http://schemas.microsoft.com/office/powerpoint/2010/main" val="246396390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7169"/>
          <p:cNvSpPr>
            <a:spLocks noGrp="1"/>
          </p:cNvSpPr>
          <p:nvPr>
            <p:ph type="title"/>
          </p:nvPr>
        </p:nvSpPr>
        <p:spPr>
          <a:xfrm>
            <a:off x="4038600" y="228600"/>
            <a:ext cx="4038600" cy="533400"/>
          </a:xfrm>
          <a:ln/>
        </p:spPr>
        <p:txBody>
          <a:bodyPr anchor="ctr" anchorCtr="0">
            <a:normAutofit fontScale="90000"/>
          </a:bodyPr>
          <a:lstStyle/>
          <a:p>
            <a:pPr algn="l"/>
            <a:r>
              <a:rPr sz="3600"/>
              <a:t>Le microprocesseur</a:t>
            </a:r>
            <a:r>
              <a:t>            </a:t>
            </a:r>
          </a:p>
        </p:txBody>
      </p:sp>
      <p:sp>
        <p:nvSpPr>
          <p:cNvPr id="7171" name="Text Placeholder 7170"/>
          <p:cNvSpPr>
            <a:spLocks noGrp="1"/>
          </p:cNvSpPr>
          <p:nvPr>
            <p:ph type="body" idx="1"/>
          </p:nvPr>
        </p:nvSpPr>
        <p:spPr>
          <a:xfrm>
            <a:off x="2209800" y="1066800"/>
            <a:ext cx="7772400" cy="3810000"/>
          </a:xfrm>
          <a:ln/>
        </p:spPr>
        <p:txBody>
          <a:bodyPr/>
          <a:lstStyle/>
          <a:p>
            <a:pPr>
              <a:buNone/>
            </a:pPr>
            <a:r>
              <a:rPr/>
              <a:t>C’est le cerveau de l’unité centrale,il est chargé d’interpréter et d’exécuter les instructions .</a:t>
            </a:r>
          </a:p>
          <a:p>
            <a:pPr>
              <a:buNone/>
            </a:pPr>
            <a:r>
              <a:rPr/>
              <a:t>Il le fait de façon plus ou moins rapide en fonction de sa fréquence interne.</a:t>
            </a:r>
          </a:p>
          <a:p>
            <a:pPr>
              <a:buNone/>
            </a:pPr>
            <a:r>
              <a:rPr/>
              <a:t>Les processeur Intel sont plus répandus et ont connu différent générations:8086,8088,80286,…</a:t>
            </a:r>
          </a:p>
          <a:p>
            <a:pPr>
              <a:buNone/>
            </a:pPr>
            <a:r>
              <a:rPr/>
              <a:t>    Pentium I,II,III,IV.</a:t>
            </a:r>
          </a:p>
        </p:txBody>
      </p:sp>
      <p:pic>
        <p:nvPicPr>
          <p:cNvPr id="7172" name="Picture 7171" descr="C:\WINDOWS\Bureau\Materiel &amp; Maintenance\Sujets\Diapos\Diapo005_fichiers\image003.jpg"/>
          <p:cNvPicPr>
            <a:picLocks noChangeAspect="1"/>
          </p:cNvPicPr>
          <p:nvPr/>
        </p:nvPicPr>
        <p:blipFill>
          <a:blip r:embed="rId2"/>
          <a:stretch>
            <a:fillRect/>
          </a:stretch>
        </p:blipFill>
        <p:spPr>
          <a:xfrm>
            <a:off x="2438401" y="4648200"/>
            <a:ext cx="3336925" cy="1657350"/>
          </a:xfrm>
          <a:prstGeom prst="rect">
            <a:avLst/>
          </a:prstGeom>
          <a:noFill/>
          <a:ln w="9525">
            <a:noFill/>
          </a:ln>
        </p:spPr>
      </p:pic>
      <p:pic>
        <p:nvPicPr>
          <p:cNvPr id="7173" name="Picture 7172" descr="C:\WINDOWS\Bureau\Materiel &amp; Maintenance\Sujets\Diapos\Diapo005_fichiers\image006.jpg"/>
          <p:cNvPicPr>
            <a:picLocks noChangeAspect="1"/>
          </p:cNvPicPr>
          <p:nvPr/>
        </p:nvPicPr>
        <p:blipFill>
          <a:blip r:embed="rId3"/>
          <a:stretch>
            <a:fillRect/>
          </a:stretch>
        </p:blipFill>
        <p:spPr>
          <a:xfrm>
            <a:off x="7315200" y="4343400"/>
            <a:ext cx="2857500" cy="1931988"/>
          </a:xfrm>
          <a:prstGeom prst="rect">
            <a:avLst/>
          </a:prstGeom>
          <a:noFill/>
          <a:ln w="9525">
            <a:noFill/>
          </a:ln>
        </p:spPr>
      </p:pic>
    </p:spTree>
    <p:extLst>
      <p:ext uri="{BB962C8B-B14F-4D97-AF65-F5344CB8AC3E}">
        <p14:creationId xmlns:p14="http://schemas.microsoft.com/office/powerpoint/2010/main" val="1571666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0-#ppt_w/2"/>
                                          </p:val>
                                        </p:tav>
                                        <p:tav tm="100000">
                                          <p:val>
                                            <p:strVal val="#ppt_x"/>
                                          </p:val>
                                        </p:tav>
                                      </p:tavLst>
                                    </p:anim>
                                    <p:anim calcmode="lin" valueType="num">
                                      <p:cBhvr additive="base">
                                        <p:cTn id="8" dur="500" fill="hold"/>
                                        <p:tgtEl>
                                          <p:spTgt spid="717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171">
                                            <p:txEl>
                                              <p:pRg st="0" end="0"/>
                                            </p:txEl>
                                          </p:spTgt>
                                        </p:tgtEl>
                                        <p:attrNameLst>
                                          <p:attrName>style.visibility</p:attrName>
                                        </p:attrNameLst>
                                      </p:cBhvr>
                                      <p:to>
                                        <p:strVal val="visible"/>
                                      </p:to>
                                    </p:set>
                                    <p:anim calcmode="lin" valueType="num">
                                      <p:cBhvr additive="base">
                                        <p:cTn id="13" dur="500" fill="hold"/>
                                        <p:tgtEl>
                                          <p:spTgt spid="7171">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1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171">
                                            <p:txEl>
                                              <p:pRg st="1" end="1"/>
                                            </p:txEl>
                                          </p:spTgt>
                                        </p:tgtEl>
                                        <p:attrNameLst>
                                          <p:attrName>style.visibility</p:attrName>
                                        </p:attrNameLst>
                                      </p:cBhvr>
                                      <p:to>
                                        <p:strVal val="visible"/>
                                      </p:to>
                                    </p:set>
                                    <p:anim calcmode="lin" valueType="num">
                                      <p:cBhvr additive="base">
                                        <p:cTn id="19" dur="500" fill="hold"/>
                                        <p:tgtEl>
                                          <p:spTgt spid="7171">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17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171">
                                            <p:txEl>
                                              <p:pRg st="2" end="2"/>
                                            </p:txEl>
                                          </p:spTgt>
                                        </p:tgtEl>
                                        <p:attrNameLst>
                                          <p:attrName>style.visibility</p:attrName>
                                        </p:attrNameLst>
                                      </p:cBhvr>
                                      <p:to>
                                        <p:strVal val="visible"/>
                                      </p:to>
                                    </p:set>
                                    <p:anim calcmode="lin" valueType="num">
                                      <p:cBhvr additive="base">
                                        <p:cTn id="25" dur="500" fill="hold"/>
                                        <p:tgtEl>
                                          <p:spTgt spid="7171">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717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7171">
                                            <p:txEl>
                                              <p:pRg st="3" end="3"/>
                                            </p:txEl>
                                          </p:spTgt>
                                        </p:tgtEl>
                                        <p:attrNameLst>
                                          <p:attrName>style.visibility</p:attrName>
                                        </p:attrNameLst>
                                      </p:cBhvr>
                                      <p:to>
                                        <p:strVal val="visible"/>
                                      </p:to>
                                    </p:set>
                                    <p:anim calcmode="lin" valueType="num">
                                      <p:cBhvr additive="base">
                                        <p:cTn id="31" dur="500" fill="hold"/>
                                        <p:tgtEl>
                                          <p:spTgt spid="7171">
                                            <p:txEl>
                                              <p:pRg st="3" end="3"/>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7171">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animBg="1"/>
      <p:bldP spid="7171"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8193"/>
          <p:cNvSpPr>
            <a:spLocks noGrp="1"/>
          </p:cNvSpPr>
          <p:nvPr>
            <p:ph type="title"/>
          </p:nvPr>
        </p:nvSpPr>
        <p:spPr>
          <a:ln/>
        </p:spPr>
        <p:txBody>
          <a:bodyPr anchor="ctr" anchorCtr="0"/>
          <a:lstStyle/>
          <a:p>
            <a:pPr algn="l"/>
            <a:r>
              <a:rPr sz="3600"/>
              <a:t>La mémoire cache</a:t>
            </a:r>
          </a:p>
        </p:txBody>
      </p:sp>
      <p:sp>
        <p:nvSpPr>
          <p:cNvPr id="8195" name="Text Placeholder 8194"/>
          <p:cNvSpPr>
            <a:spLocks noGrp="1"/>
          </p:cNvSpPr>
          <p:nvPr>
            <p:ph type="body" idx="1"/>
          </p:nvPr>
        </p:nvSpPr>
        <p:spPr>
          <a:ln/>
        </p:spPr>
        <p:txBody>
          <a:bodyPr/>
          <a:lstStyle/>
          <a:p>
            <a:pPr>
              <a:lnSpc>
                <a:spcPct val="90000"/>
              </a:lnSpc>
              <a:buNone/>
            </a:pPr>
            <a:r>
              <a:t>Elle permet de se rappeler les opérations déjà effectuées pour qu’il ne perde pas de temps à recalculer ce qu’il à déjà fait précédemment.</a:t>
            </a:r>
          </a:p>
          <a:p>
            <a:pPr>
              <a:lnSpc>
                <a:spcPct val="90000"/>
              </a:lnSpc>
              <a:buNone/>
            </a:pPr>
            <a:r>
              <a:t>La taille de la mémoire cache est généralement de l’ordre de 512 ko. </a:t>
            </a:r>
          </a:p>
          <a:p>
            <a:pPr eaLnBrk="0" hangingPunct="0">
              <a:lnSpc>
                <a:spcPct val="90000"/>
              </a:lnSpc>
              <a:spcBef>
                <a:spcPct val="50000"/>
              </a:spcBef>
              <a:buNone/>
            </a:pPr>
            <a:r>
              <a:t>Sur les PC récents, ce type de mémoire est directement intégré dans le processeur.  </a:t>
            </a:r>
          </a:p>
          <a:p>
            <a:pPr>
              <a:lnSpc>
                <a:spcPct val="90000"/>
              </a:lnSpc>
              <a:buNone/>
            </a:pPr>
            <a:endParaRPr/>
          </a:p>
        </p:txBody>
      </p:sp>
    </p:spTree>
    <p:extLst>
      <p:ext uri="{BB962C8B-B14F-4D97-AF65-F5344CB8AC3E}">
        <p14:creationId xmlns:p14="http://schemas.microsoft.com/office/powerpoint/2010/main" val="2030015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194"/>
                                        </p:tgtEl>
                                        <p:attrNameLst>
                                          <p:attrName>style.visibility</p:attrName>
                                        </p:attrNameLst>
                                      </p:cBhvr>
                                      <p:to>
                                        <p:strVal val="visible"/>
                                      </p:to>
                                    </p:set>
                                    <p:anim calcmode="lin" valueType="num">
                                      <p:cBhvr additive="base">
                                        <p:cTn id="7" dur="500" fill="hold"/>
                                        <p:tgtEl>
                                          <p:spTgt spid="8194"/>
                                        </p:tgtEl>
                                        <p:attrNameLst>
                                          <p:attrName>ppt_x</p:attrName>
                                        </p:attrNameLst>
                                      </p:cBhvr>
                                      <p:tavLst>
                                        <p:tav tm="0">
                                          <p:val>
                                            <p:strVal val="0-#ppt_w/2"/>
                                          </p:val>
                                        </p:tav>
                                        <p:tav tm="100000">
                                          <p:val>
                                            <p:strVal val="#ppt_x"/>
                                          </p:val>
                                        </p:tav>
                                      </p:tavLst>
                                    </p:anim>
                                    <p:anim calcmode="lin" valueType="num">
                                      <p:cBhvr additive="base">
                                        <p:cTn id="8" dur="500" fill="hold"/>
                                        <p:tgtEl>
                                          <p:spTgt spid="819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195">
                                            <p:txEl>
                                              <p:pRg st="0" end="0"/>
                                            </p:txEl>
                                          </p:spTgt>
                                        </p:tgtEl>
                                        <p:attrNameLst>
                                          <p:attrName>style.visibility</p:attrName>
                                        </p:attrNameLst>
                                      </p:cBhvr>
                                      <p:to>
                                        <p:strVal val="visible"/>
                                      </p:to>
                                    </p:set>
                                    <p:anim calcmode="lin" valueType="num">
                                      <p:cBhvr additive="base">
                                        <p:cTn id="13" dur="500" fill="hold"/>
                                        <p:tgtEl>
                                          <p:spTgt spid="8195">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19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195">
                                            <p:txEl>
                                              <p:pRg st="1" end="1"/>
                                            </p:txEl>
                                          </p:spTgt>
                                        </p:tgtEl>
                                        <p:attrNameLst>
                                          <p:attrName>style.visibility</p:attrName>
                                        </p:attrNameLst>
                                      </p:cBhvr>
                                      <p:to>
                                        <p:strVal val="visible"/>
                                      </p:to>
                                    </p:set>
                                    <p:anim calcmode="lin" valueType="num">
                                      <p:cBhvr additive="base">
                                        <p:cTn id="19" dur="500" fill="hold"/>
                                        <p:tgtEl>
                                          <p:spTgt spid="8195">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19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195">
                                            <p:txEl>
                                              <p:pRg st="2" end="2"/>
                                            </p:txEl>
                                          </p:spTgt>
                                        </p:tgtEl>
                                        <p:attrNameLst>
                                          <p:attrName>style.visibility</p:attrName>
                                        </p:attrNameLst>
                                      </p:cBhvr>
                                      <p:to>
                                        <p:strVal val="visible"/>
                                      </p:to>
                                    </p:set>
                                    <p:anim calcmode="lin" valueType="num">
                                      <p:cBhvr additive="base">
                                        <p:cTn id="25" dur="500" fill="hold"/>
                                        <p:tgtEl>
                                          <p:spTgt spid="8195">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8195">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animBg="1"/>
      <p:bldP spid="8195"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9217"/>
          <p:cNvSpPr>
            <a:spLocks noGrp="1"/>
          </p:cNvSpPr>
          <p:nvPr>
            <p:ph type="title"/>
          </p:nvPr>
        </p:nvSpPr>
        <p:spPr>
          <a:xfrm>
            <a:off x="2286000" y="304800"/>
            <a:ext cx="7772400" cy="914400"/>
          </a:xfrm>
          <a:ln/>
        </p:spPr>
        <p:txBody>
          <a:bodyPr anchor="ctr" anchorCtr="0">
            <a:normAutofit fontScale="90000"/>
          </a:bodyPr>
          <a:lstStyle/>
          <a:p>
            <a:pPr algn="l"/>
            <a:r>
              <a:rPr sz="3600"/>
              <a:t>La mémoire vive ou mémoire centrale RAM</a:t>
            </a:r>
          </a:p>
        </p:txBody>
      </p:sp>
      <p:sp>
        <p:nvSpPr>
          <p:cNvPr id="9219" name="Text Placeholder 9218"/>
          <p:cNvSpPr>
            <a:spLocks noGrp="1"/>
          </p:cNvSpPr>
          <p:nvPr>
            <p:ph type="body" idx="1"/>
          </p:nvPr>
        </p:nvSpPr>
        <p:spPr>
          <a:xfrm>
            <a:off x="2057400" y="1676400"/>
            <a:ext cx="8305800" cy="3657600"/>
          </a:xfrm>
          <a:ln/>
        </p:spPr>
        <p:txBody>
          <a:bodyPr/>
          <a:lstStyle/>
          <a:p>
            <a:pPr>
              <a:lnSpc>
                <a:spcPct val="90000"/>
              </a:lnSpc>
              <a:buNone/>
            </a:pPr>
            <a:r>
              <a:t>Permet de stocker des information que le processeur traite pendant tout le temps de fonctionnement de l’ordinateur.</a:t>
            </a:r>
          </a:p>
          <a:p>
            <a:pPr>
              <a:lnSpc>
                <a:spcPct val="90000"/>
              </a:lnSpc>
              <a:buNone/>
            </a:pPr>
            <a:r>
              <a:t>Son contenu est détruit dés lors que le PC est éteint ou redémarré, contrairement à une mémoire de masse comme le disque dur .  </a:t>
            </a:r>
          </a:p>
          <a:p>
            <a:pPr>
              <a:lnSpc>
                <a:spcPct val="90000"/>
              </a:lnSpc>
              <a:buNone/>
            </a:pPr>
            <a:r>
              <a:t> </a:t>
            </a:r>
          </a:p>
          <a:p>
            <a:pPr>
              <a:lnSpc>
                <a:spcPct val="90000"/>
              </a:lnSpc>
              <a:buNone/>
            </a:pPr>
            <a:endParaRPr/>
          </a:p>
        </p:txBody>
      </p:sp>
      <p:pic>
        <p:nvPicPr>
          <p:cNvPr id="9220" name="Picture 9219" descr="C:\WINDOWS\Bureau\image4.gif"/>
          <p:cNvPicPr>
            <a:picLocks noChangeAspect="1"/>
          </p:cNvPicPr>
          <p:nvPr/>
        </p:nvPicPr>
        <p:blipFill>
          <a:blip r:embed="rId2"/>
          <a:stretch>
            <a:fillRect/>
          </a:stretch>
        </p:blipFill>
        <p:spPr>
          <a:xfrm>
            <a:off x="3200400" y="4953000"/>
            <a:ext cx="6019800" cy="1600200"/>
          </a:xfrm>
          <a:prstGeom prst="rect">
            <a:avLst/>
          </a:prstGeom>
          <a:noFill/>
          <a:ln w="9525">
            <a:noFill/>
          </a:ln>
        </p:spPr>
      </p:pic>
    </p:spTree>
    <p:extLst>
      <p:ext uri="{BB962C8B-B14F-4D97-AF65-F5344CB8AC3E}">
        <p14:creationId xmlns:p14="http://schemas.microsoft.com/office/powerpoint/2010/main" val="2773454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218"/>
                                        </p:tgtEl>
                                        <p:attrNameLst>
                                          <p:attrName>style.visibility</p:attrName>
                                        </p:attrNameLst>
                                      </p:cBhvr>
                                      <p:to>
                                        <p:strVal val="visible"/>
                                      </p:to>
                                    </p:set>
                                    <p:anim calcmode="lin" valueType="num">
                                      <p:cBhvr additive="base">
                                        <p:cTn id="7" dur="500" fill="hold"/>
                                        <p:tgtEl>
                                          <p:spTgt spid="9218"/>
                                        </p:tgtEl>
                                        <p:attrNameLst>
                                          <p:attrName>ppt_x</p:attrName>
                                        </p:attrNameLst>
                                      </p:cBhvr>
                                      <p:tavLst>
                                        <p:tav tm="0">
                                          <p:val>
                                            <p:strVal val="0-#ppt_w/2"/>
                                          </p:val>
                                        </p:tav>
                                        <p:tav tm="100000">
                                          <p:val>
                                            <p:strVal val="#ppt_x"/>
                                          </p:val>
                                        </p:tav>
                                      </p:tavLst>
                                    </p:anim>
                                    <p:anim calcmode="lin" valueType="num">
                                      <p:cBhvr additive="base">
                                        <p:cTn id="8" dur="500" fill="hold"/>
                                        <p:tgtEl>
                                          <p:spTgt spid="92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219">
                                            <p:txEl>
                                              <p:pRg st="0" end="0"/>
                                            </p:txEl>
                                          </p:spTgt>
                                        </p:tgtEl>
                                        <p:attrNameLst>
                                          <p:attrName>style.visibility</p:attrName>
                                        </p:attrNameLst>
                                      </p:cBhvr>
                                      <p:to>
                                        <p:strVal val="visible"/>
                                      </p:to>
                                    </p:set>
                                    <p:anim calcmode="lin" valueType="num">
                                      <p:cBhvr additive="base">
                                        <p:cTn id="13" dur="500" fill="hold"/>
                                        <p:tgtEl>
                                          <p:spTgt spid="9219">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21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219">
                                            <p:txEl>
                                              <p:pRg st="1" end="1"/>
                                            </p:txEl>
                                          </p:spTgt>
                                        </p:tgtEl>
                                        <p:attrNameLst>
                                          <p:attrName>style.visibility</p:attrName>
                                        </p:attrNameLst>
                                      </p:cBhvr>
                                      <p:to>
                                        <p:strVal val="visible"/>
                                      </p:to>
                                    </p:set>
                                    <p:anim calcmode="lin" valueType="num">
                                      <p:cBhvr additive="base">
                                        <p:cTn id="19" dur="500" fill="hold"/>
                                        <p:tgtEl>
                                          <p:spTgt spid="9219">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921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9219">
                                            <p:txEl>
                                              <p:pRg st="2" end="2"/>
                                            </p:txEl>
                                          </p:spTgt>
                                        </p:tgtEl>
                                        <p:attrNameLst>
                                          <p:attrName>style.visibility</p:attrName>
                                        </p:attrNameLst>
                                      </p:cBhvr>
                                      <p:to>
                                        <p:strVal val="visible"/>
                                      </p:to>
                                    </p:set>
                                    <p:anim calcmode="lin" valueType="num">
                                      <p:cBhvr additive="base">
                                        <p:cTn id="25" dur="500" fill="hold"/>
                                        <p:tgtEl>
                                          <p:spTgt spid="9219">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9219">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animBg="1"/>
      <p:bldP spid="9219"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0241"/>
          <p:cNvSpPr>
            <a:spLocks noGrp="1"/>
          </p:cNvSpPr>
          <p:nvPr>
            <p:ph type="title"/>
          </p:nvPr>
        </p:nvSpPr>
        <p:spPr>
          <a:ln/>
        </p:spPr>
        <p:txBody>
          <a:bodyPr anchor="ctr" anchorCtr="0"/>
          <a:lstStyle/>
          <a:p>
            <a:pPr algn="l"/>
            <a:r>
              <a:rPr sz="3600"/>
              <a:t>La mémoire morte ROM</a:t>
            </a:r>
          </a:p>
        </p:txBody>
      </p:sp>
      <p:sp>
        <p:nvSpPr>
          <p:cNvPr id="10243" name="Text Placeholder 10242"/>
          <p:cNvSpPr>
            <a:spLocks noGrp="1"/>
          </p:cNvSpPr>
          <p:nvPr>
            <p:ph type="body" idx="1"/>
          </p:nvPr>
        </p:nvSpPr>
        <p:spPr>
          <a:ln/>
        </p:spPr>
        <p:txBody>
          <a:bodyPr/>
          <a:lstStyle/>
          <a:p>
            <a:pPr>
              <a:buNone/>
            </a:pPr>
            <a:r>
              <a:t>Il permet de conserver les données nécessaire au démarrage de l’ordinateur qui y sont contenus même lorsque la mémoire n’est plus alimentée .</a:t>
            </a:r>
          </a:p>
          <a:p>
            <a:pPr>
              <a:buNone/>
            </a:pPr>
            <a:r>
              <a:t>A la base se type de mémoire ne peut être accédée qu’en lecture.</a:t>
            </a:r>
          </a:p>
        </p:txBody>
      </p:sp>
    </p:spTree>
    <p:extLst>
      <p:ext uri="{BB962C8B-B14F-4D97-AF65-F5344CB8AC3E}">
        <p14:creationId xmlns:p14="http://schemas.microsoft.com/office/powerpoint/2010/main" val="598084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2"/>
                                        </p:tgtEl>
                                        <p:attrNameLst>
                                          <p:attrName>style.visibility</p:attrName>
                                        </p:attrNameLst>
                                      </p:cBhvr>
                                      <p:to>
                                        <p:strVal val="visible"/>
                                      </p:to>
                                    </p:set>
                                    <p:anim calcmode="lin" valueType="num">
                                      <p:cBhvr additive="base">
                                        <p:cTn id="7" dur="500" fill="hold"/>
                                        <p:tgtEl>
                                          <p:spTgt spid="10242"/>
                                        </p:tgtEl>
                                        <p:attrNameLst>
                                          <p:attrName>ppt_x</p:attrName>
                                        </p:attrNameLst>
                                      </p:cBhvr>
                                      <p:tavLst>
                                        <p:tav tm="0">
                                          <p:val>
                                            <p:strVal val="0-#ppt_w/2"/>
                                          </p:val>
                                        </p:tav>
                                        <p:tav tm="100000">
                                          <p:val>
                                            <p:strVal val="#ppt_x"/>
                                          </p:val>
                                        </p:tav>
                                      </p:tavLst>
                                    </p:anim>
                                    <p:anim calcmode="lin" valueType="num">
                                      <p:cBhvr additive="base">
                                        <p:cTn id="8" dur="500" fill="hold"/>
                                        <p:tgtEl>
                                          <p:spTgt spid="1024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0" end="0"/>
                                            </p:txEl>
                                          </p:spTgt>
                                        </p:tgtEl>
                                        <p:attrNameLst>
                                          <p:attrName>style.visibility</p:attrName>
                                        </p:attrNameLst>
                                      </p:cBhvr>
                                      <p:to>
                                        <p:strVal val="visible"/>
                                      </p:to>
                                    </p:set>
                                    <p:anim calcmode="lin" valueType="num">
                                      <p:cBhvr additive="base">
                                        <p:cTn id="13"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1" end="1"/>
                                            </p:txEl>
                                          </p:spTgt>
                                        </p:tgtEl>
                                        <p:attrNameLst>
                                          <p:attrName>style.visibility</p:attrName>
                                        </p:attrNameLst>
                                      </p:cBhvr>
                                      <p:to>
                                        <p:strVal val="visible"/>
                                      </p:to>
                                    </p:set>
                                    <p:anim calcmode="lin" valueType="num">
                                      <p:cBhvr additive="base">
                                        <p:cTn id="19"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animBg="1"/>
      <p:bldP spid="1024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39937"/>
          <p:cNvSpPr txBox="1"/>
          <p:nvPr/>
        </p:nvSpPr>
        <p:spPr>
          <a:xfrm>
            <a:off x="3124200" y="457201"/>
            <a:ext cx="5867400" cy="519113"/>
          </a:xfrm>
          <a:prstGeom prst="rect">
            <a:avLst/>
          </a:prstGeom>
          <a:noFill/>
          <a:ln w="9525">
            <a:noFill/>
          </a:ln>
        </p:spPr>
        <p:txBody>
          <a:bodyPr>
            <a:spAutoFit/>
          </a:bodyPr>
          <a:lstStyle/>
          <a:p>
            <a:pPr algn="ctr">
              <a:spcBef>
                <a:spcPct val="50000"/>
              </a:spcBef>
            </a:pPr>
            <a:r>
              <a:rPr lang="it-IT" altLang="x-none" sz="2800" b="1" dirty="0">
                <a:solidFill>
                  <a:srgbClr val="FF5050"/>
                </a:solidFill>
              </a:rPr>
              <a:t>Les trois fonctions du BIOS</a:t>
            </a:r>
            <a:r>
              <a:rPr lang="it-IT" altLang="x-none" sz="2800" b="1" dirty="0">
                <a:solidFill>
                  <a:srgbClr val="0000FF"/>
                </a:solidFill>
              </a:rPr>
              <a:t> </a:t>
            </a:r>
            <a:endParaRPr sz="2800" b="1" dirty="0">
              <a:solidFill>
                <a:srgbClr val="0000FF"/>
              </a:solidFill>
            </a:endParaRPr>
          </a:p>
        </p:txBody>
      </p:sp>
      <p:sp>
        <p:nvSpPr>
          <p:cNvPr id="39939" name="Text Box 39938"/>
          <p:cNvSpPr txBox="1"/>
          <p:nvPr/>
        </p:nvSpPr>
        <p:spPr>
          <a:xfrm>
            <a:off x="1981200" y="1600200"/>
            <a:ext cx="7848600" cy="369332"/>
          </a:xfrm>
          <a:prstGeom prst="rect">
            <a:avLst/>
          </a:prstGeom>
          <a:noFill/>
          <a:ln w="9525">
            <a:noFill/>
          </a:ln>
        </p:spPr>
        <p:txBody>
          <a:bodyPr>
            <a:spAutoFit/>
          </a:bodyPr>
          <a:lstStyle/>
          <a:p>
            <a:pPr>
              <a:spcBef>
                <a:spcPct val="50000"/>
              </a:spcBef>
            </a:pPr>
            <a:r>
              <a:rPr lang="it-IT" altLang="x-none" b="1" dirty="0"/>
              <a:t>     Tester les composants de l’ordinateur à l’allumage.</a:t>
            </a:r>
            <a:endParaRPr b="1" dirty="0"/>
          </a:p>
        </p:txBody>
      </p:sp>
      <p:sp>
        <p:nvSpPr>
          <p:cNvPr id="39940" name="Text Box 39939"/>
          <p:cNvSpPr txBox="1"/>
          <p:nvPr/>
        </p:nvSpPr>
        <p:spPr>
          <a:xfrm>
            <a:off x="1981200" y="2743200"/>
            <a:ext cx="8153400" cy="784830"/>
          </a:xfrm>
          <a:prstGeom prst="rect">
            <a:avLst/>
          </a:prstGeom>
          <a:noFill/>
          <a:ln w="9525">
            <a:noFill/>
          </a:ln>
        </p:spPr>
        <p:txBody>
          <a:bodyPr>
            <a:spAutoFit/>
          </a:bodyPr>
          <a:lstStyle/>
          <a:p>
            <a:pPr algn="just">
              <a:spcBef>
                <a:spcPct val="50000"/>
              </a:spcBef>
              <a:buFont typeface="Symbol" panose="05050102010706020507" pitchFamily="18" charset="2"/>
            </a:pPr>
            <a:r>
              <a:rPr lang="it-IT" altLang="x-none" b="1" dirty="0"/>
              <a:t>     Trouver  le  systéme  d’exploitation  et  le  charger  ou </a:t>
            </a:r>
          </a:p>
          <a:p>
            <a:pPr algn="just">
              <a:spcBef>
                <a:spcPct val="50000"/>
              </a:spcBef>
              <a:buFont typeface="Symbol" panose="05050102010706020507" pitchFamily="18" charset="2"/>
            </a:pPr>
            <a:r>
              <a:rPr lang="it-IT" altLang="x-none" b="1" dirty="0"/>
              <a:t>      l’amorcer.</a:t>
            </a:r>
            <a:endParaRPr b="1" dirty="0"/>
          </a:p>
        </p:txBody>
      </p:sp>
      <p:sp>
        <p:nvSpPr>
          <p:cNvPr id="39941" name="Text Box 39940"/>
          <p:cNvSpPr txBox="1"/>
          <p:nvPr/>
        </p:nvSpPr>
        <p:spPr>
          <a:xfrm>
            <a:off x="1981200" y="3962400"/>
            <a:ext cx="8001000" cy="1415772"/>
          </a:xfrm>
          <a:prstGeom prst="rect">
            <a:avLst/>
          </a:prstGeom>
          <a:noFill/>
          <a:ln w="9525">
            <a:noFill/>
          </a:ln>
        </p:spPr>
        <p:txBody>
          <a:bodyPr>
            <a:spAutoFit/>
          </a:bodyPr>
          <a:lstStyle/>
          <a:p>
            <a:pPr algn="just">
              <a:spcBef>
                <a:spcPct val="50000"/>
              </a:spcBef>
              <a:buFont typeface="Symbol" panose="05050102010706020507" pitchFamily="18" charset="2"/>
            </a:pPr>
            <a:r>
              <a:rPr lang="it-IT" altLang="x-none" sz="3200" b="1" dirty="0">
                <a:solidFill>
                  <a:srgbClr val="FF0066"/>
                </a:solidFill>
                <a:sym typeface="Symbol" panose="05050102010706020507" pitchFamily="18" charset="2"/>
              </a:rPr>
              <a:t>   </a:t>
            </a:r>
            <a:r>
              <a:rPr lang="it-IT" altLang="x-none" b="1" dirty="0">
                <a:sym typeface="Symbol" panose="05050102010706020507" pitchFamily="18" charset="2"/>
              </a:rPr>
              <a:t> </a:t>
            </a:r>
            <a:r>
              <a:rPr lang="it-IT" altLang="x-none" b="1" dirty="0"/>
              <a:t>Une fois que le SE  est chargé, Le BIOS travaille avec  le </a:t>
            </a:r>
          </a:p>
          <a:p>
            <a:pPr algn="just">
              <a:spcBef>
                <a:spcPct val="50000"/>
              </a:spcBef>
              <a:buFont typeface="Symbol" panose="05050102010706020507" pitchFamily="18" charset="2"/>
            </a:pPr>
            <a:r>
              <a:rPr lang="it-IT" altLang="x-none" b="1" dirty="0"/>
              <a:t>     processeur  pour  fournir  aux  logiciels  des accès  faciles </a:t>
            </a:r>
          </a:p>
          <a:p>
            <a:pPr algn="just">
              <a:spcBef>
                <a:spcPct val="50000"/>
              </a:spcBef>
              <a:buFont typeface="Symbol" panose="05050102010706020507" pitchFamily="18" charset="2"/>
            </a:pPr>
            <a:r>
              <a:rPr lang="it-IT" altLang="x-none" b="1" dirty="0"/>
              <a:t>     aux  fonctionnalités de votre ordinateur.</a:t>
            </a:r>
            <a:endParaRPr b="1" dirty="0"/>
          </a:p>
        </p:txBody>
      </p:sp>
    </p:spTree>
    <p:extLst>
      <p:ext uri="{BB962C8B-B14F-4D97-AF65-F5344CB8AC3E}">
        <p14:creationId xmlns:p14="http://schemas.microsoft.com/office/powerpoint/2010/main" val="155583408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20" name="Picture 34819" descr="F:\Materiel &amp; Maintenance\Sujets\Diapos\Diapo009_fichiers\image002.jpg"/>
          <p:cNvPicPr>
            <a:picLocks noChangeAspect="1"/>
          </p:cNvPicPr>
          <p:nvPr/>
        </p:nvPicPr>
        <p:blipFill>
          <a:blip r:embed="rId2"/>
          <a:stretch>
            <a:fillRect/>
          </a:stretch>
        </p:blipFill>
        <p:spPr>
          <a:xfrm>
            <a:off x="3276600" y="1371601"/>
            <a:ext cx="5943600" cy="3744913"/>
          </a:xfrm>
          <a:prstGeom prst="rect">
            <a:avLst/>
          </a:prstGeom>
          <a:noFill/>
          <a:ln w="9525">
            <a:noFill/>
          </a:ln>
        </p:spPr>
      </p:pic>
    </p:spTree>
    <p:extLst>
      <p:ext uri="{BB962C8B-B14F-4D97-AF65-F5344CB8AC3E}">
        <p14:creationId xmlns:p14="http://schemas.microsoft.com/office/powerpoint/2010/main" val="22155733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40961"/>
          <p:cNvSpPr txBox="1"/>
          <p:nvPr/>
        </p:nvSpPr>
        <p:spPr>
          <a:xfrm>
            <a:off x="3733800" y="685801"/>
            <a:ext cx="5791200" cy="519113"/>
          </a:xfrm>
          <a:prstGeom prst="rect">
            <a:avLst/>
          </a:prstGeom>
          <a:noFill/>
          <a:ln w="9525">
            <a:noFill/>
          </a:ln>
        </p:spPr>
        <p:txBody>
          <a:bodyPr>
            <a:spAutoFit/>
          </a:bodyPr>
          <a:lstStyle/>
          <a:p>
            <a:pPr>
              <a:spcBef>
                <a:spcPct val="50000"/>
              </a:spcBef>
            </a:pPr>
            <a:r>
              <a:rPr sz="2800" b="1">
                <a:solidFill>
                  <a:srgbClr val="FF5050"/>
                </a:solidFill>
              </a:rPr>
              <a:t>Démarrage de L’ordinateur (boot) </a:t>
            </a:r>
          </a:p>
        </p:txBody>
      </p:sp>
      <p:sp>
        <p:nvSpPr>
          <p:cNvPr id="40963" name="Text Box 40962"/>
          <p:cNvSpPr txBox="1"/>
          <p:nvPr/>
        </p:nvSpPr>
        <p:spPr>
          <a:xfrm>
            <a:off x="2438400" y="1676401"/>
            <a:ext cx="7315200" cy="2169825"/>
          </a:xfrm>
          <a:prstGeom prst="rect">
            <a:avLst/>
          </a:prstGeom>
          <a:noFill/>
          <a:ln w="9525">
            <a:noFill/>
          </a:ln>
        </p:spPr>
        <p:txBody>
          <a:bodyPr>
            <a:spAutoFit/>
          </a:bodyPr>
          <a:lstStyle/>
          <a:p>
            <a:pPr>
              <a:spcBef>
                <a:spcPct val="50000"/>
              </a:spcBef>
            </a:pPr>
            <a:r>
              <a:rPr b="1"/>
              <a:t>Le démarrage de l’ordinateur est réalisé en plusieurs étapes :</a:t>
            </a:r>
          </a:p>
          <a:p>
            <a:pPr>
              <a:spcBef>
                <a:spcPct val="50000"/>
              </a:spcBef>
              <a:buChar char="-"/>
            </a:pPr>
            <a:r>
              <a:rPr b="1"/>
              <a:t>Tests et initialisations de la machine en fonction des paramètres sauvegardées dans le BIOS.</a:t>
            </a:r>
          </a:p>
          <a:p>
            <a:pPr>
              <a:spcBef>
                <a:spcPct val="50000"/>
              </a:spcBef>
              <a:buChar char="-"/>
            </a:pPr>
            <a:r>
              <a:rPr b="1"/>
              <a:t>Activation d’un programme en ROM permettant de placer en RAM le système d’exploitation sauvegardé sur disque.</a:t>
            </a:r>
          </a:p>
          <a:p>
            <a:pPr>
              <a:spcBef>
                <a:spcPct val="50000"/>
              </a:spcBef>
            </a:pPr>
            <a:r>
              <a:rPr b="1"/>
              <a:t>- Prise en main de la machine par le système d’exploitation.</a:t>
            </a:r>
          </a:p>
        </p:txBody>
      </p:sp>
    </p:spTree>
    <p:extLst>
      <p:ext uri="{BB962C8B-B14F-4D97-AF65-F5344CB8AC3E}">
        <p14:creationId xmlns:p14="http://schemas.microsoft.com/office/powerpoint/2010/main" val="371490770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s 28673"/>
          <p:cNvSpPr/>
          <p:nvPr/>
        </p:nvSpPr>
        <p:spPr>
          <a:xfrm>
            <a:off x="2895600" y="990601"/>
            <a:ext cx="5486400" cy="2877711"/>
          </a:xfrm>
          <a:prstGeom prst="rect">
            <a:avLst/>
          </a:prstGeom>
          <a:noFill/>
          <a:ln w="9525">
            <a:noFill/>
          </a:ln>
        </p:spPr>
        <p:txBody>
          <a:bodyPr>
            <a:spAutoFit/>
          </a:bodyPr>
          <a:lstStyle/>
          <a:p>
            <a:pPr eaLnBrk="0" hangingPunct="0">
              <a:spcBef>
                <a:spcPct val="50000"/>
              </a:spcBef>
              <a:buChar char="•"/>
            </a:pPr>
            <a:r>
              <a:rPr sz="4000" b="1">
                <a:solidFill>
                  <a:schemeClr val="accent2"/>
                </a:solidFill>
              </a:rPr>
              <a:t>Mémoires de masse</a:t>
            </a:r>
          </a:p>
          <a:p>
            <a:pPr eaLnBrk="0" hangingPunct="0">
              <a:spcBef>
                <a:spcPct val="50000"/>
              </a:spcBef>
            </a:pPr>
            <a:endParaRPr sz="4000" b="1">
              <a:solidFill>
                <a:schemeClr val="accent2"/>
              </a:solidFill>
            </a:endParaRPr>
          </a:p>
          <a:p>
            <a:pPr eaLnBrk="0" hangingPunct="0">
              <a:spcBef>
                <a:spcPct val="50000"/>
              </a:spcBef>
              <a:buFont typeface="Wingdings" panose="05000000000000000000" pitchFamily="2" charset="2"/>
              <a:buChar char="ü"/>
            </a:pPr>
            <a:r>
              <a:t>Disques Durs</a:t>
            </a:r>
          </a:p>
          <a:p>
            <a:pPr eaLnBrk="0" hangingPunct="0">
              <a:spcBef>
                <a:spcPct val="50000"/>
              </a:spcBef>
              <a:buFont typeface="Wingdings" panose="05000000000000000000" pitchFamily="2" charset="2"/>
              <a:buChar char="ü"/>
            </a:pPr>
            <a:r>
              <a:t>Disquettes</a:t>
            </a:r>
          </a:p>
          <a:p>
            <a:pPr eaLnBrk="0" hangingPunct="0">
              <a:spcBef>
                <a:spcPct val="50000"/>
              </a:spcBef>
              <a:buFont typeface="Wingdings" panose="05000000000000000000" pitchFamily="2" charset="2"/>
              <a:buChar char="ü"/>
            </a:pPr>
            <a:r>
              <a:t>CD-Rom</a:t>
            </a:r>
          </a:p>
        </p:txBody>
      </p:sp>
    </p:spTree>
    <p:extLst>
      <p:ext uri="{BB962C8B-B14F-4D97-AF65-F5344CB8AC3E}">
        <p14:creationId xmlns:p14="http://schemas.microsoft.com/office/powerpoint/2010/main" val="185948173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1265"/>
          <p:cNvSpPr>
            <a:spLocks noGrp="1"/>
          </p:cNvSpPr>
          <p:nvPr>
            <p:ph type="title"/>
          </p:nvPr>
        </p:nvSpPr>
        <p:spPr>
          <a:xfrm>
            <a:off x="2209800" y="304800"/>
            <a:ext cx="7772400" cy="1066800"/>
          </a:xfrm>
          <a:ln/>
        </p:spPr>
        <p:txBody>
          <a:bodyPr anchor="ctr" anchorCtr="0"/>
          <a:lstStyle/>
          <a:p>
            <a:pPr algn="l"/>
            <a:r>
              <a:rPr sz="3600"/>
              <a:t>Le disque dur</a:t>
            </a:r>
            <a:r>
              <a:t> </a:t>
            </a:r>
          </a:p>
        </p:txBody>
      </p:sp>
      <p:sp>
        <p:nvSpPr>
          <p:cNvPr id="11267" name="Text Placeholder 11266"/>
          <p:cNvSpPr>
            <a:spLocks noGrp="1"/>
          </p:cNvSpPr>
          <p:nvPr>
            <p:ph type="body" idx="1"/>
          </p:nvPr>
        </p:nvSpPr>
        <p:spPr>
          <a:xfrm>
            <a:off x="2209800" y="1371600"/>
            <a:ext cx="7772400" cy="4724400"/>
          </a:xfrm>
          <a:ln/>
        </p:spPr>
        <p:txBody>
          <a:bodyPr>
            <a:normAutofit lnSpcReduction="10000"/>
          </a:bodyPr>
          <a:lstStyle/>
          <a:p>
            <a:pPr>
              <a:lnSpc>
                <a:spcPct val="90000"/>
              </a:lnSpc>
              <a:buNone/>
            </a:pPr>
            <a:r>
              <a:rPr/>
              <a:t>C’est la principale unité de stockage de l’ordinateur ,c’est la où les données sont sauvegardées,les programmes et le système d’exploitation </a:t>
            </a:r>
          </a:p>
          <a:p>
            <a:pPr>
              <a:lnSpc>
                <a:spcPct val="90000"/>
              </a:lnSpc>
            </a:pPr>
            <a:r>
              <a:rPr/>
              <a:t>Des opération de va-est-vient auront lieu entre la</a:t>
            </a:r>
          </a:p>
          <a:p>
            <a:pPr>
              <a:lnSpc>
                <a:spcPct val="90000"/>
              </a:lnSpc>
              <a:buNone/>
            </a:pPr>
            <a:r>
              <a:rPr/>
              <a:t>    RAM et le disque dur </a:t>
            </a:r>
          </a:p>
          <a:p>
            <a:pPr>
              <a:lnSpc>
                <a:spcPct val="90000"/>
              </a:lnSpc>
            </a:pPr>
            <a:r>
              <a:rPr/>
              <a:t>Une information sur le disque dur ne peut être traitée que si elle est transférée en mémoire centrale </a:t>
            </a:r>
          </a:p>
          <a:p>
            <a:pPr>
              <a:lnSpc>
                <a:spcPct val="90000"/>
              </a:lnSpc>
              <a:buNone/>
            </a:pPr>
            <a:r>
              <a:rPr/>
              <a:t>Le disque dur est caractérisé par sa capacité de stockage d’informations,elle est exprimée en Gigaoctets  (Go).</a:t>
            </a:r>
          </a:p>
        </p:txBody>
      </p:sp>
    </p:spTree>
    <p:extLst>
      <p:ext uri="{BB962C8B-B14F-4D97-AF65-F5344CB8AC3E}">
        <p14:creationId xmlns:p14="http://schemas.microsoft.com/office/powerpoint/2010/main" val="3154349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266"/>
                                        </p:tgtEl>
                                        <p:attrNameLst>
                                          <p:attrName>style.visibility</p:attrName>
                                        </p:attrNameLst>
                                      </p:cBhvr>
                                      <p:to>
                                        <p:strVal val="visible"/>
                                      </p:to>
                                    </p:set>
                                    <p:anim calcmode="lin" valueType="num">
                                      <p:cBhvr additive="base">
                                        <p:cTn id="7" dur="500" fill="hold"/>
                                        <p:tgtEl>
                                          <p:spTgt spid="11266"/>
                                        </p:tgtEl>
                                        <p:attrNameLst>
                                          <p:attrName>ppt_x</p:attrName>
                                        </p:attrNameLst>
                                      </p:cBhvr>
                                      <p:tavLst>
                                        <p:tav tm="0">
                                          <p:val>
                                            <p:strVal val="0-#ppt_w/2"/>
                                          </p:val>
                                        </p:tav>
                                        <p:tav tm="100000">
                                          <p:val>
                                            <p:strVal val="#ppt_x"/>
                                          </p:val>
                                        </p:tav>
                                      </p:tavLst>
                                    </p:anim>
                                    <p:anim calcmode="lin" valueType="num">
                                      <p:cBhvr additive="base">
                                        <p:cTn id="8" dur="500" fill="hold"/>
                                        <p:tgtEl>
                                          <p:spTgt spid="1126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267">
                                            <p:txEl>
                                              <p:pRg st="0" end="0"/>
                                            </p:txEl>
                                          </p:spTgt>
                                        </p:tgtEl>
                                        <p:attrNameLst>
                                          <p:attrName>style.visibility</p:attrName>
                                        </p:attrNameLst>
                                      </p:cBhvr>
                                      <p:to>
                                        <p:strVal val="visible"/>
                                      </p:to>
                                    </p:set>
                                    <p:anim calcmode="lin" valueType="num">
                                      <p:cBhvr additive="base">
                                        <p:cTn id="13" dur="500" fill="hold"/>
                                        <p:tgtEl>
                                          <p:spTgt spid="11267">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2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267">
                                            <p:txEl>
                                              <p:pRg st="1" end="1"/>
                                            </p:txEl>
                                          </p:spTgt>
                                        </p:tgtEl>
                                        <p:attrNameLst>
                                          <p:attrName>style.visibility</p:attrName>
                                        </p:attrNameLst>
                                      </p:cBhvr>
                                      <p:to>
                                        <p:strVal val="visible"/>
                                      </p:to>
                                    </p:set>
                                    <p:anim calcmode="lin" valueType="num">
                                      <p:cBhvr additive="base">
                                        <p:cTn id="19" dur="500" fill="hold"/>
                                        <p:tgtEl>
                                          <p:spTgt spid="11267">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126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1267">
                                            <p:txEl>
                                              <p:pRg st="2" end="2"/>
                                            </p:txEl>
                                          </p:spTgt>
                                        </p:tgtEl>
                                        <p:attrNameLst>
                                          <p:attrName>style.visibility</p:attrName>
                                        </p:attrNameLst>
                                      </p:cBhvr>
                                      <p:to>
                                        <p:strVal val="visible"/>
                                      </p:to>
                                    </p:set>
                                    <p:anim calcmode="lin" valueType="num">
                                      <p:cBhvr additive="base">
                                        <p:cTn id="25" dur="500" fill="hold"/>
                                        <p:tgtEl>
                                          <p:spTgt spid="11267">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126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1267">
                                            <p:txEl>
                                              <p:pRg st="3" end="3"/>
                                            </p:txEl>
                                          </p:spTgt>
                                        </p:tgtEl>
                                        <p:attrNameLst>
                                          <p:attrName>style.visibility</p:attrName>
                                        </p:attrNameLst>
                                      </p:cBhvr>
                                      <p:to>
                                        <p:strVal val="visible"/>
                                      </p:to>
                                    </p:set>
                                    <p:anim calcmode="lin" valueType="num">
                                      <p:cBhvr additive="base">
                                        <p:cTn id="31" dur="500" fill="hold"/>
                                        <p:tgtEl>
                                          <p:spTgt spid="11267">
                                            <p:txEl>
                                              <p:pRg st="3" end="3"/>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126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1267">
                                            <p:txEl>
                                              <p:pRg st="4" end="4"/>
                                            </p:txEl>
                                          </p:spTgt>
                                        </p:tgtEl>
                                        <p:attrNameLst>
                                          <p:attrName>style.visibility</p:attrName>
                                        </p:attrNameLst>
                                      </p:cBhvr>
                                      <p:to>
                                        <p:strVal val="visible"/>
                                      </p:to>
                                    </p:set>
                                    <p:anim calcmode="lin" valueType="num">
                                      <p:cBhvr additive="base">
                                        <p:cTn id="37" dur="500" fill="hold"/>
                                        <p:tgtEl>
                                          <p:spTgt spid="11267">
                                            <p:txEl>
                                              <p:pRg st="4" end="4"/>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126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animBg="1"/>
      <p:bldP spid="11267"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s 30721"/>
          <p:cNvSpPr/>
          <p:nvPr/>
        </p:nvSpPr>
        <p:spPr>
          <a:xfrm>
            <a:off x="1981200" y="457200"/>
            <a:ext cx="3733800" cy="1123384"/>
          </a:xfrm>
          <a:prstGeom prst="rect">
            <a:avLst/>
          </a:prstGeom>
          <a:noFill/>
          <a:ln w="9525">
            <a:noFill/>
          </a:ln>
        </p:spPr>
        <p:txBody>
          <a:bodyPr>
            <a:spAutoFit/>
          </a:bodyPr>
          <a:lstStyle/>
          <a:p>
            <a:pPr eaLnBrk="0" hangingPunct="0">
              <a:spcBef>
                <a:spcPct val="50000"/>
              </a:spcBef>
              <a:buChar char="•"/>
            </a:pPr>
            <a:r>
              <a:rPr sz="4000" b="1" i="1">
                <a:solidFill>
                  <a:schemeClr val="bg2"/>
                </a:solidFill>
              </a:rPr>
              <a:t>Disque Dur</a:t>
            </a:r>
          </a:p>
          <a:p>
            <a:pPr eaLnBrk="0" hangingPunct="0">
              <a:spcBef>
                <a:spcPct val="50000"/>
              </a:spcBef>
            </a:pPr>
            <a:r>
              <a:t> </a:t>
            </a:r>
          </a:p>
        </p:txBody>
      </p:sp>
      <p:pic>
        <p:nvPicPr>
          <p:cNvPr id="30724" name="Picture 30723" descr="C:\WINDOWS\Bureau\Materiel &amp; Maintenance\Sujets\Images\HDinter.gif"/>
          <p:cNvPicPr>
            <a:picLocks noChangeAspect="1"/>
          </p:cNvPicPr>
          <p:nvPr/>
        </p:nvPicPr>
        <p:blipFill>
          <a:blip r:embed="rId2"/>
          <a:stretch>
            <a:fillRect/>
          </a:stretch>
        </p:blipFill>
        <p:spPr>
          <a:xfrm>
            <a:off x="2895600" y="1524000"/>
            <a:ext cx="6248400" cy="4419600"/>
          </a:xfrm>
          <a:prstGeom prst="rect">
            <a:avLst/>
          </a:prstGeom>
          <a:noFill/>
          <a:ln w="9525">
            <a:noFill/>
          </a:ln>
        </p:spPr>
      </p:pic>
    </p:spTree>
    <p:extLst>
      <p:ext uri="{BB962C8B-B14F-4D97-AF65-F5344CB8AC3E}">
        <p14:creationId xmlns:p14="http://schemas.microsoft.com/office/powerpoint/2010/main" val="106487077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2289"/>
          <p:cNvSpPr>
            <a:spLocks noGrp="1"/>
          </p:cNvSpPr>
          <p:nvPr>
            <p:ph type="title"/>
          </p:nvPr>
        </p:nvSpPr>
        <p:spPr>
          <a:xfrm>
            <a:off x="3505200" y="228600"/>
            <a:ext cx="5943600" cy="838200"/>
          </a:xfrm>
          <a:ln/>
        </p:spPr>
        <p:txBody>
          <a:bodyPr anchor="ctr" anchorCtr="0"/>
          <a:lstStyle/>
          <a:p>
            <a:pPr algn="l"/>
            <a:r>
              <a:rPr sz="3600"/>
              <a:t>Le lecteur disquette</a:t>
            </a:r>
          </a:p>
        </p:txBody>
      </p:sp>
      <p:sp>
        <p:nvSpPr>
          <p:cNvPr id="12291" name="Text Placeholder 12290"/>
          <p:cNvSpPr>
            <a:spLocks noGrp="1"/>
          </p:cNvSpPr>
          <p:nvPr>
            <p:ph type="body" idx="1"/>
          </p:nvPr>
        </p:nvSpPr>
        <p:spPr>
          <a:xfrm>
            <a:off x="2286000" y="1219200"/>
            <a:ext cx="7772400" cy="4114800"/>
          </a:xfrm>
          <a:ln/>
        </p:spPr>
        <p:txBody>
          <a:bodyPr/>
          <a:lstStyle/>
          <a:p>
            <a:pPr>
              <a:buNone/>
            </a:pPr>
            <a:r>
              <a:t>La disquette sert à sauvegarder les informations et à les préserver . </a:t>
            </a:r>
          </a:p>
          <a:p>
            <a:pPr>
              <a:buNone/>
            </a:pPr>
            <a:r>
              <a:t>Elle peut être utilise par l’ordinateur à l’aide d’un lecteur disquette.</a:t>
            </a:r>
          </a:p>
          <a:p>
            <a:pPr>
              <a:buNone/>
            </a:pPr>
            <a:r>
              <a:t> Sa capacité est de 1.44 Mégaoctets (Mo) .</a:t>
            </a:r>
          </a:p>
        </p:txBody>
      </p:sp>
    </p:spTree>
    <p:extLst>
      <p:ext uri="{BB962C8B-B14F-4D97-AF65-F5344CB8AC3E}">
        <p14:creationId xmlns:p14="http://schemas.microsoft.com/office/powerpoint/2010/main" val="3453793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290"/>
                                        </p:tgtEl>
                                        <p:attrNameLst>
                                          <p:attrName>style.visibility</p:attrName>
                                        </p:attrNameLst>
                                      </p:cBhvr>
                                      <p:to>
                                        <p:strVal val="visible"/>
                                      </p:to>
                                    </p:set>
                                    <p:anim calcmode="lin" valueType="num">
                                      <p:cBhvr additive="base">
                                        <p:cTn id="7" dur="500" fill="hold"/>
                                        <p:tgtEl>
                                          <p:spTgt spid="12290"/>
                                        </p:tgtEl>
                                        <p:attrNameLst>
                                          <p:attrName>ppt_x</p:attrName>
                                        </p:attrNameLst>
                                      </p:cBhvr>
                                      <p:tavLst>
                                        <p:tav tm="0">
                                          <p:val>
                                            <p:strVal val="0-#ppt_w/2"/>
                                          </p:val>
                                        </p:tav>
                                        <p:tav tm="100000">
                                          <p:val>
                                            <p:strVal val="#ppt_x"/>
                                          </p:val>
                                        </p:tav>
                                      </p:tavLst>
                                    </p:anim>
                                    <p:anim calcmode="lin" valueType="num">
                                      <p:cBhvr additive="base">
                                        <p:cTn id="8" dur="500" fill="hold"/>
                                        <p:tgtEl>
                                          <p:spTgt spid="1229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291">
                                            <p:txEl>
                                              <p:pRg st="0" end="0"/>
                                            </p:txEl>
                                          </p:spTgt>
                                        </p:tgtEl>
                                        <p:attrNameLst>
                                          <p:attrName>style.visibility</p:attrName>
                                        </p:attrNameLst>
                                      </p:cBhvr>
                                      <p:to>
                                        <p:strVal val="visible"/>
                                      </p:to>
                                    </p:set>
                                    <p:anim calcmode="lin" valueType="num">
                                      <p:cBhvr additive="base">
                                        <p:cTn id="13" dur="500" fill="hold"/>
                                        <p:tgtEl>
                                          <p:spTgt spid="12291">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22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2291">
                                            <p:txEl>
                                              <p:pRg st="1" end="1"/>
                                            </p:txEl>
                                          </p:spTgt>
                                        </p:tgtEl>
                                        <p:attrNameLst>
                                          <p:attrName>style.visibility</p:attrName>
                                        </p:attrNameLst>
                                      </p:cBhvr>
                                      <p:to>
                                        <p:strVal val="visible"/>
                                      </p:to>
                                    </p:set>
                                    <p:anim calcmode="lin" valueType="num">
                                      <p:cBhvr additive="base">
                                        <p:cTn id="19" dur="500" fill="hold"/>
                                        <p:tgtEl>
                                          <p:spTgt spid="12291">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229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2291">
                                            <p:txEl>
                                              <p:pRg st="2" end="2"/>
                                            </p:txEl>
                                          </p:spTgt>
                                        </p:tgtEl>
                                        <p:attrNameLst>
                                          <p:attrName>style.visibility</p:attrName>
                                        </p:attrNameLst>
                                      </p:cBhvr>
                                      <p:to>
                                        <p:strVal val="visible"/>
                                      </p:to>
                                    </p:set>
                                    <p:anim calcmode="lin" valueType="num">
                                      <p:cBhvr additive="base">
                                        <p:cTn id="25" dur="500" fill="hold"/>
                                        <p:tgtEl>
                                          <p:spTgt spid="12291">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2291">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animBg="1"/>
      <p:bldP spid="12291"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2" name="Content Placeholder 43011" descr="image002"/>
          <p:cNvPicPr>
            <a:picLocks noGrp="1" noChangeAspect="1"/>
          </p:cNvPicPr>
          <p:nvPr>
            <p:ph idx="1"/>
          </p:nvPr>
        </p:nvPicPr>
        <p:blipFill>
          <a:blip r:embed="rId2"/>
          <a:stretch>
            <a:fillRect/>
          </a:stretch>
        </p:blipFill>
        <p:spPr>
          <a:xfrm>
            <a:off x="1524000" y="0"/>
            <a:ext cx="9144000" cy="6858000"/>
          </a:xfrm>
          <a:ln/>
        </p:spPr>
      </p:pic>
    </p:spTree>
    <p:extLst>
      <p:ext uri="{BB962C8B-B14F-4D97-AF65-F5344CB8AC3E}">
        <p14:creationId xmlns:p14="http://schemas.microsoft.com/office/powerpoint/2010/main" val="166269144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3313"/>
          <p:cNvSpPr>
            <a:spLocks noGrp="1"/>
          </p:cNvSpPr>
          <p:nvPr>
            <p:ph type="title"/>
          </p:nvPr>
        </p:nvSpPr>
        <p:spPr>
          <a:xfrm>
            <a:off x="2209800" y="228600"/>
            <a:ext cx="7772400" cy="1143000"/>
          </a:xfrm>
          <a:ln/>
        </p:spPr>
        <p:txBody>
          <a:bodyPr anchor="ctr" anchorCtr="0"/>
          <a:lstStyle/>
          <a:p>
            <a:pPr algn="l"/>
            <a:r>
              <a:rPr sz="3600"/>
              <a:t>Le lecteur CD</a:t>
            </a:r>
          </a:p>
        </p:txBody>
      </p:sp>
      <p:sp>
        <p:nvSpPr>
          <p:cNvPr id="13315" name="Text Placeholder 13314"/>
          <p:cNvSpPr>
            <a:spLocks noGrp="1"/>
          </p:cNvSpPr>
          <p:nvPr>
            <p:ph type="body" idx="1"/>
          </p:nvPr>
        </p:nvSpPr>
        <p:spPr>
          <a:xfrm>
            <a:off x="2133600" y="1447800"/>
            <a:ext cx="7772400" cy="4114800"/>
          </a:xfrm>
          <a:ln/>
        </p:spPr>
        <p:txBody>
          <a:bodyPr/>
          <a:lstStyle/>
          <a:p>
            <a:pPr>
              <a:buNone/>
            </a:pPr>
            <a:r>
              <a:t>Il est capable de lire les CD-Rom, les CD audio et les CD vidéo.</a:t>
            </a:r>
          </a:p>
          <a:p>
            <a:pPr>
              <a:buNone/>
            </a:pPr>
            <a:r>
              <a:t>Les CD sont des moyens de stockage des informations .</a:t>
            </a:r>
          </a:p>
          <a:p>
            <a:pPr>
              <a:buNone/>
            </a:pPr>
            <a:r>
              <a:t>Les CD ont une capacité de 650 à 900 Mo. </a:t>
            </a:r>
          </a:p>
        </p:txBody>
      </p:sp>
      <p:pic>
        <p:nvPicPr>
          <p:cNvPr id="13316" name="Picture 13315" descr="F:\Materiel &amp; Maintenance\Sujets\Periphs\CD-rom_fichiers\image001.gif"/>
          <p:cNvPicPr>
            <a:picLocks noChangeAspect="1"/>
          </p:cNvPicPr>
          <p:nvPr/>
        </p:nvPicPr>
        <p:blipFill>
          <a:blip r:embed="rId2"/>
          <a:stretch>
            <a:fillRect/>
          </a:stretch>
        </p:blipFill>
        <p:spPr>
          <a:xfrm>
            <a:off x="4114800" y="4495800"/>
            <a:ext cx="4114800" cy="2209800"/>
          </a:xfrm>
          <a:prstGeom prst="rect">
            <a:avLst/>
          </a:prstGeom>
          <a:noFill/>
          <a:ln w="9525">
            <a:noFill/>
          </a:ln>
        </p:spPr>
      </p:pic>
    </p:spTree>
    <p:extLst>
      <p:ext uri="{BB962C8B-B14F-4D97-AF65-F5344CB8AC3E}">
        <p14:creationId xmlns:p14="http://schemas.microsoft.com/office/powerpoint/2010/main" val="438908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314"/>
                                        </p:tgtEl>
                                        <p:attrNameLst>
                                          <p:attrName>style.visibility</p:attrName>
                                        </p:attrNameLst>
                                      </p:cBhvr>
                                      <p:to>
                                        <p:strVal val="visible"/>
                                      </p:to>
                                    </p:set>
                                    <p:anim calcmode="lin" valueType="num">
                                      <p:cBhvr additive="base">
                                        <p:cTn id="7" dur="500" fill="hold"/>
                                        <p:tgtEl>
                                          <p:spTgt spid="13314"/>
                                        </p:tgtEl>
                                        <p:attrNameLst>
                                          <p:attrName>ppt_x</p:attrName>
                                        </p:attrNameLst>
                                      </p:cBhvr>
                                      <p:tavLst>
                                        <p:tav tm="0">
                                          <p:val>
                                            <p:strVal val="0-#ppt_w/2"/>
                                          </p:val>
                                        </p:tav>
                                        <p:tav tm="100000">
                                          <p:val>
                                            <p:strVal val="#ppt_x"/>
                                          </p:val>
                                        </p:tav>
                                      </p:tavLst>
                                    </p:anim>
                                    <p:anim calcmode="lin" valueType="num">
                                      <p:cBhvr additive="base">
                                        <p:cTn id="8" dur="500" fill="hold"/>
                                        <p:tgtEl>
                                          <p:spTgt spid="1331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315">
                                            <p:txEl>
                                              <p:pRg st="0" end="0"/>
                                            </p:txEl>
                                          </p:spTgt>
                                        </p:tgtEl>
                                        <p:attrNameLst>
                                          <p:attrName>style.visibility</p:attrName>
                                        </p:attrNameLst>
                                      </p:cBhvr>
                                      <p:to>
                                        <p:strVal val="visible"/>
                                      </p:to>
                                    </p:set>
                                    <p:anim calcmode="lin" valueType="num">
                                      <p:cBhvr additive="base">
                                        <p:cTn id="13" dur="500" fill="hold"/>
                                        <p:tgtEl>
                                          <p:spTgt spid="13315">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331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3315">
                                            <p:txEl>
                                              <p:pRg st="1" end="1"/>
                                            </p:txEl>
                                          </p:spTgt>
                                        </p:tgtEl>
                                        <p:attrNameLst>
                                          <p:attrName>style.visibility</p:attrName>
                                        </p:attrNameLst>
                                      </p:cBhvr>
                                      <p:to>
                                        <p:strVal val="visible"/>
                                      </p:to>
                                    </p:set>
                                    <p:anim calcmode="lin" valueType="num">
                                      <p:cBhvr additive="base">
                                        <p:cTn id="19" dur="500" fill="hold"/>
                                        <p:tgtEl>
                                          <p:spTgt spid="13315">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331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3315">
                                            <p:txEl>
                                              <p:pRg st="2" end="2"/>
                                            </p:txEl>
                                          </p:spTgt>
                                        </p:tgtEl>
                                        <p:attrNameLst>
                                          <p:attrName>style.visibility</p:attrName>
                                        </p:attrNameLst>
                                      </p:cBhvr>
                                      <p:to>
                                        <p:strVal val="visible"/>
                                      </p:to>
                                    </p:set>
                                    <p:anim calcmode="lin" valueType="num">
                                      <p:cBhvr additive="base">
                                        <p:cTn id="25" dur="500" fill="hold"/>
                                        <p:tgtEl>
                                          <p:spTgt spid="13315">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3315">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animBg="1"/>
      <p:bldP spid="13315"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31745" descr="Cartes_graphiques[1]"/>
          <p:cNvPicPr>
            <a:picLocks noChangeAspect="1"/>
          </p:cNvPicPr>
          <p:nvPr/>
        </p:nvPicPr>
        <p:blipFill>
          <a:blip r:embed="rId2"/>
          <a:stretch>
            <a:fillRect/>
          </a:stretch>
        </p:blipFill>
        <p:spPr>
          <a:xfrm>
            <a:off x="5638800" y="352425"/>
            <a:ext cx="1981200" cy="1485900"/>
          </a:xfrm>
          <a:prstGeom prst="rect">
            <a:avLst/>
          </a:prstGeom>
          <a:noFill/>
          <a:ln w="9525">
            <a:noFill/>
          </a:ln>
        </p:spPr>
      </p:pic>
      <p:pic>
        <p:nvPicPr>
          <p:cNvPr id="31747" name="Picture 31746" descr="Cartes_réseau"/>
          <p:cNvPicPr>
            <a:picLocks noChangeAspect="1"/>
          </p:cNvPicPr>
          <p:nvPr/>
        </p:nvPicPr>
        <p:blipFill>
          <a:blip r:embed="rId3"/>
          <a:stretch>
            <a:fillRect/>
          </a:stretch>
        </p:blipFill>
        <p:spPr>
          <a:xfrm>
            <a:off x="5791200" y="5000625"/>
            <a:ext cx="1866900" cy="1866900"/>
          </a:xfrm>
          <a:prstGeom prst="rect">
            <a:avLst/>
          </a:prstGeom>
          <a:noFill/>
          <a:ln w="9525">
            <a:noFill/>
          </a:ln>
        </p:spPr>
      </p:pic>
      <p:pic>
        <p:nvPicPr>
          <p:cNvPr id="31748" name="Picture 31747" descr="Cartes_son[1]"/>
          <p:cNvPicPr>
            <a:picLocks noChangeAspect="1"/>
          </p:cNvPicPr>
          <p:nvPr/>
        </p:nvPicPr>
        <p:blipFill>
          <a:blip r:embed="rId4"/>
          <a:stretch>
            <a:fillRect/>
          </a:stretch>
        </p:blipFill>
        <p:spPr>
          <a:xfrm>
            <a:off x="5715000" y="2943225"/>
            <a:ext cx="2057400" cy="1543050"/>
          </a:xfrm>
          <a:prstGeom prst="rect">
            <a:avLst/>
          </a:prstGeom>
          <a:noFill/>
          <a:ln w="9525">
            <a:noFill/>
          </a:ln>
        </p:spPr>
      </p:pic>
      <p:sp>
        <p:nvSpPr>
          <p:cNvPr id="31749" name="Text Box 31748"/>
          <p:cNvSpPr txBox="1"/>
          <p:nvPr/>
        </p:nvSpPr>
        <p:spPr>
          <a:xfrm>
            <a:off x="2286000" y="581026"/>
            <a:ext cx="2895600" cy="1190625"/>
          </a:xfrm>
          <a:prstGeom prst="rect">
            <a:avLst/>
          </a:prstGeom>
          <a:noFill/>
          <a:ln w="9525">
            <a:noFill/>
          </a:ln>
        </p:spPr>
        <p:txBody>
          <a:bodyPr>
            <a:spAutoFit/>
          </a:bodyPr>
          <a:lstStyle/>
          <a:p>
            <a:pPr eaLnBrk="0" hangingPunct="0">
              <a:spcBef>
                <a:spcPct val="50000"/>
              </a:spcBef>
            </a:pPr>
            <a:r>
              <a:rPr sz="3600"/>
              <a:t>Carte graphique</a:t>
            </a:r>
          </a:p>
        </p:txBody>
      </p:sp>
      <p:sp>
        <p:nvSpPr>
          <p:cNvPr id="31750" name="Text Box 31749"/>
          <p:cNvSpPr txBox="1"/>
          <p:nvPr/>
        </p:nvSpPr>
        <p:spPr>
          <a:xfrm>
            <a:off x="2438400" y="3248025"/>
            <a:ext cx="2895600" cy="641350"/>
          </a:xfrm>
          <a:prstGeom prst="rect">
            <a:avLst/>
          </a:prstGeom>
          <a:noFill/>
          <a:ln w="9525">
            <a:noFill/>
          </a:ln>
        </p:spPr>
        <p:txBody>
          <a:bodyPr>
            <a:spAutoFit/>
          </a:bodyPr>
          <a:lstStyle/>
          <a:p>
            <a:pPr eaLnBrk="0" hangingPunct="0">
              <a:spcBef>
                <a:spcPct val="50000"/>
              </a:spcBef>
            </a:pPr>
            <a:r>
              <a:rPr sz="3600"/>
              <a:t>Carte son</a:t>
            </a:r>
          </a:p>
        </p:txBody>
      </p:sp>
      <p:sp>
        <p:nvSpPr>
          <p:cNvPr id="31751" name="Text Box 31750"/>
          <p:cNvSpPr txBox="1"/>
          <p:nvPr/>
        </p:nvSpPr>
        <p:spPr>
          <a:xfrm>
            <a:off x="2362200" y="5457825"/>
            <a:ext cx="2819400" cy="641350"/>
          </a:xfrm>
          <a:prstGeom prst="rect">
            <a:avLst/>
          </a:prstGeom>
          <a:noFill/>
          <a:ln w="9525">
            <a:noFill/>
          </a:ln>
        </p:spPr>
        <p:txBody>
          <a:bodyPr>
            <a:spAutoFit/>
          </a:bodyPr>
          <a:lstStyle/>
          <a:p>
            <a:pPr eaLnBrk="0" hangingPunct="0">
              <a:spcBef>
                <a:spcPct val="50000"/>
              </a:spcBef>
            </a:pPr>
            <a:r>
              <a:rPr sz="3600"/>
              <a:t>Carte réseau</a:t>
            </a:r>
          </a:p>
        </p:txBody>
      </p:sp>
    </p:spTree>
    <p:extLst>
      <p:ext uri="{BB962C8B-B14F-4D97-AF65-F5344CB8AC3E}">
        <p14:creationId xmlns:p14="http://schemas.microsoft.com/office/powerpoint/2010/main" val="350975660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s 41985"/>
          <p:cNvSpPr/>
          <p:nvPr/>
        </p:nvSpPr>
        <p:spPr>
          <a:xfrm>
            <a:off x="4191000" y="381000"/>
            <a:ext cx="4235450" cy="641350"/>
          </a:xfrm>
          <a:prstGeom prst="rect">
            <a:avLst/>
          </a:prstGeom>
          <a:noFill/>
          <a:ln w="9525">
            <a:noFill/>
          </a:ln>
        </p:spPr>
        <p:txBody>
          <a:bodyPr wrap="none" anchor="t" anchorCtr="0">
            <a:spAutoFit/>
          </a:bodyPr>
          <a:lstStyle/>
          <a:p>
            <a:pPr>
              <a:spcBef>
                <a:spcPct val="50000"/>
              </a:spcBef>
            </a:pPr>
            <a:r>
              <a:rPr sz="3600" b="1">
                <a:solidFill>
                  <a:srgbClr val="FF0066"/>
                </a:solidFill>
              </a:rPr>
              <a:t>Cartes d’extensions  </a:t>
            </a:r>
            <a:endParaRPr lang="en-US" altLang="x-none" sz="3600" b="1" dirty="0">
              <a:solidFill>
                <a:srgbClr val="FF0066"/>
              </a:solidFill>
            </a:endParaRPr>
          </a:p>
        </p:txBody>
      </p:sp>
      <p:sp>
        <p:nvSpPr>
          <p:cNvPr id="41987" name="Rectangles 41986"/>
          <p:cNvSpPr/>
          <p:nvPr/>
        </p:nvSpPr>
        <p:spPr>
          <a:xfrm>
            <a:off x="2209800" y="1371600"/>
            <a:ext cx="3200400" cy="369332"/>
          </a:xfrm>
          <a:prstGeom prst="rect">
            <a:avLst/>
          </a:prstGeom>
          <a:noFill/>
          <a:ln w="9525">
            <a:noFill/>
          </a:ln>
        </p:spPr>
        <p:txBody>
          <a:bodyPr>
            <a:spAutoFit/>
          </a:bodyPr>
          <a:lstStyle/>
          <a:p>
            <a:r>
              <a:rPr b="1">
                <a:solidFill>
                  <a:srgbClr val="298414"/>
                </a:solidFill>
                <a:sym typeface="Wingdings" panose="05000000000000000000" pitchFamily="2" charset="2"/>
              </a:rPr>
              <a:t> </a:t>
            </a:r>
            <a:r>
              <a:rPr b="1" u="sng">
                <a:solidFill>
                  <a:schemeClr val="hlink"/>
                </a:solidFill>
              </a:rPr>
              <a:t>Carte graphique:</a:t>
            </a:r>
          </a:p>
        </p:txBody>
      </p:sp>
      <p:sp>
        <p:nvSpPr>
          <p:cNvPr id="41988" name="Text Box 41987"/>
          <p:cNvSpPr txBox="1"/>
          <p:nvPr/>
        </p:nvSpPr>
        <p:spPr>
          <a:xfrm>
            <a:off x="1905000" y="2057401"/>
            <a:ext cx="8382000" cy="646331"/>
          </a:xfrm>
          <a:prstGeom prst="rect">
            <a:avLst/>
          </a:prstGeom>
          <a:solidFill>
            <a:srgbClr val="FFFFFF"/>
          </a:solidFill>
          <a:ln w="88900" cap="flat" cmpd="tri">
            <a:solidFill>
              <a:srgbClr val="FF0066"/>
            </a:solidFill>
            <a:prstDash val="solid"/>
            <a:miter/>
            <a:headEnd type="none" w="med" len="med"/>
            <a:tailEnd type="none" w="med" len="med"/>
          </a:ln>
        </p:spPr>
        <p:txBody>
          <a:bodyPr>
            <a:spAutoFit/>
          </a:bodyPr>
          <a:lstStyle/>
          <a:p>
            <a:pPr algn="just">
              <a:spcBef>
                <a:spcPct val="50000"/>
              </a:spcBef>
            </a:pPr>
            <a:r>
              <a:rPr>
                <a:solidFill>
                  <a:srgbClr val="3333CC"/>
                </a:solidFill>
                <a:cs typeface="Times New Roman" panose="02020603050405020304" charset="0"/>
              </a:rPr>
              <a:t>	</a:t>
            </a:r>
            <a:r>
              <a:rPr b="1">
                <a:solidFill>
                  <a:srgbClr val="3333CC"/>
                </a:solidFill>
                <a:cs typeface="Times New Roman" panose="02020603050405020304" charset="0"/>
              </a:rPr>
              <a:t>Elle permet de coder les données et de les décoder pour les transmettre au moniteur qui les affiche en graphiques.. </a:t>
            </a:r>
            <a:endParaRPr sz="2000" b="1"/>
          </a:p>
        </p:txBody>
      </p:sp>
      <p:sp>
        <p:nvSpPr>
          <p:cNvPr id="41989" name="Rectangles 41988"/>
          <p:cNvSpPr/>
          <p:nvPr/>
        </p:nvSpPr>
        <p:spPr>
          <a:xfrm>
            <a:off x="2362200" y="3200400"/>
            <a:ext cx="1385700" cy="369332"/>
          </a:xfrm>
          <a:prstGeom prst="rect">
            <a:avLst/>
          </a:prstGeom>
          <a:noFill/>
          <a:ln w="9525">
            <a:noFill/>
          </a:ln>
        </p:spPr>
        <p:txBody>
          <a:bodyPr wrap="none" anchor="t" anchorCtr="0">
            <a:spAutoFit/>
          </a:bodyPr>
          <a:lstStyle/>
          <a:p>
            <a:r>
              <a:rPr b="1">
                <a:solidFill>
                  <a:srgbClr val="298414"/>
                </a:solidFill>
                <a:sym typeface="Wingdings" panose="05000000000000000000" pitchFamily="2" charset="2"/>
              </a:rPr>
              <a:t> </a:t>
            </a:r>
            <a:r>
              <a:rPr b="1" u="sng">
                <a:solidFill>
                  <a:schemeClr val="hlink"/>
                </a:solidFill>
              </a:rPr>
              <a:t>Carte son:</a:t>
            </a:r>
          </a:p>
        </p:txBody>
      </p:sp>
      <p:sp>
        <p:nvSpPr>
          <p:cNvPr id="41990" name="Text Box 41989"/>
          <p:cNvSpPr txBox="1"/>
          <p:nvPr/>
        </p:nvSpPr>
        <p:spPr>
          <a:xfrm>
            <a:off x="1981200" y="4267200"/>
            <a:ext cx="8382000" cy="369332"/>
          </a:xfrm>
          <a:prstGeom prst="rect">
            <a:avLst/>
          </a:prstGeom>
          <a:solidFill>
            <a:srgbClr val="FFFFFF"/>
          </a:solidFill>
          <a:ln w="88900" cap="flat" cmpd="tri">
            <a:solidFill>
              <a:srgbClr val="FF0066"/>
            </a:solidFill>
            <a:prstDash val="solid"/>
            <a:miter/>
            <a:headEnd type="none" w="med" len="med"/>
            <a:tailEnd type="none" w="med" len="med"/>
          </a:ln>
        </p:spPr>
        <p:txBody>
          <a:bodyPr>
            <a:spAutoFit/>
          </a:bodyPr>
          <a:lstStyle/>
          <a:p>
            <a:pPr algn="just">
              <a:spcBef>
                <a:spcPct val="50000"/>
              </a:spcBef>
            </a:pPr>
            <a:r>
              <a:rPr>
                <a:solidFill>
                  <a:srgbClr val="3333CC"/>
                </a:solidFill>
                <a:cs typeface="Times New Roman" panose="02020603050405020304" charset="0"/>
              </a:rPr>
              <a:t>	</a:t>
            </a:r>
            <a:r>
              <a:rPr b="1">
                <a:solidFill>
                  <a:srgbClr val="3333CC"/>
                </a:solidFill>
                <a:cs typeface="Times New Roman" panose="02020603050405020304" charset="0"/>
              </a:rPr>
              <a:t>C’est le périphérique qui permet à l’ordinateur d’émettre des sons.</a:t>
            </a:r>
            <a:endParaRPr sz="2000" b="1"/>
          </a:p>
        </p:txBody>
      </p:sp>
    </p:spTree>
    <p:extLst>
      <p:ext uri="{BB962C8B-B14F-4D97-AF65-F5344CB8AC3E}">
        <p14:creationId xmlns:p14="http://schemas.microsoft.com/office/powerpoint/2010/main" val="359953473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4337"/>
          <p:cNvSpPr>
            <a:spLocks noGrp="1"/>
          </p:cNvSpPr>
          <p:nvPr>
            <p:ph type="title"/>
          </p:nvPr>
        </p:nvSpPr>
        <p:spPr>
          <a:ln/>
        </p:spPr>
        <p:txBody>
          <a:bodyPr anchor="ctr" anchorCtr="0"/>
          <a:lstStyle/>
          <a:p>
            <a:r>
              <a:t>Ecran ou moniteur</a:t>
            </a:r>
          </a:p>
        </p:txBody>
      </p:sp>
      <p:sp>
        <p:nvSpPr>
          <p:cNvPr id="14339" name="Text Placeholder 14338"/>
          <p:cNvSpPr>
            <a:spLocks noGrp="1"/>
          </p:cNvSpPr>
          <p:nvPr>
            <p:ph type="body" idx="1"/>
          </p:nvPr>
        </p:nvSpPr>
        <p:spPr>
          <a:ln/>
        </p:spPr>
        <p:txBody>
          <a:bodyPr/>
          <a:lstStyle/>
          <a:p>
            <a:pPr>
              <a:buNone/>
            </a:pPr>
            <a:r>
              <a:t>Il constitue les périphérique de sortie standard.</a:t>
            </a:r>
          </a:p>
          <a:p>
            <a:pPr>
              <a:buNone/>
            </a:pPr>
            <a:r>
              <a:t>C’est un dispositif qui permet d’afficher les informations communiquées par l’ordinateur. </a:t>
            </a:r>
          </a:p>
        </p:txBody>
      </p:sp>
      <p:pic>
        <p:nvPicPr>
          <p:cNvPr id="14340" name="Picture 14339" descr="F:\Materiel &amp; Maintenance\Sujets\Diapos\Diapo017_fichiers\image001.jpg"/>
          <p:cNvPicPr>
            <a:picLocks noChangeAspect="1"/>
          </p:cNvPicPr>
          <p:nvPr/>
        </p:nvPicPr>
        <p:blipFill>
          <a:blip r:embed="rId2"/>
          <a:stretch>
            <a:fillRect/>
          </a:stretch>
        </p:blipFill>
        <p:spPr>
          <a:xfrm>
            <a:off x="5029200" y="4191000"/>
            <a:ext cx="3429000" cy="2362200"/>
          </a:xfrm>
          <a:prstGeom prst="rect">
            <a:avLst/>
          </a:prstGeom>
          <a:noFill/>
          <a:ln w="9525">
            <a:noFill/>
          </a:ln>
        </p:spPr>
      </p:pic>
    </p:spTree>
    <p:extLst>
      <p:ext uri="{BB962C8B-B14F-4D97-AF65-F5344CB8AC3E}">
        <p14:creationId xmlns:p14="http://schemas.microsoft.com/office/powerpoint/2010/main" val="4041646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338"/>
                                        </p:tgtEl>
                                        <p:attrNameLst>
                                          <p:attrName>style.visibility</p:attrName>
                                        </p:attrNameLst>
                                      </p:cBhvr>
                                      <p:to>
                                        <p:strVal val="visible"/>
                                      </p:to>
                                    </p:set>
                                    <p:anim calcmode="lin" valueType="num">
                                      <p:cBhvr additive="base">
                                        <p:cTn id="7" dur="500" fill="hold"/>
                                        <p:tgtEl>
                                          <p:spTgt spid="14338"/>
                                        </p:tgtEl>
                                        <p:attrNameLst>
                                          <p:attrName>ppt_x</p:attrName>
                                        </p:attrNameLst>
                                      </p:cBhvr>
                                      <p:tavLst>
                                        <p:tav tm="0">
                                          <p:val>
                                            <p:strVal val="0-#ppt_w/2"/>
                                          </p:val>
                                        </p:tav>
                                        <p:tav tm="100000">
                                          <p:val>
                                            <p:strVal val="#ppt_x"/>
                                          </p:val>
                                        </p:tav>
                                      </p:tavLst>
                                    </p:anim>
                                    <p:anim calcmode="lin" valueType="num">
                                      <p:cBhvr additive="base">
                                        <p:cTn id="8" dur="500" fill="hold"/>
                                        <p:tgtEl>
                                          <p:spTgt spid="1433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339">
                                            <p:txEl>
                                              <p:pRg st="0" end="0"/>
                                            </p:txEl>
                                          </p:spTgt>
                                        </p:tgtEl>
                                        <p:attrNameLst>
                                          <p:attrName>style.visibility</p:attrName>
                                        </p:attrNameLst>
                                      </p:cBhvr>
                                      <p:to>
                                        <p:strVal val="visible"/>
                                      </p:to>
                                    </p:set>
                                    <p:anim calcmode="lin" valueType="num">
                                      <p:cBhvr additive="base">
                                        <p:cTn id="13" dur="500" fill="hold"/>
                                        <p:tgtEl>
                                          <p:spTgt spid="14339">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433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339">
                                            <p:txEl>
                                              <p:pRg st="1" end="1"/>
                                            </p:txEl>
                                          </p:spTgt>
                                        </p:tgtEl>
                                        <p:attrNameLst>
                                          <p:attrName>style.visibility</p:attrName>
                                        </p:attrNameLst>
                                      </p:cBhvr>
                                      <p:to>
                                        <p:strVal val="visible"/>
                                      </p:to>
                                    </p:set>
                                    <p:anim calcmode="lin" valueType="num">
                                      <p:cBhvr additive="base">
                                        <p:cTn id="19" dur="500" fill="hold"/>
                                        <p:tgtEl>
                                          <p:spTgt spid="14339">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4339">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animBg="1"/>
      <p:bldP spid="14339"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5361"/>
          <p:cNvSpPr>
            <a:spLocks noGrp="1"/>
          </p:cNvSpPr>
          <p:nvPr>
            <p:ph type="title"/>
          </p:nvPr>
        </p:nvSpPr>
        <p:spPr>
          <a:xfrm>
            <a:off x="2209800" y="609600"/>
            <a:ext cx="7772400" cy="762000"/>
          </a:xfrm>
          <a:ln/>
        </p:spPr>
        <p:txBody>
          <a:bodyPr anchor="ctr" anchorCtr="0"/>
          <a:lstStyle/>
          <a:p>
            <a:r>
              <a:t>Le clavier</a:t>
            </a:r>
          </a:p>
        </p:txBody>
      </p:sp>
      <p:sp>
        <p:nvSpPr>
          <p:cNvPr id="15363" name="Text Placeholder 15362"/>
          <p:cNvSpPr>
            <a:spLocks noGrp="1"/>
          </p:cNvSpPr>
          <p:nvPr>
            <p:ph type="body" idx="1"/>
          </p:nvPr>
        </p:nvSpPr>
        <p:spPr>
          <a:xfrm>
            <a:off x="2209800" y="1524000"/>
            <a:ext cx="7772400" cy="4114800"/>
          </a:xfrm>
          <a:ln/>
        </p:spPr>
        <p:txBody>
          <a:bodyPr/>
          <a:lstStyle/>
          <a:p>
            <a:pPr>
              <a:buNone/>
            </a:pPr>
            <a:r>
              <a:t>Il est d’une grande importance en tant d’organe d’informations.</a:t>
            </a:r>
          </a:p>
          <a:p>
            <a:pPr>
              <a:buNone/>
            </a:pPr>
            <a:r>
              <a:t>Il est impératif de maîtriser ses touches si on veut utiliser correctement un ordinateur.</a:t>
            </a:r>
          </a:p>
        </p:txBody>
      </p:sp>
      <p:pic>
        <p:nvPicPr>
          <p:cNvPr id="15364" name="Picture 15363" descr="C:\WINDOWS\Bureau\Materiel &amp; Maintenance\Sujets\Diapos\Diapo019_fichiers\image002.jpg"/>
          <p:cNvPicPr>
            <a:picLocks noChangeAspect="1"/>
          </p:cNvPicPr>
          <p:nvPr/>
        </p:nvPicPr>
        <p:blipFill>
          <a:blip r:embed="rId2"/>
          <a:stretch>
            <a:fillRect/>
          </a:stretch>
        </p:blipFill>
        <p:spPr>
          <a:xfrm>
            <a:off x="3657601" y="3810001"/>
            <a:ext cx="5165725" cy="2663825"/>
          </a:xfrm>
          <a:prstGeom prst="rect">
            <a:avLst/>
          </a:prstGeom>
          <a:noFill/>
          <a:ln w="9525">
            <a:noFill/>
          </a:ln>
        </p:spPr>
      </p:pic>
    </p:spTree>
    <p:extLst>
      <p:ext uri="{BB962C8B-B14F-4D97-AF65-F5344CB8AC3E}">
        <p14:creationId xmlns:p14="http://schemas.microsoft.com/office/powerpoint/2010/main" val="3945260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362"/>
                                        </p:tgtEl>
                                        <p:attrNameLst>
                                          <p:attrName>style.visibility</p:attrName>
                                        </p:attrNameLst>
                                      </p:cBhvr>
                                      <p:to>
                                        <p:strVal val="visible"/>
                                      </p:to>
                                    </p:set>
                                    <p:anim calcmode="lin" valueType="num">
                                      <p:cBhvr additive="base">
                                        <p:cTn id="7" dur="500" fill="hold"/>
                                        <p:tgtEl>
                                          <p:spTgt spid="15362"/>
                                        </p:tgtEl>
                                        <p:attrNameLst>
                                          <p:attrName>ppt_x</p:attrName>
                                        </p:attrNameLst>
                                      </p:cBhvr>
                                      <p:tavLst>
                                        <p:tav tm="0">
                                          <p:val>
                                            <p:strVal val="0-#ppt_w/2"/>
                                          </p:val>
                                        </p:tav>
                                        <p:tav tm="100000">
                                          <p:val>
                                            <p:strVal val="#ppt_x"/>
                                          </p:val>
                                        </p:tav>
                                      </p:tavLst>
                                    </p:anim>
                                    <p:anim calcmode="lin" valueType="num">
                                      <p:cBhvr additive="base">
                                        <p:cTn id="8" dur="500" fill="hold"/>
                                        <p:tgtEl>
                                          <p:spTgt spid="1536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363">
                                            <p:txEl>
                                              <p:pRg st="0" end="0"/>
                                            </p:txEl>
                                          </p:spTgt>
                                        </p:tgtEl>
                                        <p:attrNameLst>
                                          <p:attrName>style.visibility</p:attrName>
                                        </p:attrNameLst>
                                      </p:cBhvr>
                                      <p:to>
                                        <p:strVal val="visible"/>
                                      </p:to>
                                    </p:set>
                                    <p:anim calcmode="lin" valueType="num">
                                      <p:cBhvr additive="base">
                                        <p:cTn id="13" dur="500" fill="hold"/>
                                        <p:tgtEl>
                                          <p:spTgt spid="15363">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36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363">
                                            <p:txEl>
                                              <p:pRg st="1" end="1"/>
                                            </p:txEl>
                                          </p:spTgt>
                                        </p:tgtEl>
                                        <p:attrNameLst>
                                          <p:attrName>style.visibility</p:attrName>
                                        </p:attrNameLst>
                                      </p:cBhvr>
                                      <p:to>
                                        <p:strVal val="visible"/>
                                      </p:to>
                                    </p:set>
                                    <p:anim calcmode="lin" valueType="num">
                                      <p:cBhvr additive="base">
                                        <p:cTn id="19" dur="500" fill="hold"/>
                                        <p:tgtEl>
                                          <p:spTgt spid="15363">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36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animBg="1"/>
      <p:bldP spid="1536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6385"/>
          <p:cNvSpPr>
            <a:spLocks noGrp="1"/>
          </p:cNvSpPr>
          <p:nvPr>
            <p:ph type="title"/>
          </p:nvPr>
        </p:nvSpPr>
        <p:spPr>
          <a:ln/>
        </p:spPr>
        <p:txBody>
          <a:bodyPr anchor="ctr" anchorCtr="0"/>
          <a:lstStyle/>
          <a:p>
            <a:r>
              <a:t>La souris</a:t>
            </a:r>
          </a:p>
        </p:txBody>
      </p:sp>
      <p:sp>
        <p:nvSpPr>
          <p:cNvPr id="16387" name="Text Placeholder 16386"/>
          <p:cNvSpPr>
            <a:spLocks noGrp="1"/>
          </p:cNvSpPr>
          <p:nvPr>
            <p:ph type="body" idx="1"/>
          </p:nvPr>
        </p:nvSpPr>
        <p:spPr>
          <a:ln/>
        </p:spPr>
        <p:txBody>
          <a:bodyPr/>
          <a:lstStyle/>
          <a:p>
            <a:pPr>
              <a:buNone/>
            </a:pPr>
            <a:r>
              <a:t>La souris constitue le complément essentiel du clavier.</a:t>
            </a:r>
          </a:p>
          <a:p>
            <a:pPr>
              <a:buNone/>
            </a:pPr>
            <a:r>
              <a:t>On peut sélectionner déplacer manipulé des objets à l’écran.</a:t>
            </a:r>
          </a:p>
        </p:txBody>
      </p:sp>
    </p:spTree>
    <p:extLst>
      <p:ext uri="{BB962C8B-B14F-4D97-AF65-F5344CB8AC3E}">
        <p14:creationId xmlns:p14="http://schemas.microsoft.com/office/powerpoint/2010/main" val="2684003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386"/>
                                        </p:tgtEl>
                                        <p:attrNameLst>
                                          <p:attrName>style.visibility</p:attrName>
                                        </p:attrNameLst>
                                      </p:cBhvr>
                                      <p:to>
                                        <p:strVal val="visible"/>
                                      </p:to>
                                    </p:set>
                                    <p:anim calcmode="lin" valueType="num">
                                      <p:cBhvr additive="base">
                                        <p:cTn id="7" dur="500" fill="hold"/>
                                        <p:tgtEl>
                                          <p:spTgt spid="16386"/>
                                        </p:tgtEl>
                                        <p:attrNameLst>
                                          <p:attrName>ppt_x</p:attrName>
                                        </p:attrNameLst>
                                      </p:cBhvr>
                                      <p:tavLst>
                                        <p:tav tm="0">
                                          <p:val>
                                            <p:strVal val="0-#ppt_w/2"/>
                                          </p:val>
                                        </p:tav>
                                        <p:tav tm="100000">
                                          <p:val>
                                            <p:strVal val="#ppt_x"/>
                                          </p:val>
                                        </p:tav>
                                      </p:tavLst>
                                    </p:anim>
                                    <p:anim calcmode="lin" valueType="num">
                                      <p:cBhvr additive="base">
                                        <p:cTn id="8" dur="500" fill="hold"/>
                                        <p:tgtEl>
                                          <p:spTgt spid="1638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387">
                                            <p:txEl>
                                              <p:pRg st="0" end="0"/>
                                            </p:txEl>
                                          </p:spTgt>
                                        </p:tgtEl>
                                        <p:attrNameLst>
                                          <p:attrName>style.visibility</p:attrName>
                                        </p:attrNameLst>
                                      </p:cBhvr>
                                      <p:to>
                                        <p:strVal val="visible"/>
                                      </p:to>
                                    </p:set>
                                    <p:anim calcmode="lin" valueType="num">
                                      <p:cBhvr additive="base">
                                        <p:cTn id="13" dur="500" fill="hold"/>
                                        <p:tgtEl>
                                          <p:spTgt spid="16387">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638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6387">
                                            <p:txEl>
                                              <p:pRg st="1" end="1"/>
                                            </p:txEl>
                                          </p:spTgt>
                                        </p:tgtEl>
                                        <p:attrNameLst>
                                          <p:attrName>style.visibility</p:attrName>
                                        </p:attrNameLst>
                                      </p:cBhvr>
                                      <p:to>
                                        <p:strVal val="visible"/>
                                      </p:to>
                                    </p:set>
                                    <p:anim calcmode="lin" valueType="num">
                                      <p:cBhvr additive="base">
                                        <p:cTn id="19" dur="500" fill="hold"/>
                                        <p:tgtEl>
                                          <p:spTgt spid="16387">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6387">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animBg="1"/>
      <p:bldP spid="16387"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7409"/>
          <p:cNvSpPr>
            <a:spLocks noGrp="1"/>
          </p:cNvSpPr>
          <p:nvPr>
            <p:ph type="title"/>
          </p:nvPr>
        </p:nvSpPr>
        <p:spPr>
          <a:ln/>
        </p:spPr>
        <p:txBody>
          <a:bodyPr anchor="ctr" anchorCtr="0"/>
          <a:lstStyle/>
          <a:p>
            <a:r>
              <a:t>La représentation des données</a:t>
            </a:r>
          </a:p>
        </p:txBody>
      </p:sp>
      <p:sp>
        <p:nvSpPr>
          <p:cNvPr id="17411" name="Text Placeholder 17410"/>
          <p:cNvSpPr>
            <a:spLocks noGrp="1"/>
          </p:cNvSpPr>
          <p:nvPr>
            <p:ph type="body" idx="1"/>
          </p:nvPr>
        </p:nvSpPr>
        <p:spPr>
          <a:ln/>
        </p:spPr>
        <p:txBody>
          <a:bodyPr/>
          <a:lstStyle/>
          <a:p>
            <a:pPr>
              <a:buNone/>
            </a:pPr>
            <a:r>
              <a:t>Les ordinateurs fonctionnent avec un codage de l’information qui s’appelle code binaire .</a:t>
            </a:r>
          </a:p>
          <a:p>
            <a:pPr>
              <a:buNone/>
            </a:pPr>
            <a:r>
              <a:t>Le bit est donc 0 ou 1 en base binaire, c’est la plus petite unité d’information manipulée par une machine numérique.</a:t>
            </a:r>
          </a:p>
          <a:p>
            <a:pPr>
              <a:buNone/>
            </a:pPr>
            <a:r>
              <a:t>Les unités de mesures standard depuis 1998 sont:</a:t>
            </a:r>
          </a:p>
          <a:p>
            <a:pPr>
              <a:buNone/>
            </a:pPr>
            <a:endParaRPr/>
          </a:p>
        </p:txBody>
      </p:sp>
    </p:spTree>
    <p:extLst>
      <p:ext uri="{BB962C8B-B14F-4D97-AF65-F5344CB8AC3E}">
        <p14:creationId xmlns:p14="http://schemas.microsoft.com/office/powerpoint/2010/main" val="627796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410"/>
                                        </p:tgtEl>
                                        <p:attrNameLst>
                                          <p:attrName>style.visibility</p:attrName>
                                        </p:attrNameLst>
                                      </p:cBhvr>
                                      <p:to>
                                        <p:strVal val="visible"/>
                                      </p:to>
                                    </p:set>
                                    <p:anim calcmode="lin" valueType="num">
                                      <p:cBhvr additive="base">
                                        <p:cTn id="7" dur="500" fill="hold"/>
                                        <p:tgtEl>
                                          <p:spTgt spid="17410"/>
                                        </p:tgtEl>
                                        <p:attrNameLst>
                                          <p:attrName>ppt_x</p:attrName>
                                        </p:attrNameLst>
                                      </p:cBhvr>
                                      <p:tavLst>
                                        <p:tav tm="0">
                                          <p:val>
                                            <p:strVal val="0-#ppt_w/2"/>
                                          </p:val>
                                        </p:tav>
                                        <p:tav tm="100000">
                                          <p:val>
                                            <p:strVal val="#ppt_x"/>
                                          </p:val>
                                        </p:tav>
                                      </p:tavLst>
                                    </p:anim>
                                    <p:anim calcmode="lin" valueType="num">
                                      <p:cBhvr additive="base">
                                        <p:cTn id="8" dur="500" fill="hold"/>
                                        <p:tgtEl>
                                          <p:spTgt spid="1741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7411">
                                            <p:txEl>
                                              <p:pRg st="0" end="0"/>
                                            </p:txEl>
                                          </p:spTgt>
                                        </p:tgtEl>
                                        <p:attrNameLst>
                                          <p:attrName>style.visibility</p:attrName>
                                        </p:attrNameLst>
                                      </p:cBhvr>
                                      <p:to>
                                        <p:strVal val="visible"/>
                                      </p:to>
                                    </p:set>
                                    <p:anim calcmode="lin" valueType="num">
                                      <p:cBhvr additive="base">
                                        <p:cTn id="13" dur="500" fill="hold"/>
                                        <p:tgtEl>
                                          <p:spTgt spid="17411">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74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7411">
                                            <p:txEl>
                                              <p:pRg st="1" end="1"/>
                                            </p:txEl>
                                          </p:spTgt>
                                        </p:tgtEl>
                                        <p:attrNameLst>
                                          <p:attrName>style.visibility</p:attrName>
                                        </p:attrNameLst>
                                      </p:cBhvr>
                                      <p:to>
                                        <p:strVal val="visible"/>
                                      </p:to>
                                    </p:set>
                                    <p:anim calcmode="lin" valueType="num">
                                      <p:cBhvr additive="base">
                                        <p:cTn id="19" dur="500" fill="hold"/>
                                        <p:tgtEl>
                                          <p:spTgt spid="17411">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741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7411">
                                            <p:txEl>
                                              <p:pRg st="2" end="2"/>
                                            </p:txEl>
                                          </p:spTgt>
                                        </p:tgtEl>
                                        <p:attrNameLst>
                                          <p:attrName>style.visibility</p:attrName>
                                        </p:attrNameLst>
                                      </p:cBhvr>
                                      <p:to>
                                        <p:strVal val="visible"/>
                                      </p:to>
                                    </p:set>
                                    <p:anim calcmode="lin" valueType="num">
                                      <p:cBhvr additive="base">
                                        <p:cTn id="25" dur="500" fill="hold"/>
                                        <p:tgtEl>
                                          <p:spTgt spid="17411">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7411">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animBg="1"/>
      <p:bldP spid="17411"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Text Placeholder 20482"/>
          <p:cNvSpPr>
            <a:spLocks noGrp="1"/>
          </p:cNvSpPr>
          <p:nvPr>
            <p:ph type="body" idx="1"/>
          </p:nvPr>
        </p:nvSpPr>
        <p:spPr>
          <a:xfrm>
            <a:off x="2209800" y="990600"/>
            <a:ext cx="7772400" cy="5105400"/>
          </a:xfrm>
          <a:ln/>
        </p:spPr>
        <p:txBody>
          <a:bodyPr/>
          <a:lstStyle/>
          <a:p>
            <a:pPr>
              <a:buNone/>
            </a:pPr>
            <a:r>
              <a:rPr/>
              <a:t>1 Kilooctet (Ko) = 1000 octets</a:t>
            </a:r>
          </a:p>
          <a:p>
            <a:pPr>
              <a:buNone/>
            </a:pPr>
            <a:r>
              <a:rPr/>
              <a:t>1Megaoctet (Mo) = 1000 Ko = 1 000 000 Octets</a:t>
            </a:r>
          </a:p>
          <a:p>
            <a:pPr>
              <a:buNone/>
            </a:pPr>
            <a:r>
              <a:rPr/>
              <a:t>1 Gigaoctet (Go) = 1000 Mo = 1 000 000 000 octets</a:t>
            </a:r>
          </a:p>
          <a:p>
            <a:pPr>
              <a:buNone/>
            </a:pPr>
            <a:r>
              <a:rPr/>
              <a:t>1 Téraoctet (To) = 1000 Go.</a:t>
            </a:r>
          </a:p>
          <a:p>
            <a:pPr>
              <a:buNone/>
            </a:pPr>
            <a:endParaRPr/>
          </a:p>
          <a:p>
            <a:pPr>
              <a:buNone/>
            </a:pPr>
            <a:r>
              <a:rPr/>
              <a:t>Quelques logiciels et systèmes d’exploitation utilisent la notion intérieure à 1998 qui est: </a:t>
            </a:r>
          </a:p>
          <a:p>
            <a:pPr>
              <a:buNone/>
            </a:pPr>
            <a:r>
              <a:rPr/>
              <a:t>1 Ko = 1024 octets, 1 Mo = 1024 Ko </a:t>
            </a:r>
          </a:p>
          <a:p>
            <a:pPr>
              <a:buNone/>
            </a:pPr>
            <a:r>
              <a:rPr/>
              <a:t>1 Go = 1024 Mo, 1To = 1024 Go.</a:t>
            </a:r>
          </a:p>
          <a:p>
            <a:pPr>
              <a:buNone/>
            </a:pPr>
            <a:endParaRPr/>
          </a:p>
        </p:txBody>
      </p:sp>
    </p:spTree>
    <p:extLst>
      <p:ext uri="{BB962C8B-B14F-4D97-AF65-F5344CB8AC3E}">
        <p14:creationId xmlns:p14="http://schemas.microsoft.com/office/powerpoint/2010/main" val="2948842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 calcmode="lin" valueType="num">
                                      <p:cBhvr additive="base">
                                        <p:cTn id="7" dur="500" fill="hold"/>
                                        <p:tgtEl>
                                          <p:spTgt spid="2048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4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0483">
                                            <p:txEl>
                                              <p:pRg st="1" end="1"/>
                                            </p:txEl>
                                          </p:spTgt>
                                        </p:tgtEl>
                                        <p:attrNameLst>
                                          <p:attrName>style.visibility</p:attrName>
                                        </p:attrNameLst>
                                      </p:cBhvr>
                                      <p:to>
                                        <p:strVal val="visible"/>
                                      </p:to>
                                    </p:set>
                                    <p:anim calcmode="lin" valueType="num">
                                      <p:cBhvr additive="base">
                                        <p:cTn id="13" dur="500" fill="hold"/>
                                        <p:tgtEl>
                                          <p:spTgt spid="2048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04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0483">
                                            <p:txEl>
                                              <p:pRg st="2" end="2"/>
                                            </p:txEl>
                                          </p:spTgt>
                                        </p:tgtEl>
                                        <p:attrNameLst>
                                          <p:attrName>style.visibility</p:attrName>
                                        </p:attrNameLst>
                                      </p:cBhvr>
                                      <p:to>
                                        <p:strVal val="visible"/>
                                      </p:to>
                                    </p:set>
                                    <p:anim calcmode="lin" valueType="num">
                                      <p:cBhvr additive="base">
                                        <p:cTn id="19" dur="500" fill="hold"/>
                                        <p:tgtEl>
                                          <p:spTgt spid="2048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048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0483">
                                            <p:txEl>
                                              <p:pRg st="3" end="3"/>
                                            </p:txEl>
                                          </p:spTgt>
                                        </p:tgtEl>
                                        <p:attrNameLst>
                                          <p:attrName>style.visibility</p:attrName>
                                        </p:attrNameLst>
                                      </p:cBhvr>
                                      <p:to>
                                        <p:strVal val="visible"/>
                                      </p:to>
                                    </p:set>
                                    <p:anim calcmode="lin" valueType="num">
                                      <p:cBhvr additive="base">
                                        <p:cTn id="25" dur="500" fill="hold"/>
                                        <p:tgtEl>
                                          <p:spTgt spid="2048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048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0483">
                                            <p:txEl>
                                              <p:pRg st="5" end="5"/>
                                            </p:txEl>
                                          </p:spTgt>
                                        </p:tgtEl>
                                        <p:attrNameLst>
                                          <p:attrName>style.visibility</p:attrName>
                                        </p:attrNameLst>
                                      </p:cBhvr>
                                      <p:to>
                                        <p:strVal val="visible"/>
                                      </p:to>
                                    </p:set>
                                    <p:anim calcmode="lin" valueType="num">
                                      <p:cBhvr additive="base">
                                        <p:cTn id="31" dur="500" fill="hold"/>
                                        <p:tgtEl>
                                          <p:spTgt spid="20483">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048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0483">
                                            <p:txEl>
                                              <p:pRg st="6" end="6"/>
                                            </p:txEl>
                                          </p:spTgt>
                                        </p:tgtEl>
                                        <p:attrNameLst>
                                          <p:attrName>style.visibility</p:attrName>
                                        </p:attrNameLst>
                                      </p:cBhvr>
                                      <p:to>
                                        <p:strVal val="visible"/>
                                      </p:to>
                                    </p:set>
                                    <p:anim calcmode="lin" valueType="num">
                                      <p:cBhvr additive="base">
                                        <p:cTn id="37" dur="500" fill="hold"/>
                                        <p:tgtEl>
                                          <p:spTgt spid="20483">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048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0483">
                                            <p:txEl>
                                              <p:pRg st="7" end="7"/>
                                            </p:txEl>
                                          </p:spTgt>
                                        </p:tgtEl>
                                        <p:attrNameLst>
                                          <p:attrName>style.visibility</p:attrName>
                                        </p:attrNameLst>
                                      </p:cBhvr>
                                      <p:to>
                                        <p:strVal val="visible"/>
                                      </p:to>
                                    </p:set>
                                    <p:anim calcmode="lin" valueType="num">
                                      <p:cBhvr additive="base">
                                        <p:cTn id="43" dur="500" fill="hold"/>
                                        <p:tgtEl>
                                          <p:spTgt spid="20483">
                                            <p:txEl>
                                              <p:pRg st="7" end="7"/>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0483">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5601"/>
          <p:cNvSpPr txBox="1"/>
          <p:nvPr/>
        </p:nvSpPr>
        <p:spPr>
          <a:xfrm>
            <a:off x="2514600" y="1633732"/>
            <a:ext cx="6858000" cy="4524315"/>
          </a:xfrm>
          <a:prstGeom prst="rect">
            <a:avLst/>
          </a:prstGeom>
          <a:noFill/>
          <a:ln w="9525">
            <a:noFill/>
          </a:ln>
        </p:spPr>
        <p:txBody>
          <a:bodyPr>
            <a:spAutoFit/>
          </a:bodyPr>
          <a:lstStyle/>
          <a:p>
            <a:pPr algn="ctr">
              <a:spcBef>
                <a:spcPct val="50000"/>
              </a:spcBef>
            </a:pPr>
            <a:endParaRPr sz="4800" b="1" dirty="0">
              <a:solidFill>
                <a:srgbClr val="FF0000"/>
              </a:solidFill>
              <a:latin typeface="Times New Roman" panose="02020603050405020304" charset="0"/>
            </a:endParaRPr>
          </a:p>
          <a:p>
            <a:pPr algn="ctr">
              <a:spcBef>
                <a:spcPct val="50000"/>
              </a:spcBef>
            </a:pPr>
            <a:r>
              <a:rPr lang="fr-CD" sz="4800" b="1" dirty="0">
                <a:solidFill>
                  <a:srgbClr val="FF0000"/>
                </a:solidFill>
                <a:latin typeface="Times New Roman" panose="02020603050405020304" charset="0"/>
              </a:rPr>
              <a:t>Pratique de l’Ordinateur</a:t>
            </a:r>
          </a:p>
          <a:p>
            <a:pPr algn="ctr">
              <a:spcBef>
                <a:spcPct val="50000"/>
              </a:spcBef>
            </a:pPr>
            <a:r>
              <a:rPr lang="fr-CD" sz="3600" b="1" dirty="0">
                <a:solidFill>
                  <a:srgbClr val="FF0000"/>
                </a:solidFill>
                <a:latin typeface="Times New Roman" panose="02020603050405020304" charset="0"/>
              </a:rPr>
              <a:t>Deuxième </a:t>
            </a:r>
            <a:r>
              <a:rPr lang="fr-CD" sz="3600" b="1" dirty="0" smtClean="0">
                <a:solidFill>
                  <a:srgbClr val="FF0000"/>
                </a:solidFill>
                <a:latin typeface="Times New Roman" panose="02020603050405020304" charset="0"/>
              </a:rPr>
              <a:t>partie</a:t>
            </a:r>
          </a:p>
          <a:p>
            <a:pPr algn="ctr">
              <a:spcBef>
                <a:spcPct val="50000"/>
              </a:spcBef>
            </a:pPr>
            <a:r>
              <a:rPr lang="fr-BE" sz="4000" b="1" dirty="0">
                <a:latin typeface="Times New Roman" panose="02020603050405020304" charset="0"/>
              </a:rPr>
              <a:t>Système d’exploitation</a:t>
            </a:r>
            <a:endParaRPr sz="4000" dirty="0">
              <a:solidFill>
                <a:srgbClr val="FFFFFF"/>
              </a:solidFill>
              <a:latin typeface="Times New Roman" panose="02020603050405020304" charset="0"/>
            </a:endParaRPr>
          </a:p>
          <a:p>
            <a:pPr lvl="4">
              <a:spcBef>
                <a:spcPct val="50000"/>
              </a:spcBef>
            </a:pPr>
            <a:endParaRPr dirty="0">
              <a:solidFill>
                <a:srgbClr val="FFFFFF"/>
              </a:solidFill>
              <a:latin typeface="Arial" panose="020B0604020202020204" pitchFamily="34" charset="0"/>
            </a:endParaRPr>
          </a:p>
          <a:p>
            <a:pPr lvl="4">
              <a:spcBef>
                <a:spcPct val="50000"/>
              </a:spcBef>
            </a:pPr>
            <a:r>
              <a:rPr dirty="0">
                <a:solidFill>
                  <a:srgbClr val="0000FF"/>
                </a:solidFill>
                <a:latin typeface="Arial" panose="020B0604020202020204" pitchFamily="34" charset="0"/>
              </a:rPr>
              <a:t>     </a:t>
            </a:r>
          </a:p>
        </p:txBody>
      </p:sp>
    </p:spTree>
    <p:extLst>
      <p:ext uri="{BB962C8B-B14F-4D97-AF65-F5344CB8AC3E}">
        <p14:creationId xmlns:p14="http://schemas.microsoft.com/office/powerpoint/2010/main" val="9877035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bldLst>
      <p:bldP spid="4"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401064" y="2132857"/>
            <a:ext cx="7270453" cy="1908215"/>
          </a:xfrm>
          <a:prstGeom prst="rect">
            <a:avLst/>
          </a:prstGeom>
        </p:spPr>
        <p:txBody>
          <a:bodyPr wrap="none">
            <a:spAutoFit/>
          </a:bodyPr>
          <a:lstStyle/>
          <a:p>
            <a:pPr algn="ctr"/>
            <a:endParaRPr lang="fr-FR" sz="3200" dirty="0"/>
          </a:p>
          <a:p>
            <a:pPr algn="ctr"/>
            <a:endParaRPr lang="fr-FR" sz="3200" dirty="0"/>
          </a:p>
          <a:p>
            <a:pPr algn="ctr"/>
            <a:r>
              <a:rPr lang="fr-FR" sz="5400" dirty="0"/>
              <a:t>Le système d’exploitation</a:t>
            </a:r>
          </a:p>
        </p:txBody>
      </p:sp>
    </p:spTree>
    <p:extLst>
      <p:ext uri="{BB962C8B-B14F-4D97-AF65-F5344CB8AC3E}">
        <p14:creationId xmlns:p14="http://schemas.microsoft.com/office/powerpoint/2010/main" val="42873016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649053" y="980729"/>
            <a:ext cx="3331040" cy="1200329"/>
          </a:xfrm>
          <a:prstGeom prst="rect">
            <a:avLst/>
          </a:prstGeom>
        </p:spPr>
        <p:txBody>
          <a:bodyPr wrap="none">
            <a:spAutoFit/>
          </a:bodyPr>
          <a:lstStyle/>
          <a:p>
            <a:r>
              <a:rPr lang="fr-FR" sz="2400" dirty="0"/>
              <a:t>Le système d’exploitation</a:t>
            </a:r>
          </a:p>
          <a:p>
            <a:endParaRPr lang="fr-FR" sz="2400" dirty="0"/>
          </a:p>
          <a:p>
            <a:r>
              <a:rPr lang="fr-FR" sz="2400" dirty="0"/>
              <a:t>Planning</a:t>
            </a:r>
          </a:p>
        </p:txBody>
      </p:sp>
      <p:sp>
        <p:nvSpPr>
          <p:cNvPr id="7" name="Rectangle 6"/>
          <p:cNvSpPr/>
          <p:nvPr/>
        </p:nvSpPr>
        <p:spPr>
          <a:xfrm>
            <a:off x="2279576" y="2312876"/>
            <a:ext cx="7632848" cy="3908762"/>
          </a:xfrm>
          <a:prstGeom prst="rect">
            <a:avLst/>
          </a:prstGeom>
        </p:spPr>
        <p:txBody>
          <a:bodyPr wrap="square">
            <a:spAutoFit/>
          </a:bodyPr>
          <a:lstStyle/>
          <a:p>
            <a:pPr marL="810895" indent="-457200">
              <a:buFont typeface="+mj-lt"/>
              <a:buAutoNum type="arabicPeriod"/>
            </a:pPr>
            <a:r>
              <a:rPr lang="fr-FR" sz="2000" b="1" dirty="0"/>
              <a:t>Qu’est-ce qu’un système d’exploitation ?</a:t>
            </a:r>
          </a:p>
          <a:p>
            <a:pPr marL="810895" indent="-457200">
              <a:buFont typeface="+mj-lt"/>
              <a:buAutoNum type="arabicPeriod"/>
            </a:pPr>
            <a:r>
              <a:rPr lang="fr-FR" sz="2000" b="1" dirty="0"/>
              <a:t>Exemples</a:t>
            </a:r>
          </a:p>
          <a:p>
            <a:pPr marL="810895" indent="-457200">
              <a:spcBef>
                <a:spcPts val="600"/>
              </a:spcBef>
              <a:buFont typeface="+mj-lt"/>
              <a:buAutoNum type="arabicPeriod"/>
            </a:pPr>
            <a:r>
              <a:rPr lang="fr-FR" sz="2000" b="1" dirty="0"/>
              <a:t>Où le trouve t’on ?</a:t>
            </a:r>
          </a:p>
          <a:p>
            <a:pPr marL="810895" indent="-457200">
              <a:spcBef>
                <a:spcPts val="600"/>
              </a:spcBef>
              <a:buFont typeface="+mj-lt"/>
              <a:buAutoNum type="arabicPeriod"/>
            </a:pPr>
            <a:r>
              <a:rPr lang="fr-FR" sz="2000" b="1" dirty="0"/>
              <a:t>A quoi sert-il ?</a:t>
            </a:r>
          </a:p>
          <a:p>
            <a:pPr marL="810895" indent="-457200">
              <a:spcBef>
                <a:spcPts val="600"/>
              </a:spcBef>
              <a:buFont typeface="+mj-lt"/>
              <a:buAutoNum type="arabicPeriod"/>
            </a:pPr>
            <a:r>
              <a:rPr lang="fr-FR" sz="2000" b="1" dirty="0"/>
              <a:t>Les différents types de système d’exploitation</a:t>
            </a:r>
          </a:p>
          <a:p>
            <a:pPr marL="810895" indent="-457200">
              <a:spcBef>
                <a:spcPts val="600"/>
              </a:spcBef>
              <a:buFont typeface="+mj-lt"/>
              <a:buAutoNum type="arabicPeriod"/>
            </a:pPr>
            <a:r>
              <a:rPr lang="fr-FR" sz="2000" b="1" dirty="0"/>
              <a:t>Activités pratiques</a:t>
            </a:r>
          </a:p>
          <a:p>
            <a:pPr marL="355600" indent="-1905"/>
            <a:endParaRPr lang="fr-FR" sz="800" b="1" dirty="0"/>
          </a:p>
          <a:p>
            <a:pPr marL="900430" indent="-279400">
              <a:buFont typeface="Arial" panose="020B0604020202020204" pitchFamily="34" charset="0"/>
              <a:buChar char="•"/>
            </a:pPr>
            <a:r>
              <a:rPr lang="fr-FR" sz="2000" b="1" dirty="0"/>
              <a:t>Installation de linux </a:t>
            </a:r>
            <a:r>
              <a:rPr lang="fr-FR" sz="2000" b="1" dirty="0" err="1"/>
              <a:t>Ubuntu</a:t>
            </a:r>
            <a:endParaRPr lang="fr-FR" sz="2000" b="1" dirty="0"/>
          </a:p>
          <a:p>
            <a:pPr marL="900430" indent="-279400">
              <a:buFont typeface="Arial" panose="020B0604020202020204" pitchFamily="34" charset="0"/>
              <a:buChar char="•"/>
            </a:pPr>
            <a:r>
              <a:rPr lang="fr-FR" sz="2000" b="1" dirty="0"/>
              <a:t>Les principales commandes</a:t>
            </a:r>
          </a:p>
          <a:p>
            <a:pPr marL="900430" indent="-279400">
              <a:buFont typeface="Arial" panose="020B0604020202020204" pitchFamily="34" charset="0"/>
              <a:buChar char="•"/>
            </a:pPr>
            <a:r>
              <a:rPr lang="fr-FR" sz="2000" b="1" dirty="0"/>
              <a:t>La gestion des fichiers</a:t>
            </a:r>
          </a:p>
          <a:p>
            <a:pPr marL="900430" indent="-279400">
              <a:buFont typeface="Arial" panose="020B0604020202020204" pitchFamily="34" charset="0"/>
              <a:buChar char="•"/>
            </a:pPr>
            <a:r>
              <a:rPr lang="fr-FR" sz="2000" b="1" dirty="0"/>
              <a:t>La programmation en C</a:t>
            </a:r>
          </a:p>
          <a:p>
            <a:pPr marL="900430" indent="-279400">
              <a:buFont typeface="Arial" panose="020B0604020202020204" pitchFamily="34" charset="0"/>
              <a:buChar char="•"/>
            </a:pPr>
            <a:endParaRPr lang="fr-FR" sz="2000" b="1" dirty="0"/>
          </a:p>
        </p:txBody>
      </p:sp>
    </p:spTree>
    <p:extLst>
      <p:ext uri="{BB962C8B-B14F-4D97-AF65-F5344CB8AC3E}">
        <p14:creationId xmlns:p14="http://schemas.microsoft.com/office/powerpoint/2010/main" val="26664057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649053" y="980728"/>
            <a:ext cx="5809154" cy="1938992"/>
          </a:xfrm>
          <a:prstGeom prst="rect">
            <a:avLst/>
          </a:prstGeom>
        </p:spPr>
        <p:txBody>
          <a:bodyPr wrap="none">
            <a:spAutoFit/>
          </a:bodyPr>
          <a:lstStyle/>
          <a:p>
            <a:r>
              <a:rPr lang="fr-FR" sz="2400" dirty="0"/>
              <a:t>Le système d’exploitation</a:t>
            </a:r>
          </a:p>
          <a:p>
            <a:endParaRPr lang="fr-FR" sz="2400" dirty="0"/>
          </a:p>
          <a:p>
            <a:pPr marL="457200" indent="-457200">
              <a:buFont typeface="+mj-lt"/>
              <a:buAutoNum type="arabicPeriod"/>
            </a:pPr>
            <a:r>
              <a:rPr lang="fr-FR" sz="2400" b="1" dirty="0"/>
              <a:t>Qu’est-ce qu’un système d’exploitation ?</a:t>
            </a:r>
          </a:p>
          <a:p>
            <a:endParaRPr lang="fr-FR" sz="2400" dirty="0"/>
          </a:p>
          <a:p>
            <a:endParaRPr lang="fr-FR" sz="2400" dirty="0"/>
          </a:p>
        </p:txBody>
      </p:sp>
      <p:pic>
        <p:nvPicPr>
          <p:cNvPr id="1026" name="Picture 2"/>
          <p:cNvPicPr>
            <a:picLocks noChangeAspect="1" noChangeArrowheads="1"/>
          </p:cNvPicPr>
          <p:nvPr/>
        </p:nvPicPr>
        <p:blipFill>
          <a:blip r:embed="rId2" cstate="print"/>
          <a:srcRect/>
          <a:stretch>
            <a:fillRect/>
          </a:stretch>
        </p:blipFill>
        <p:spPr bwMode="auto">
          <a:xfrm>
            <a:off x="3863752" y="2852936"/>
            <a:ext cx="5154088" cy="4005064"/>
          </a:xfrm>
          <a:prstGeom prst="rect">
            <a:avLst/>
          </a:prstGeom>
          <a:noFill/>
          <a:ln w="9525">
            <a:noFill/>
            <a:miter lim="800000"/>
            <a:headEnd/>
            <a:tailEnd/>
          </a:ln>
        </p:spPr>
      </p:pic>
      <p:sp>
        <p:nvSpPr>
          <p:cNvPr id="8" name="ZoneTexte 7"/>
          <p:cNvSpPr txBox="1"/>
          <p:nvPr/>
        </p:nvSpPr>
        <p:spPr>
          <a:xfrm>
            <a:off x="2063552" y="2276872"/>
            <a:ext cx="8064896" cy="369332"/>
          </a:xfrm>
          <a:prstGeom prst="rect">
            <a:avLst/>
          </a:prstGeom>
          <a:noFill/>
        </p:spPr>
        <p:txBody>
          <a:bodyPr wrap="square" rtlCol="0">
            <a:spAutoFit/>
          </a:bodyPr>
          <a:lstStyle/>
          <a:p>
            <a:r>
              <a:rPr lang="fr-FR" dirty="0"/>
              <a:t>Logiciel qui permet une utilisation simple et efficace des ressources d’un ordinateur</a:t>
            </a:r>
          </a:p>
        </p:txBody>
      </p:sp>
    </p:spTree>
    <p:extLst>
      <p:ext uri="{BB962C8B-B14F-4D97-AF65-F5344CB8AC3E}">
        <p14:creationId xmlns:p14="http://schemas.microsoft.com/office/powerpoint/2010/main" val="32558322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649053" y="980728"/>
            <a:ext cx="3331040" cy="1938992"/>
          </a:xfrm>
          <a:prstGeom prst="rect">
            <a:avLst/>
          </a:prstGeom>
        </p:spPr>
        <p:txBody>
          <a:bodyPr wrap="none">
            <a:spAutoFit/>
          </a:bodyPr>
          <a:lstStyle/>
          <a:p>
            <a:r>
              <a:rPr lang="fr-FR" sz="2400" dirty="0"/>
              <a:t>Le système d’exploitation</a:t>
            </a:r>
          </a:p>
          <a:p>
            <a:endParaRPr lang="fr-FR" sz="2400" dirty="0"/>
          </a:p>
          <a:p>
            <a:pPr marL="457200" indent="-457200">
              <a:buFont typeface="+mj-lt"/>
              <a:buAutoNum type="arabicPeriod" startAt="2"/>
            </a:pPr>
            <a:r>
              <a:rPr lang="fr-FR" sz="2400" b="1" dirty="0"/>
              <a:t>Exemples</a:t>
            </a:r>
          </a:p>
          <a:p>
            <a:endParaRPr lang="fr-FR" sz="2400" dirty="0"/>
          </a:p>
          <a:p>
            <a:endParaRPr lang="fr-FR" sz="2400" dirty="0"/>
          </a:p>
        </p:txBody>
      </p:sp>
      <p:pic>
        <p:nvPicPr>
          <p:cNvPr id="2050" name="Picture 2"/>
          <p:cNvPicPr>
            <a:picLocks noChangeAspect="1" noChangeArrowheads="1"/>
          </p:cNvPicPr>
          <p:nvPr/>
        </p:nvPicPr>
        <p:blipFill>
          <a:blip r:embed="rId2" cstate="print"/>
          <a:srcRect/>
          <a:stretch>
            <a:fillRect/>
          </a:stretch>
        </p:blipFill>
        <p:spPr bwMode="auto">
          <a:xfrm>
            <a:off x="1703512" y="2132856"/>
            <a:ext cx="8831660" cy="4581128"/>
          </a:xfrm>
          <a:prstGeom prst="rect">
            <a:avLst/>
          </a:prstGeom>
          <a:noFill/>
          <a:ln w="9525">
            <a:noFill/>
            <a:miter lim="800000"/>
            <a:headEnd/>
            <a:tailEnd/>
          </a:ln>
        </p:spPr>
      </p:pic>
    </p:spTree>
    <p:extLst>
      <p:ext uri="{BB962C8B-B14F-4D97-AF65-F5344CB8AC3E}">
        <p14:creationId xmlns:p14="http://schemas.microsoft.com/office/powerpoint/2010/main" val="38827820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649053" y="980728"/>
            <a:ext cx="3331040" cy="1938992"/>
          </a:xfrm>
          <a:prstGeom prst="rect">
            <a:avLst/>
          </a:prstGeom>
        </p:spPr>
        <p:txBody>
          <a:bodyPr wrap="none">
            <a:spAutoFit/>
          </a:bodyPr>
          <a:lstStyle/>
          <a:p>
            <a:r>
              <a:rPr lang="fr-FR" sz="2400" dirty="0"/>
              <a:t>Le système d’exploitation</a:t>
            </a:r>
          </a:p>
          <a:p>
            <a:endParaRPr lang="fr-FR" sz="2400" dirty="0"/>
          </a:p>
          <a:p>
            <a:pPr marL="457200" indent="-457200">
              <a:buFont typeface="+mj-lt"/>
              <a:buAutoNum type="arabicPeriod" startAt="3"/>
            </a:pPr>
            <a:r>
              <a:rPr lang="fr-FR" sz="2400" b="1" dirty="0"/>
              <a:t>Où le trouve t’on ?</a:t>
            </a:r>
          </a:p>
          <a:p>
            <a:endParaRPr lang="fr-FR" sz="2400" dirty="0"/>
          </a:p>
          <a:p>
            <a:endParaRPr lang="fr-FR" sz="2400" dirty="0"/>
          </a:p>
        </p:txBody>
      </p:sp>
      <p:pic>
        <p:nvPicPr>
          <p:cNvPr id="12" name="Picture 5"/>
          <p:cNvPicPr>
            <a:picLocks noChangeAspect="1" noChangeArrowheads="1"/>
          </p:cNvPicPr>
          <p:nvPr/>
        </p:nvPicPr>
        <p:blipFill>
          <a:blip r:embed="rId2" cstate="print"/>
          <a:srcRect/>
          <a:stretch>
            <a:fillRect/>
          </a:stretch>
        </p:blipFill>
        <p:spPr bwMode="auto">
          <a:xfrm>
            <a:off x="5771457" y="3501009"/>
            <a:ext cx="2830763" cy="2960201"/>
          </a:xfrm>
          <a:prstGeom prst="rect">
            <a:avLst/>
          </a:prstGeom>
          <a:noFill/>
          <a:ln w="9525">
            <a:noFill/>
            <a:miter lim="800000"/>
            <a:headEnd/>
            <a:tailEnd/>
          </a:ln>
        </p:spPr>
      </p:pic>
      <p:pic>
        <p:nvPicPr>
          <p:cNvPr id="13" name="Picture 6"/>
          <p:cNvPicPr>
            <a:picLocks noChangeAspect="1" noChangeArrowheads="1"/>
          </p:cNvPicPr>
          <p:nvPr/>
        </p:nvPicPr>
        <p:blipFill>
          <a:blip r:embed="rId3" cstate="print"/>
          <a:srcRect/>
          <a:stretch>
            <a:fillRect/>
          </a:stretch>
        </p:blipFill>
        <p:spPr bwMode="auto">
          <a:xfrm>
            <a:off x="3287688" y="3284985"/>
            <a:ext cx="666062" cy="1068659"/>
          </a:xfrm>
          <a:prstGeom prst="rect">
            <a:avLst/>
          </a:prstGeom>
          <a:noFill/>
          <a:ln w="9525">
            <a:noFill/>
            <a:miter lim="800000"/>
            <a:headEnd/>
            <a:tailEnd/>
          </a:ln>
        </p:spPr>
      </p:pic>
      <p:pic>
        <p:nvPicPr>
          <p:cNvPr id="14" name="Picture 8" descr="http://www.zoneindustrie.com/var/plain_site/storage/images/entreprises/lextronic/boitier_openrisc_alekto/45237-2-fre-FR/boitier_openrisc_alekto_large.jpg"/>
          <p:cNvPicPr>
            <a:picLocks noChangeAspect="1" noChangeArrowheads="1"/>
          </p:cNvPicPr>
          <p:nvPr/>
        </p:nvPicPr>
        <p:blipFill>
          <a:blip r:embed="rId4" cstate="print"/>
          <a:srcRect/>
          <a:stretch>
            <a:fillRect/>
          </a:stretch>
        </p:blipFill>
        <p:spPr bwMode="auto">
          <a:xfrm>
            <a:off x="3791745" y="5229200"/>
            <a:ext cx="1290495" cy="1264686"/>
          </a:xfrm>
          <a:prstGeom prst="rect">
            <a:avLst/>
          </a:prstGeom>
          <a:noFill/>
        </p:spPr>
      </p:pic>
      <p:pic>
        <p:nvPicPr>
          <p:cNvPr id="15" name="Picture 9"/>
          <p:cNvPicPr>
            <a:picLocks noChangeAspect="1" noChangeArrowheads="1"/>
          </p:cNvPicPr>
          <p:nvPr/>
        </p:nvPicPr>
        <p:blipFill>
          <a:blip r:embed="rId5" cstate="print"/>
          <a:srcRect/>
          <a:stretch>
            <a:fillRect/>
          </a:stretch>
        </p:blipFill>
        <p:spPr bwMode="auto">
          <a:xfrm>
            <a:off x="4439816" y="4221088"/>
            <a:ext cx="1207238" cy="556860"/>
          </a:xfrm>
          <a:prstGeom prst="rect">
            <a:avLst/>
          </a:prstGeom>
          <a:noFill/>
          <a:ln w="9525">
            <a:noFill/>
            <a:miter lim="800000"/>
            <a:headEnd/>
            <a:tailEnd/>
          </a:ln>
        </p:spPr>
      </p:pic>
      <p:pic>
        <p:nvPicPr>
          <p:cNvPr id="16" name="Picture 14"/>
          <p:cNvPicPr>
            <a:picLocks noChangeAspect="1" noChangeArrowheads="1"/>
          </p:cNvPicPr>
          <p:nvPr/>
        </p:nvPicPr>
        <p:blipFill>
          <a:blip r:embed="rId6" cstate="print"/>
          <a:srcRect/>
          <a:stretch>
            <a:fillRect/>
          </a:stretch>
        </p:blipFill>
        <p:spPr bwMode="auto">
          <a:xfrm>
            <a:off x="9048328" y="3645024"/>
            <a:ext cx="1162324" cy="840924"/>
          </a:xfrm>
          <a:prstGeom prst="rect">
            <a:avLst/>
          </a:prstGeom>
          <a:noFill/>
          <a:ln w="9525">
            <a:noFill/>
            <a:miter lim="800000"/>
            <a:headEnd/>
            <a:tailEnd/>
          </a:ln>
        </p:spPr>
      </p:pic>
      <p:pic>
        <p:nvPicPr>
          <p:cNvPr id="17" name="Picture 16" descr="http://genma.free.fr/IMG/jpg/samsung-tv-led7000.jpg"/>
          <p:cNvPicPr>
            <a:picLocks noChangeAspect="1" noChangeArrowheads="1"/>
          </p:cNvPicPr>
          <p:nvPr/>
        </p:nvPicPr>
        <p:blipFill>
          <a:blip r:embed="rId7" cstate="print"/>
          <a:srcRect/>
          <a:stretch>
            <a:fillRect/>
          </a:stretch>
        </p:blipFill>
        <p:spPr bwMode="auto">
          <a:xfrm>
            <a:off x="7104113" y="2060849"/>
            <a:ext cx="1985965" cy="1082351"/>
          </a:xfrm>
          <a:prstGeom prst="rect">
            <a:avLst/>
          </a:prstGeom>
          <a:noFill/>
        </p:spPr>
      </p:pic>
      <p:pic>
        <p:nvPicPr>
          <p:cNvPr id="3074" name="Picture 2"/>
          <p:cNvPicPr>
            <a:picLocks noChangeAspect="1" noChangeArrowheads="1"/>
          </p:cNvPicPr>
          <p:nvPr/>
        </p:nvPicPr>
        <p:blipFill>
          <a:blip r:embed="rId8" cstate="print"/>
          <a:srcRect/>
          <a:stretch>
            <a:fillRect/>
          </a:stretch>
        </p:blipFill>
        <p:spPr bwMode="auto">
          <a:xfrm>
            <a:off x="4439817" y="2132857"/>
            <a:ext cx="1892747" cy="1892747"/>
          </a:xfrm>
          <a:prstGeom prst="rect">
            <a:avLst/>
          </a:prstGeom>
          <a:noFill/>
          <a:ln w="9525">
            <a:noFill/>
            <a:miter lim="800000"/>
            <a:headEnd/>
            <a:tailEnd/>
          </a:ln>
        </p:spPr>
      </p:pic>
      <p:pic>
        <p:nvPicPr>
          <p:cNvPr id="3075" name="Picture 3"/>
          <p:cNvPicPr>
            <a:picLocks noChangeAspect="1" noChangeArrowheads="1"/>
          </p:cNvPicPr>
          <p:nvPr/>
        </p:nvPicPr>
        <p:blipFill>
          <a:blip r:embed="rId9" cstate="print"/>
          <a:srcRect/>
          <a:stretch>
            <a:fillRect/>
          </a:stretch>
        </p:blipFill>
        <p:spPr bwMode="auto">
          <a:xfrm>
            <a:off x="8976320" y="4797153"/>
            <a:ext cx="1303062" cy="1685603"/>
          </a:xfrm>
          <a:prstGeom prst="rect">
            <a:avLst/>
          </a:prstGeom>
          <a:noFill/>
          <a:ln w="9525">
            <a:noFill/>
            <a:miter lim="800000"/>
            <a:headEnd/>
            <a:tailEnd/>
          </a:ln>
        </p:spPr>
      </p:pic>
      <p:pic>
        <p:nvPicPr>
          <p:cNvPr id="3076" name="Picture 4"/>
          <p:cNvPicPr>
            <a:picLocks noChangeAspect="1" noChangeArrowheads="1"/>
          </p:cNvPicPr>
          <p:nvPr/>
        </p:nvPicPr>
        <p:blipFill>
          <a:blip r:embed="rId10" cstate="print"/>
          <a:srcRect/>
          <a:stretch>
            <a:fillRect/>
          </a:stretch>
        </p:blipFill>
        <p:spPr bwMode="auto">
          <a:xfrm>
            <a:off x="1847528" y="5048126"/>
            <a:ext cx="1576546" cy="1809874"/>
          </a:xfrm>
          <a:prstGeom prst="rect">
            <a:avLst/>
          </a:prstGeom>
          <a:noFill/>
          <a:ln w="9525">
            <a:noFill/>
            <a:miter lim="800000"/>
            <a:headEnd/>
            <a:tailEnd/>
          </a:ln>
        </p:spPr>
      </p:pic>
      <p:pic>
        <p:nvPicPr>
          <p:cNvPr id="3077" name="Picture 5"/>
          <p:cNvPicPr>
            <a:picLocks noChangeAspect="1" noChangeArrowheads="1"/>
          </p:cNvPicPr>
          <p:nvPr/>
        </p:nvPicPr>
        <p:blipFill>
          <a:blip r:embed="rId11" cstate="print"/>
          <a:srcRect/>
          <a:stretch>
            <a:fillRect/>
          </a:stretch>
        </p:blipFill>
        <p:spPr bwMode="auto">
          <a:xfrm>
            <a:off x="1847529" y="2420888"/>
            <a:ext cx="1101737" cy="2025774"/>
          </a:xfrm>
          <a:prstGeom prst="rect">
            <a:avLst/>
          </a:prstGeom>
          <a:noFill/>
          <a:ln w="9525">
            <a:noFill/>
            <a:miter lim="800000"/>
            <a:headEnd/>
            <a:tailEnd/>
          </a:ln>
        </p:spPr>
      </p:pic>
    </p:spTree>
    <p:extLst>
      <p:ext uri="{BB962C8B-B14F-4D97-AF65-F5344CB8AC3E}">
        <p14:creationId xmlns:p14="http://schemas.microsoft.com/office/powerpoint/2010/main" val="17485354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649053" y="980729"/>
            <a:ext cx="3331040" cy="1646605"/>
          </a:xfrm>
          <a:prstGeom prst="rect">
            <a:avLst/>
          </a:prstGeom>
        </p:spPr>
        <p:txBody>
          <a:bodyPr wrap="none">
            <a:spAutoFit/>
          </a:bodyPr>
          <a:lstStyle/>
          <a:p>
            <a:r>
              <a:rPr lang="fr-FR" sz="2400" dirty="0"/>
              <a:t>Le système d’exploitation</a:t>
            </a:r>
          </a:p>
          <a:p>
            <a:endParaRPr lang="fr-FR" sz="2400" dirty="0"/>
          </a:p>
          <a:p>
            <a:pPr marL="810895" indent="-457200">
              <a:spcBef>
                <a:spcPts val="600"/>
              </a:spcBef>
              <a:buFont typeface="+mj-lt"/>
              <a:buAutoNum type="arabicPeriod" startAt="4"/>
            </a:pPr>
            <a:r>
              <a:rPr lang="fr-FR" sz="2400" b="1" dirty="0"/>
              <a:t>A quoi sert-il ?</a:t>
            </a:r>
            <a:endParaRPr lang="fr-FR" sz="2400" dirty="0"/>
          </a:p>
          <a:p>
            <a:endParaRPr lang="fr-FR" sz="2400" dirty="0"/>
          </a:p>
        </p:txBody>
      </p:sp>
      <p:sp>
        <p:nvSpPr>
          <p:cNvPr id="5" name="ZoneTexte 4"/>
          <p:cNvSpPr txBox="1"/>
          <p:nvPr/>
        </p:nvSpPr>
        <p:spPr>
          <a:xfrm>
            <a:off x="2065324" y="2420888"/>
            <a:ext cx="8602676" cy="3046988"/>
          </a:xfrm>
          <a:prstGeom prst="rect">
            <a:avLst/>
          </a:prstGeom>
          <a:noFill/>
        </p:spPr>
        <p:txBody>
          <a:bodyPr wrap="none" rtlCol="0">
            <a:spAutoFit/>
          </a:bodyPr>
          <a:lstStyle/>
          <a:p>
            <a:pPr marL="360680" indent="-360680">
              <a:buFont typeface="Arial" panose="020B0604020202020204" pitchFamily="34" charset="0"/>
              <a:buChar char="•"/>
            </a:pPr>
            <a:r>
              <a:rPr lang="fr-FR" sz="2400" dirty="0"/>
              <a:t>A simplifier la vie des utilisateurs et des programmeurs</a:t>
            </a:r>
          </a:p>
          <a:p>
            <a:pPr marL="360680" indent="-360680">
              <a:buFont typeface="Arial" panose="020B0604020202020204" pitchFamily="34" charset="0"/>
              <a:buChar char="•"/>
            </a:pPr>
            <a:endParaRPr lang="fr-FR" sz="2400" dirty="0"/>
          </a:p>
          <a:p>
            <a:pPr marL="360680" indent="-360680">
              <a:buFont typeface="Arial" panose="020B0604020202020204" pitchFamily="34" charset="0"/>
              <a:buChar char="•"/>
            </a:pPr>
            <a:r>
              <a:rPr lang="fr-FR" sz="2400" dirty="0"/>
              <a:t>Organiser le partage des ressources entre :</a:t>
            </a:r>
          </a:p>
          <a:p>
            <a:pPr marL="817880" lvl="1" indent="-360680">
              <a:buFont typeface="Arial" panose="020B0604020202020204" pitchFamily="34" charset="0"/>
              <a:buChar char="•"/>
            </a:pPr>
            <a:r>
              <a:rPr lang="fr-FR" sz="2400" dirty="0"/>
              <a:t>Plusieurs programmes exécutés simultanément</a:t>
            </a:r>
          </a:p>
          <a:p>
            <a:pPr marL="817880" lvl="1" indent="-360680">
              <a:buFont typeface="Arial" panose="020B0604020202020204" pitchFamily="34" charset="0"/>
              <a:buChar char="•"/>
            </a:pPr>
            <a:r>
              <a:rPr lang="fr-FR" sz="2400" dirty="0"/>
              <a:t>Plusieurs utilisateurs qui utilisent l’ordinateur simultanément</a:t>
            </a:r>
          </a:p>
          <a:p>
            <a:pPr marL="817880" lvl="1" indent="-360680">
              <a:buFont typeface="Arial" panose="020B0604020202020204" pitchFamily="34" charset="0"/>
              <a:buChar char="•"/>
            </a:pPr>
            <a:endParaRPr lang="fr-FR" sz="2400" dirty="0"/>
          </a:p>
          <a:p>
            <a:pPr marL="360680" indent="-360680">
              <a:buFont typeface="Arial" panose="020B0604020202020204" pitchFamily="34" charset="0"/>
              <a:buChar char="•"/>
            </a:pPr>
            <a:r>
              <a:rPr lang="fr-FR" sz="2400" dirty="0"/>
              <a:t>Protéger l’intégrité du système</a:t>
            </a:r>
          </a:p>
          <a:p>
            <a:pPr marL="360680" indent="-360680">
              <a:buFont typeface="Arial" panose="020B0604020202020204" pitchFamily="34" charset="0"/>
              <a:buChar char="•"/>
            </a:pPr>
            <a:endParaRPr lang="fr-FR" sz="2400" dirty="0"/>
          </a:p>
        </p:txBody>
      </p:sp>
    </p:spTree>
    <p:extLst>
      <p:ext uri="{BB962C8B-B14F-4D97-AF65-F5344CB8AC3E}">
        <p14:creationId xmlns:p14="http://schemas.microsoft.com/office/powerpoint/2010/main" val="38327689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llipse 9"/>
          <p:cNvSpPr/>
          <p:nvPr/>
        </p:nvSpPr>
        <p:spPr>
          <a:xfrm>
            <a:off x="2567608" y="2376264"/>
            <a:ext cx="7128792" cy="4365104"/>
          </a:xfrm>
          <a:prstGeom prst="ellipse">
            <a:avLst/>
          </a:prstGeom>
          <a:scene3d>
            <a:camera prst="orthographicFront"/>
            <a:lightRig rig="threePt" dir="t"/>
          </a:scene3d>
          <a:sp3d>
            <a:bevelT w="127000" h="127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p:cNvSpPr/>
          <p:nvPr/>
        </p:nvSpPr>
        <p:spPr>
          <a:xfrm>
            <a:off x="4655840" y="2736305"/>
            <a:ext cx="2952328" cy="1253753"/>
          </a:xfrm>
          <a:prstGeom prst="rect">
            <a:avLst/>
          </a:prstGeom>
          <a:noFill/>
        </p:spPr>
        <p:txBody>
          <a:bodyPr spcFirstLastPara="1" wrap="none" lIns="91440" tIns="45720" rIns="91440" bIns="45720" numCol="1">
            <a:prstTxWarp prst="textArchUp">
              <a:avLst>
                <a:gd name="adj" fmla="val 10799663"/>
              </a:avLst>
            </a:prstTxWarp>
            <a:spAutoFit/>
          </a:bodyPr>
          <a:lstStyle/>
          <a:p>
            <a:pPr algn="ctr"/>
            <a:r>
              <a:rPr lang="fr-FR" sz="2800" dirty="0">
                <a:ln w="18415" cmpd="sng">
                  <a:solidFill>
                    <a:srgbClr val="FFFFFF"/>
                  </a:solidFill>
                  <a:prstDash val="solid"/>
                </a:ln>
                <a:solidFill>
                  <a:srgbClr val="FFFFFF"/>
                </a:solidFill>
                <a:effectLst>
                  <a:outerShdw blurRad="63500" dir="3600000" algn="tl" rotWithShape="0">
                    <a:srgbClr val="000000">
                      <a:alpha val="70000"/>
                    </a:srgbClr>
                  </a:outerShdw>
                </a:effectLst>
              </a:rPr>
              <a:t>Utilisateur</a:t>
            </a:r>
          </a:p>
        </p:txBody>
      </p:sp>
      <p:sp>
        <p:nvSpPr>
          <p:cNvPr id="12" name="Ellipse 11"/>
          <p:cNvSpPr/>
          <p:nvPr/>
        </p:nvSpPr>
        <p:spPr>
          <a:xfrm>
            <a:off x="3575720" y="2880320"/>
            <a:ext cx="5184576" cy="3312368"/>
          </a:xfrm>
          <a:prstGeom prst="ellipse">
            <a:avLst/>
          </a:prstGeom>
          <a:solidFill>
            <a:schemeClr val="accent1">
              <a:lumMod val="40000"/>
              <a:lumOff val="60000"/>
            </a:schemeClr>
          </a:solidFill>
          <a:scene3d>
            <a:camera prst="orthographicFront"/>
            <a:lightRig rig="threePt" dir="t"/>
          </a:scene3d>
          <a:sp3d>
            <a:bevelT w="127000" h="127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p:cNvSpPr/>
          <p:nvPr/>
        </p:nvSpPr>
        <p:spPr>
          <a:xfrm>
            <a:off x="4727848" y="3312369"/>
            <a:ext cx="2952328" cy="1253753"/>
          </a:xfrm>
          <a:prstGeom prst="rect">
            <a:avLst/>
          </a:prstGeom>
          <a:noFill/>
        </p:spPr>
        <p:txBody>
          <a:bodyPr spcFirstLastPara="1" wrap="none" lIns="91440" tIns="45720" rIns="91440" bIns="45720" numCol="1">
            <a:prstTxWarp prst="textArchUp">
              <a:avLst>
                <a:gd name="adj" fmla="val 10799663"/>
              </a:avLst>
            </a:prstTxWarp>
            <a:spAutoFit/>
          </a:bodyPr>
          <a:lstStyle/>
          <a:p>
            <a:pPr algn="ctr"/>
            <a:r>
              <a:rPr lang="fr-FR" sz="2800" dirty="0">
                <a:ln w="18415" cmpd="sng">
                  <a:solidFill>
                    <a:srgbClr val="FFFFFF"/>
                  </a:solidFill>
                  <a:prstDash val="solid"/>
                </a:ln>
                <a:solidFill>
                  <a:srgbClr val="FFFFFF"/>
                </a:solidFill>
                <a:effectLst>
                  <a:outerShdw blurRad="63500" dir="3600000" algn="tl" rotWithShape="0">
                    <a:srgbClr val="000000">
                      <a:alpha val="70000"/>
                    </a:srgbClr>
                  </a:outerShdw>
                </a:effectLst>
              </a:rPr>
              <a:t>Shell</a:t>
            </a:r>
          </a:p>
        </p:txBody>
      </p:sp>
      <p:sp>
        <p:nvSpPr>
          <p:cNvPr id="14" name="Ellipse 13"/>
          <p:cNvSpPr/>
          <p:nvPr/>
        </p:nvSpPr>
        <p:spPr>
          <a:xfrm>
            <a:off x="4295800" y="3528392"/>
            <a:ext cx="3672408" cy="2160240"/>
          </a:xfrm>
          <a:prstGeom prst="ellipse">
            <a:avLst/>
          </a:prstGeom>
          <a:solidFill>
            <a:schemeClr val="accent2">
              <a:lumMod val="40000"/>
              <a:lumOff val="60000"/>
            </a:schemeClr>
          </a:solidFill>
          <a:scene3d>
            <a:camera prst="orthographicFront"/>
            <a:lightRig rig="threePt" dir="t"/>
          </a:scene3d>
          <a:sp3d>
            <a:bevelT w="127000" h="127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p:cNvSpPr/>
          <p:nvPr/>
        </p:nvSpPr>
        <p:spPr>
          <a:xfrm>
            <a:off x="4727848" y="3858816"/>
            <a:ext cx="2952328" cy="1253753"/>
          </a:xfrm>
          <a:prstGeom prst="rect">
            <a:avLst/>
          </a:prstGeom>
          <a:noFill/>
        </p:spPr>
        <p:txBody>
          <a:bodyPr spcFirstLastPara="1" wrap="none" lIns="91440" tIns="45720" rIns="91440" bIns="45720" numCol="1">
            <a:prstTxWarp prst="textArchUp">
              <a:avLst>
                <a:gd name="adj" fmla="val 10799663"/>
              </a:avLst>
            </a:prstTxWarp>
            <a:spAutoFit/>
          </a:bodyPr>
          <a:lstStyle/>
          <a:p>
            <a:pPr algn="ctr"/>
            <a:r>
              <a:rPr lang="fr-FR" sz="2800" dirty="0">
                <a:ln w="18415" cmpd="sng">
                  <a:solidFill>
                    <a:srgbClr val="FFFFFF"/>
                  </a:solidFill>
                  <a:prstDash val="solid"/>
                </a:ln>
                <a:solidFill>
                  <a:srgbClr val="FFFFFF"/>
                </a:solidFill>
                <a:effectLst>
                  <a:outerShdw blurRad="63500" dir="3600000" algn="tl" rotWithShape="0">
                    <a:srgbClr val="000000">
                      <a:alpha val="70000"/>
                    </a:srgbClr>
                  </a:outerShdw>
                </a:effectLst>
              </a:rPr>
              <a:t>Fichiers</a:t>
            </a:r>
          </a:p>
        </p:txBody>
      </p:sp>
      <p:sp>
        <p:nvSpPr>
          <p:cNvPr id="17" name="Ellipse 16"/>
          <p:cNvSpPr/>
          <p:nvPr/>
        </p:nvSpPr>
        <p:spPr>
          <a:xfrm>
            <a:off x="5159896" y="4032448"/>
            <a:ext cx="2024608" cy="1304528"/>
          </a:xfrm>
          <a:prstGeom prst="ellipse">
            <a:avLst/>
          </a:prstGeom>
          <a:solidFill>
            <a:schemeClr val="accent2">
              <a:lumMod val="75000"/>
            </a:schemeClr>
          </a:solidFill>
          <a:scene3d>
            <a:camera prst="orthographicFront"/>
            <a:lightRig rig="threePt" dir="t"/>
          </a:scene3d>
          <a:sp3d>
            <a:bevelT w="127000" h="127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17"/>
          <p:cNvSpPr/>
          <p:nvPr/>
        </p:nvSpPr>
        <p:spPr>
          <a:xfrm>
            <a:off x="4799856" y="4320481"/>
            <a:ext cx="2952328" cy="1253753"/>
          </a:xfrm>
          <a:prstGeom prst="rect">
            <a:avLst/>
          </a:prstGeom>
          <a:noFill/>
        </p:spPr>
        <p:txBody>
          <a:bodyPr spcFirstLastPara="1" wrap="none" lIns="91440" tIns="45720" rIns="91440" bIns="45720" numCol="1">
            <a:prstTxWarp prst="textArchUp">
              <a:avLst>
                <a:gd name="adj" fmla="val 10799663"/>
              </a:avLst>
            </a:prstTxWarp>
            <a:spAutoFit/>
          </a:bodyPr>
          <a:lstStyle/>
          <a:p>
            <a:pPr algn="ctr"/>
            <a:r>
              <a:rPr lang="fr-FR" sz="2000" dirty="0">
                <a:ln w="18415" cmpd="sng">
                  <a:solidFill>
                    <a:srgbClr val="FFFFFF"/>
                  </a:solidFill>
                  <a:prstDash val="solid"/>
                </a:ln>
                <a:solidFill>
                  <a:srgbClr val="FFFFFF"/>
                </a:solidFill>
                <a:effectLst>
                  <a:outerShdw blurRad="63500" dir="3600000" algn="tl" rotWithShape="0">
                    <a:srgbClr val="000000">
                      <a:alpha val="70000"/>
                    </a:srgbClr>
                  </a:outerShdw>
                </a:effectLst>
              </a:rPr>
              <a:t>Noyau</a:t>
            </a:r>
          </a:p>
        </p:txBody>
      </p:sp>
      <p:sp>
        <p:nvSpPr>
          <p:cNvPr id="19" name="Ellipse 18"/>
          <p:cNvSpPr/>
          <p:nvPr/>
        </p:nvSpPr>
        <p:spPr>
          <a:xfrm>
            <a:off x="5519936" y="4464496"/>
            <a:ext cx="1368152" cy="648072"/>
          </a:xfrm>
          <a:prstGeom prst="ellipse">
            <a:avLst/>
          </a:prstGeom>
          <a:solidFill>
            <a:srgbClr val="C00000"/>
          </a:solidFill>
          <a:scene3d>
            <a:camera prst="orthographicFront"/>
            <a:lightRig rig="threePt" dir="t"/>
          </a:scene3d>
          <a:sp3d>
            <a:bevelT w="127000" h="127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19"/>
          <p:cNvSpPr/>
          <p:nvPr/>
        </p:nvSpPr>
        <p:spPr>
          <a:xfrm>
            <a:off x="4799856" y="4794920"/>
            <a:ext cx="2952328" cy="1253753"/>
          </a:xfrm>
          <a:prstGeom prst="rect">
            <a:avLst/>
          </a:prstGeom>
          <a:noFill/>
        </p:spPr>
        <p:txBody>
          <a:bodyPr spcFirstLastPara="1" wrap="none" lIns="91440" tIns="45720" rIns="91440" bIns="45720" numCol="1">
            <a:prstTxWarp prst="textArchUp">
              <a:avLst>
                <a:gd name="adj" fmla="val 10799663"/>
              </a:avLst>
            </a:prstTxWarp>
            <a:spAutoFit/>
          </a:bodyPr>
          <a:lstStyle/>
          <a:p>
            <a:pPr algn="ctr"/>
            <a:r>
              <a:rPr lang="fr-FR" sz="2000" dirty="0">
                <a:ln w="18415" cmpd="sng">
                  <a:solidFill>
                    <a:srgbClr val="FFFFFF"/>
                  </a:solidFill>
                  <a:prstDash val="solid"/>
                </a:ln>
                <a:solidFill>
                  <a:srgbClr val="FFFFFF"/>
                </a:solidFill>
                <a:effectLst>
                  <a:outerShdw blurRad="63500" dir="3600000" algn="tl" rotWithShape="0">
                    <a:srgbClr val="000000">
                      <a:alpha val="70000"/>
                    </a:srgbClr>
                  </a:outerShdw>
                </a:effectLst>
              </a:rPr>
              <a:t>Matériel</a:t>
            </a:r>
          </a:p>
        </p:txBody>
      </p:sp>
      <p:sp>
        <p:nvSpPr>
          <p:cNvPr id="15" name="Rectangle 14"/>
          <p:cNvSpPr/>
          <p:nvPr/>
        </p:nvSpPr>
        <p:spPr>
          <a:xfrm>
            <a:off x="1649053" y="980729"/>
            <a:ext cx="3331040" cy="1646605"/>
          </a:xfrm>
          <a:prstGeom prst="rect">
            <a:avLst/>
          </a:prstGeom>
        </p:spPr>
        <p:txBody>
          <a:bodyPr wrap="none">
            <a:spAutoFit/>
          </a:bodyPr>
          <a:lstStyle/>
          <a:p>
            <a:r>
              <a:rPr lang="fr-FR" sz="2400" dirty="0"/>
              <a:t>Le système d’exploitation</a:t>
            </a:r>
          </a:p>
          <a:p>
            <a:endParaRPr lang="fr-FR" sz="2400" dirty="0"/>
          </a:p>
          <a:p>
            <a:pPr marL="810895" indent="-457200">
              <a:spcBef>
                <a:spcPts val="600"/>
              </a:spcBef>
              <a:buFont typeface="+mj-lt"/>
              <a:buAutoNum type="arabicPeriod" startAt="4"/>
            </a:pPr>
            <a:r>
              <a:rPr lang="fr-FR" sz="2400" b="1" dirty="0"/>
              <a:t>A quoi sert-il ?</a:t>
            </a:r>
            <a:endParaRPr lang="fr-FR" sz="2400" dirty="0"/>
          </a:p>
          <a:p>
            <a:endParaRPr lang="fr-FR" sz="2400" dirty="0"/>
          </a:p>
        </p:txBody>
      </p:sp>
    </p:spTree>
    <p:extLst>
      <p:ext uri="{BB962C8B-B14F-4D97-AF65-F5344CB8AC3E}">
        <p14:creationId xmlns:p14="http://schemas.microsoft.com/office/powerpoint/2010/main" val="11219913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p:cTn id="12" dur="500" fill="hold"/>
                                        <p:tgtEl>
                                          <p:spTgt spid="11"/>
                                        </p:tgtEl>
                                        <p:attrNameLst>
                                          <p:attrName>ppt_w</p:attrName>
                                        </p:attrNameLst>
                                      </p:cBhvr>
                                      <p:tavLst>
                                        <p:tav tm="0">
                                          <p:val>
                                            <p:fltVal val="0"/>
                                          </p:val>
                                        </p:tav>
                                        <p:tav tm="100000">
                                          <p:val>
                                            <p:strVal val="#ppt_w"/>
                                          </p:val>
                                        </p:tav>
                                      </p:tavLst>
                                    </p:anim>
                                    <p:anim calcmode="lin" valueType="num">
                                      <p:cBhvr>
                                        <p:cTn id="13" dur="500" fill="hold"/>
                                        <p:tgtEl>
                                          <p:spTgt spid="11"/>
                                        </p:tgtEl>
                                        <p:attrNameLst>
                                          <p:attrName>ppt_h</p:attrName>
                                        </p:attrNameLst>
                                      </p:cBhvr>
                                      <p:tavLst>
                                        <p:tav tm="0">
                                          <p:val>
                                            <p:fltVal val="0"/>
                                          </p:val>
                                        </p:tav>
                                        <p:tav tm="100000">
                                          <p:val>
                                            <p:strVal val="#ppt_h"/>
                                          </p:val>
                                        </p:tav>
                                      </p:tavLst>
                                    </p:anim>
                                    <p:animEffect transition="in" filter="fade">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p:cTn id="19" dur="500" fill="hold"/>
                                        <p:tgtEl>
                                          <p:spTgt spid="19"/>
                                        </p:tgtEl>
                                        <p:attrNameLst>
                                          <p:attrName>ppt_w</p:attrName>
                                        </p:attrNameLst>
                                      </p:cBhvr>
                                      <p:tavLst>
                                        <p:tav tm="0">
                                          <p:val>
                                            <p:fltVal val="0"/>
                                          </p:val>
                                        </p:tav>
                                        <p:tav tm="100000">
                                          <p:val>
                                            <p:strVal val="#ppt_w"/>
                                          </p:val>
                                        </p:tav>
                                      </p:tavLst>
                                    </p:anim>
                                    <p:anim calcmode="lin" valueType="num">
                                      <p:cBhvr>
                                        <p:cTn id="20" dur="500" fill="hold"/>
                                        <p:tgtEl>
                                          <p:spTgt spid="19"/>
                                        </p:tgtEl>
                                        <p:attrNameLst>
                                          <p:attrName>ppt_h</p:attrName>
                                        </p:attrNameLst>
                                      </p:cBhvr>
                                      <p:tavLst>
                                        <p:tav tm="0">
                                          <p:val>
                                            <p:fltVal val="0"/>
                                          </p:val>
                                        </p:tav>
                                        <p:tav tm="100000">
                                          <p:val>
                                            <p:strVal val="#ppt_h"/>
                                          </p:val>
                                        </p:tav>
                                      </p:tavLst>
                                    </p:anim>
                                    <p:animEffect transition="in" filter="fade">
                                      <p:cBhvr>
                                        <p:cTn id="21" dur="500"/>
                                        <p:tgtEl>
                                          <p:spTgt spid="19"/>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 calcmode="lin" valueType="num">
                                      <p:cBhvr>
                                        <p:cTn id="24" dur="500" fill="hold"/>
                                        <p:tgtEl>
                                          <p:spTgt spid="20"/>
                                        </p:tgtEl>
                                        <p:attrNameLst>
                                          <p:attrName>ppt_w</p:attrName>
                                        </p:attrNameLst>
                                      </p:cBhvr>
                                      <p:tavLst>
                                        <p:tav tm="0">
                                          <p:val>
                                            <p:fltVal val="0"/>
                                          </p:val>
                                        </p:tav>
                                        <p:tav tm="100000">
                                          <p:val>
                                            <p:strVal val="#ppt_w"/>
                                          </p:val>
                                        </p:tav>
                                      </p:tavLst>
                                    </p:anim>
                                    <p:anim calcmode="lin" valueType="num">
                                      <p:cBhvr>
                                        <p:cTn id="25" dur="500" fill="hold"/>
                                        <p:tgtEl>
                                          <p:spTgt spid="20"/>
                                        </p:tgtEl>
                                        <p:attrNameLst>
                                          <p:attrName>ppt_h</p:attrName>
                                        </p:attrNameLst>
                                      </p:cBhvr>
                                      <p:tavLst>
                                        <p:tav tm="0">
                                          <p:val>
                                            <p:fltVal val="0"/>
                                          </p:val>
                                        </p:tav>
                                        <p:tav tm="100000">
                                          <p:val>
                                            <p:strVal val="#ppt_h"/>
                                          </p:val>
                                        </p:tav>
                                      </p:tavLst>
                                    </p:anim>
                                    <p:animEffect transition="in" filter="fade">
                                      <p:cBhvr>
                                        <p:cTn id="26" dur="500"/>
                                        <p:tgtEl>
                                          <p:spTgt spid="20"/>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p:cTn id="31" dur="500" fill="hold"/>
                                        <p:tgtEl>
                                          <p:spTgt spid="17"/>
                                        </p:tgtEl>
                                        <p:attrNameLst>
                                          <p:attrName>ppt_w</p:attrName>
                                        </p:attrNameLst>
                                      </p:cBhvr>
                                      <p:tavLst>
                                        <p:tav tm="0">
                                          <p:val>
                                            <p:fltVal val="0"/>
                                          </p:val>
                                        </p:tav>
                                        <p:tav tm="100000">
                                          <p:val>
                                            <p:strVal val="#ppt_w"/>
                                          </p:val>
                                        </p:tav>
                                      </p:tavLst>
                                    </p:anim>
                                    <p:anim calcmode="lin" valueType="num">
                                      <p:cBhvr>
                                        <p:cTn id="32" dur="500" fill="hold"/>
                                        <p:tgtEl>
                                          <p:spTgt spid="17"/>
                                        </p:tgtEl>
                                        <p:attrNameLst>
                                          <p:attrName>ppt_h</p:attrName>
                                        </p:attrNameLst>
                                      </p:cBhvr>
                                      <p:tavLst>
                                        <p:tav tm="0">
                                          <p:val>
                                            <p:fltVal val="0"/>
                                          </p:val>
                                        </p:tav>
                                        <p:tav tm="100000">
                                          <p:val>
                                            <p:strVal val="#ppt_h"/>
                                          </p:val>
                                        </p:tav>
                                      </p:tavLst>
                                    </p:anim>
                                    <p:animEffect transition="in" filter="fade">
                                      <p:cBhvr>
                                        <p:cTn id="33" dur="500"/>
                                        <p:tgtEl>
                                          <p:spTgt spid="17"/>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 calcmode="lin" valueType="num">
                                      <p:cBhvr>
                                        <p:cTn id="36" dur="500" fill="hold"/>
                                        <p:tgtEl>
                                          <p:spTgt spid="18"/>
                                        </p:tgtEl>
                                        <p:attrNameLst>
                                          <p:attrName>ppt_w</p:attrName>
                                        </p:attrNameLst>
                                      </p:cBhvr>
                                      <p:tavLst>
                                        <p:tav tm="0">
                                          <p:val>
                                            <p:fltVal val="0"/>
                                          </p:val>
                                        </p:tav>
                                        <p:tav tm="100000">
                                          <p:val>
                                            <p:strVal val="#ppt_w"/>
                                          </p:val>
                                        </p:tav>
                                      </p:tavLst>
                                    </p:anim>
                                    <p:anim calcmode="lin" valueType="num">
                                      <p:cBhvr>
                                        <p:cTn id="37" dur="500" fill="hold"/>
                                        <p:tgtEl>
                                          <p:spTgt spid="18"/>
                                        </p:tgtEl>
                                        <p:attrNameLst>
                                          <p:attrName>ppt_h</p:attrName>
                                        </p:attrNameLst>
                                      </p:cBhvr>
                                      <p:tavLst>
                                        <p:tav tm="0">
                                          <p:val>
                                            <p:fltVal val="0"/>
                                          </p:val>
                                        </p:tav>
                                        <p:tav tm="100000">
                                          <p:val>
                                            <p:strVal val="#ppt_h"/>
                                          </p:val>
                                        </p:tav>
                                      </p:tavLst>
                                    </p:anim>
                                    <p:animEffect transition="in" filter="fade">
                                      <p:cBhvr>
                                        <p:cTn id="38" dur="500"/>
                                        <p:tgtEl>
                                          <p:spTgt spid="18"/>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p:cTn id="43" dur="500" fill="hold"/>
                                        <p:tgtEl>
                                          <p:spTgt spid="14"/>
                                        </p:tgtEl>
                                        <p:attrNameLst>
                                          <p:attrName>ppt_w</p:attrName>
                                        </p:attrNameLst>
                                      </p:cBhvr>
                                      <p:tavLst>
                                        <p:tav tm="0">
                                          <p:val>
                                            <p:fltVal val="0"/>
                                          </p:val>
                                        </p:tav>
                                        <p:tav tm="100000">
                                          <p:val>
                                            <p:strVal val="#ppt_w"/>
                                          </p:val>
                                        </p:tav>
                                      </p:tavLst>
                                    </p:anim>
                                    <p:anim calcmode="lin" valueType="num">
                                      <p:cBhvr>
                                        <p:cTn id="44" dur="500" fill="hold"/>
                                        <p:tgtEl>
                                          <p:spTgt spid="14"/>
                                        </p:tgtEl>
                                        <p:attrNameLst>
                                          <p:attrName>ppt_h</p:attrName>
                                        </p:attrNameLst>
                                      </p:cBhvr>
                                      <p:tavLst>
                                        <p:tav tm="0">
                                          <p:val>
                                            <p:fltVal val="0"/>
                                          </p:val>
                                        </p:tav>
                                        <p:tav tm="100000">
                                          <p:val>
                                            <p:strVal val="#ppt_h"/>
                                          </p:val>
                                        </p:tav>
                                      </p:tavLst>
                                    </p:anim>
                                    <p:animEffect transition="in" filter="fade">
                                      <p:cBhvr>
                                        <p:cTn id="45" dur="500"/>
                                        <p:tgtEl>
                                          <p:spTgt spid="14"/>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 calcmode="lin" valueType="num">
                                      <p:cBhvr>
                                        <p:cTn id="48" dur="500" fill="hold"/>
                                        <p:tgtEl>
                                          <p:spTgt spid="16"/>
                                        </p:tgtEl>
                                        <p:attrNameLst>
                                          <p:attrName>ppt_w</p:attrName>
                                        </p:attrNameLst>
                                      </p:cBhvr>
                                      <p:tavLst>
                                        <p:tav tm="0">
                                          <p:val>
                                            <p:fltVal val="0"/>
                                          </p:val>
                                        </p:tav>
                                        <p:tav tm="100000">
                                          <p:val>
                                            <p:strVal val="#ppt_w"/>
                                          </p:val>
                                        </p:tav>
                                      </p:tavLst>
                                    </p:anim>
                                    <p:anim calcmode="lin" valueType="num">
                                      <p:cBhvr>
                                        <p:cTn id="49" dur="500" fill="hold"/>
                                        <p:tgtEl>
                                          <p:spTgt spid="16"/>
                                        </p:tgtEl>
                                        <p:attrNameLst>
                                          <p:attrName>ppt_h</p:attrName>
                                        </p:attrNameLst>
                                      </p:cBhvr>
                                      <p:tavLst>
                                        <p:tav tm="0">
                                          <p:val>
                                            <p:fltVal val="0"/>
                                          </p:val>
                                        </p:tav>
                                        <p:tav tm="100000">
                                          <p:val>
                                            <p:strVal val="#ppt_h"/>
                                          </p:val>
                                        </p:tav>
                                      </p:tavLst>
                                    </p:anim>
                                    <p:animEffect transition="in" filter="fade">
                                      <p:cBhvr>
                                        <p:cTn id="50" dur="500"/>
                                        <p:tgtEl>
                                          <p:spTgt spid="16"/>
                                        </p:tgtEl>
                                      </p:cBhvr>
                                    </p:animEffect>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 calcmode="lin" valueType="num">
                                      <p:cBhvr>
                                        <p:cTn id="55" dur="500" fill="hold"/>
                                        <p:tgtEl>
                                          <p:spTgt spid="12"/>
                                        </p:tgtEl>
                                        <p:attrNameLst>
                                          <p:attrName>ppt_w</p:attrName>
                                        </p:attrNameLst>
                                      </p:cBhvr>
                                      <p:tavLst>
                                        <p:tav tm="0">
                                          <p:val>
                                            <p:fltVal val="0"/>
                                          </p:val>
                                        </p:tav>
                                        <p:tav tm="100000">
                                          <p:val>
                                            <p:strVal val="#ppt_w"/>
                                          </p:val>
                                        </p:tav>
                                      </p:tavLst>
                                    </p:anim>
                                    <p:anim calcmode="lin" valueType="num">
                                      <p:cBhvr>
                                        <p:cTn id="56" dur="500" fill="hold"/>
                                        <p:tgtEl>
                                          <p:spTgt spid="12"/>
                                        </p:tgtEl>
                                        <p:attrNameLst>
                                          <p:attrName>ppt_h</p:attrName>
                                        </p:attrNameLst>
                                      </p:cBhvr>
                                      <p:tavLst>
                                        <p:tav tm="0">
                                          <p:val>
                                            <p:fltVal val="0"/>
                                          </p:val>
                                        </p:tav>
                                        <p:tav tm="100000">
                                          <p:val>
                                            <p:strVal val="#ppt_h"/>
                                          </p:val>
                                        </p:tav>
                                      </p:tavLst>
                                    </p:anim>
                                    <p:animEffect transition="in" filter="fade">
                                      <p:cBhvr>
                                        <p:cTn id="57" dur="500"/>
                                        <p:tgtEl>
                                          <p:spTgt spid="12"/>
                                        </p:tgtEl>
                                      </p:cBhvr>
                                    </p:animEffect>
                                  </p:childTnLst>
                                </p:cTn>
                              </p:par>
                              <p:par>
                                <p:cTn id="58" presetID="53" presetClass="entr" presetSubtype="16" fill="hold" grpId="0" nodeType="withEffect">
                                  <p:stCondLst>
                                    <p:cond delay="0"/>
                                  </p:stCondLst>
                                  <p:childTnLst>
                                    <p:set>
                                      <p:cBhvr>
                                        <p:cTn id="59" dur="1" fill="hold">
                                          <p:stCondLst>
                                            <p:cond delay="0"/>
                                          </p:stCondLst>
                                        </p:cTn>
                                        <p:tgtEl>
                                          <p:spTgt spid="13"/>
                                        </p:tgtEl>
                                        <p:attrNameLst>
                                          <p:attrName>style.visibility</p:attrName>
                                        </p:attrNameLst>
                                      </p:cBhvr>
                                      <p:to>
                                        <p:strVal val="visible"/>
                                      </p:to>
                                    </p:set>
                                    <p:anim calcmode="lin" valueType="num">
                                      <p:cBhvr>
                                        <p:cTn id="60" dur="500" fill="hold"/>
                                        <p:tgtEl>
                                          <p:spTgt spid="13"/>
                                        </p:tgtEl>
                                        <p:attrNameLst>
                                          <p:attrName>ppt_w</p:attrName>
                                        </p:attrNameLst>
                                      </p:cBhvr>
                                      <p:tavLst>
                                        <p:tav tm="0">
                                          <p:val>
                                            <p:fltVal val="0"/>
                                          </p:val>
                                        </p:tav>
                                        <p:tav tm="100000">
                                          <p:val>
                                            <p:strVal val="#ppt_w"/>
                                          </p:val>
                                        </p:tav>
                                      </p:tavLst>
                                    </p:anim>
                                    <p:anim calcmode="lin" valueType="num">
                                      <p:cBhvr>
                                        <p:cTn id="61" dur="500" fill="hold"/>
                                        <p:tgtEl>
                                          <p:spTgt spid="13"/>
                                        </p:tgtEl>
                                        <p:attrNameLst>
                                          <p:attrName>ppt_h</p:attrName>
                                        </p:attrNameLst>
                                      </p:cBhvr>
                                      <p:tavLst>
                                        <p:tav tm="0">
                                          <p:val>
                                            <p:fltVal val="0"/>
                                          </p:val>
                                        </p:tav>
                                        <p:tav tm="100000">
                                          <p:val>
                                            <p:strVal val="#ppt_h"/>
                                          </p:val>
                                        </p:tav>
                                      </p:tavLst>
                                    </p:anim>
                                    <p:animEffect transition="in" filter="fade">
                                      <p:cBhvr>
                                        <p:cTn id="6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2" grpId="0" animBg="1"/>
      <p:bldP spid="13" grpId="0"/>
      <p:bldP spid="14" grpId="0" animBg="1"/>
      <p:bldP spid="16" grpId="0"/>
      <p:bldP spid="17" grpId="0" animBg="1"/>
      <p:bldP spid="18" grpId="0"/>
      <p:bldP spid="19" grpId="0" animBg="1"/>
      <p:bldP spid="2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649053" y="980729"/>
            <a:ext cx="4391780" cy="1646605"/>
          </a:xfrm>
          <a:prstGeom prst="rect">
            <a:avLst/>
          </a:prstGeom>
        </p:spPr>
        <p:txBody>
          <a:bodyPr wrap="none">
            <a:spAutoFit/>
          </a:bodyPr>
          <a:lstStyle/>
          <a:p>
            <a:r>
              <a:rPr lang="fr-FR" sz="2400" dirty="0"/>
              <a:t>Le système d’exploitation</a:t>
            </a:r>
          </a:p>
          <a:p>
            <a:endParaRPr lang="fr-FR" sz="2400" dirty="0"/>
          </a:p>
          <a:p>
            <a:pPr marL="810895" indent="-457200">
              <a:spcBef>
                <a:spcPts val="600"/>
              </a:spcBef>
              <a:buFont typeface="+mj-lt"/>
              <a:buAutoNum type="arabicPeriod" startAt="4"/>
            </a:pPr>
            <a:r>
              <a:rPr lang="fr-FR" sz="2400" b="1" dirty="0"/>
              <a:t>A quoi sert-il ? Abstraction</a:t>
            </a:r>
            <a:endParaRPr lang="fr-FR" sz="2400" dirty="0"/>
          </a:p>
          <a:p>
            <a:endParaRPr lang="fr-FR" sz="2400" dirty="0"/>
          </a:p>
        </p:txBody>
      </p:sp>
      <p:sp>
        <p:nvSpPr>
          <p:cNvPr id="5" name="ZoneTexte 4"/>
          <p:cNvSpPr txBox="1"/>
          <p:nvPr/>
        </p:nvSpPr>
        <p:spPr>
          <a:xfrm>
            <a:off x="2065325" y="2420888"/>
            <a:ext cx="8207140" cy="3416320"/>
          </a:xfrm>
          <a:prstGeom prst="rect">
            <a:avLst/>
          </a:prstGeom>
          <a:noFill/>
        </p:spPr>
        <p:txBody>
          <a:bodyPr wrap="square" rtlCol="0">
            <a:spAutoFit/>
          </a:bodyPr>
          <a:lstStyle/>
          <a:p>
            <a:pPr marL="360680" indent="-360680">
              <a:buFont typeface="Arial" panose="020B0604020202020204" pitchFamily="34" charset="0"/>
              <a:buChar char="•"/>
            </a:pPr>
            <a:r>
              <a:rPr lang="fr-FR" sz="2400" dirty="0"/>
              <a:t>Cacher la complexité des machines pour l'utilisateur afin d'utiliser la machine sans savoir ce qui est derrière</a:t>
            </a:r>
          </a:p>
          <a:p>
            <a:pPr marL="360680" indent="-360680">
              <a:buFont typeface="Arial" panose="020B0604020202020204" pitchFamily="34" charset="0"/>
              <a:buChar char="•"/>
            </a:pPr>
            <a:endParaRPr lang="fr-FR" sz="2400" dirty="0"/>
          </a:p>
          <a:p>
            <a:pPr marL="360680" indent="-360680"/>
            <a:r>
              <a:rPr lang="fr-FR" sz="2400" b="1" dirty="0"/>
              <a:t>Abstraction du terme « Machine  :</a:t>
            </a:r>
          </a:p>
          <a:p>
            <a:pPr marL="360680" indent="-360680"/>
            <a:endParaRPr lang="fr-FR" sz="2400" dirty="0"/>
          </a:p>
          <a:p>
            <a:pPr marL="360680" indent="-360680">
              <a:buFont typeface="Arial" panose="020B0604020202020204" pitchFamily="34" charset="0"/>
              <a:buChar char="•"/>
            </a:pPr>
            <a:r>
              <a:rPr lang="fr-FR" sz="2400" b="1" dirty="0"/>
              <a:t>machine réelle</a:t>
            </a:r>
            <a:r>
              <a:rPr lang="fr-FR" sz="2400" dirty="0"/>
              <a:t> = Unité centrale + périphériques </a:t>
            </a:r>
          </a:p>
          <a:p>
            <a:pPr marL="360680" indent="-360680">
              <a:buFont typeface="Arial" panose="020B0604020202020204" pitchFamily="34" charset="0"/>
              <a:buChar char="•"/>
            </a:pPr>
            <a:r>
              <a:rPr lang="fr-FR" sz="2400" b="1" dirty="0"/>
              <a:t>machine abstraite </a:t>
            </a:r>
            <a:r>
              <a:rPr lang="fr-FR" sz="2400" dirty="0"/>
              <a:t>= machine réelle + système d'exploitation</a:t>
            </a:r>
          </a:p>
          <a:p>
            <a:pPr marL="360680" indent="-360680">
              <a:buFont typeface="Arial" panose="020B0604020202020204" pitchFamily="34" charset="0"/>
              <a:buChar char="•"/>
            </a:pPr>
            <a:r>
              <a:rPr lang="fr-FR" sz="2400" b="1" dirty="0"/>
              <a:t>machine utilisable </a:t>
            </a:r>
            <a:r>
              <a:rPr lang="fr-FR" sz="2400" dirty="0"/>
              <a:t>=  machine abstraite + application</a:t>
            </a:r>
          </a:p>
          <a:p>
            <a:pPr marL="360680" indent="-360680">
              <a:buFont typeface="Arial" panose="020B0604020202020204" pitchFamily="34" charset="0"/>
              <a:buChar char="•"/>
            </a:pPr>
            <a:endParaRPr lang="fr-FR" sz="2400" dirty="0"/>
          </a:p>
        </p:txBody>
      </p:sp>
    </p:spTree>
    <p:extLst>
      <p:ext uri="{BB962C8B-B14F-4D97-AF65-F5344CB8AC3E}">
        <p14:creationId xmlns:p14="http://schemas.microsoft.com/office/powerpoint/2010/main" val="21261248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649053" y="980729"/>
            <a:ext cx="3331040" cy="1646605"/>
          </a:xfrm>
          <a:prstGeom prst="rect">
            <a:avLst/>
          </a:prstGeom>
        </p:spPr>
        <p:txBody>
          <a:bodyPr wrap="none">
            <a:spAutoFit/>
          </a:bodyPr>
          <a:lstStyle/>
          <a:p>
            <a:r>
              <a:rPr lang="fr-FR" sz="2400" dirty="0"/>
              <a:t>Le système d’exploitation</a:t>
            </a:r>
          </a:p>
          <a:p>
            <a:endParaRPr lang="fr-FR" sz="2400" dirty="0"/>
          </a:p>
          <a:p>
            <a:pPr marL="810895" indent="-457200">
              <a:spcBef>
                <a:spcPts val="600"/>
              </a:spcBef>
              <a:buFont typeface="+mj-lt"/>
              <a:buAutoNum type="arabicPeriod" startAt="4"/>
            </a:pPr>
            <a:r>
              <a:rPr lang="fr-FR" sz="2400" b="1" dirty="0"/>
              <a:t>A quoi sert-il ? </a:t>
            </a:r>
            <a:endParaRPr lang="fr-FR" sz="2400" dirty="0"/>
          </a:p>
          <a:p>
            <a:endParaRPr lang="fr-FR" sz="2400" dirty="0"/>
          </a:p>
        </p:txBody>
      </p:sp>
      <p:pic>
        <p:nvPicPr>
          <p:cNvPr id="1026" name="Picture 2"/>
          <p:cNvPicPr>
            <a:picLocks noChangeAspect="1" noChangeArrowheads="1"/>
          </p:cNvPicPr>
          <p:nvPr/>
        </p:nvPicPr>
        <p:blipFill>
          <a:blip r:embed="rId3" cstate="print"/>
          <a:srcRect/>
          <a:stretch>
            <a:fillRect/>
          </a:stretch>
        </p:blipFill>
        <p:spPr bwMode="auto">
          <a:xfrm>
            <a:off x="3503712" y="2348880"/>
            <a:ext cx="5534422" cy="4300608"/>
          </a:xfrm>
          <a:prstGeom prst="rect">
            <a:avLst/>
          </a:prstGeom>
          <a:noFill/>
          <a:ln w="9525">
            <a:noFill/>
            <a:miter lim="800000"/>
            <a:headEnd/>
            <a:tailEnd/>
          </a:ln>
        </p:spPr>
      </p:pic>
    </p:spTree>
    <p:extLst>
      <p:ext uri="{BB962C8B-B14F-4D97-AF65-F5344CB8AC3E}">
        <p14:creationId xmlns:p14="http://schemas.microsoft.com/office/powerpoint/2010/main" val="37254712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649054" y="980729"/>
            <a:ext cx="6565965" cy="1646605"/>
          </a:xfrm>
          <a:prstGeom prst="rect">
            <a:avLst/>
          </a:prstGeom>
        </p:spPr>
        <p:txBody>
          <a:bodyPr wrap="none">
            <a:spAutoFit/>
          </a:bodyPr>
          <a:lstStyle/>
          <a:p>
            <a:r>
              <a:rPr lang="fr-FR" sz="2400" dirty="0"/>
              <a:t>Le système d’exploitation</a:t>
            </a:r>
          </a:p>
          <a:p>
            <a:endParaRPr lang="fr-FR" sz="2400" dirty="0"/>
          </a:p>
          <a:p>
            <a:pPr marL="810895" indent="-457200">
              <a:spcBef>
                <a:spcPts val="600"/>
              </a:spcBef>
              <a:buFont typeface="+mj-lt"/>
              <a:buAutoNum type="arabicPeriod" startAt="4"/>
            </a:pPr>
            <a:r>
              <a:rPr lang="fr-FR" sz="2400" b="1" dirty="0"/>
              <a:t>A quoi sert-il ? Simplifier l’accès au matériel</a:t>
            </a:r>
            <a:endParaRPr lang="fr-FR" sz="2400" dirty="0"/>
          </a:p>
          <a:p>
            <a:endParaRPr lang="fr-FR" sz="2400" dirty="0"/>
          </a:p>
        </p:txBody>
      </p:sp>
      <p:pic>
        <p:nvPicPr>
          <p:cNvPr id="2051" name="Picture 3"/>
          <p:cNvPicPr>
            <a:picLocks noChangeAspect="1" noChangeArrowheads="1"/>
          </p:cNvPicPr>
          <p:nvPr/>
        </p:nvPicPr>
        <p:blipFill>
          <a:blip r:embed="rId3" cstate="print"/>
          <a:srcRect/>
          <a:stretch>
            <a:fillRect/>
          </a:stretch>
        </p:blipFill>
        <p:spPr bwMode="auto">
          <a:xfrm>
            <a:off x="1847528" y="2492897"/>
            <a:ext cx="2495550" cy="1836737"/>
          </a:xfrm>
          <a:prstGeom prst="rect">
            <a:avLst/>
          </a:prstGeom>
          <a:noFill/>
          <a:ln w="9525">
            <a:noFill/>
            <a:miter lim="800000"/>
            <a:headEnd/>
            <a:tailEnd/>
          </a:ln>
        </p:spPr>
      </p:pic>
      <p:pic>
        <p:nvPicPr>
          <p:cNvPr id="2052" name="Picture 4"/>
          <p:cNvPicPr>
            <a:picLocks noChangeAspect="1" noChangeArrowheads="1"/>
          </p:cNvPicPr>
          <p:nvPr/>
        </p:nvPicPr>
        <p:blipFill>
          <a:blip r:embed="rId4" cstate="print"/>
          <a:srcRect/>
          <a:stretch>
            <a:fillRect/>
          </a:stretch>
        </p:blipFill>
        <p:spPr bwMode="auto">
          <a:xfrm>
            <a:off x="2063553" y="4293096"/>
            <a:ext cx="2111375" cy="355600"/>
          </a:xfrm>
          <a:prstGeom prst="rect">
            <a:avLst/>
          </a:prstGeom>
          <a:noFill/>
          <a:ln w="9525">
            <a:noFill/>
            <a:miter lim="800000"/>
            <a:headEnd/>
            <a:tailEnd/>
          </a:ln>
        </p:spPr>
      </p:pic>
      <p:sp>
        <p:nvSpPr>
          <p:cNvPr id="9" name="Rectangle 8"/>
          <p:cNvSpPr/>
          <p:nvPr/>
        </p:nvSpPr>
        <p:spPr>
          <a:xfrm>
            <a:off x="1775520" y="4581129"/>
            <a:ext cx="2790056" cy="461665"/>
          </a:xfrm>
          <a:prstGeom prst="rect">
            <a:avLst/>
          </a:prstGeom>
        </p:spPr>
        <p:txBody>
          <a:bodyPr wrap="square">
            <a:spAutoFit/>
          </a:bodyPr>
          <a:lstStyle/>
          <a:p>
            <a:r>
              <a:rPr lang="fr-FR" sz="2400" i="1" dirty="0"/>
              <a:t>« dessine une ligne »</a:t>
            </a:r>
          </a:p>
        </p:txBody>
      </p:sp>
      <p:pic>
        <p:nvPicPr>
          <p:cNvPr id="2054" name="Picture 6"/>
          <p:cNvPicPr>
            <a:picLocks noChangeAspect="1" noChangeArrowheads="1"/>
          </p:cNvPicPr>
          <p:nvPr/>
        </p:nvPicPr>
        <p:blipFill>
          <a:blip r:embed="rId5" cstate="print"/>
          <a:srcRect/>
          <a:stretch>
            <a:fillRect/>
          </a:stretch>
        </p:blipFill>
        <p:spPr bwMode="auto">
          <a:xfrm>
            <a:off x="1991545" y="5661248"/>
            <a:ext cx="2392363" cy="946150"/>
          </a:xfrm>
          <a:prstGeom prst="rect">
            <a:avLst/>
          </a:prstGeom>
          <a:noFill/>
          <a:ln w="9525">
            <a:solidFill>
              <a:schemeClr val="tx2"/>
            </a:solidFill>
            <a:miter lim="800000"/>
            <a:headEnd/>
            <a:tailEnd/>
          </a:ln>
        </p:spPr>
      </p:pic>
      <p:sp>
        <p:nvSpPr>
          <p:cNvPr id="12" name="Rectangle 11"/>
          <p:cNvSpPr/>
          <p:nvPr/>
        </p:nvSpPr>
        <p:spPr>
          <a:xfrm>
            <a:off x="4871864" y="2564904"/>
            <a:ext cx="2088232" cy="39604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t>Système d’exploitation</a:t>
            </a:r>
          </a:p>
        </p:txBody>
      </p:sp>
      <p:cxnSp>
        <p:nvCxnSpPr>
          <p:cNvPr id="14" name="Connecteur droit avec flèche 13"/>
          <p:cNvCxnSpPr>
            <a:stCxn id="9" idx="2"/>
            <a:endCxn id="2054" idx="0"/>
          </p:cNvCxnSpPr>
          <p:nvPr/>
        </p:nvCxnSpPr>
        <p:spPr>
          <a:xfrm>
            <a:off x="3170548" y="5042794"/>
            <a:ext cx="17178" cy="61845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8" name="Connecteur droit avec flèche 17"/>
          <p:cNvCxnSpPr/>
          <p:nvPr/>
        </p:nvCxnSpPr>
        <p:spPr>
          <a:xfrm>
            <a:off x="4383908" y="6134324"/>
            <a:ext cx="487957" cy="3098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31" name="Rectangle 30"/>
          <p:cNvSpPr/>
          <p:nvPr/>
        </p:nvSpPr>
        <p:spPr>
          <a:xfrm>
            <a:off x="5303912" y="5733256"/>
            <a:ext cx="1656184" cy="7920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sz="2400" b="1" dirty="0"/>
              <a:t>Pilotes</a:t>
            </a:r>
          </a:p>
        </p:txBody>
      </p:sp>
      <p:pic>
        <p:nvPicPr>
          <p:cNvPr id="2056" name="Picture 8"/>
          <p:cNvPicPr>
            <a:picLocks noChangeAspect="1" noChangeArrowheads="1"/>
          </p:cNvPicPr>
          <p:nvPr/>
        </p:nvPicPr>
        <p:blipFill>
          <a:blip r:embed="rId6" cstate="print"/>
          <a:srcRect/>
          <a:stretch>
            <a:fillRect/>
          </a:stretch>
        </p:blipFill>
        <p:spPr bwMode="auto">
          <a:xfrm>
            <a:off x="8472264" y="5157193"/>
            <a:ext cx="1860550" cy="1419225"/>
          </a:xfrm>
          <a:prstGeom prst="rect">
            <a:avLst/>
          </a:prstGeom>
          <a:noFill/>
          <a:ln w="9525">
            <a:noFill/>
            <a:miter lim="800000"/>
            <a:headEnd/>
            <a:tailEnd/>
          </a:ln>
        </p:spPr>
      </p:pic>
      <p:cxnSp>
        <p:nvCxnSpPr>
          <p:cNvPr id="34" name="Connecteur droit avec flèche 33"/>
          <p:cNvCxnSpPr/>
          <p:nvPr/>
        </p:nvCxnSpPr>
        <p:spPr>
          <a:xfrm>
            <a:off x="6960096" y="6093296"/>
            <a:ext cx="1656184"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6" name="Connecteur droit avec flèche 35"/>
          <p:cNvCxnSpPr/>
          <p:nvPr/>
        </p:nvCxnSpPr>
        <p:spPr>
          <a:xfrm flipV="1">
            <a:off x="9048328" y="4869160"/>
            <a:ext cx="0" cy="50405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6960096" y="6211670"/>
            <a:ext cx="3078088" cy="646331"/>
          </a:xfrm>
          <a:prstGeom prst="rect">
            <a:avLst/>
          </a:prstGeom>
        </p:spPr>
        <p:txBody>
          <a:bodyPr wrap="square">
            <a:spAutoFit/>
          </a:bodyPr>
          <a:lstStyle/>
          <a:p>
            <a:r>
              <a:rPr lang="fr-FR" i="1" dirty="0"/>
              <a:t>« commande n°4A2</a:t>
            </a:r>
          </a:p>
          <a:p>
            <a:r>
              <a:rPr lang="fr-FR" i="1" dirty="0"/>
              <a:t>avec les registres 73 et 0C »</a:t>
            </a:r>
          </a:p>
        </p:txBody>
      </p:sp>
      <p:pic>
        <p:nvPicPr>
          <p:cNvPr id="2058" name="Picture 10"/>
          <p:cNvPicPr>
            <a:picLocks noChangeAspect="1" noChangeArrowheads="1"/>
          </p:cNvPicPr>
          <p:nvPr/>
        </p:nvPicPr>
        <p:blipFill>
          <a:blip r:embed="rId7" cstate="print"/>
          <a:srcRect/>
          <a:stretch>
            <a:fillRect/>
          </a:stretch>
        </p:blipFill>
        <p:spPr bwMode="auto">
          <a:xfrm>
            <a:off x="8112224" y="2348880"/>
            <a:ext cx="1944216" cy="2525124"/>
          </a:xfrm>
          <a:prstGeom prst="rect">
            <a:avLst/>
          </a:prstGeom>
          <a:noFill/>
          <a:ln w="9525">
            <a:noFill/>
            <a:miter lim="800000"/>
            <a:headEnd/>
            <a:tailEnd/>
          </a:ln>
        </p:spPr>
      </p:pic>
      <p:cxnSp>
        <p:nvCxnSpPr>
          <p:cNvPr id="45" name="Connecteur droit 44"/>
          <p:cNvCxnSpPr/>
          <p:nvPr/>
        </p:nvCxnSpPr>
        <p:spPr>
          <a:xfrm flipV="1">
            <a:off x="8904312" y="2924944"/>
            <a:ext cx="504056" cy="792088"/>
          </a:xfrm>
          <a:prstGeom prst="line">
            <a:avLst/>
          </a:prstGeom>
          <a:ln w="38100">
            <a:solidFill>
              <a:srgbClr val="FFFF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22370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051"/>
                                        </p:tgtEl>
                                        <p:attrNameLst>
                                          <p:attrName>style.visibility</p:attrName>
                                        </p:attrNameLst>
                                      </p:cBhvr>
                                      <p:to>
                                        <p:strVal val="visible"/>
                                      </p:to>
                                    </p:set>
                                    <p:anim calcmode="lin" valueType="num">
                                      <p:cBhvr>
                                        <p:cTn id="7" dur="500" fill="hold"/>
                                        <p:tgtEl>
                                          <p:spTgt spid="2051"/>
                                        </p:tgtEl>
                                        <p:attrNameLst>
                                          <p:attrName>ppt_w</p:attrName>
                                        </p:attrNameLst>
                                      </p:cBhvr>
                                      <p:tavLst>
                                        <p:tav tm="0">
                                          <p:val>
                                            <p:fltVal val="0"/>
                                          </p:val>
                                        </p:tav>
                                        <p:tav tm="100000">
                                          <p:val>
                                            <p:strVal val="#ppt_w"/>
                                          </p:val>
                                        </p:tav>
                                      </p:tavLst>
                                    </p:anim>
                                    <p:anim calcmode="lin" valueType="num">
                                      <p:cBhvr>
                                        <p:cTn id="8" dur="500" fill="hold"/>
                                        <p:tgtEl>
                                          <p:spTgt spid="2051"/>
                                        </p:tgtEl>
                                        <p:attrNameLst>
                                          <p:attrName>ppt_h</p:attrName>
                                        </p:attrNameLst>
                                      </p:cBhvr>
                                      <p:tavLst>
                                        <p:tav tm="0">
                                          <p:val>
                                            <p:fltVal val="0"/>
                                          </p:val>
                                        </p:tav>
                                        <p:tav tm="100000">
                                          <p:val>
                                            <p:strVal val="#ppt_h"/>
                                          </p:val>
                                        </p:tav>
                                      </p:tavLst>
                                    </p:anim>
                                    <p:animEffect transition="in" filter="fade">
                                      <p:cBhvr>
                                        <p:cTn id="9" dur="500"/>
                                        <p:tgtEl>
                                          <p:spTgt spid="2051"/>
                                        </p:tgtEl>
                                      </p:cBhvr>
                                    </p:animEffect>
                                  </p:childTnLst>
                                </p:cTn>
                              </p:par>
                              <p:par>
                                <p:cTn id="10" presetID="53" presetClass="entr" presetSubtype="16" fill="hold" nodeType="withEffect">
                                  <p:stCondLst>
                                    <p:cond delay="0"/>
                                  </p:stCondLst>
                                  <p:childTnLst>
                                    <p:set>
                                      <p:cBhvr>
                                        <p:cTn id="11" dur="1" fill="hold">
                                          <p:stCondLst>
                                            <p:cond delay="0"/>
                                          </p:stCondLst>
                                        </p:cTn>
                                        <p:tgtEl>
                                          <p:spTgt spid="2052"/>
                                        </p:tgtEl>
                                        <p:attrNameLst>
                                          <p:attrName>style.visibility</p:attrName>
                                        </p:attrNameLst>
                                      </p:cBhvr>
                                      <p:to>
                                        <p:strVal val="visible"/>
                                      </p:to>
                                    </p:set>
                                    <p:anim calcmode="lin" valueType="num">
                                      <p:cBhvr>
                                        <p:cTn id="12" dur="500" fill="hold"/>
                                        <p:tgtEl>
                                          <p:spTgt spid="2052"/>
                                        </p:tgtEl>
                                        <p:attrNameLst>
                                          <p:attrName>ppt_w</p:attrName>
                                        </p:attrNameLst>
                                      </p:cBhvr>
                                      <p:tavLst>
                                        <p:tav tm="0">
                                          <p:val>
                                            <p:fltVal val="0"/>
                                          </p:val>
                                        </p:tav>
                                        <p:tav tm="100000">
                                          <p:val>
                                            <p:strVal val="#ppt_w"/>
                                          </p:val>
                                        </p:tav>
                                      </p:tavLst>
                                    </p:anim>
                                    <p:anim calcmode="lin" valueType="num">
                                      <p:cBhvr>
                                        <p:cTn id="13" dur="500" fill="hold"/>
                                        <p:tgtEl>
                                          <p:spTgt spid="2052"/>
                                        </p:tgtEl>
                                        <p:attrNameLst>
                                          <p:attrName>ppt_h</p:attrName>
                                        </p:attrNameLst>
                                      </p:cBhvr>
                                      <p:tavLst>
                                        <p:tav tm="0">
                                          <p:val>
                                            <p:fltVal val="0"/>
                                          </p:val>
                                        </p:tav>
                                        <p:tav tm="100000">
                                          <p:val>
                                            <p:strVal val="#ppt_h"/>
                                          </p:val>
                                        </p:tav>
                                      </p:tavLst>
                                    </p:anim>
                                    <p:animEffect transition="in" filter="fade">
                                      <p:cBhvr>
                                        <p:cTn id="14" dur="500"/>
                                        <p:tgtEl>
                                          <p:spTgt spid="2052"/>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animEffect transition="in" filter="fade">
                                      <p:cBhvr>
                                        <p:cTn id="21" dur="500"/>
                                        <p:tgtEl>
                                          <p:spTgt spid="9"/>
                                        </p:tgtEl>
                                      </p:cBhvr>
                                    </p:animEffect>
                                  </p:childTnLst>
                                </p:cTn>
                              </p:par>
                              <p:par>
                                <p:cTn id="22" presetID="53" presetClass="entr" presetSubtype="16" fill="hold" nodeType="withEffect">
                                  <p:stCondLst>
                                    <p:cond delay="0"/>
                                  </p:stCondLst>
                                  <p:childTnLst>
                                    <p:set>
                                      <p:cBhvr>
                                        <p:cTn id="23" dur="1" fill="hold">
                                          <p:stCondLst>
                                            <p:cond delay="0"/>
                                          </p:stCondLst>
                                        </p:cTn>
                                        <p:tgtEl>
                                          <p:spTgt spid="2058"/>
                                        </p:tgtEl>
                                        <p:attrNameLst>
                                          <p:attrName>style.visibility</p:attrName>
                                        </p:attrNameLst>
                                      </p:cBhvr>
                                      <p:to>
                                        <p:strVal val="visible"/>
                                      </p:to>
                                    </p:set>
                                    <p:anim calcmode="lin" valueType="num">
                                      <p:cBhvr>
                                        <p:cTn id="24" dur="500" fill="hold"/>
                                        <p:tgtEl>
                                          <p:spTgt spid="2058"/>
                                        </p:tgtEl>
                                        <p:attrNameLst>
                                          <p:attrName>ppt_w</p:attrName>
                                        </p:attrNameLst>
                                      </p:cBhvr>
                                      <p:tavLst>
                                        <p:tav tm="0">
                                          <p:val>
                                            <p:fltVal val="0"/>
                                          </p:val>
                                        </p:tav>
                                        <p:tav tm="100000">
                                          <p:val>
                                            <p:strVal val="#ppt_w"/>
                                          </p:val>
                                        </p:tav>
                                      </p:tavLst>
                                    </p:anim>
                                    <p:anim calcmode="lin" valueType="num">
                                      <p:cBhvr>
                                        <p:cTn id="25" dur="500" fill="hold"/>
                                        <p:tgtEl>
                                          <p:spTgt spid="2058"/>
                                        </p:tgtEl>
                                        <p:attrNameLst>
                                          <p:attrName>ppt_h</p:attrName>
                                        </p:attrNameLst>
                                      </p:cBhvr>
                                      <p:tavLst>
                                        <p:tav tm="0">
                                          <p:val>
                                            <p:fltVal val="0"/>
                                          </p:val>
                                        </p:tav>
                                        <p:tav tm="100000">
                                          <p:val>
                                            <p:strVal val="#ppt_h"/>
                                          </p:val>
                                        </p:tav>
                                      </p:tavLst>
                                    </p:anim>
                                    <p:animEffect transition="in" filter="fade">
                                      <p:cBhvr>
                                        <p:cTn id="26" dur="500"/>
                                        <p:tgtEl>
                                          <p:spTgt spid="2058"/>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p:cTn id="31" dur="500" fill="hold"/>
                                        <p:tgtEl>
                                          <p:spTgt spid="14"/>
                                        </p:tgtEl>
                                        <p:attrNameLst>
                                          <p:attrName>ppt_w</p:attrName>
                                        </p:attrNameLst>
                                      </p:cBhvr>
                                      <p:tavLst>
                                        <p:tav tm="0">
                                          <p:val>
                                            <p:fltVal val="0"/>
                                          </p:val>
                                        </p:tav>
                                        <p:tav tm="100000">
                                          <p:val>
                                            <p:strVal val="#ppt_w"/>
                                          </p:val>
                                        </p:tav>
                                      </p:tavLst>
                                    </p:anim>
                                    <p:anim calcmode="lin" valueType="num">
                                      <p:cBhvr>
                                        <p:cTn id="32" dur="500" fill="hold"/>
                                        <p:tgtEl>
                                          <p:spTgt spid="14"/>
                                        </p:tgtEl>
                                        <p:attrNameLst>
                                          <p:attrName>ppt_h</p:attrName>
                                        </p:attrNameLst>
                                      </p:cBhvr>
                                      <p:tavLst>
                                        <p:tav tm="0">
                                          <p:val>
                                            <p:fltVal val="0"/>
                                          </p:val>
                                        </p:tav>
                                        <p:tav tm="100000">
                                          <p:val>
                                            <p:strVal val="#ppt_h"/>
                                          </p:val>
                                        </p:tav>
                                      </p:tavLst>
                                    </p:anim>
                                    <p:animEffect transition="in" filter="fade">
                                      <p:cBhvr>
                                        <p:cTn id="33" dur="500"/>
                                        <p:tgtEl>
                                          <p:spTgt spid="14"/>
                                        </p:tgtEl>
                                      </p:cBhvr>
                                    </p:animEffect>
                                  </p:childTnLst>
                                </p:cTn>
                              </p:par>
                              <p:par>
                                <p:cTn id="34" presetID="53" presetClass="entr" presetSubtype="16" fill="hold" nodeType="withEffect">
                                  <p:stCondLst>
                                    <p:cond delay="0"/>
                                  </p:stCondLst>
                                  <p:childTnLst>
                                    <p:set>
                                      <p:cBhvr>
                                        <p:cTn id="35" dur="1" fill="hold">
                                          <p:stCondLst>
                                            <p:cond delay="0"/>
                                          </p:stCondLst>
                                        </p:cTn>
                                        <p:tgtEl>
                                          <p:spTgt spid="2054"/>
                                        </p:tgtEl>
                                        <p:attrNameLst>
                                          <p:attrName>style.visibility</p:attrName>
                                        </p:attrNameLst>
                                      </p:cBhvr>
                                      <p:to>
                                        <p:strVal val="visible"/>
                                      </p:to>
                                    </p:set>
                                    <p:anim calcmode="lin" valueType="num">
                                      <p:cBhvr>
                                        <p:cTn id="36" dur="500" fill="hold"/>
                                        <p:tgtEl>
                                          <p:spTgt spid="2054"/>
                                        </p:tgtEl>
                                        <p:attrNameLst>
                                          <p:attrName>ppt_w</p:attrName>
                                        </p:attrNameLst>
                                      </p:cBhvr>
                                      <p:tavLst>
                                        <p:tav tm="0">
                                          <p:val>
                                            <p:fltVal val="0"/>
                                          </p:val>
                                        </p:tav>
                                        <p:tav tm="100000">
                                          <p:val>
                                            <p:strVal val="#ppt_w"/>
                                          </p:val>
                                        </p:tav>
                                      </p:tavLst>
                                    </p:anim>
                                    <p:anim calcmode="lin" valueType="num">
                                      <p:cBhvr>
                                        <p:cTn id="37" dur="500" fill="hold"/>
                                        <p:tgtEl>
                                          <p:spTgt spid="2054"/>
                                        </p:tgtEl>
                                        <p:attrNameLst>
                                          <p:attrName>ppt_h</p:attrName>
                                        </p:attrNameLst>
                                      </p:cBhvr>
                                      <p:tavLst>
                                        <p:tav tm="0">
                                          <p:val>
                                            <p:fltVal val="0"/>
                                          </p:val>
                                        </p:tav>
                                        <p:tav tm="100000">
                                          <p:val>
                                            <p:strVal val="#ppt_h"/>
                                          </p:val>
                                        </p:tav>
                                      </p:tavLst>
                                    </p:anim>
                                    <p:animEffect transition="in" filter="fade">
                                      <p:cBhvr>
                                        <p:cTn id="38" dur="500"/>
                                        <p:tgtEl>
                                          <p:spTgt spid="2054"/>
                                        </p:tgtEl>
                                      </p:cBhvr>
                                    </p:animEffect>
                                  </p:childTnLst>
                                </p:cTn>
                              </p:par>
                              <p:par>
                                <p:cTn id="39" presetID="53" presetClass="entr" presetSubtype="16"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 calcmode="lin" valueType="num">
                                      <p:cBhvr>
                                        <p:cTn id="41" dur="500" fill="hold"/>
                                        <p:tgtEl>
                                          <p:spTgt spid="18"/>
                                        </p:tgtEl>
                                        <p:attrNameLst>
                                          <p:attrName>ppt_w</p:attrName>
                                        </p:attrNameLst>
                                      </p:cBhvr>
                                      <p:tavLst>
                                        <p:tav tm="0">
                                          <p:val>
                                            <p:fltVal val="0"/>
                                          </p:val>
                                        </p:tav>
                                        <p:tav tm="100000">
                                          <p:val>
                                            <p:strVal val="#ppt_w"/>
                                          </p:val>
                                        </p:tav>
                                      </p:tavLst>
                                    </p:anim>
                                    <p:anim calcmode="lin" valueType="num">
                                      <p:cBhvr>
                                        <p:cTn id="42" dur="500" fill="hold"/>
                                        <p:tgtEl>
                                          <p:spTgt spid="18"/>
                                        </p:tgtEl>
                                        <p:attrNameLst>
                                          <p:attrName>ppt_h</p:attrName>
                                        </p:attrNameLst>
                                      </p:cBhvr>
                                      <p:tavLst>
                                        <p:tav tm="0">
                                          <p:val>
                                            <p:fltVal val="0"/>
                                          </p:val>
                                        </p:tav>
                                        <p:tav tm="100000">
                                          <p:val>
                                            <p:strVal val="#ppt_h"/>
                                          </p:val>
                                        </p:tav>
                                      </p:tavLst>
                                    </p:anim>
                                    <p:animEffect transition="in" filter="fade">
                                      <p:cBhvr>
                                        <p:cTn id="43" dur="500"/>
                                        <p:tgtEl>
                                          <p:spTgt spid="18"/>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 calcmode="lin" valueType="num">
                                      <p:cBhvr>
                                        <p:cTn id="46" dur="500" fill="hold"/>
                                        <p:tgtEl>
                                          <p:spTgt spid="12"/>
                                        </p:tgtEl>
                                        <p:attrNameLst>
                                          <p:attrName>ppt_w</p:attrName>
                                        </p:attrNameLst>
                                      </p:cBhvr>
                                      <p:tavLst>
                                        <p:tav tm="0">
                                          <p:val>
                                            <p:fltVal val="0"/>
                                          </p:val>
                                        </p:tav>
                                        <p:tav tm="100000">
                                          <p:val>
                                            <p:strVal val="#ppt_w"/>
                                          </p:val>
                                        </p:tav>
                                      </p:tavLst>
                                    </p:anim>
                                    <p:anim calcmode="lin" valueType="num">
                                      <p:cBhvr>
                                        <p:cTn id="47" dur="500" fill="hold"/>
                                        <p:tgtEl>
                                          <p:spTgt spid="12"/>
                                        </p:tgtEl>
                                        <p:attrNameLst>
                                          <p:attrName>ppt_h</p:attrName>
                                        </p:attrNameLst>
                                      </p:cBhvr>
                                      <p:tavLst>
                                        <p:tav tm="0">
                                          <p:val>
                                            <p:fltVal val="0"/>
                                          </p:val>
                                        </p:tav>
                                        <p:tav tm="100000">
                                          <p:val>
                                            <p:strVal val="#ppt_h"/>
                                          </p:val>
                                        </p:tav>
                                      </p:tavLst>
                                    </p:anim>
                                    <p:animEffect transition="in" filter="fade">
                                      <p:cBhvr>
                                        <p:cTn id="48" dur="500"/>
                                        <p:tgtEl>
                                          <p:spTgt spid="12"/>
                                        </p:tgtEl>
                                      </p:cBhvr>
                                    </p:animEffect>
                                  </p:childTnLst>
                                </p:cTn>
                              </p:par>
                            </p:childTnLst>
                          </p:cTn>
                        </p:par>
                      </p:childTnLst>
                    </p:cTn>
                  </p:par>
                  <p:par>
                    <p:cTn id="49" fill="hold">
                      <p:stCondLst>
                        <p:cond delay="indefinite"/>
                      </p:stCondLst>
                      <p:childTnLst>
                        <p:par>
                          <p:cTn id="50" fill="hold">
                            <p:stCondLst>
                              <p:cond delay="0"/>
                            </p:stCondLst>
                            <p:childTnLst>
                              <p:par>
                                <p:cTn id="51" presetID="53" presetClass="entr" presetSubtype="16" fill="hold" grpId="0" nodeType="clickEffect">
                                  <p:stCondLst>
                                    <p:cond delay="0"/>
                                  </p:stCondLst>
                                  <p:childTnLst>
                                    <p:set>
                                      <p:cBhvr>
                                        <p:cTn id="52" dur="1" fill="hold">
                                          <p:stCondLst>
                                            <p:cond delay="0"/>
                                          </p:stCondLst>
                                        </p:cTn>
                                        <p:tgtEl>
                                          <p:spTgt spid="31"/>
                                        </p:tgtEl>
                                        <p:attrNameLst>
                                          <p:attrName>style.visibility</p:attrName>
                                        </p:attrNameLst>
                                      </p:cBhvr>
                                      <p:to>
                                        <p:strVal val="visible"/>
                                      </p:to>
                                    </p:set>
                                    <p:anim calcmode="lin" valueType="num">
                                      <p:cBhvr>
                                        <p:cTn id="53" dur="500" fill="hold"/>
                                        <p:tgtEl>
                                          <p:spTgt spid="31"/>
                                        </p:tgtEl>
                                        <p:attrNameLst>
                                          <p:attrName>ppt_w</p:attrName>
                                        </p:attrNameLst>
                                      </p:cBhvr>
                                      <p:tavLst>
                                        <p:tav tm="0">
                                          <p:val>
                                            <p:fltVal val="0"/>
                                          </p:val>
                                        </p:tav>
                                        <p:tav tm="100000">
                                          <p:val>
                                            <p:strVal val="#ppt_w"/>
                                          </p:val>
                                        </p:tav>
                                      </p:tavLst>
                                    </p:anim>
                                    <p:anim calcmode="lin" valueType="num">
                                      <p:cBhvr>
                                        <p:cTn id="54" dur="500" fill="hold"/>
                                        <p:tgtEl>
                                          <p:spTgt spid="31"/>
                                        </p:tgtEl>
                                        <p:attrNameLst>
                                          <p:attrName>ppt_h</p:attrName>
                                        </p:attrNameLst>
                                      </p:cBhvr>
                                      <p:tavLst>
                                        <p:tav tm="0">
                                          <p:val>
                                            <p:fltVal val="0"/>
                                          </p:val>
                                        </p:tav>
                                        <p:tav tm="100000">
                                          <p:val>
                                            <p:strVal val="#ppt_h"/>
                                          </p:val>
                                        </p:tav>
                                      </p:tavLst>
                                    </p:anim>
                                    <p:animEffect transition="in" filter="fade">
                                      <p:cBhvr>
                                        <p:cTn id="55" dur="500"/>
                                        <p:tgtEl>
                                          <p:spTgt spid="31"/>
                                        </p:tgtEl>
                                      </p:cBhvr>
                                    </p:animEffect>
                                  </p:childTnLst>
                                </p:cTn>
                              </p:par>
                              <p:par>
                                <p:cTn id="56" presetID="53" presetClass="entr" presetSubtype="16" fill="hold" nodeType="withEffect">
                                  <p:stCondLst>
                                    <p:cond delay="0"/>
                                  </p:stCondLst>
                                  <p:childTnLst>
                                    <p:set>
                                      <p:cBhvr>
                                        <p:cTn id="57" dur="1" fill="hold">
                                          <p:stCondLst>
                                            <p:cond delay="0"/>
                                          </p:stCondLst>
                                        </p:cTn>
                                        <p:tgtEl>
                                          <p:spTgt spid="34"/>
                                        </p:tgtEl>
                                        <p:attrNameLst>
                                          <p:attrName>style.visibility</p:attrName>
                                        </p:attrNameLst>
                                      </p:cBhvr>
                                      <p:to>
                                        <p:strVal val="visible"/>
                                      </p:to>
                                    </p:set>
                                    <p:anim calcmode="lin" valueType="num">
                                      <p:cBhvr>
                                        <p:cTn id="58" dur="500" fill="hold"/>
                                        <p:tgtEl>
                                          <p:spTgt spid="34"/>
                                        </p:tgtEl>
                                        <p:attrNameLst>
                                          <p:attrName>ppt_w</p:attrName>
                                        </p:attrNameLst>
                                      </p:cBhvr>
                                      <p:tavLst>
                                        <p:tav tm="0">
                                          <p:val>
                                            <p:fltVal val="0"/>
                                          </p:val>
                                        </p:tav>
                                        <p:tav tm="100000">
                                          <p:val>
                                            <p:strVal val="#ppt_w"/>
                                          </p:val>
                                        </p:tav>
                                      </p:tavLst>
                                    </p:anim>
                                    <p:anim calcmode="lin" valueType="num">
                                      <p:cBhvr>
                                        <p:cTn id="59" dur="500" fill="hold"/>
                                        <p:tgtEl>
                                          <p:spTgt spid="34"/>
                                        </p:tgtEl>
                                        <p:attrNameLst>
                                          <p:attrName>ppt_h</p:attrName>
                                        </p:attrNameLst>
                                      </p:cBhvr>
                                      <p:tavLst>
                                        <p:tav tm="0">
                                          <p:val>
                                            <p:fltVal val="0"/>
                                          </p:val>
                                        </p:tav>
                                        <p:tav tm="100000">
                                          <p:val>
                                            <p:strVal val="#ppt_h"/>
                                          </p:val>
                                        </p:tav>
                                      </p:tavLst>
                                    </p:anim>
                                    <p:animEffect transition="in" filter="fade">
                                      <p:cBhvr>
                                        <p:cTn id="60" dur="500"/>
                                        <p:tgtEl>
                                          <p:spTgt spid="34"/>
                                        </p:tgtEl>
                                      </p:cBhvr>
                                    </p:animEffect>
                                  </p:childTnLst>
                                </p:cTn>
                              </p:par>
                              <p:par>
                                <p:cTn id="61" presetID="53" presetClass="entr" presetSubtype="16" fill="hold" nodeType="withEffect">
                                  <p:stCondLst>
                                    <p:cond delay="0"/>
                                  </p:stCondLst>
                                  <p:childTnLst>
                                    <p:set>
                                      <p:cBhvr>
                                        <p:cTn id="62" dur="1" fill="hold">
                                          <p:stCondLst>
                                            <p:cond delay="0"/>
                                          </p:stCondLst>
                                        </p:cTn>
                                        <p:tgtEl>
                                          <p:spTgt spid="2056"/>
                                        </p:tgtEl>
                                        <p:attrNameLst>
                                          <p:attrName>style.visibility</p:attrName>
                                        </p:attrNameLst>
                                      </p:cBhvr>
                                      <p:to>
                                        <p:strVal val="visible"/>
                                      </p:to>
                                    </p:set>
                                    <p:anim calcmode="lin" valueType="num">
                                      <p:cBhvr>
                                        <p:cTn id="63" dur="500" fill="hold"/>
                                        <p:tgtEl>
                                          <p:spTgt spid="2056"/>
                                        </p:tgtEl>
                                        <p:attrNameLst>
                                          <p:attrName>ppt_w</p:attrName>
                                        </p:attrNameLst>
                                      </p:cBhvr>
                                      <p:tavLst>
                                        <p:tav tm="0">
                                          <p:val>
                                            <p:fltVal val="0"/>
                                          </p:val>
                                        </p:tav>
                                        <p:tav tm="100000">
                                          <p:val>
                                            <p:strVal val="#ppt_w"/>
                                          </p:val>
                                        </p:tav>
                                      </p:tavLst>
                                    </p:anim>
                                    <p:anim calcmode="lin" valueType="num">
                                      <p:cBhvr>
                                        <p:cTn id="64" dur="500" fill="hold"/>
                                        <p:tgtEl>
                                          <p:spTgt spid="2056"/>
                                        </p:tgtEl>
                                        <p:attrNameLst>
                                          <p:attrName>ppt_h</p:attrName>
                                        </p:attrNameLst>
                                      </p:cBhvr>
                                      <p:tavLst>
                                        <p:tav tm="0">
                                          <p:val>
                                            <p:fltVal val="0"/>
                                          </p:val>
                                        </p:tav>
                                        <p:tav tm="100000">
                                          <p:val>
                                            <p:strVal val="#ppt_h"/>
                                          </p:val>
                                        </p:tav>
                                      </p:tavLst>
                                    </p:anim>
                                    <p:animEffect transition="in" filter="fade">
                                      <p:cBhvr>
                                        <p:cTn id="65" dur="500"/>
                                        <p:tgtEl>
                                          <p:spTgt spid="2056"/>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grpId="0" nodeType="clickEffect">
                                  <p:stCondLst>
                                    <p:cond delay="0"/>
                                  </p:stCondLst>
                                  <p:childTnLst>
                                    <p:set>
                                      <p:cBhvr>
                                        <p:cTn id="69" dur="1" fill="hold">
                                          <p:stCondLst>
                                            <p:cond delay="0"/>
                                          </p:stCondLst>
                                        </p:cTn>
                                        <p:tgtEl>
                                          <p:spTgt spid="40"/>
                                        </p:tgtEl>
                                        <p:attrNameLst>
                                          <p:attrName>style.visibility</p:attrName>
                                        </p:attrNameLst>
                                      </p:cBhvr>
                                      <p:to>
                                        <p:strVal val="visible"/>
                                      </p:to>
                                    </p:set>
                                    <p:anim calcmode="lin" valueType="num">
                                      <p:cBhvr>
                                        <p:cTn id="70" dur="500" fill="hold"/>
                                        <p:tgtEl>
                                          <p:spTgt spid="40"/>
                                        </p:tgtEl>
                                        <p:attrNameLst>
                                          <p:attrName>ppt_w</p:attrName>
                                        </p:attrNameLst>
                                      </p:cBhvr>
                                      <p:tavLst>
                                        <p:tav tm="0">
                                          <p:val>
                                            <p:fltVal val="0"/>
                                          </p:val>
                                        </p:tav>
                                        <p:tav tm="100000">
                                          <p:val>
                                            <p:strVal val="#ppt_w"/>
                                          </p:val>
                                        </p:tav>
                                      </p:tavLst>
                                    </p:anim>
                                    <p:anim calcmode="lin" valueType="num">
                                      <p:cBhvr>
                                        <p:cTn id="71" dur="500" fill="hold"/>
                                        <p:tgtEl>
                                          <p:spTgt spid="40"/>
                                        </p:tgtEl>
                                        <p:attrNameLst>
                                          <p:attrName>ppt_h</p:attrName>
                                        </p:attrNameLst>
                                      </p:cBhvr>
                                      <p:tavLst>
                                        <p:tav tm="0">
                                          <p:val>
                                            <p:fltVal val="0"/>
                                          </p:val>
                                        </p:tav>
                                        <p:tav tm="100000">
                                          <p:val>
                                            <p:strVal val="#ppt_h"/>
                                          </p:val>
                                        </p:tav>
                                      </p:tavLst>
                                    </p:anim>
                                    <p:animEffect transition="in" filter="fade">
                                      <p:cBhvr>
                                        <p:cTn id="72" dur="500"/>
                                        <p:tgtEl>
                                          <p:spTgt spid="40"/>
                                        </p:tgtEl>
                                      </p:cBhvr>
                                    </p:animEffect>
                                  </p:childTnLst>
                                </p:cTn>
                              </p:par>
                              <p:par>
                                <p:cTn id="73" presetID="53" presetClass="entr" presetSubtype="16" fill="hold" nodeType="withEffect">
                                  <p:stCondLst>
                                    <p:cond delay="0"/>
                                  </p:stCondLst>
                                  <p:childTnLst>
                                    <p:set>
                                      <p:cBhvr>
                                        <p:cTn id="74" dur="1" fill="hold">
                                          <p:stCondLst>
                                            <p:cond delay="0"/>
                                          </p:stCondLst>
                                        </p:cTn>
                                        <p:tgtEl>
                                          <p:spTgt spid="36"/>
                                        </p:tgtEl>
                                        <p:attrNameLst>
                                          <p:attrName>style.visibility</p:attrName>
                                        </p:attrNameLst>
                                      </p:cBhvr>
                                      <p:to>
                                        <p:strVal val="visible"/>
                                      </p:to>
                                    </p:set>
                                    <p:anim calcmode="lin" valueType="num">
                                      <p:cBhvr>
                                        <p:cTn id="75" dur="500" fill="hold"/>
                                        <p:tgtEl>
                                          <p:spTgt spid="36"/>
                                        </p:tgtEl>
                                        <p:attrNameLst>
                                          <p:attrName>ppt_w</p:attrName>
                                        </p:attrNameLst>
                                      </p:cBhvr>
                                      <p:tavLst>
                                        <p:tav tm="0">
                                          <p:val>
                                            <p:fltVal val="0"/>
                                          </p:val>
                                        </p:tav>
                                        <p:tav tm="100000">
                                          <p:val>
                                            <p:strVal val="#ppt_w"/>
                                          </p:val>
                                        </p:tav>
                                      </p:tavLst>
                                    </p:anim>
                                    <p:anim calcmode="lin" valueType="num">
                                      <p:cBhvr>
                                        <p:cTn id="76" dur="500" fill="hold"/>
                                        <p:tgtEl>
                                          <p:spTgt spid="36"/>
                                        </p:tgtEl>
                                        <p:attrNameLst>
                                          <p:attrName>ppt_h</p:attrName>
                                        </p:attrNameLst>
                                      </p:cBhvr>
                                      <p:tavLst>
                                        <p:tav tm="0">
                                          <p:val>
                                            <p:fltVal val="0"/>
                                          </p:val>
                                        </p:tav>
                                        <p:tav tm="100000">
                                          <p:val>
                                            <p:strVal val="#ppt_h"/>
                                          </p:val>
                                        </p:tav>
                                      </p:tavLst>
                                    </p:anim>
                                    <p:animEffect transition="in" filter="fade">
                                      <p:cBhvr>
                                        <p:cTn id="77" dur="500"/>
                                        <p:tgtEl>
                                          <p:spTgt spid="36"/>
                                        </p:tgtEl>
                                      </p:cBhvr>
                                    </p:animEffect>
                                  </p:childTnLst>
                                </p:cTn>
                              </p:par>
                              <p:par>
                                <p:cTn id="78" presetID="53" presetClass="entr" presetSubtype="16" fill="hold" nodeType="withEffect">
                                  <p:stCondLst>
                                    <p:cond delay="0"/>
                                  </p:stCondLst>
                                  <p:childTnLst>
                                    <p:set>
                                      <p:cBhvr>
                                        <p:cTn id="79" dur="1" fill="hold">
                                          <p:stCondLst>
                                            <p:cond delay="0"/>
                                          </p:stCondLst>
                                        </p:cTn>
                                        <p:tgtEl>
                                          <p:spTgt spid="45"/>
                                        </p:tgtEl>
                                        <p:attrNameLst>
                                          <p:attrName>style.visibility</p:attrName>
                                        </p:attrNameLst>
                                      </p:cBhvr>
                                      <p:to>
                                        <p:strVal val="visible"/>
                                      </p:to>
                                    </p:set>
                                    <p:anim calcmode="lin" valueType="num">
                                      <p:cBhvr>
                                        <p:cTn id="80" dur="500" fill="hold"/>
                                        <p:tgtEl>
                                          <p:spTgt spid="45"/>
                                        </p:tgtEl>
                                        <p:attrNameLst>
                                          <p:attrName>ppt_w</p:attrName>
                                        </p:attrNameLst>
                                      </p:cBhvr>
                                      <p:tavLst>
                                        <p:tav tm="0">
                                          <p:val>
                                            <p:fltVal val="0"/>
                                          </p:val>
                                        </p:tav>
                                        <p:tav tm="100000">
                                          <p:val>
                                            <p:strVal val="#ppt_w"/>
                                          </p:val>
                                        </p:tav>
                                      </p:tavLst>
                                    </p:anim>
                                    <p:anim calcmode="lin" valueType="num">
                                      <p:cBhvr>
                                        <p:cTn id="81" dur="500" fill="hold"/>
                                        <p:tgtEl>
                                          <p:spTgt spid="45"/>
                                        </p:tgtEl>
                                        <p:attrNameLst>
                                          <p:attrName>ppt_h</p:attrName>
                                        </p:attrNameLst>
                                      </p:cBhvr>
                                      <p:tavLst>
                                        <p:tav tm="0">
                                          <p:val>
                                            <p:fltVal val="0"/>
                                          </p:val>
                                        </p:tav>
                                        <p:tav tm="100000">
                                          <p:val>
                                            <p:strVal val="#ppt_h"/>
                                          </p:val>
                                        </p:tav>
                                      </p:tavLst>
                                    </p:anim>
                                    <p:animEffect transition="in" filter="fade">
                                      <p:cBhvr>
                                        <p:cTn id="82"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animBg="1"/>
      <p:bldP spid="31" grpId="0" animBg="1"/>
      <p:bldP spid="40"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649054" y="980729"/>
            <a:ext cx="7811497" cy="1646605"/>
          </a:xfrm>
          <a:prstGeom prst="rect">
            <a:avLst/>
          </a:prstGeom>
        </p:spPr>
        <p:txBody>
          <a:bodyPr wrap="none">
            <a:spAutoFit/>
          </a:bodyPr>
          <a:lstStyle/>
          <a:p>
            <a:r>
              <a:rPr lang="fr-FR" sz="2400" dirty="0"/>
              <a:t>Le système d’exploitation</a:t>
            </a:r>
          </a:p>
          <a:p>
            <a:endParaRPr lang="fr-FR" sz="2400" dirty="0"/>
          </a:p>
          <a:p>
            <a:pPr marL="810895" indent="-457200">
              <a:spcBef>
                <a:spcPts val="600"/>
              </a:spcBef>
              <a:buFont typeface="+mj-lt"/>
              <a:buAutoNum type="arabicPeriod" startAt="4"/>
            </a:pPr>
            <a:r>
              <a:rPr lang="fr-FR" sz="2400" b="1" dirty="0"/>
              <a:t>A quoi sert-il ? Partage des ressources – le processeur</a:t>
            </a:r>
            <a:endParaRPr lang="fr-FR" sz="2400" dirty="0"/>
          </a:p>
          <a:p>
            <a:endParaRPr lang="fr-FR" sz="2400" dirty="0"/>
          </a:p>
        </p:txBody>
      </p:sp>
      <p:pic>
        <p:nvPicPr>
          <p:cNvPr id="3074" name="Picture 2"/>
          <p:cNvPicPr>
            <a:picLocks noChangeAspect="1" noChangeArrowheads="1"/>
          </p:cNvPicPr>
          <p:nvPr/>
        </p:nvPicPr>
        <p:blipFill>
          <a:blip r:embed="rId3" cstate="print"/>
          <a:srcRect/>
          <a:stretch>
            <a:fillRect/>
          </a:stretch>
        </p:blipFill>
        <p:spPr bwMode="auto">
          <a:xfrm>
            <a:off x="2135561" y="2492897"/>
            <a:ext cx="1965325" cy="1965325"/>
          </a:xfrm>
          <a:prstGeom prst="rect">
            <a:avLst/>
          </a:prstGeom>
          <a:noFill/>
          <a:ln w="9525">
            <a:noFill/>
            <a:miter lim="800000"/>
            <a:headEnd/>
            <a:tailEnd/>
          </a:ln>
        </p:spPr>
      </p:pic>
      <p:pic>
        <p:nvPicPr>
          <p:cNvPr id="3075" name="Picture 3"/>
          <p:cNvPicPr>
            <a:picLocks noChangeAspect="1" noChangeArrowheads="1"/>
          </p:cNvPicPr>
          <p:nvPr/>
        </p:nvPicPr>
        <p:blipFill>
          <a:blip r:embed="rId4" cstate="print"/>
          <a:srcRect/>
          <a:stretch>
            <a:fillRect/>
          </a:stretch>
        </p:blipFill>
        <p:spPr bwMode="auto">
          <a:xfrm>
            <a:off x="2927649" y="2276873"/>
            <a:ext cx="3292475" cy="606425"/>
          </a:xfrm>
          <a:prstGeom prst="rect">
            <a:avLst/>
          </a:prstGeom>
          <a:noFill/>
          <a:ln w="9525">
            <a:noFill/>
            <a:miter lim="800000"/>
            <a:headEnd/>
            <a:tailEnd/>
          </a:ln>
        </p:spPr>
      </p:pic>
      <p:pic>
        <p:nvPicPr>
          <p:cNvPr id="3076" name="Picture 4"/>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3287688" y="2708920"/>
            <a:ext cx="2959100" cy="412750"/>
          </a:xfrm>
          <a:prstGeom prst="rect">
            <a:avLst/>
          </a:prstGeom>
          <a:noFill/>
          <a:ln w="9525">
            <a:noFill/>
            <a:miter lim="800000"/>
            <a:headEnd/>
            <a:tailEnd/>
          </a:ln>
        </p:spPr>
      </p:pic>
      <p:pic>
        <p:nvPicPr>
          <p:cNvPr id="3077" name="Picture 5"/>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3287689" y="3140969"/>
            <a:ext cx="2868613" cy="296863"/>
          </a:xfrm>
          <a:prstGeom prst="rect">
            <a:avLst/>
          </a:prstGeom>
          <a:noFill/>
          <a:ln w="9525">
            <a:noFill/>
            <a:miter lim="800000"/>
            <a:headEnd/>
            <a:tailEnd/>
          </a:ln>
        </p:spPr>
      </p:pic>
      <p:pic>
        <p:nvPicPr>
          <p:cNvPr id="24" name="Image 23" descr="multitache.gif"/>
          <p:cNvPicPr>
            <a:picLocks noChangeAspect="1"/>
          </p:cNvPicPr>
          <p:nvPr/>
        </p:nvPicPr>
        <p:blipFill>
          <a:blip r:embed="rId7"/>
          <a:stretch>
            <a:fillRect/>
          </a:stretch>
        </p:blipFill>
        <p:spPr>
          <a:xfrm>
            <a:off x="3287689" y="4869160"/>
            <a:ext cx="6208505" cy="1988840"/>
          </a:xfrm>
          <a:prstGeom prst="rect">
            <a:avLst/>
          </a:prstGeom>
        </p:spPr>
      </p:pic>
      <p:pic>
        <p:nvPicPr>
          <p:cNvPr id="3080" name="Picture 8"/>
          <p:cNvPicPr>
            <a:picLocks noChangeAspect="1" noChangeArrowheads="1"/>
          </p:cNvPicPr>
          <p:nvPr/>
        </p:nvPicPr>
        <p:blipFill>
          <a:blip r:embed="rId8" cstate="print"/>
          <a:srcRect/>
          <a:stretch>
            <a:fillRect/>
          </a:stretch>
        </p:blipFill>
        <p:spPr bwMode="auto">
          <a:xfrm>
            <a:off x="6273318" y="2132856"/>
            <a:ext cx="4394683" cy="1678930"/>
          </a:xfrm>
          <a:prstGeom prst="rect">
            <a:avLst/>
          </a:prstGeom>
          <a:noFill/>
          <a:ln w="9525">
            <a:noFill/>
            <a:miter lim="800000"/>
            <a:headEnd/>
            <a:tailEnd/>
          </a:ln>
        </p:spPr>
      </p:pic>
      <p:sp>
        <p:nvSpPr>
          <p:cNvPr id="26" name="ZoneTexte 25"/>
          <p:cNvSpPr txBox="1"/>
          <p:nvPr/>
        </p:nvSpPr>
        <p:spPr>
          <a:xfrm>
            <a:off x="4511824" y="4221089"/>
            <a:ext cx="3241528" cy="584775"/>
          </a:xfrm>
          <a:prstGeom prst="rect">
            <a:avLst/>
          </a:prstGeom>
          <a:noFill/>
        </p:spPr>
        <p:txBody>
          <a:bodyPr wrap="none" rtlCol="0">
            <a:spAutoFit/>
          </a:bodyPr>
          <a:lstStyle/>
          <a:p>
            <a:r>
              <a:rPr lang="fr-FR" sz="3200" b="1" dirty="0"/>
              <a:t>Chacun son tour…</a:t>
            </a:r>
          </a:p>
        </p:txBody>
      </p:sp>
      <p:pic>
        <p:nvPicPr>
          <p:cNvPr id="3081" name="Picture 9"/>
          <p:cNvPicPr>
            <a:picLocks noChangeAspect="1" noChangeArrowheads="1"/>
          </p:cNvPicPr>
          <p:nvPr/>
        </p:nvPicPr>
        <p:blipFill>
          <a:blip r:embed="rId9" cstate="print"/>
          <a:srcRect/>
          <a:stretch>
            <a:fillRect/>
          </a:stretch>
        </p:blipFill>
        <p:spPr bwMode="auto">
          <a:xfrm>
            <a:off x="1524001" y="4032870"/>
            <a:ext cx="9144001" cy="908299"/>
          </a:xfrm>
          <a:prstGeom prst="rect">
            <a:avLst/>
          </a:prstGeom>
          <a:noFill/>
          <a:ln w="9525">
            <a:noFill/>
            <a:miter lim="800000"/>
            <a:headEnd/>
            <a:tailEnd/>
          </a:ln>
        </p:spPr>
      </p:pic>
    </p:spTree>
    <p:extLst>
      <p:ext uri="{BB962C8B-B14F-4D97-AF65-F5344CB8AC3E}">
        <p14:creationId xmlns:p14="http://schemas.microsoft.com/office/powerpoint/2010/main" val="18981911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075"/>
                                        </p:tgtEl>
                                        <p:attrNameLst>
                                          <p:attrName>style.visibility</p:attrName>
                                        </p:attrNameLst>
                                      </p:cBhvr>
                                      <p:to>
                                        <p:strVal val="visible"/>
                                      </p:to>
                                    </p:set>
                                    <p:anim calcmode="lin" valueType="num">
                                      <p:cBhvr>
                                        <p:cTn id="7" dur="500" fill="hold"/>
                                        <p:tgtEl>
                                          <p:spTgt spid="3075"/>
                                        </p:tgtEl>
                                        <p:attrNameLst>
                                          <p:attrName>ppt_w</p:attrName>
                                        </p:attrNameLst>
                                      </p:cBhvr>
                                      <p:tavLst>
                                        <p:tav tm="0">
                                          <p:val>
                                            <p:fltVal val="0"/>
                                          </p:val>
                                        </p:tav>
                                        <p:tav tm="100000">
                                          <p:val>
                                            <p:strVal val="#ppt_w"/>
                                          </p:val>
                                        </p:tav>
                                      </p:tavLst>
                                    </p:anim>
                                    <p:anim calcmode="lin" valueType="num">
                                      <p:cBhvr>
                                        <p:cTn id="8" dur="500" fill="hold"/>
                                        <p:tgtEl>
                                          <p:spTgt spid="3075"/>
                                        </p:tgtEl>
                                        <p:attrNameLst>
                                          <p:attrName>ppt_h</p:attrName>
                                        </p:attrNameLst>
                                      </p:cBhvr>
                                      <p:tavLst>
                                        <p:tav tm="0">
                                          <p:val>
                                            <p:fltVal val="0"/>
                                          </p:val>
                                        </p:tav>
                                        <p:tav tm="100000">
                                          <p:val>
                                            <p:strVal val="#ppt_h"/>
                                          </p:val>
                                        </p:tav>
                                      </p:tavLst>
                                    </p:anim>
                                    <p:animEffect transition="in" filter="fade">
                                      <p:cBhvr>
                                        <p:cTn id="9" dur="500"/>
                                        <p:tgtEl>
                                          <p:spTgt spid="307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076"/>
                                        </p:tgtEl>
                                        <p:attrNameLst>
                                          <p:attrName>style.visibility</p:attrName>
                                        </p:attrNameLst>
                                      </p:cBhvr>
                                      <p:to>
                                        <p:strVal val="visible"/>
                                      </p:to>
                                    </p:set>
                                    <p:anim calcmode="lin" valueType="num">
                                      <p:cBhvr>
                                        <p:cTn id="14" dur="500" fill="hold"/>
                                        <p:tgtEl>
                                          <p:spTgt spid="3076"/>
                                        </p:tgtEl>
                                        <p:attrNameLst>
                                          <p:attrName>ppt_w</p:attrName>
                                        </p:attrNameLst>
                                      </p:cBhvr>
                                      <p:tavLst>
                                        <p:tav tm="0">
                                          <p:val>
                                            <p:fltVal val="0"/>
                                          </p:val>
                                        </p:tav>
                                        <p:tav tm="100000">
                                          <p:val>
                                            <p:strVal val="#ppt_w"/>
                                          </p:val>
                                        </p:tav>
                                      </p:tavLst>
                                    </p:anim>
                                    <p:anim calcmode="lin" valueType="num">
                                      <p:cBhvr>
                                        <p:cTn id="15" dur="500" fill="hold"/>
                                        <p:tgtEl>
                                          <p:spTgt spid="3076"/>
                                        </p:tgtEl>
                                        <p:attrNameLst>
                                          <p:attrName>ppt_h</p:attrName>
                                        </p:attrNameLst>
                                      </p:cBhvr>
                                      <p:tavLst>
                                        <p:tav tm="0">
                                          <p:val>
                                            <p:fltVal val="0"/>
                                          </p:val>
                                        </p:tav>
                                        <p:tav tm="100000">
                                          <p:val>
                                            <p:strVal val="#ppt_h"/>
                                          </p:val>
                                        </p:tav>
                                      </p:tavLst>
                                    </p:anim>
                                    <p:animEffect transition="in" filter="fade">
                                      <p:cBhvr>
                                        <p:cTn id="16" dur="500"/>
                                        <p:tgtEl>
                                          <p:spTgt spid="3076"/>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3077"/>
                                        </p:tgtEl>
                                        <p:attrNameLst>
                                          <p:attrName>style.visibility</p:attrName>
                                        </p:attrNameLst>
                                      </p:cBhvr>
                                      <p:to>
                                        <p:strVal val="visible"/>
                                      </p:to>
                                    </p:set>
                                    <p:anim calcmode="lin" valueType="num">
                                      <p:cBhvr>
                                        <p:cTn id="21" dur="500" fill="hold"/>
                                        <p:tgtEl>
                                          <p:spTgt spid="3077"/>
                                        </p:tgtEl>
                                        <p:attrNameLst>
                                          <p:attrName>ppt_w</p:attrName>
                                        </p:attrNameLst>
                                      </p:cBhvr>
                                      <p:tavLst>
                                        <p:tav tm="0">
                                          <p:val>
                                            <p:fltVal val="0"/>
                                          </p:val>
                                        </p:tav>
                                        <p:tav tm="100000">
                                          <p:val>
                                            <p:strVal val="#ppt_w"/>
                                          </p:val>
                                        </p:tav>
                                      </p:tavLst>
                                    </p:anim>
                                    <p:anim calcmode="lin" valueType="num">
                                      <p:cBhvr>
                                        <p:cTn id="22" dur="500" fill="hold"/>
                                        <p:tgtEl>
                                          <p:spTgt spid="3077"/>
                                        </p:tgtEl>
                                        <p:attrNameLst>
                                          <p:attrName>ppt_h</p:attrName>
                                        </p:attrNameLst>
                                      </p:cBhvr>
                                      <p:tavLst>
                                        <p:tav tm="0">
                                          <p:val>
                                            <p:fltVal val="0"/>
                                          </p:val>
                                        </p:tav>
                                        <p:tav tm="100000">
                                          <p:val>
                                            <p:strVal val="#ppt_h"/>
                                          </p:val>
                                        </p:tav>
                                      </p:tavLst>
                                    </p:anim>
                                    <p:animEffect transition="in" filter="fade">
                                      <p:cBhvr>
                                        <p:cTn id="23" dur="500"/>
                                        <p:tgtEl>
                                          <p:spTgt spid="3077"/>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3080"/>
                                        </p:tgtEl>
                                        <p:attrNameLst>
                                          <p:attrName>style.visibility</p:attrName>
                                        </p:attrNameLst>
                                      </p:cBhvr>
                                      <p:to>
                                        <p:strVal val="visible"/>
                                      </p:to>
                                    </p:set>
                                    <p:anim calcmode="lin" valueType="num">
                                      <p:cBhvr>
                                        <p:cTn id="28" dur="500" fill="hold"/>
                                        <p:tgtEl>
                                          <p:spTgt spid="3080"/>
                                        </p:tgtEl>
                                        <p:attrNameLst>
                                          <p:attrName>ppt_w</p:attrName>
                                        </p:attrNameLst>
                                      </p:cBhvr>
                                      <p:tavLst>
                                        <p:tav tm="0">
                                          <p:val>
                                            <p:fltVal val="0"/>
                                          </p:val>
                                        </p:tav>
                                        <p:tav tm="100000">
                                          <p:val>
                                            <p:strVal val="#ppt_w"/>
                                          </p:val>
                                        </p:tav>
                                      </p:tavLst>
                                    </p:anim>
                                    <p:anim calcmode="lin" valueType="num">
                                      <p:cBhvr>
                                        <p:cTn id="29" dur="500" fill="hold"/>
                                        <p:tgtEl>
                                          <p:spTgt spid="3080"/>
                                        </p:tgtEl>
                                        <p:attrNameLst>
                                          <p:attrName>ppt_h</p:attrName>
                                        </p:attrNameLst>
                                      </p:cBhvr>
                                      <p:tavLst>
                                        <p:tav tm="0">
                                          <p:val>
                                            <p:fltVal val="0"/>
                                          </p:val>
                                        </p:tav>
                                        <p:tav tm="100000">
                                          <p:val>
                                            <p:strVal val="#ppt_h"/>
                                          </p:val>
                                        </p:tav>
                                      </p:tavLst>
                                    </p:anim>
                                    <p:animEffect transition="in" filter="fade">
                                      <p:cBhvr>
                                        <p:cTn id="30" dur="500"/>
                                        <p:tgtEl>
                                          <p:spTgt spid="3080"/>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anim calcmode="lin" valueType="num">
                                      <p:cBhvr>
                                        <p:cTn id="35" dur="500" fill="hold"/>
                                        <p:tgtEl>
                                          <p:spTgt spid="26"/>
                                        </p:tgtEl>
                                        <p:attrNameLst>
                                          <p:attrName>ppt_w</p:attrName>
                                        </p:attrNameLst>
                                      </p:cBhvr>
                                      <p:tavLst>
                                        <p:tav tm="0">
                                          <p:val>
                                            <p:fltVal val="0"/>
                                          </p:val>
                                        </p:tav>
                                        <p:tav tm="100000">
                                          <p:val>
                                            <p:strVal val="#ppt_w"/>
                                          </p:val>
                                        </p:tav>
                                      </p:tavLst>
                                    </p:anim>
                                    <p:anim calcmode="lin" valueType="num">
                                      <p:cBhvr>
                                        <p:cTn id="36" dur="500" fill="hold"/>
                                        <p:tgtEl>
                                          <p:spTgt spid="26"/>
                                        </p:tgtEl>
                                        <p:attrNameLst>
                                          <p:attrName>ppt_h</p:attrName>
                                        </p:attrNameLst>
                                      </p:cBhvr>
                                      <p:tavLst>
                                        <p:tav tm="0">
                                          <p:val>
                                            <p:fltVal val="0"/>
                                          </p:val>
                                        </p:tav>
                                        <p:tav tm="100000">
                                          <p:val>
                                            <p:strVal val="#ppt_h"/>
                                          </p:val>
                                        </p:tav>
                                      </p:tavLst>
                                    </p:anim>
                                    <p:animEffect transition="in" filter="fade">
                                      <p:cBhvr>
                                        <p:cTn id="37" dur="500"/>
                                        <p:tgtEl>
                                          <p:spTgt spid="26"/>
                                        </p:tgtEl>
                                      </p:cBhvr>
                                    </p:animEffect>
                                  </p:childTnLst>
                                </p:cTn>
                              </p:par>
                              <p:par>
                                <p:cTn id="38" presetID="53" presetClass="entr" presetSubtype="16" fill="hold" nodeType="withEffect">
                                  <p:stCondLst>
                                    <p:cond delay="0"/>
                                  </p:stCondLst>
                                  <p:childTnLst>
                                    <p:set>
                                      <p:cBhvr>
                                        <p:cTn id="39" dur="1" fill="hold">
                                          <p:stCondLst>
                                            <p:cond delay="0"/>
                                          </p:stCondLst>
                                        </p:cTn>
                                        <p:tgtEl>
                                          <p:spTgt spid="24"/>
                                        </p:tgtEl>
                                        <p:attrNameLst>
                                          <p:attrName>style.visibility</p:attrName>
                                        </p:attrNameLst>
                                      </p:cBhvr>
                                      <p:to>
                                        <p:strVal val="visible"/>
                                      </p:to>
                                    </p:set>
                                    <p:anim calcmode="lin" valueType="num">
                                      <p:cBhvr>
                                        <p:cTn id="40" dur="500" fill="hold"/>
                                        <p:tgtEl>
                                          <p:spTgt spid="24"/>
                                        </p:tgtEl>
                                        <p:attrNameLst>
                                          <p:attrName>ppt_w</p:attrName>
                                        </p:attrNameLst>
                                      </p:cBhvr>
                                      <p:tavLst>
                                        <p:tav tm="0">
                                          <p:val>
                                            <p:fltVal val="0"/>
                                          </p:val>
                                        </p:tav>
                                        <p:tav tm="100000">
                                          <p:val>
                                            <p:strVal val="#ppt_w"/>
                                          </p:val>
                                        </p:tav>
                                      </p:tavLst>
                                    </p:anim>
                                    <p:anim calcmode="lin" valueType="num">
                                      <p:cBhvr>
                                        <p:cTn id="41" dur="500" fill="hold"/>
                                        <p:tgtEl>
                                          <p:spTgt spid="24"/>
                                        </p:tgtEl>
                                        <p:attrNameLst>
                                          <p:attrName>ppt_h</p:attrName>
                                        </p:attrNameLst>
                                      </p:cBhvr>
                                      <p:tavLst>
                                        <p:tav tm="0">
                                          <p:val>
                                            <p:fltVal val="0"/>
                                          </p:val>
                                        </p:tav>
                                        <p:tav tm="100000">
                                          <p:val>
                                            <p:strVal val="#ppt_h"/>
                                          </p:val>
                                        </p:tav>
                                      </p:tavLst>
                                    </p:anim>
                                    <p:animEffect transition="in" filter="fade">
                                      <p:cBhvr>
                                        <p:cTn id="42" dur="500"/>
                                        <p:tgtEl>
                                          <p:spTgt spid="24"/>
                                        </p:tgtEl>
                                      </p:cBhvr>
                                    </p:animEffect>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nodeType="clickEffect">
                                  <p:stCondLst>
                                    <p:cond delay="0"/>
                                  </p:stCondLst>
                                  <p:childTnLst>
                                    <p:set>
                                      <p:cBhvr>
                                        <p:cTn id="46" dur="1" fill="hold">
                                          <p:stCondLst>
                                            <p:cond delay="0"/>
                                          </p:stCondLst>
                                        </p:cTn>
                                        <p:tgtEl>
                                          <p:spTgt spid="3081"/>
                                        </p:tgtEl>
                                        <p:attrNameLst>
                                          <p:attrName>style.visibility</p:attrName>
                                        </p:attrNameLst>
                                      </p:cBhvr>
                                      <p:to>
                                        <p:strVal val="visible"/>
                                      </p:to>
                                    </p:set>
                                    <p:anim calcmode="lin" valueType="num">
                                      <p:cBhvr>
                                        <p:cTn id="47" dur="500" fill="hold"/>
                                        <p:tgtEl>
                                          <p:spTgt spid="3081"/>
                                        </p:tgtEl>
                                        <p:attrNameLst>
                                          <p:attrName>ppt_w</p:attrName>
                                        </p:attrNameLst>
                                      </p:cBhvr>
                                      <p:tavLst>
                                        <p:tav tm="0">
                                          <p:val>
                                            <p:fltVal val="0"/>
                                          </p:val>
                                        </p:tav>
                                        <p:tav tm="100000">
                                          <p:val>
                                            <p:strVal val="#ppt_w"/>
                                          </p:val>
                                        </p:tav>
                                      </p:tavLst>
                                    </p:anim>
                                    <p:anim calcmode="lin" valueType="num">
                                      <p:cBhvr>
                                        <p:cTn id="48" dur="500" fill="hold"/>
                                        <p:tgtEl>
                                          <p:spTgt spid="3081"/>
                                        </p:tgtEl>
                                        <p:attrNameLst>
                                          <p:attrName>ppt_h</p:attrName>
                                        </p:attrNameLst>
                                      </p:cBhvr>
                                      <p:tavLst>
                                        <p:tav tm="0">
                                          <p:val>
                                            <p:fltVal val="0"/>
                                          </p:val>
                                        </p:tav>
                                        <p:tav tm="100000">
                                          <p:val>
                                            <p:strVal val="#ppt_h"/>
                                          </p:val>
                                        </p:tav>
                                      </p:tavLst>
                                    </p:anim>
                                    <p:animEffect transition="in" filter="fade">
                                      <p:cBhvr>
                                        <p:cTn id="49" dur="500"/>
                                        <p:tgtEl>
                                          <p:spTgt spid="30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649054" y="980729"/>
            <a:ext cx="7569765" cy="1646605"/>
          </a:xfrm>
          <a:prstGeom prst="rect">
            <a:avLst/>
          </a:prstGeom>
        </p:spPr>
        <p:txBody>
          <a:bodyPr wrap="none">
            <a:spAutoFit/>
          </a:bodyPr>
          <a:lstStyle/>
          <a:p>
            <a:r>
              <a:rPr lang="fr-FR" sz="2400" dirty="0"/>
              <a:t>Le système d’exploitation</a:t>
            </a:r>
          </a:p>
          <a:p>
            <a:endParaRPr lang="fr-FR" sz="2400" dirty="0"/>
          </a:p>
          <a:p>
            <a:pPr marL="810895" indent="-457200">
              <a:spcBef>
                <a:spcPts val="600"/>
              </a:spcBef>
              <a:buFont typeface="+mj-lt"/>
              <a:buAutoNum type="arabicPeriod" startAt="4"/>
            </a:pPr>
            <a:r>
              <a:rPr lang="fr-FR" sz="2400" b="1" dirty="0"/>
              <a:t>A quoi sert-il ? Partage des ressources – la mémoire</a:t>
            </a:r>
            <a:endParaRPr lang="fr-FR" sz="2400" dirty="0"/>
          </a:p>
          <a:p>
            <a:endParaRPr lang="fr-FR" sz="2400" dirty="0"/>
          </a:p>
        </p:txBody>
      </p:sp>
      <p:pic>
        <p:nvPicPr>
          <p:cNvPr id="4099" name="Picture 3"/>
          <p:cNvPicPr>
            <a:picLocks noChangeAspect="1" noChangeArrowheads="1"/>
          </p:cNvPicPr>
          <p:nvPr/>
        </p:nvPicPr>
        <p:blipFill>
          <a:blip r:embed="rId3" cstate="print"/>
          <a:srcRect/>
          <a:stretch>
            <a:fillRect/>
          </a:stretch>
        </p:blipFill>
        <p:spPr bwMode="auto">
          <a:xfrm>
            <a:off x="2135561" y="2173892"/>
            <a:ext cx="7719213" cy="4684109"/>
          </a:xfrm>
          <a:prstGeom prst="rect">
            <a:avLst/>
          </a:prstGeom>
          <a:noFill/>
          <a:ln w="9525">
            <a:noFill/>
            <a:miter lim="800000"/>
            <a:headEnd/>
            <a:tailEnd/>
          </a:ln>
        </p:spPr>
      </p:pic>
    </p:spTree>
    <p:extLst>
      <p:ext uri="{BB962C8B-B14F-4D97-AF65-F5344CB8AC3E}">
        <p14:creationId xmlns:p14="http://schemas.microsoft.com/office/powerpoint/2010/main" val="55158033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649054" y="980729"/>
            <a:ext cx="7569765" cy="1646605"/>
          </a:xfrm>
          <a:prstGeom prst="rect">
            <a:avLst/>
          </a:prstGeom>
        </p:spPr>
        <p:txBody>
          <a:bodyPr wrap="none">
            <a:spAutoFit/>
          </a:bodyPr>
          <a:lstStyle/>
          <a:p>
            <a:r>
              <a:rPr lang="fr-FR" sz="2400" dirty="0"/>
              <a:t>Le système d’exploitation</a:t>
            </a:r>
          </a:p>
          <a:p>
            <a:endParaRPr lang="fr-FR" sz="2400" dirty="0"/>
          </a:p>
          <a:p>
            <a:pPr marL="810895" indent="-457200">
              <a:spcBef>
                <a:spcPts val="600"/>
              </a:spcBef>
              <a:buFont typeface="+mj-lt"/>
              <a:buAutoNum type="arabicPeriod" startAt="4"/>
            </a:pPr>
            <a:r>
              <a:rPr lang="fr-FR" sz="2400" b="1" dirty="0"/>
              <a:t>A quoi sert-il ? Partage des ressources – la mémoire</a:t>
            </a:r>
            <a:endParaRPr lang="fr-FR" sz="2400" dirty="0"/>
          </a:p>
          <a:p>
            <a:endParaRPr lang="fr-FR" sz="2400" dirty="0"/>
          </a:p>
        </p:txBody>
      </p:sp>
      <p:pic>
        <p:nvPicPr>
          <p:cNvPr id="5123" name="Picture 3"/>
          <p:cNvPicPr>
            <a:picLocks noChangeAspect="1" noChangeArrowheads="1"/>
          </p:cNvPicPr>
          <p:nvPr/>
        </p:nvPicPr>
        <p:blipFill>
          <a:blip r:embed="rId3" cstate="print"/>
          <a:srcRect/>
          <a:stretch>
            <a:fillRect/>
          </a:stretch>
        </p:blipFill>
        <p:spPr bwMode="auto">
          <a:xfrm>
            <a:off x="1524000" y="2348881"/>
            <a:ext cx="9185276" cy="542925"/>
          </a:xfrm>
          <a:prstGeom prst="rect">
            <a:avLst/>
          </a:prstGeom>
          <a:noFill/>
          <a:ln w="9525">
            <a:noFill/>
            <a:miter lim="800000"/>
            <a:headEnd/>
            <a:tailEnd/>
          </a:ln>
        </p:spPr>
      </p:pic>
      <p:pic>
        <p:nvPicPr>
          <p:cNvPr id="5125" name="Picture 5"/>
          <p:cNvPicPr>
            <a:picLocks noChangeAspect="1" noChangeArrowheads="1"/>
          </p:cNvPicPr>
          <p:nvPr/>
        </p:nvPicPr>
        <p:blipFill>
          <a:blip r:embed="rId4" cstate="print"/>
          <a:srcRect/>
          <a:stretch>
            <a:fillRect/>
          </a:stretch>
        </p:blipFill>
        <p:spPr bwMode="auto">
          <a:xfrm>
            <a:off x="4583833" y="3212976"/>
            <a:ext cx="3331791" cy="999404"/>
          </a:xfrm>
          <a:prstGeom prst="rect">
            <a:avLst/>
          </a:prstGeom>
          <a:noFill/>
          <a:ln w="9525">
            <a:noFill/>
            <a:miter lim="800000"/>
            <a:headEnd/>
            <a:tailEnd/>
          </a:ln>
        </p:spPr>
      </p:pic>
      <p:pic>
        <p:nvPicPr>
          <p:cNvPr id="5126" name="Picture 6"/>
          <p:cNvPicPr>
            <a:picLocks noChangeAspect="1" noChangeArrowheads="1"/>
          </p:cNvPicPr>
          <p:nvPr/>
        </p:nvPicPr>
        <p:blipFill>
          <a:blip r:embed="rId5" cstate="print"/>
          <a:srcRect/>
          <a:stretch>
            <a:fillRect/>
          </a:stretch>
        </p:blipFill>
        <p:spPr bwMode="auto">
          <a:xfrm>
            <a:off x="1991544" y="5067146"/>
            <a:ext cx="936104" cy="1790854"/>
          </a:xfrm>
          <a:prstGeom prst="rect">
            <a:avLst/>
          </a:prstGeom>
          <a:noFill/>
          <a:ln w="9525">
            <a:noFill/>
            <a:miter lim="800000"/>
            <a:headEnd/>
            <a:tailEnd/>
          </a:ln>
        </p:spPr>
      </p:pic>
      <p:pic>
        <p:nvPicPr>
          <p:cNvPr id="5127" name="Picture 7"/>
          <p:cNvPicPr>
            <a:picLocks noChangeAspect="1" noChangeArrowheads="1"/>
          </p:cNvPicPr>
          <p:nvPr/>
        </p:nvPicPr>
        <p:blipFill>
          <a:blip r:embed="rId6" cstate="print"/>
          <a:srcRect/>
          <a:stretch>
            <a:fillRect/>
          </a:stretch>
        </p:blipFill>
        <p:spPr bwMode="auto">
          <a:xfrm>
            <a:off x="9264352" y="5084110"/>
            <a:ext cx="921936" cy="1773891"/>
          </a:xfrm>
          <a:prstGeom prst="rect">
            <a:avLst/>
          </a:prstGeom>
          <a:noFill/>
          <a:ln w="9525">
            <a:noFill/>
            <a:miter lim="800000"/>
            <a:headEnd/>
            <a:tailEnd/>
          </a:ln>
        </p:spPr>
      </p:pic>
      <p:pic>
        <p:nvPicPr>
          <p:cNvPr id="5129" name="Picture 9"/>
          <p:cNvPicPr>
            <a:picLocks noChangeAspect="1" noChangeArrowheads="1"/>
          </p:cNvPicPr>
          <p:nvPr/>
        </p:nvPicPr>
        <p:blipFill>
          <a:blip r:embed="rId7" cstate="print"/>
          <a:srcRect/>
          <a:stretch>
            <a:fillRect/>
          </a:stretch>
        </p:blipFill>
        <p:spPr bwMode="auto">
          <a:xfrm>
            <a:off x="2495600" y="3789040"/>
            <a:ext cx="1642120" cy="1107990"/>
          </a:xfrm>
          <a:prstGeom prst="rect">
            <a:avLst/>
          </a:prstGeom>
          <a:noFill/>
          <a:ln w="9525">
            <a:noFill/>
            <a:miter lim="800000"/>
            <a:headEnd/>
            <a:tailEnd/>
          </a:ln>
        </p:spPr>
      </p:pic>
      <p:cxnSp>
        <p:nvCxnSpPr>
          <p:cNvPr id="14" name="Connecteur droit avec flèche 13"/>
          <p:cNvCxnSpPr/>
          <p:nvPr/>
        </p:nvCxnSpPr>
        <p:spPr>
          <a:xfrm flipV="1">
            <a:off x="2711624" y="4149080"/>
            <a:ext cx="1728192" cy="86409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5130" name="Picture 10"/>
          <p:cNvPicPr>
            <a:picLocks noChangeAspect="1" noChangeArrowheads="1"/>
          </p:cNvPicPr>
          <p:nvPr/>
        </p:nvPicPr>
        <p:blipFill>
          <a:blip r:embed="rId8" cstate="print">
            <a:clrChange>
              <a:clrFrom>
                <a:srgbClr val="FFFFFF"/>
              </a:clrFrom>
              <a:clrTo>
                <a:srgbClr val="FFFFFF">
                  <a:alpha val="0"/>
                </a:srgbClr>
              </a:clrTo>
            </a:clrChange>
          </a:blip>
          <a:srcRect/>
          <a:stretch>
            <a:fillRect/>
          </a:stretch>
        </p:blipFill>
        <p:spPr bwMode="auto">
          <a:xfrm>
            <a:off x="3215681" y="4437113"/>
            <a:ext cx="1800201" cy="1207207"/>
          </a:xfrm>
          <a:prstGeom prst="rect">
            <a:avLst/>
          </a:prstGeom>
          <a:noFill/>
          <a:ln w="9525">
            <a:noFill/>
            <a:miter lim="800000"/>
            <a:headEnd/>
            <a:tailEnd/>
          </a:ln>
        </p:spPr>
      </p:pic>
      <p:cxnSp>
        <p:nvCxnSpPr>
          <p:cNvPr id="18" name="Connecteur droit avec flèche 17"/>
          <p:cNvCxnSpPr/>
          <p:nvPr/>
        </p:nvCxnSpPr>
        <p:spPr>
          <a:xfrm flipH="1">
            <a:off x="2999656" y="4293096"/>
            <a:ext cx="1872208" cy="100811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5131" name="Picture 11"/>
          <p:cNvPicPr>
            <a:picLocks noChangeAspect="1" noChangeArrowheads="1"/>
          </p:cNvPicPr>
          <p:nvPr/>
        </p:nvPicPr>
        <p:blipFill>
          <a:blip r:embed="rId9" cstate="print">
            <a:clrChange>
              <a:clrFrom>
                <a:srgbClr val="FFFFFF"/>
              </a:clrFrom>
              <a:clrTo>
                <a:srgbClr val="FFFFFF">
                  <a:alpha val="0"/>
                </a:srgbClr>
              </a:clrTo>
            </a:clrChange>
          </a:blip>
          <a:srcRect/>
          <a:stretch>
            <a:fillRect/>
          </a:stretch>
        </p:blipFill>
        <p:spPr bwMode="auto">
          <a:xfrm>
            <a:off x="3503713" y="4869160"/>
            <a:ext cx="1643063" cy="952500"/>
          </a:xfrm>
          <a:prstGeom prst="rect">
            <a:avLst/>
          </a:prstGeom>
          <a:noFill/>
          <a:ln w="9525">
            <a:noFill/>
            <a:miter lim="800000"/>
            <a:headEnd/>
            <a:tailEnd/>
          </a:ln>
        </p:spPr>
      </p:pic>
      <p:pic>
        <p:nvPicPr>
          <p:cNvPr id="5132" name="Picture 12"/>
          <p:cNvPicPr>
            <a:picLocks noChangeAspect="1" noChangeArrowheads="1"/>
          </p:cNvPicPr>
          <p:nvPr/>
        </p:nvPicPr>
        <p:blipFill>
          <a:blip r:embed="rId10" cstate="print">
            <a:clrChange>
              <a:clrFrom>
                <a:srgbClr val="FFFFFF"/>
              </a:clrFrom>
              <a:clrTo>
                <a:srgbClr val="FFFFFF">
                  <a:alpha val="0"/>
                </a:srgbClr>
              </a:clrTo>
            </a:clrChange>
          </a:blip>
          <a:srcRect/>
          <a:stretch>
            <a:fillRect/>
          </a:stretch>
        </p:blipFill>
        <p:spPr bwMode="auto">
          <a:xfrm>
            <a:off x="2927648" y="2852937"/>
            <a:ext cx="1879600" cy="277813"/>
          </a:xfrm>
          <a:prstGeom prst="rect">
            <a:avLst/>
          </a:prstGeom>
          <a:noFill/>
          <a:ln w="9525">
            <a:noFill/>
            <a:miter lim="800000"/>
            <a:headEnd/>
            <a:tailEnd/>
          </a:ln>
        </p:spPr>
      </p:pic>
      <p:pic>
        <p:nvPicPr>
          <p:cNvPr id="5133" name="Picture 13"/>
          <p:cNvPicPr>
            <a:picLocks noChangeAspect="1" noChangeArrowheads="1"/>
          </p:cNvPicPr>
          <p:nvPr/>
        </p:nvPicPr>
        <p:blipFill>
          <a:blip r:embed="rId11" cstate="print">
            <a:clrChange>
              <a:clrFrom>
                <a:srgbClr val="FFFFFF"/>
              </a:clrFrom>
              <a:clrTo>
                <a:srgbClr val="FFFFFF">
                  <a:alpha val="0"/>
                </a:srgbClr>
              </a:clrTo>
            </a:clrChange>
          </a:blip>
          <a:srcRect/>
          <a:stretch>
            <a:fillRect/>
          </a:stretch>
        </p:blipFill>
        <p:spPr bwMode="auto">
          <a:xfrm>
            <a:off x="8426803" y="3544520"/>
            <a:ext cx="1413613" cy="1364831"/>
          </a:xfrm>
          <a:prstGeom prst="rect">
            <a:avLst/>
          </a:prstGeom>
          <a:noFill/>
          <a:ln w="9525">
            <a:noFill/>
            <a:miter lim="800000"/>
            <a:headEnd/>
            <a:tailEnd/>
          </a:ln>
        </p:spPr>
      </p:pic>
      <p:cxnSp>
        <p:nvCxnSpPr>
          <p:cNvPr id="23" name="Connecteur droit avec flèche 22"/>
          <p:cNvCxnSpPr/>
          <p:nvPr/>
        </p:nvCxnSpPr>
        <p:spPr>
          <a:xfrm flipH="1" flipV="1">
            <a:off x="8040216" y="3573016"/>
            <a:ext cx="1512168" cy="14401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5134" name="Picture 14"/>
          <p:cNvPicPr>
            <a:picLocks noChangeAspect="1" noChangeArrowheads="1"/>
          </p:cNvPicPr>
          <p:nvPr/>
        </p:nvPicPr>
        <p:blipFill>
          <a:blip r:embed="rId12" cstate="print">
            <a:clrChange>
              <a:clrFrom>
                <a:srgbClr val="FFFFFF"/>
              </a:clrFrom>
              <a:clrTo>
                <a:srgbClr val="FFFFFF">
                  <a:alpha val="0"/>
                </a:srgbClr>
              </a:clrTo>
            </a:clrChange>
          </a:blip>
          <a:srcRect/>
          <a:stretch>
            <a:fillRect/>
          </a:stretch>
        </p:blipFill>
        <p:spPr bwMode="auto">
          <a:xfrm>
            <a:off x="7824192" y="4221088"/>
            <a:ext cx="1383694" cy="1331020"/>
          </a:xfrm>
          <a:prstGeom prst="rect">
            <a:avLst/>
          </a:prstGeom>
          <a:noFill/>
          <a:ln w="9525">
            <a:noFill/>
            <a:miter lim="800000"/>
            <a:headEnd/>
            <a:tailEnd/>
          </a:ln>
        </p:spPr>
      </p:pic>
      <p:cxnSp>
        <p:nvCxnSpPr>
          <p:cNvPr id="28" name="Connecteur droit avec flèche 27"/>
          <p:cNvCxnSpPr/>
          <p:nvPr/>
        </p:nvCxnSpPr>
        <p:spPr>
          <a:xfrm>
            <a:off x="7968208" y="4077072"/>
            <a:ext cx="1368152" cy="12241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5135" name="Picture 15"/>
          <p:cNvPicPr>
            <a:picLocks noChangeAspect="1" noChangeArrowheads="1"/>
          </p:cNvPicPr>
          <p:nvPr/>
        </p:nvPicPr>
        <p:blipFill>
          <a:blip r:embed="rId13" cstate="print">
            <a:clrChange>
              <a:clrFrom>
                <a:srgbClr val="FFFFFF"/>
              </a:clrFrom>
              <a:clrTo>
                <a:srgbClr val="FFFFFF">
                  <a:alpha val="0"/>
                </a:srgbClr>
              </a:clrTo>
            </a:clrChange>
          </a:blip>
          <a:srcRect/>
          <a:stretch>
            <a:fillRect/>
          </a:stretch>
        </p:blipFill>
        <p:spPr bwMode="auto">
          <a:xfrm>
            <a:off x="7608168" y="4509121"/>
            <a:ext cx="1303254" cy="1239713"/>
          </a:xfrm>
          <a:prstGeom prst="rect">
            <a:avLst/>
          </a:prstGeom>
          <a:noFill/>
          <a:ln w="9525">
            <a:noFill/>
            <a:miter lim="800000"/>
            <a:headEnd/>
            <a:tailEnd/>
          </a:ln>
        </p:spPr>
      </p:pic>
      <p:pic>
        <p:nvPicPr>
          <p:cNvPr id="5136" name="Picture 16"/>
          <p:cNvPicPr>
            <a:picLocks noChangeAspect="1" noChangeArrowheads="1"/>
          </p:cNvPicPr>
          <p:nvPr/>
        </p:nvPicPr>
        <p:blipFill>
          <a:blip r:embed="rId14" cstate="print">
            <a:clrChange>
              <a:clrFrom>
                <a:srgbClr val="FFFFFF"/>
              </a:clrFrom>
              <a:clrTo>
                <a:srgbClr val="FFFFFF">
                  <a:alpha val="0"/>
                </a:srgbClr>
              </a:clrTo>
            </a:clrChange>
          </a:blip>
          <a:srcRect/>
          <a:stretch>
            <a:fillRect/>
          </a:stretch>
        </p:blipFill>
        <p:spPr bwMode="auto">
          <a:xfrm>
            <a:off x="6528049" y="2852937"/>
            <a:ext cx="2560637" cy="274637"/>
          </a:xfrm>
          <a:prstGeom prst="rect">
            <a:avLst/>
          </a:prstGeom>
          <a:noFill/>
          <a:ln w="9525">
            <a:noFill/>
            <a:miter lim="800000"/>
            <a:headEnd/>
            <a:tailEnd/>
          </a:ln>
        </p:spPr>
      </p:pic>
      <p:pic>
        <p:nvPicPr>
          <p:cNvPr id="5137" name="Picture 17"/>
          <p:cNvPicPr>
            <a:picLocks noChangeAspect="1" noChangeArrowheads="1"/>
          </p:cNvPicPr>
          <p:nvPr/>
        </p:nvPicPr>
        <p:blipFill>
          <a:blip r:embed="rId15" cstate="print"/>
          <a:srcRect/>
          <a:stretch>
            <a:fillRect/>
          </a:stretch>
        </p:blipFill>
        <p:spPr bwMode="auto">
          <a:xfrm>
            <a:off x="5159896" y="5589240"/>
            <a:ext cx="2448272" cy="1109138"/>
          </a:xfrm>
          <a:prstGeom prst="rect">
            <a:avLst/>
          </a:prstGeom>
          <a:noFill/>
          <a:ln w="9525">
            <a:noFill/>
            <a:miter lim="800000"/>
            <a:headEnd/>
            <a:tailEnd/>
          </a:ln>
        </p:spPr>
      </p:pic>
    </p:spTree>
    <p:extLst>
      <p:ext uri="{BB962C8B-B14F-4D97-AF65-F5344CB8AC3E}">
        <p14:creationId xmlns:p14="http://schemas.microsoft.com/office/powerpoint/2010/main" val="20500305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126"/>
                                        </p:tgtEl>
                                        <p:attrNameLst>
                                          <p:attrName>style.visibility</p:attrName>
                                        </p:attrNameLst>
                                      </p:cBhvr>
                                      <p:to>
                                        <p:strVal val="visible"/>
                                      </p:to>
                                    </p:set>
                                    <p:anim calcmode="lin" valueType="num">
                                      <p:cBhvr>
                                        <p:cTn id="7" dur="500" fill="hold"/>
                                        <p:tgtEl>
                                          <p:spTgt spid="5126"/>
                                        </p:tgtEl>
                                        <p:attrNameLst>
                                          <p:attrName>ppt_w</p:attrName>
                                        </p:attrNameLst>
                                      </p:cBhvr>
                                      <p:tavLst>
                                        <p:tav tm="0">
                                          <p:val>
                                            <p:fltVal val="0"/>
                                          </p:val>
                                        </p:tav>
                                        <p:tav tm="100000">
                                          <p:val>
                                            <p:strVal val="#ppt_w"/>
                                          </p:val>
                                        </p:tav>
                                      </p:tavLst>
                                    </p:anim>
                                    <p:anim calcmode="lin" valueType="num">
                                      <p:cBhvr>
                                        <p:cTn id="8" dur="500" fill="hold"/>
                                        <p:tgtEl>
                                          <p:spTgt spid="5126"/>
                                        </p:tgtEl>
                                        <p:attrNameLst>
                                          <p:attrName>ppt_h</p:attrName>
                                        </p:attrNameLst>
                                      </p:cBhvr>
                                      <p:tavLst>
                                        <p:tav tm="0">
                                          <p:val>
                                            <p:fltVal val="0"/>
                                          </p:val>
                                        </p:tav>
                                        <p:tav tm="100000">
                                          <p:val>
                                            <p:strVal val="#ppt_h"/>
                                          </p:val>
                                        </p:tav>
                                      </p:tavLst>
                                    </p:anim>
                                    <p:animEffect transition="in" filter="fade">
                                      <p:cBhvr>
                                        <p:cTn id="9" dur="500"/>
                                        <p:tgtEl>
                                          <p:spTgt spid="5126"/>
                                        </p:tgtEl>
                                      </p:cBhvr>
                                    </p:animEffect>
                                  </p:childTnLst>
                                </p:cTn>
                              </p:par>
                              <p:par>
                                <p:cTn id="10" presetID="53" presetClass="entr" presetSubtype="16" fill="hold" nodeType="withEffect">
                                  <p:stCondLst>
                                    <p:cond delay="0"/>
                                  </p:stCondLst>
                                  <p:childTnLst>
                                    <p:set>
                                      <p:cBhvr>
                                        <p:cTn id="11" dur="1" fill="hold">
                                          <p:stCondLst>
                                            <p:cond delay="0"/>
                                          </p:stCondLst>
                                        </p:cTn>
                                        <p:tgtEl>
                                          <p:spTgt spid="5127"/>
                                        </p:tgtEl>
                                        <p:attrNameLst>
                                          <p:attrName>style.visibility</p:attrName>
                                        </p:attrNameLst>
                                      </p:cBhvr>
                                      <p:to>
                                        <p:strVal val="visible"/>
                                      </p:to>
                                    </p:set>
                                    <p:anim calcmode="lin" valueType="num">
                                      <p:cBhvr>
                                        <p:cTn id="12" dur="500" fill="hold"/>
                                        <p:tgtEl>
                                          <p:spTgt spid="5127"/>
                                        </p:tgtEl>
                                        <p:attrNameLst>
                                          <p:attrName>ppt_w</p:attrName>
                                        </p:attrNameLst>
                                      </p:cBhvr>
                                      <p:tavLst>
                                        <p:tav tm="0">
                                          <p:val>
                                            <p:fltVal val="0"/>
                                          </p:val>
                                        </p:tav>
                                        <p:tav tm="100000">
                                          <p:val>
                                            <p:strVal val="#ppt_w"/>
                                          </p:val>
                                        </p:tav>
                                      </p:tavLst>
                                    </p:anim>
                                    <p:anim calcmode="lin" valueType="num">
                                      <p:cBhvr>
                                        <p:cTn id="13" dur="500" fill="hold"/>
                                        <p:tgtEl>
                                          <p:spTgt spid="5127"/>
                                        </p:tgtEl>
                                        <p:attrNameLst>
                                          <p:attrName>ppt_h</p:attrName>
                                        </p:attrNameLst>
                                      </p:cBhvr>
                                      <p:tavLst>
                                        <p:tav tm="0">
                                          <p:val>
                                            <p:fltVal val="0"/>
                                          </p:val>
                                        </p:tav>
                                        <p:tav tm="100000">
                                          <p:val>
                                            <p:strVal val="#ppt_h"/>
                                          </p:val>
                                        </p:tav>
                                      </p:tavLst>
                                    </p:anim>
                                    <p:animEffect transition="in" filter="fade">
                                      <p:cBhvr>
                                        <p:cTn id="14" dur="500"/>
                                        <p:tgtEl>
                                          <p:spTgt spid="5127"/>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5125"/>
                                        </p:tgtEl>
                                        <p:attrNameLst>
                                          <p:attrName>style.visibility</p:attrName>
                                        </p:attrNameLst>
                                      </p:cBhvr>
                                      <p:to>
                                        <p:strVal val="visible"/>
                                      </p:to>
                                    </p:set>
                                    <p:anim calcmode="lin" valueType="num">
                                      <p:cBhvr>
                                        <p:cTn id="19" dur="500" fill="hold"/>
                                        <p:tgtEl>
                                          <p:spTgt spid="5125"/>
                                        </p:tgtEl>
                                        <p:attrNameLst>
                                          <p:attrName>ppt_w</p:attrName>
                                        </p:attrNameLst>
                                      </p:cBhvr>
                                      <p:tavLst>
                                        <p:tav tm="0">
                                          <p:val>
                                            <p:fltVal val="0"/>
                                          </p:val>
                                        </p:tav>
                                        <p:tav tm="100000">
                                          <p:val>
                                            <p:strVal val="#ppt_w"/>
                                          </p:val>
                                        </p:tav>
                                      </p:tavLst>
                                    </p:anim>
                                    <p:anim calcmode="lin" valueType="num">
                                      <p:cBhvr>
                                        <p:cTn id="20" dur="500" fill="hold"/>
                                        <p:tgtEl>
                                          <p:spTgt spid="5125"/>
                                        </p:tgtEl>
                                        <p:attrNameLst>
                                          <p:attrName>ppt_h</p:attrName>
                                        </p:attrNameLst>
                                      </p:cBhvr>
                                      <p:tavLst>
                                        <p:tav tm="0">
                                          <p:val>
                                            <p:fltVal val="0"/>
                                          </p:val>
                                        </p:tav>
                                        <p:tav tm="100000">
                                          <p:val>
                                            <p:strVal val="#ppt_h"/>
                                          </p:val>
                                        </p:tav>
                                      </p:tavLst>
                                    </p:anim>
                                    <p:animEffect transition="in" filter="fade">
                                      <p:cBhvr>
                                        <p:cTn id="21" dur="500"/>
                                        <p:tgtEl>
                                          <p:spTgt spid="5125"/>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5129"/>
                                        </p:tgtEl>
                                        <p:attrNameLst>
                                          <p:attrName>style.visibility</p:attrName>
                                        </p:attrNameLst>
                                      </p:cBhvr>
                                      <p:to>
                                        <p:strVal val="visible"/>
                                      </p:to>
                                    </p:set>
                                    <p:anim calcmode="lin" valueType="num">
                                      <p:cBhvr>
                                        <p:cTn id="26" dur="500" fill="hold"/>
                                        <p:tgtEl>
                                          <p:spTgt spid="5129"/>
                                        </p:tgtEl>
                                        <p:attrNameLst>
                                          <p:attrName>ppt_w</p:attrName>
                                        </p:attrNameLst>
                                      </p:cBhvr>
                                      <p:tavLst>
                                        <p:tav tm="0">
                                          <p:val>
                                            <p:fltVal val="0"/>
                                          </p:val>
                                        </p:tav>
                                        <p:tav tm="100000">
                                          <p:val>
                                            <p:strVal val="#ppt_w"/>
                                          </p:val>
                                        </p:tav>
                                      </p:tavLst>
                                    </p:anim>
                                    <p:anim calcmode="lin" valueType="num">
                                      <p:cBhvr>
                                        <p:cTn id="27" dur="500" fill="hold"/>
                                        <p:tgtEl>
                                          <p:spTgt spid="5129"/>
                                        </p:tgtEl>
                                        <p:attrNameLst>
                                          <p:attrName>ppt_h</p:attrName>
                                        </p:attrNameLst>
                                      </p:cBhvr>
                                      <p:tavLst>
                                        <p:tav tm="0">
                                          <p:val>
                                            <p:fltVal val="0"/>
                                          </p:val>
                                        </p:tav>
                                        <p:tav tm="100000">
                                          <p:val>
                                            <p:strVal val="#ppt_h"/>
                                          </p:val>
                                        </p:tav>
                                      </p:tavLst>
                                    </p:anim>
                                    <p:animEffect transition="in" filter="fade">
                                      <p:cBhvr>
                                        <p:cTn id="28" dur="500"/>
                                        <p:tgtEl>
                                          <p:spTgt spid="5129"/>
                                        </p:tgtEl>
                                      </p:cBhvr>
                                    </p:animEffect>
                                  </p:childTnLst>
                                </p:cTn>
                              </p:par>
                              <p:par>
                                <p:cTn id="29" presetID="53" presetClass="entr" presetSubtype="16"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p:cTn id="31" dur="500" fill="hold"/>
                                        <p:tgtEl>
                                          <p:spTgt spid="14"/>
                                        </p:tgtEl>
                                        <p:attrNameLst>
                                          <p:attrName>ppt_w</p:attrName>
                                        </p:attrNameLst>
                                      </p:cBhvr>
                                      <p:tavLst>
                                        <p:tav tm="0">
                                          <p:val>
                                            <p:fltVal val="0"/>
                                          </p:val>
                                        </p:tav>
                                        <p:tav tm="100000">
                                          <p:val>
                                            <p:strVal val="#ppt_w"/>
                                          </p:val>
                                        </p:tav>
                                      </p:tavLst>
                                    </p:anim>
                                    <p:anim calcmode="lin" valueType="num">
                                      <p:cBhvr>
                                        <p:cTn id="32" dur="500" fill="hold"/>
                                        <p:tgtEl>
                                          <p:spTgt spid="14"/>
                                        </p:tgtEl>
                                        <p:attrNameLst>
                                          <p:attrName>ppt_h</p:attrName>
                                        </p:attrNameLst>
                                      </p:cBhvr>
                                      <p:tavLst>
                                        <p:tav tm="0">
                                          <p:val>
                                            <p:fltVal val="0"/>
                                          </p:val>
                                        </p:tav>
                                        <p:tav tm="100000">
                                          <p:val>
                                            <p:strVal val="#ppt_h"/>
                                          </p:val>
                                        </p:tav>
                                      </p:tavLst>
                                    </p:anim>
                                    <p:animEffect transition="in" filter="fade">
                                      <p:cBhvr>
                                        <p:cTn id="33" dur="500"/>
                                        <p:tgtEl>
                                          <p:spTgt spid="14"/>
                                        </p:tgtEl>
                                      </p:cBhvr>
                                    </p:animEffect>
                                  </p:childTnLst>
                                </p:cTn>
                              </p:par>
                              <p:par>
                                <p:cTn id="34" presetID="53" presetClass="entr" presetSubtype="16" fill="hold" nodeType="withEffect">
                                  <p:stCondLst>
                                    <p:cond delay="0"/>
                                  </p:stCondLst>
                                  <p:childTnLst>
                                    <p:set>
                                      <p:cBhvr>
                                        <p:cTn id="35" dur="1" fill="hold">
                                          <p:stCondLst>
                                            <p:cond delay="0"/>
                                          </p:stCondLst>
                                        </p:cTn>
                                        <p:tgtEl>
                                          <p:spTgt spid="23"/>
                                        </p:tgtEl>
                                        <p:attrNameLst>
                                          <p:attrName>style.visibility</p:attrName>
                                        </p:attrNameLst>
                                      </p:cBhvr>
                                      <p:to>
                                        <p:strVal val="visible"/>
                                      </p:to>
                                    </p:set>
                                    <p:anim calcmode="lin" valueType="num">
                                      <p:cBhvr>
                                        <p:cTn id="36" dur="500" fill="hold"/>
                                        <p:tgtEl>
                                          <p:spTgt spid="23"/>
                                        </p:tgtEl>
                                        <p:attrNameLst>
                                          <p:attrName>ppt_w</p:attrName>
                                        </p:attrNameLst>
                                      </p:cBhvr>
                                      <p:tavLst>
                                        <p:tav tm="0">
                                          <p:val>
                                            <p:fltVal val="0"/>
                                          </p:val>
                                        </p:tav>
                                        <p:tav tm="100000">
                                          <p:val>
                                            <p:strVal val="#ppt_w"/>
                                          </p:val>
                                        </p:tav>
                                      </p:tavLst>
                                    </p:anim>
                                    <p:anim calcmode="lin" valueType="num">
                                      <p:cBhvr>
                                        <p:cTn id="37" dur="500" fill="hold"/>
                                        <p:tgtEl>
                                          <p:spTgt spid="23"/>
                                        </p:tgtEl>
                                        <p:attrNameLst>
                                          <p:attrName>ppt_h</p:attrName>
                                        </p:attrNameLst>
                                      </p:cBhvr>
                                      <p:tavLst>
                                        <p:tav tm="0">
                                          <p:val>
                                            <p:fltVal val="0"/>
                                          </p:val>
                                        </p:tav>
                                        <p:tav tm="100000">
                                          <p:val>
                                            <p:strVal val="#ppt_h"/>
                                          </p:val>
                                        </p:tav>
                                      </p:tavLst>
                                    </p:anim>
                                    <p:animEffect transition="in" filter="fade">
                                      <p:cBhvr>
                                        <p:cTn id="38" dur="500"/>
                                        <p:tgtEl>
                                          <p:spTgt spid="23"/>
                                        </p:tgtEl>
                                      </p:cBhvr>
                                    </p:animEffect>
                                  </p:childTnLst>
                                </p:cTn>
                              </p:par>
                              <p:par>
                                <p:cTn id="39" presetID="53" presetClass="entr" presetSubtype="16" fill="hold" nodeType="withEffect">
                                  <p:stCondLst>
                                    <p:cond delay="0"/>
                                  </p:stCondLst>
                                  <p:childTnLst>
                                    <p:set>
                                      <p:cBhvr>
                                        <p:cTn id="40" dur="1" fill="hold">
                                          <p:stCondLst>
                                            <p:cond delay="0"/>
                                          </p:stCondLst>
                                        </p:cTn>
                                        <p:tgtEl>
                                          <p:spTgt spid="5133"/>
                                        </p:tgtEl>
                                        <p:attrNameLst>
                                          <p:attrName>style.visibility</p:attrName>
                                        </p:attrNameLst>
                                      </p:cBhvr>
                                      <p:to>
                                        <p:strVal val="visible"/>
                                      </p:to>
                                    </p:set>
                                    <p:anim calcmode="lin" valueType="num">
                                      <p:cBhvr>
                                        <p:cTn id="41" dur="500" fill="hold"/>
                                        <p:tgtEl>
                                          <p:spTgt spid="5133"/>
                                        </p:tgtEl>
                                        <p:attrNameLst>
                                          <p:attrName>ppt_w</p:attrName>
                                        </p:attrNameLst>
                                      </p:cBhvr>
                                      <p:tavLst>
                                        <p:tav tm="0">
                                          <p:val>
                                            <p:fltVal val="0"/>
                                          </p:val>
                                        </p:tav>
                                        <p:tav tm="100000">
                                          <p:val>
                                            <p:strVal val="#ppt_w"/>
                                          </p:val>
                                        </p:tav>
                                      </p:tavLst>
                                    </p:anim>
                                    <p:anim calcmode="lin" valueType="num">
                                      <p:cBhvr>
                                        <p:cTn id="42" dur="500" fill="hold"/>
                                        <p:tgtEl>
                                          <p:spTgt spid="5133"/>
                                        </p:tgtEl>
                                        <p:attrNameLst>
                                          <p:attrName>ppt_h</p:attrName>
                                        </p:attrNameLst>
                                      </p:cBhvr>
                                      <p:tavLst>
                                        <p:tav tm="0">
                                          <p:val>
                                            <p:fltVal val="0"/>
                                          </p:val>
                                        </p:tav>
                                        <p:tav tm="100000">
                                          <p:val>
                                            <p:strVal val="#ppt_h"/>
                                          </p:val>
                                        </p:tav>
                                      </p:tavLst>
                                    </p:anim>
                                    <p:animEffect transition="in" filter="fade">
                                      <p:cBhvr>
                                        <p:cTn id="43" dur="500"/>
                                        <p:tgtEl>
                                          <p:spTgt spid="5133"/>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nodeType="clickEffect">
                                  <p:stCondLst>
                                    <p:cond delay="0"/>
                                  </p:stCondLst>
                                  <p:childTnLst>
                                    <p:set>
                                      <p:cBhvr>
                                        <p:cTn id="47" dur="1" fill="hold">
                                          <p:stCondLst>
                                            <p:cond delay="0"/>
                                          </p:stCondLst>
                                        </p:cTn>
                                        <p:tgtEl>
                                          <p:spTgt spid="18"/>
                                        </p:tgtEl>
                                        <p:attrNameLst>
                                          <p:attrName>style.visibility</p:attrName>
                                        </p:attrNameLst>
                                      </p:cBhvr>
                                      <p:to>
                                        <p:strVal val="visible"/>
                                      </p:to>
                                    </p:set>
                                    <p:anim calcmode="lin" valueType="num">
                                      <p:cBhvr>
                                        <p:cTn id="48" dur="500" fill="hold"/>
                                        <p:tgtEl>
                                          <p:spTgt spid="18"/>
                                        </p:tgtEl>
                                        <p:attrNameLst>
                                          <p:attrName>ppt_w</p:attrName>
                                        </p:attrNameLst>
                                      </p:cBhvr>
                                      <p:tavLst>
                                        <p:tav tm="0">
                                          <p:val>
                                            <p:fltVal val="0"/>
                                          </p:val>
                                        </p:tav>
                                        <p:tav tm="100000">
                                          <p:val>
                                            <p:strVal val="#ppt_w"/>
                                          </p:val>
                                        </p:tav>
                                      </p:tavLst>
                                    </p:anim>
                                    <p:anim calcmode="lin" valueType="num">
                                      <p:cBhvr>
                                        <p:cTn id="49" dur="500" fill="hold"/>
                                        <p:tgtEl>
                                          <p:spTgt spid="18"/>
                                        </p:tgtEl>
                                        <p:attrNameLst>
                                          <p:attrName>ppt_h</p:attrName>
                                        </p:attrNameLst>
                                      </p:cBhvr>
                                      <p:tavLst>
                                        <p:tav tm="0">
                                          <p:val>
                                            <p:fltVal val="0"/>
                                          </p:val>
                                        </p:tav>
                                        <p:tav tm="100000">
                                          <p:val>
                                            <p:strVal val="#ppt_h"/>
                                          </p:val>
                                        </p:tav>
                                      </p:tavLst>
                                    </p:anim>
                                    <p:animEffect transition="in" filter="fade">
                                      <p:cBhvr>
                                        <p:cTn id="50" dur="500"/>
                                        <p:tgtEl>
                                          <p:spTgt spid="18"/>
                                        </p:tgtEl>
                                      </p:cBhvr>
                                    </p:animEffect>
                                  </p:childTnLst>
                                </p:cTn>
                              </p:par>
                              <p:par>
                                <p:cTn id="51" presetID="53" presetClass="entr" presetSubtype="16" fill="hold" nodeType="withEffect">
                                  <p:stCondLst>
                                    <p:cond delay="0"/>
                                  </p:stCondLst>
                                  <p:childTnLst>
                                    <p:set>
                                      <p:cBhvr>
                                        <p:cTn id="52" dur="1" fill="hold">
                                          <p:stCondLst>
                                            <p:cond delay="0"/>
                                          </p:stCondLst>
                                        </p:cTn>
                                        <p:tgtEl>
                                          <p:spTgt spid="5130"/>
                                        </p:tgtEl>
                                        <p:attrNameLst>
                                          <p:attrName>style.visibility</p:attrName>
                                        </p:attrNameLst>
                                      </p:cBhvr>
                                      <p:to>
                                        <p:strVal val="visible"/>
                                      </p:to>
                                    </p:set>
                                    <p:anim calcmode="lin" valueType="num">
                                      <p:cBhvr>
                                        <p:cTn id="53" dur="500" fill="hold"/>
                                        <p:tgtEl>
                                          <p:spTgt spid="5130"/>
                                        </p:tgtEl>
                                        <p:attrNameLst>
                                          <p:attrName>ppt_w</p:attrName>
                                        </p:attrNameLst>
                                      </p:cBhvr>
                                      <p:tavLst>
                                        <p:tav tm="0">
                                          <p:val>
                                            <p:fltVal val="0"/>
                                          </p:val>
                                        </p:tav>
                                        <p:tav tm="100000">
                                          <p:val>
                                            <p:strVal val="#ppt_w"/>
                                          </p:val>
                                        </p:tav>
                                      </p:tavLst>
                                    </p:anim>
                                    <p:anim calcmode="lin" valueType="num">
                                      <p:cBhvr>
                                        <p:cTn id="54" dur="500" fill="hold"/>
                                        <p:tgtEl>
                                          <p:spTgt spid="5130"/>
                                        </p:tgtEl>
                                        <p:attrNameLst>
                                          <p:attrName>ppt_h</p:attrName>
                                        </p:attrNameLst>
                                      </p:cBhvr>
                                      <p:tavLst>
                                        <p:tav tm="0">
                                          <p:val>
                                            <p:fltVal val="0"/>
                                          </p:val>
                                        </p:tav>
                                        <p:tav tm="100000">
                                          <p:val>
                                            <p:strVal val="#ppt_h"/>
                                          </p:val>
                                        </p:tav>
                                      </p:tavLst>
                                    </p:anim>
                                    <p:animEffect transition="in" filter="fade">
                                      <p:cBhvr>
                                        <p:cTn id="55" dur="500"/>
                                        <p:tgtEl>
                                          <p:spTgt spid="5130"/>
                                        </p:tgtEl>
                                      </p:cBhvr>
                                    </p:animEffect>
                                  </p:childTnLst>
                                </p:cTn>
                              </p:par>
                              <p:par>
                                <p:cTn id="56" presetID="53" presetClass="entr" presetSubtype="16" fill="hold" nodeType="withEffect">
                                  <p:stCondLst>
                                    <p:cond delay="0"/>
                                  </p:stCondLst>
                                  <p:childTnLst>
                                    <p:set>
                                      <p:cBhvr>
                                        <p:cTn id="57" dur="1" fill="hold">
                                          <p:stCondLst>
                                            <p:cond delay="0"/>
                                          </p:stCondLst>
                                        </p:cTn>
                                        <p:tgtEl>
                                          <p:spTgt spid="5131"/>
                                        </p:tgtEl>
                                        <p:attrNameLst>
                                          <p:attrName>style.visibility</p:attrName>
                                        </p:attrNameLst>
                                      </p:cBhvr>
                                      <p:to>
                                        <p:strVal val="visible"/>
                                      </p:to>
                                    </p:set>
                                    <p:anim calcmode="lin" valueType="num">
                                      <p:cBhvr>
                                        <p:cTn id="58" dur="500" fill="hold"/>
                                        <p:tgtEl>
                                          <p:spTgt spid="5131"/>
                                        </p:tgtEl>
                                        <p:attrNameLst>
                                          <p:attrName>ppt_w</p:attrName>
                                        </p:attrNameLst>
                                      </p:cBhvr>
                                      <p:tavLst>
                                        <p:tav tm="0">
                                          <p:val>
                                            <p:fltVal val="0"/>
                                          </p:val>
                                        </p:tav>
                                        <p:tav tm="100000">
                                          <p:val>
                                            <p:strVal val="#ppt_w"/>
                                          </p:val>
                                        </p:tav>
                                      </p:tavLst>
                                    </p:anim>
                                    <p:anim calcmode="lin" valueType="num">
                                      <p:cBhvr>
                                        <p:cTn id="59" dur="500" fill="hold"/>
                                        <p:tgtEl>
                                          <p:spTgt spid="5131"/>
                                        </p:tgtEl>
                                        <p:attrNameLst>
                                          <p:attrName>ppt_h</p:attrName>
                                        </p:attrNameLst>
                                      </p:cBhvr>
                                      <p:tavLst>
                                        <p:tav tm="0">
                                          <p:val>
                                            <p:fltVal val="0"/>
                                          </p:val>
                                        </p:tav>
                                        <p:tav tm="100000">
                                          <p:val>
                                            <p:strVal val="#ppt_h"/>
                                          </p:val>
                                        </p:tav>
                                      </p:tavLst>
                                    </p:anim>
                                    <p:animEffect transition="in" filter="fade">
                                      <p:cBhvr>
                                        <p:cTn id="60" dur="500"/>
                                        <p:tgtEl>
                                          <p:spTgt spid="5131"/>
                                        </p:tgtEl>
                                      </p:cBhvr>
                                    </p:animEffect>
                                  </p:childTnLst>
                                </p:cTn>
                              </p:par>
                              <p:par>
                                <p:cTn id="61" presetID="53" presetClass="entr" presetSubtype="16" fill="hold" nodeType="withEffect">
                                  <p:stCondLst>
                                    <p:cond delay="0"/>
                                  </p:stCondLst>
                                  <p:childTnLst>
                                    <p:set>
                                      <p:cBhvr>
                                        <p:cTn id="62" dur="1" fill="hold">
                                          <p:stCondLst>
                                            <p:cond delay="0"/>
                                          </p:stCondLst>
                                        </p:cTn>
                                        <p:tgtEl>
                                          <p:spTgt spid="28"/>
                                        </p:tgtEl>
                                        <p:attrNameLst>
                                          <p:attrName>style.visibility</p:attrName>
                                        </p:attrNameLst>
                                      </p:cBhvr>
                                      <p:to>
                                        <p:strVal val="visible"/>
                                      </p:to>
                                    </p:set>
                                    <p:anim calcmode="lin" valueType="num">
                                      <p:cBhvr>
                                        <p:cTn id="63" dur="500" fill="hold"/>
                                        <p:tgtEl>
                                          <p:spTgt spid="28"/>
                                        </p:tgtEl>
                                        <p:attrNameLst>
                                          <p:attrName>ppt_w</p:attrName>
                                        </p:attrNameLst>
                                      </p:cBhvr>
                                      <p:tavLst>
                                        <p:tav tm="0">
                                          <p:val>
                                            <p:fltVal val="0"/>
                                          </p:val>
                                        </p:tav>
                                        <p:tav tm="100000">
                                          <p:val>
                                            <p:strVal val="#ppt_w"/>
                                          </p:val>
                                        </p:tav>
                                      </p:tavLst>
                                    </p:anim>
                                    <p:anim calcmode="lin" valueType="num">
                                      <p:cBhvr>
                                        <p:cTn id="64" dur="500" fill="hold"/>
                                        <p:tgtEl>
                                          <p:spTgt spid="28"/>
                                        </p:tgtEl>
                                        <p:attrNameLst>
                                          <p:attrName>ppt_h</p:attrName>
                                        </p:attrNameLst>
                                      </p:cBhvr>
                                      <p:tavLst>
                                        <p:tav tm="0">
                                          <p:val>
                                            <p:fltVal val="0"/>
                                          </p:val>
                                        </p:tav>
                                        <p:tav tm="100000">
                                          <p:val>
                                            <p:strVal val="#ppt_h"/>
                                          </p:val>
                                        </p:tav>
                                      </p:tavLst>
                                    </p:anim>
                                    <p:animEffect transition="in" filter="fade">
                                      <p:cBhvr>
                                        <p:cTn id="65" dur="500"/>
                                        <p:tgtEl>
                                          <p:spTgt spid="28"/>
                                        </p:tgtEl>
                                      </p:cBhvr>
                                    </p:animEffect>
                                  </p:childTnLst>
                                </p:cTn>
                              </p:par>
                              <p:par>
                                <p:cTn id="66" presetID="53" presetClass="entr" presetSubtype="16" fill="hold" nodeType="withEffect">
                                  <p:stCondLst>
                                    <p:cond delay="0"/>
                                  </p:stCondLst>
                                  <p:childTnLst>
                                    <p:set>
                                      <p:cBhvr>
                                        <p:cTn id="67" dur="1" fill="hold">
                                          <p:stCondLst>
                                            <p:cond delay="0"/>
                                          </p:stCondLst>
                                        </p:cTn>
                                        <p:tgtEl>
                                          <p:spTgt spid="5135"/>
                                        </p:tgtEl>
                                        <p:attrNameLst>
                                          <p:attrName>style.visibility</p:attrName>
                                        </p:attrNameLst>
                                      </p:cBhvr>
                                      <p:to>
                                        <p:strVal val="visible"/>
                                      </p:to>
                                    </p:set>
                                    <p:anim calcmode="lin" valueType="num">
                                      <p:cBhvr>
                                        <p:cTn id="68" dur="500" fill="hold"/>
                                        <p:tgtEl>
                                          <p:spTgt spid="5135"/>
                                        </p:tgtEl>
                                        <p:attrNameLst>
                                          <p:attrName>ppt_w</p:attrName>
                                        </p:attrNameLst>
                                      </p:cBhvr>
                                      <p:tavLst>
                                        <p:tav tm="0">
                                          <p:val>
                                            <p:fltVal val="0"/>
                                          </p:val>
                                        </p:tav>
                                        <p:tav tm="100000">
                                          <p:val>
                                            <p:strVal val="#ppt_w"/>
                                          </p:val>
                                        </p:tav>
                                      </p:tavLst>
                                    </p:anim>
                                    <p:anim calcmode="lin" valueType="num">
                                      <p:cBhvr>
                                        <p:cTn id="69" dur="500" fill="hold"/>
                                        <p:tgtEl>
                                          <p:spTgt spid="5135"/>
                                        </p:tgtEl>
                                        <p:attrNameLst>
                                          <p:attrName>ppt_h</p:attrName>
                                        </p:attrNameLst>
                                      </p:cBhvr>
                                      <p:tavLst>
                                        <p:tav tm="0">
                                          <p:val>
                                            <p:fltVal val="0"/>
                                          </p:val>
                                        </p:tav>
                                        <p:tav tm="100000">
                                          <p:val>
                                            <p:strVal val="#ppt_h"/>
                                          </p:val>
                                        </p:tav>
                                      </p:tavLst>
                                    </p:anim>
                                    <p:animEffect transition="in" filter="fade">
                                      <p:cBhvr>
                                        <p:cTn id="70" dur="500"/>
                                        <p:tgtEl>
                                          <p:spTgt spid="5135"/>
                                        </p:tgtEl>
                                      </p:cBhvr>
                                    </p:animEffect>
                                  </p:childTnLst>
                                </p:cTn>
                              </p:par>
                              <p:par>
                                <p:cTn id="71" presetID="53" presetClass="entr" presetSubtype="16" fill="hold" nodeType="withEffect">
                                  <p:stCondLst>
                                    <p:cond delay="0"/>
                                  </p:stCondLst>
                                  <p:childTnLst>
                                    <p:set>
                                      <p:cBhvr>
                                        <p:cTn id="72" dur="1" fill="hold">
                                          <p:stCondLst>
                                            <p:cond delay="0"/>
                                          </p:stCondLst>
                                        </p:cTn>
                                        <p:tgtEl>
                                          <p:spTgt spid="5134"/>
                                        </p:tgtEl>
                                        <p:attrNameLst>
                                          <p:attrName>style.visibility</p:attrName>
                                        </p:attrNameLst>
                                      </p:cBhvr>
                                      <p:to>
                                        <p:strVal val="visible"/>
                                      </p:to>
                                    </p:set>
                                    <p:anim calcmode="lin" valueType="num">
                                      <p:cBhvr>
                                        <p:cTn id="73" dur="500" fill="hold"/>
                                        <p:tgtEl>
                                          <p:spTgt spid="5134"/>
                                        </p:tgtEl>
                                        <p:attrNameLst>
                                          <p:attrName>ppt_w</p:attrName>
                                        </p:attrNameLst>
                                      </p:cBhvr>
                                      <p:tavLst>
                                        <p:tav tm="0">
                                          <p:val>
                                            <p:fltVal val="0"/>
                                          </p:val>
                                        </p:tav>
                                        <p:tav tm="100000">
                                          <p:val>
                                            <p:strVal val="#ppt_w"/>
                                          </p:val>
                                        </p:tav>
                                      </p:tavLst>
                                    </p:anim>
                                    <p:anim calcmode="lin" valueType="num">
                                      <p:cBhvr>
                                        <p:cTn id="74" dur="500" fill="hold"/>
                                        <p:tgtEl>
                                          <p:spTgt spid="5134"/>
                                        </p:tgtEl>
                                        <p:attrNameLst>
                                          <p:attrName>ppt_h</p:attrName>
                                        </p:attrNameLst>
                                      </p:cBhvr>
                                      <p:tavLst>
                                        <p:tav tm="0">
                                          <p:val>
                                            <p:fltVal val="0"/>
                                          </p:val>
                                        </p:tav>
                                        <p:tav tm="100000">
                                          <p:val>
                                            <p:strVal val="#ppt_h"/>
                                          </p:val>
                                        </p:tav>
                                      </p:tavLst>
                                    </p:anim>
                                    <p:animEffect transition="in" filter="fade">
                                      <p:cBhvr>
                                        <p:cTn id="75" dur="500"/>
                                        <p:tgtEl>
                                          <p:spTgt spid="5134"/>
                                        </p:tgtEl>
                                      </p:cBhvr>
                                    </p:animEffect>
                                  </p:childTnLst>
                                </p:cTn>
                              </p:par>
                            </p:childTnLst>
                          </p:cTn>
                        </p:par>
                      </p:childTnLst>
                    </p:cTn>
                  </p:par>
                  <p:par>
                    <p:cTn id="76" fill="hold">
                      <p:stCondLst>
                        <p:cond delay="indefinite"/>
                      </p:stCondLst>
                      <p:childTnLst>
                        <p:par>
                          <p:cTn id="77" fill="hold">
                            <p:stCondLst>
                              <p:cond delay="0"/>
                            </p:stCondLst>
                            <p:childTnLst>
                              <p:par>
                                <p:cTn id="78" presetID="53" presetClass="entr" presetSubtype="16" fill="hold" nodeType="clickEffect">
                                  <p:stCondLst>
                                    <p:cond delay="0"/>
                                  </p:stCondLst>
                                  <p:childTnLst>
                                    <p:set>
                                      <p:cBhvr>
                                        <p:cTn id="79" dur="1" fill="hold">
                                          <p:stCondLst>
                                            <p:cond delay="0"/>
                                          </p:stCondLst>
                                        </p:cTn>
                                        <p:tgtEl>
                                          <p:spTgt spid="5132"/>
                                        </p:tgtEl>
                                        <p:attrNameLst>
                                          <p:attrName>style.visibility</p:attrName>
                                        </p:attrNameLst>
                                      </p:cBhvr>
                                      <p:to>
                                        <p:strVal val="visible"/>
                                      </p:to>
                                    </p:set>
                                    <p:anim calcmode="lin" valueType="num">
                                      <p:cBhvr>
                                        <p:cTn id="80" dur="500" fill="hold"/>
                                        <p:tgtEl>
                                          <p:spTgt spid="5132"/>
                                        </p:tgtEl>
                                        <p:attrNameLst>
                                          <p:attrName>ppt_w</p:attrName>
                                        </p:attrNameLst>
                                      </p:cBhvr>
                                      <p:tavLst>
                                        <p:tav tm="0">
                                          <p:val>
                                            <p:fltVal val="0"/>
                                          </p:val>
                                        </p:tav>
                                        <p:tav tm="100000">
                                          <p:val>
                                            <p:strVal val="#ppt_w"/>
                                          </p:val>
                                        </p:tav>
                                      </p:tavLst>
                                    </p:anim>
                                    <p:anim calcmode="lin" valueType="num">
                                      <p:cBhvr>
                                        <p:cTn id="81" dur="500" fill="hold"/>
                                        <p:tgtEl>
                                          <p:spTgt spid="5132"/>
                                        </p:tgtEl>
                                        <p:attrNameLst>
                                          <p:attrName>ppt_h</p:attrName>
                                        </p:attrNameLst>
                                      </p:cBhvr>
                                      <p:tavLst>
                                        <p:tav tm="0">
                                          <p:val>
                                            <p:fltVal val="0"/>
                                          </p:val>
                                        </p:tav>
                                        <p:tav tm="100000">
                                          <p:val>
                                            <p:strVal val="#ppt_h"/>
                                          </p:val>
                                        </p:tav>
                                      </p:tavLst>
                                    </p:anim>
                                    <p:animEffect transition="in" filter="fade">
                                      <p:cBhvr>
                                        <p:cTn id="82" dur="500"/>
                                        <p:tgtEl>
                                          <p:spTgt spid="5132"/>
                                        </p:tgtEl>
                                      </p:cBhvr>
                                    </p:animEffect>
                                  </p:childTnLst>
                                </p:cTn>
                              </p:par>
                              <p:par>
                                <p:cTn id="83" presetID="53" presetClass="entr" presetSubtype="16" fill="hold" nodeType="withEffect">
                                  <p:stCondLst>
                                    <p:cond delay="0"/>
                                  </p:stCondLst>
                                  <p:childTnLst>
                                    <p:set>
                                      <p:cBhvr>
                                        <p:cTn id="84" dur="1" fill="hold">
                                          <p:stCondLst>
                                            <p:cond delay="0"/>
                                          </p:stCondLst>
                                        </p:cTn>
                                        <p:tgtEl>
                                          <p:spTgt spid="5136"/>
                                        </p:tgtEl>
                                        <p:attrNameLst>
                                          <p:attrName>style.visibility</p:attrName>
                                        </p:attrNameLst>
                                      </p:cBhvr>
                                      <p:to>
                                        <p:strVal val="visible"/>
                                      </p:to>
                                    </p:set>
                                    <p:anim calcmode="lin" valueType="num">
                                      <p:cBhvr>
                                        <p:cTn id="85" dur="500" fill="hold"/>
                                        <p:tgtEl>
                                          <p:spTgt spid="5136"/>
                                        </p:tgtEl>
                                        <p:attrNameLst>
                                          <p:attrName>ppt_w</p:attrName>
                                        </p:attrNameLst>
                                      </p:cBhvr>
                                      <p:tavLst>
                                        <p:tav tm="0">
                                          <p:val>
                                            <p:fltVal val="0"/>
                                          </p:val>
                                        </p:tav>
                                        <p:tav tm="100000">
                                          <p:val>
                                            <p:strVal val="#ppt_w"/>
                                          </p:val>
                                        </p:tav>
                                      </p:tavLst>
                                    </p:anim>
                                    <p:anim calcmode="lin" valueType="num">
                                      <p:cBhvr>
                                        <p:cTn id="86" dur="500" fill="hold"/>
                                        <p:tgtEl>
                                          <p:spTgt spid="5136"/>
                                        </p:tgtEl>
                                        <p:attrNameLst>
                                          <p:attrName>ppt_h</p:attrName>
                                        </p:attrNameLst>
                                      </p:cBhvr>
                                      <p:tavLst>
                                        <p:tav tm="0">
                                          <p:val>
                                            <p:fltVal val="0"/>
                                          </p:val>
                                        </p:tav>
                                        <p:tav tm="100000">
                                          <p:val>
                                            <p:strVal val="#ppt_h"/>
                                          </p:val>
                                        </p:tav>
                                      </p:tavLst>
                                    </p:anim>
                                    <p:animEffect transition="in" filter="fade">
                                      <p:cBhvr>
                                        <p:cTn id="87" dur="500"/>
                                        <p:tgtEl>
                                          <p:spTgt spid="51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649054" y="980729"/>
            <a:ext cx="6826549" cy="3431709"/>
          </a:xfrm>
          <a:prstGeom prst="rect">
            <a:avLst/>
          </a:prstGeom>
        </p:spPr>
        <p:txBody>
          <a:bodyPr wrap="none">
            <a:spAutoFit/>
          </a:bodyPr>
          <a:lstStyle/>
          <a:p>
            <a:r>
              <a:rPr lang="fr-FR" sz="2400" dirty="0"/>
              <a:t>Le système d’exploitation</a:t>
            </a:r>
          </a:p>
          <a:p>
            <a:endParaRPr lang="fr-FR" sz="2400" dirty="0"/>
          </a:p>
          <a:p>
            <a:pPr marL="810895" indent="-457200">
              <a:spcBef>
                <a:spcPts val="600"/>
              </a:spcBef>
              <a:buFont typeface="+mj-lt"/>
              <a:buAutoNum type="arabicPeriod" startAt="5"/>
            </a:pPr>
            <a:r>
              <a:rPr lang="fr-FR" sz="2400" b="1" dirty="0"/>
              <a:t>Les différents types de système d’exploitation</a:t>
            </a:r>
          </a:p>
          <a:p>
            <a:pPr marL="810895" indent="-457200">
              <a:spcBef>
                <a:spcPts val="600"/>
              </a:spcBef>
              <a:buFont typeface="+mj-lt"/>
              <a:buAutoNum type="arabicPeriod" startAt="5"/>
            </a:pPr>
            <a:endParaRPr lang="fr-FR" sz="2400" b="1" dirty="0"/>
          </a:p>
          <a:p>
            <a:pPr marL="1170305" indent="-457200">
              <a:spcBef>
                <a:spcPts val="600"/>
              </a:spcBef>
              <a:buFont typeface="Arial" panose="020B0604020202020204" pitchFamily="34" charset="0"/>
              <a:buChar char="•"/>
            </a:pPr>
            <a:r>
              <a:rPr lang="fr-FR" sz="2400" b="1" dirty="0"/>
              <a:t>Mono tâche </a:t>
            </a:r>
          </a:p>
          <a:p>
            <a:pPr marL="1619250" indent="-457200">
              <a:spcBef>
                <a:spcPts val="600"/>
              </a:spcBef>
            </a:pPr>
            <a:r>
              <a:rPr lang="fr-FR" sz="2400" b="1" dirty="0"/>
              <a:t>Ex : MS-DOS</a:t>
            </a:r>
          </a:p>
          <a:p>
            <a:pPr marL="1619250" indent="-457200">
              <a:spcBef>
                <a:spcPts val="600"/>
              </a:spcBef>
            </a:pPr>
            <a:r>
              <a:rPr lang="fr-FR" sz="2400" b="1" dirty="0"/>
              <a:t>Traitement par lots (</a:t>
            </a:r>
            <a:r>
              <a:rPr lang="fr-FR" sz="2400" b="1" dirty="0" err="1"/>
              <a:t>Batchs</a:t>
            </a:r>
            <a:r>
              <a:rPr lang="fr-FR" sz="2400" b="1" dirty="0"/>
              <a:t>)</a:t>
            </a:r>
          </a:p>
          <a:p>
            <a:endParaRPr lang="fr-FR" sz="2400" dirty="0"/>
          </a:p>
        </p:txBody>
      </p:sp>
      <p:pic>
        <p:nvPicPr>
          <p:cNvPr id="7170" name="Picture 2" descr="http://www.touslestutos.com/wp-content/uploads/ms-dos-logo11.jpg"/>
          <p:cNvPicPr>
            <a:picLocks noChangeAspect="1" noChangeArrowheads="1"/>
          </p:cNvPicPr>
          <p:nvPr/>
        </p:nvPicPr>
        <p:blipFill>
          <a:blip r:embed="rId3" cstate="print"/>
          <a:srcRect/>
          <a:stretch>
            <a:fillRect/>
          </a:stretch>
        </p:blipFill>
        <p:spPr bwMode="auto">
          <a:xfrm>
            <a:off x="4367809" y="4365104"/>
            <a:ext cx="2110083" cy="2060848"/>
          </a:xfrm>
          <a:prstGeom prst="rect">
            <a:avLst/>
          </a:prstGeom>
          <a:noFill/>
        </p:spPr>
      </p:pic>
    </p:spTree>
    <p:extLst>
      <p:ext uri="{BB962C8B-B14F-4D97-AF65-F5344CB8AC3E}">
        <p14:creationId xmlns:p14="http://schemas.microsoft.com/office/powerpoint/2010/main" val="9484632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649054" y="980728"/>
            <a:ext cx="9018947" cy="4016484"/>
          </a:xfrm>
          <a:prstGeom prst="rect">
            <a:avLst/>
          </a:prstGeom>
        </p:spPr>
        <p:txBody>
          <a:bodyPr wrap="square">
            <a:spAutoFit/>
          </a:bodyPr>
          <a:lstStyle/>
          <a:p>
            <a:r>
              <a:rPr lang="fr-FR" sz="2400" dirty="0"/>
              <a:t>Le système d’exploitation</a:t>
            </a:r>
          </a:p>
          <a:p>
            <a:endParaRPr lang="fr-FR" sz="2400" dirty="0"/>
          </a:p>
          <a:p>
            <a:pPr marL="810895" indent="-457200">
              <a:spcBef>
                <a:spcPts val="600"/>
              </a:spcBef>
              <a:buFont typeface="+mj-lt"/>
              <a:buAutoNum type="arabicPeriod" startAt="5"/>
            </a:pPr>
            <a:r>
              <a:rPr lang="fr-FR" sz="2400" b="1" dirty="0"/>
              <a:t>Les différents types de système d’exploitation</a:t>
            </a:r>
          </a:p>
          <a:p>
            <a:pPr marL="810895" indent="-457200">
              <a:spcBef>
                <a:spcPts val="600"/>
              </a:spcBef>
              <a:buFont typeface="+mj-lt"/>
              <a:buAutoNum type="arabicPeriod" startAt="5"/>
            </a:pPr>
            <a:endParaRPr lang="fr-FR" sz="800" b="1" dirty="0"/>
          </a:p>
          <a:p>
            <a:pPr marL="1170305" indent="-457200">
              <a:spcBef>
                <a:spcPts val="600"/>
              </a:spcBef>
              <a:buFont typeface="Arial" panose="020B0604020202020204" pitchFamily="34" charset="0"/>
              <a:buChar char="•"/>
            </a:pPr>
            <a:r>
              <a:rPr lang="fr-FR" sz="2400" b="1" dirty="0"/>
              <a:t>Multi tâches</a:t>
            </a:r>
          </a:p>
          <a:p>
            <a:pPr marL="1170305" indent="-8255">
              <a:spcBef>
                <a:spcPts val="600"/>
              </a:spcBef>
            </a:pPr>
            <a:r>
              <a:rPr lang="fr-FR" sz="2400" dirty="0"/>
              <a:t>plusieurs tâches (processus) peuvent être exécutées simultanément. </a:t>
            </a:r>
          </a:p>
          <a:p>
            <a:pPr marL="1170305" indent="-8255">
              <a:spcBef>
                <a:spcPts val="600"/>
              </a:spcBef>
            </a:pPr>
            <a:endParaRPr lang="fr-FR" sz="1000" dirty="0"/>
          </a:p>
          <a:p>
            <a:pPr marL="1529080" indent="-367030">
              <a:spcBef>
                <a:spcPts val="600"/>
              </a:spcBef>
            </a:pPr>
            <a:r>
              <a:rPr lang="fr-FR" sz="2400" b="1" dirty="0"/>
              <a:t>Applications = Ensemble de processus légers (Thread)</a:t>
            </a:r>
          </a:p>
          <a:p>
            <a:pPr marL="1529080" indent="-367030">
              <a:spcBef>
                <a:spcPts val="600"/>
              </a:spcBef>
              <a:buFont typeface="Arial" panose="020B0604020202020204" pitchFamily="34" charset="0"/>
              <a:buChar char="•"/>
            </a:pPr>
            <a:endParaRPr lang="fr-FR" sz="1000" dirty="0"/>
          </a:p>
          <a:p>
            <a:endParaRPr lang="fr-FR" sz="2400" dirty="0"/>
          </a:p>
        </p:txBody>
      </p:sp>
    </p:spTree>
    <p:extLst>
      <p:ext uri="{BB962C8B-B14F-4D97-AF65-F5344CB8AC3E}">
        <p14:creationId xmlns:p14="http://schemas.microsoft.com/office/powerpoint/2010/main" val="23911646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649054" y="980728"/>
            <a:ext cx="9018947" cy="4724370"/>
          </a:xfrm>
          <a:prstGeom prst="rect">
            <a:avLst/>
          </a:prstGeom>
        </p:spPr>
        <p:txBody>
          <a:bodyPr wrap="square">
            <a:spAutoFit/>
          </a:bodyPr>
          <a:lstStyle/>
          <a:p>
            <a:r>
              <a:rPr lang="fr-FR" sz="2400" dirty="0"/>
              <a:t>Le système d’exploitation</a:t>
            </a:r>
          </a:p>
          <a:p>
            <a:endParaRPr lang="fr-FR" sz="2400" dirty="0"/>
          </a:p>
          <a:p>
            <a:pPr marL="810895" indent="-457200">
              <a:spcBef>
                <a:spcPts val="600"/>
              </a:spcBef>
              <a:buFont typeface="+mj-lt"/>
              <a:buAutoNum type="arabicPeriod" startAt="5"/>
            </a:pPr>
            <a:r>
              <a:rPr lang="fr-FR" sz="2400" b="1" dirty="0"/>
              <a:t>Les différents types de système d’exploitation</a:t>
            </a:r>
          </a:p>
          <a:p>
            <a:pPr marL="810895" indent="-457200">
              <a:spcBef>
                <a:spcPts val="600"/>
              </a:spcBef>
              <a:buFont typeface="+mj-lt"/>
              <a:buAutoNum type="arabicPeriod" startAt="5"/>
            </a:pPr>
            <a:endParaRPr lang="fr-FR" sz="800" b="1" dirty="0"/>
          </a:p>
          <a:p>
            <a:pPr marL="1170305" indent="-457200">
              <a:spcBef>
                <a:spcPts val="600"/>
              </a:spcBef>
              <a:buFont typeface="Arial" panose="020B0604020202020204" pitchFamily="34" charset="0"/>
              <a:buChar char="•"/>
            </a:pPr>
            <a:r>
              <a:rPr lang="fr-FR" sz="2400" b="1" dirty="0"/>
              <a:t>Multi tâches « coopératif » : </a:t>
            </a:r>
          </a:p>
          <a:p>
            <a:pPr marL="1170305" indent="-8255">
              <a:spcBef>
                <a:spcPts val="600"/>
              </a:spcBef>
            </a:pPr>
            <a:r>
              <a:rPr lang="fr-FR" sz="2400" dirty="0"/>
              <a:t>Chaque processus doit explicitement permettre à une autre tâche de s’exécuter.</a:t>
            </a:r>
          </a:p>
          <a:p>
            <a:pPr marL="1170305" indent="-8255">
              <a:spcBef>
                <a:spcPts val="600"/>
              </a:spcBef>
            </a:pPr>
            <a:r>
              <a:rPr lang="fr-FR" sz="2400" b="1" dirty="0"/>
              <a:t>Inconvénients</a:t>
            </a:r>
            <a:r>
              <a:rPr lang="fr-FR" sz="2400" dirty="0"/>
              <a:t> :</a:t>
            </a:r>
          </a:p>
          <a:p>
            <a:pPr marL="1438275" indent="-276225">
              <a:spcBef>
                <a:spcPts val="600"/>
              </a:spcBef>
              <a:buFont typeface="Arial" panose="020B0604020202020204" pitchFamily="34" charset="0"/>
              <a:buChar char="•"/>
            </a:pPr>
            <a:r>
              <a:rPr lang="fr-FR" dirty="0"/>
              <a:t>Processus en cours bloqué = système bloqué</a:t>
            </a:r>
          </a:p>
          <a:p>
            <a:pPr marL="1438275" indent="-276225">
              <a:spcBef>
                <a:spcPts val="600"/>
              </a:spcBef>
              <a:buFont typeface="Arial" panose="020B0604020202020204" pitchFamily="34" charset="0"/>
              <a:buChar char="•"/>
            </a:pPr>
            <a:r>
              <a:rPr lang="fr-FR" dirty="0"/>
              <a:t>Partage des ressources dépend de la programmation du processus.</a:t>
            </a:r>
          </a:p>
          <a:p>
            <a:pPr marL="1170305" indent="-8255">
              <a:spcBef>
                <a:spcPts val="600"/>
              </a:spcBef>
            </a:pPr>
            <a:endParaRPr lang="fr-FR" sz="1000" dirty="0"/>
          </a:p>
          <a:p>
            <a:pPr marL="1529080" indent="-367030">
              <a:spcBef>
                <a:spcPts val="600"/>
              </a:spcBef>
              <a:buFont typeface="Arial" panose="020B0604020202020204" pitchFamily="34" charset="0"/>
              <a:buChar char="•"/>
            </a:pPr>
            <a:endParaRPr lang="fr-FR" sz="1000" dirty="0"/>
          </a:p>
          <a:p>
            <a:endParaRPr lang="fr-FR" sz="2400" dirty="0"/>
          </a:p>
        </p:txBody>
      </p:sp>
      <p:pic>
        <p:nvPicPr>
          <p:cNvPr id="6146" name="Picture 2" descr="Microsoft Windows.svg"/>
          <p:cNvPicPr>
            <a:picLocks noChangeAspect="1" noChangeArrowheads="1"/>
          </p:cNvPicPr>
          <p:nvPr/>
        </p:nvPicPr>
        <p:blipFill>
          <a:blip r:embed="rId3" cstate="print"/>
          <a:srcRect/>
          <a:stretch>
            <a:fillRect/>
          </a:stretch>
        </p:blipFill>
        <p:spPr bwMode="auto">
          <a:xfrm>
            <a:off x="3215680" y="5373217"/>
            <a:ext cx="1263030" cy="1263031"/>
          </a:xfrm>
          <a:prstGeom prst="rect">
            <a:avLst/>
          </a:prstGeom>
          <a:noFill/>
        </p:spPr>
      </p:pic>
      <p:sp>
        <p:nvSpPr>
          <p:cNvPr id="5" name="ZoneTexte 4"/>
          <p:cNvSpPr txBox="1"/>
          <p:nvPr/>
        </p:nvSpPr>
        <p:spPr>
          <a:xfrm>
            <a:off x="3215681" y="5085184"/>
            <a:ext cx="1387175" cy="369332"/>
          </a:xfrm>
          <a:prstGeom prst="rect">
            <a:avLst/>
          </a:prstGeom>
          <a:noFill/>
        </p:spPr>
        <p:txBody>
          <a:bodyPr wrap="none" rtlCol="0">
            <a:spAutoFit/>
          </a:bodyPr>
          <a:lstStyle/>
          <a:p>
            <a:r>
              <a:rPr lang="fr-FR" dirty="0"/>
              <a:t>Windows 3.x</a:t>
            </a:r>
          </a:p>
        </p:txBody>
      </p:sp>
      <p:pic>
        <p:nvPicPr>
          <p:cNvPr id="6147" name="Picture 3"/>
          <p:cNvPicPr>
            <a:picLocks noChangeAspect="1" noChangeArrowheads="1"/>
          </p:cNvPicPr>
          <p:nvPr/>
        </p:nvPicPr>
        <p:blipFill>
          <a:blip r:embed="rId4" cstate="print"/>
          <a:srcRect/>
          <a:stretch>
            <a:fillRect/>
          </a:stretch>
        </p:blipFill>
        <p:spPr bwMode="auto">
          <a:xfrm>
            <a:off x="7680176" y="5157192"/>
            <a:ext cx="2232670" cy="1433230"/>
          </a:xfrm>
          <a:prstGeom prst="rect">
            <a:avLst/>
          </a:prstGeom>
          <a:noFill/>
          <a:ln w="9525">
            <a:noFill/>
            <a:miter lim="800000"/>
            <a:headEnd/>
            <a:tailEnd/>
          </a:ln>
        </p:spPr>
      </p:pic>
      <p:pic>
        <p:nvPicPr>
          <p:cNvPr id="9" name="Picture 4" descr="http://www.gizmodo.fr/wp-content/uploads/2011/11/Windows-95.jpg"/>
          <p:cNvPicPr>
            <a:picLocks noChangeAspect="1" noChangeArrowheads="1"/>
          </p:cNvPicPr>
          <p:nvPr/>
        </p:nvPicPr>
        <p:blipFill>
          <a:blip r:embed="rId5" cstate="print"/>
          <a:srcRect l="22777" t="14601" r="19015" b="12066"/>
          <a:stretch>
            <a:fillRect/>
          </a:stretch>
        </p:blipFill>
        <p:spPr bwMode="auto">
          <a:xfrm>
            <a:off x="5231904" y="5085184"/>
            <a:ext cx="1656184" cy="1584176"/>
          </a:xfrm>
          <a:prstGeom prst="rect">
            <a:avLst/>
          </a:prstGeom>
          <a:noFill/>
        </p:spPr>
      </p:pic>
    </p:spTree>
    <p:extLst>
      <p:ext uri="{BB962C8B-B14F-4D97-AF65-F5344CB8AC3E}">
        <p14:creationId xmlns:p14="http://schemas.microsoft.com/office/powerpoint/2010/main" val="37287518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649054" y="980729"/>
            <a:ext cx="9018947" cy="4770537"/>
          </a:xfrm>
          <a:prstGeom prst="rect">
            <a:avLst/>
          </a:prstGeom>
        </p:spPr>
        <p:txBody>
          <a:bodyPr wrap="square">
            <a:spAutoFit/>
          </a:bodyPr>
          <a:lstStyle/>
          <a:p>
            <a:r>
              <a:rPr lang="fr-FR" sz="2400" dirty="0"/>
              <a:t>Le système d’exploitation</a:t>
            </a:r>
          </a:p>
          <a:p>
            <a:endParaRPr lang="fr-FR" sz="2400" dirty="0"/>
          </a:p>
          <a:p>
            <a:pPr marL="810895" indent="-457200">
              <a:spcBef>
                <a:spcPts val="600"/>
              </a:spcBef>
              <a:buFont typeface="+mj-lt"/>
              <a:buAutoNum type="arabicPeriod" startAt="5"/>
            </a:pPr>
            <a:r>
              <a:rPr lang="fr-FR" sz="2400" b="1" dirty="0"/>
              <a:t>Les différents types de système d’exploitation</a:t>
            </a:r>
          </a:p>
          <a:p>
            <a:pPr marL="810895" indent="-457200">
              <a:spcBef>
                <a:spcPts val="600"/>
              </a:spcBef>
              <a:buFont typeface="+mj-lt"/>
              <a:buAutoNum type="arabicPeriod" startAt="5"/>
            </a:pPr>
            <a:endParaRPr lang="fr-FR" sz="800" b="1" dirty="0"/>
          </a:p>
          <a:p>
            <a:pPr marL="1170305" indent="-457200">
              <a:spcBef>
                <a:spcPts val="600"/>
              </a:spcBef>
              <a:buFont typeface="Arial" panose="020B0604020202020204" pitchFamily="34" charset="0"/>
              <a:buChar char="•"/>
            </a:pPr>
            <a:r>
              <a:rPr lang="fr-FR" sz="2400" b="1" dirty="0"/>
              <a:t>Multi tâches « préemptif » : </a:t>
            </a:r>
          </a:p>
          <a:p>
            <a:pPr marL="1170305" indent="-8255">
              <a:spcBef>
                <a:spcPts val="600"/>
              </a:spcBef>
            </a:pPr>
            <a:r>
              <a:rPr lang="fr-FR" sz="2400" dirty="0"/>
              <a:t>le processeur signale au système d’exploitation que le processus en cours d’exécution doit être mis en pause pour permettre l’exécution d’un autre processus.</a:t>
            </a:r>
          </a:p>
          <a:p>
            <a:pPr marL="1889125" indent="-276225">
              <a:spcBef>
                <a:spcPts val="600"/>
              </a:spcBef>
              <a:buFont typeface="Arial" panose="020B0604020202020204" pitchFamily="34" charset="0"/>
              <a:buChar char="•"/>
            </a:pPr>
            <a:r>
              <a:rPr lang="fr-FR" dirty="0"/>
              <a:t>Sauvegarde de l’état (compteur ordinal, registres)</a:t>
            </a:r>
          </a:p>
          <a:p>
            <a:pPr marL="1889125" indent="-276225">
              <a:spcBef>
                <a:spcPts val="600"/>
              </a:spcBef>
              <a:buFont typeface="Arial" panose="020B0604020202020204" pitchFamily="34" charset="0"/>
              <a:buChar char="•"/>
            </a:pPr>
            <a:r>
              <a:rPr lang="fr-FR" dirty="0"/>
              <a:t>File d’attente</a:t>
            </a:r>
          </a:p>
          <a:p>
            <a:pPr marL="1889125" indent="-276225">
              <a:spcBef>
                <a:spcPts val="600"/>
              </a:spcBef>
              <a:buFont typeface="Arial" panose="020B0604020202020204" pitchFamily="34" charset="0"/>
              <a:buChar char="•"/>
            </a:pPr>
            <a:r>
              <a:rPr lang="fr-FR" dirty="0"/>
              <a:t>Restauration du contexte d’exécution </a:t>
            </a:r>
          </a:p>
          <a:p>
            <a:pPr marL="1529080" indent="-367030">
              <a:spcBef>
                <a:spcPts val="600"/>
              </a:spcBef>
              <a:buFont typeface="Arial" panose="020B0604020202020204" pitchFamily="34" charset="0"/>
              <a:buChar char="•"/>
            </a:pPr>
            <a:endParaRPr lang="fr-FR" sz="1000" dirty="0"/>
          </a:p>
          <a:p>
            <a:endParaRPr lang="fr-FR" sz="2400" dirty="0"/>
          </a:p>
        </p:txBody>
      </p:sp>
      <p:pic>
        <p:nvPicPr>
          <p:cNvPr id="122882" name="Picture 2" descr="Le manchot Tux, mascotte de Linux, est dessiné de face, assis et souriant."/>
          <p:cNvPicPr>
            <a:picLocks noChangeAspect="1" noChangeArrowheads="1"/>
          </p:cNvPicPr>
          <p:nvPr/>
        </p:nvPicPr>
        <p:blipFill>
          <a:blip r:embed="rId3" cstate="print"/>
          <a:srcRect/>
          <a:stretch>
            <a:fillRect/>
          </a:stretch>
        </p:blipFill>
        <p:spPr bwMode="auto">
          <a:xfrm>
            <a:off x="4367808" y="5265160"/>
            <a:ext cx="1373138" cy="1592841"/>
          </a:xfrm>
          <a:prstGeom prst="rect">
            <a:avLst/>
          </a:prstGeom>
          <a:noFill/>
        </p:spPr>
      </p:pic>
      <p:pic>
        <p:nvPicPr>
          <p:cNvPr id="122886" name="Picture 6" descr="https://encrypted-tbn0.gstatic.com/images?q=tbn:ANd9GcRzWyHtznzdq9AHEzc0o2kRb_7EUV9AGGPPX3YU2TaWpC9qQD9OCg"/>
          <p:cNvPicPr>
            <a:picLocks noChangeAspect="1" noChangeArrowheads="1"/>
          </p:cNvPicPr>
          <p:nvPr/>
        </p:nvPicPr>
        <p:blipFill>
          <a:blip r:embed="rId4" cstate="print"/>
          <a:srcRect/>
          <a:stretch>
            <a:fillRect/>
          </a:stretch>
        </p:blipFill>
        <p:spPr bwMode="auto">
          <a:xfrm>
            <a:off x="1615134" y="5689180"/>
            <a:ext cx="2752675" cy="908172"/>
          </a:xfrm>
          <a:prstGeom prst="rect">
            <a:avLst/>
          </a:prstGeom>
          <a:noFill/>
        </p:spPr>
      </p:pic>
      <p:sp>
        <p:nvSpPr>
          <p:cNvPr id="122888" name="AutoShape 8" descr="data:image/jpeg;base64,/9j/4AAQSkZJRgABAQAAAQABAAD/2wCEAAkGBhAQEBUUEBAVFBAQFxQVFhQXEhAUDxUPFBUVFBcQFRUXHCgeGBkjGRQVHy8iIycpLCwtFh4xNTAqNSYrLCkBCQoKDgwOGg8PGjEkHSQsLTI1NCk1LCktLDUsLCwpKjAsLCwuLCwsLCwsLCksLCosLSwsKSk1LywsKSksKSwsL//AABEIAOcA2wMBIgACEQEDEQH/xAAbAAEAAgMBAQAAAAAAAAAAAAAAAQYDBAUHAv/EAEAQAAICAQEFBQUHAgMHBQAAAAECAAMRBAUSITFBBhMiUWEyUnGBkRQjQnKCobEzYgeS8ENzssHC0eEVJGOi8f/EABkBAQADAQEAAAAAAAAAAAAAAAABAwQCBf/EACYRAQACAgEEAQQDAQAAAAAAAAABAgMREgQhMUEiMlGh8CNhkRT/2gAMAwEAAhEDEQA/APcYiICJBnP2jtyug4YOzc8JWzfU+yPmYHRiVqztn7umsx5s9K/srMZ3KdaGUHGN4A/WBsxMX2gR9oEDLEx9+I74f6xAyRMffCT3ogfcT470f6zJ7wQPqJ894PON8ecD6ifO+POTvCBMSN6MwJiRJgIiICIiAiIgIiIAyi7fbGpt5gZHHwgY3F6y9Tzjtq2G1BHMYPI5wAmePThmBrU6kODhhwJB8eceWcemD85fNH/TT8q/8InmXZq/fqfGchzkgDjlV4ZPlPT9N/TT8q/wJMxohg1m0q68gsN8DITIBJ5gE8h85Oz9clqZV1Zl4Pu5wr4BIweI+fTEo3aTVPTqrVbgHPeKTzZGxg5PkRu/plh7D6vvNMRukbljAt0ct494HqQCF+U6msRXbmJ76WKIiVuiIiAiIkhGYkwGYzEQkyY3jEiB9bxjfM+YgSbsdf3n0LT5zidqX1IoP2U4t3l5NWpK4clQX4Z4fGb+ze87te9BFm74gd3ezk8yOBOMSddtud99OnQciZJi0/KZZCSIiAiIgDKF2hUHUWg4IY4ILcCCigjEvsou3B/7izn7XkPdXrA5NOnRFwiqo8hvYz5/sJftN7C/lX+BKQc46/VRLvR7C/lX+BAl6FYgsqkrnBKqSM88E8sya6lUYVQqjkAABx48hPqJATXu19SNuvaiseOGdVbHngmbEr23Ngamxy+n1CKHwWqtqD1lgAuQw8QyAOE7pETOpnSLTMR2h3a9Qjey6n4Mp/gzKFlDSlUsFWq0iJc3sEYNNuOJ7t/e/tPGZm02lAyKMY6ZxL/+ffif3/VE54jyu+6fI/SfLNjmQM+fAzzfU5LBadMGdjgLmxj58csB0mZOxWutI7waepOo8LNjqPAv/VOp6eK/VbSK9RN/prt6HExaWncRU3i24qrvH2m3VAyfXhn5zJMjUkKfKRKR2p2Fr3tZ6ESxSxKsLClwXAxWQxwcdMfScvRPrfEpuvrsqwWrd71YK2QGHjwRkEcppr08WjcWhmvn4Tqay9LzEomnXWuOGtuHzU/8UyHR6osVOv1TMOao3iHxCKSvzxJnp9ebQiOpifESu8mcHYGzdRXZvPbe1ZQhlvtWwmzK7rJzK4AbOeeRwneme0anUTtorbcb1pr63QJcu64yuQcZYeIZwcg+pn3pNKtSBF4KowBkk49SeJmaJyln0/KZZi0/KZYCIiAiIgJ552oZhdaUNYIdSTZvd2KwFLsxHLC5noRnm/bMZa5e578PYimkuqh1YqDxPBSOeT5QOZsnaFl++xRRSABXYEbFp4lnVW8W57IBPPiRw4n0un2V+C/wJ5rsq/UnfGorCgYKMb1tdgSQVdkAXIwOOPjPSqR4V+A/iB9xEmEoiTEDU2ps1NRUa24ZwVYe0lq8VtX+4Hj/APsqWuRnrLEBbQWSxRyW9D4sf2ngw9GEu84G2dLu3BvwaoCtvIahAe7f9Sgp8Qkvw34zpRmpFqq5snaO5ZXb+BG3bB5VuNwv+kkH4Az0LE8yKCnUFGGa7c8OnHgw+n8y7dmNcbKdxzmzTkVsTzZAM12H4pj5q0v6um9Xhm6O+t459OvESZhegSu9oLlW8H3NPZvfB7a9xfqj4+csJI68B59Meco2r1Ztc2Bd43MjInvDimlpPx8Vp8g3pL8Fd22pzW1Xs6GytO9hFakrgBrrBwZd7iKUPR2HEn8K+pEs2n06VqFRQqjoOXx+PrzmHZezxRWEB3jxZ26va3F3+Z5eQAHSbU4yX5SnHjildJkSZErWJiIgZ9PymWYtPymWAiIgIiIAzzDt6QO+ZkDKliMQzpWgwy+NnbkBnPXiBwM9PM8+7Q6cPqGyoIW1X4qSPDxB9cHB/TA5Ww7C9AfdVRYXsAR0srw7FiQ4GDklmwOWcdDPRqvZHwH8ShaeoqG3kVcu5ChSfCWJB6cT7RHmTL7UPCPgP4ED7iIhJERAia+0NELqmrY43xwYc1cEFXHqGAPymxEROu6FA25pmuqD4xchIdfd1FfB1HocZHowmTs7tUK6W58L4qt9FY/dufyucfB2nc2xpd27P4NXhD5DVIvgb9aAr8UXzlPrrFN7VsPu7c4Hx4MP9ec9PFMZKTV5eaJxZIyQ9Qic3YGtNlIDnNlX3bnqSAN2z9SkH458p0p5toms6l6cTuNw43abWAV91k/fZ3yOY06YNh+LZCD1f0ml2a0Rsta5wMVllXyN7DFjD0RcVD9c0Ndqmvt3k9q5lSnPIICe7JHlwsvPoElv0OjSmta09lAAM8z/AHE9STkk+ZMvt/HTj7lTHzvv1DPECJnXkiTIgTERAz6flMsxaflMsBERAREQBnnXaiovbYgcp3lgQsrMtgQ8W3T0YqpAPTOek9FnnPatGZ7FTeDtaoRldAUsBDC3DcMLukkdRkdYHP2XoRQWrV2NWFdA9rOyZyrIGbiVyAwzyJbpjHo6ch8B/AnmXZ6537xrLGst3ihYUrVSUrZ0HdLk5XfFmWJyTnoBPTl5D4D+IExIiEkRJgRJxAkwhq7S0IuqasnG8ODdVdSGWweqsAflKNt2hrahaFxdWSHUfhvr8NifA8x6FZ6FK9tnSBLs/wCz1eEPkuqRfA360BT4qs0YL8bKM1OddOV2Z2qA6vnw2AVv5Zzmt/kxI/WfKd/tJrd2vu8nNud7HtChcb5HqchB6v6Tz91bT3OmMpZnA6ceBX9/3nbWq6xlRrS+pt3ELnHgCgkYx7ib7k9WKzVlxRNov6Y8GaYrOOfLs9l9Fvs17AcN6uvHs9Ba6+mVFY9Kz5yyCYtNp1rRUQYRFCqPJVGBMswXtynb0a14xoEQInDokSYgIiTAzaflMsxUcplgIiICIiBBnn/aOpmssCWGuzvPA+4j7tgzg7p9oYzwPSegmebdsbK1NrWB8C0bm4ha3v8AJ7rcA5tv4wDwzjPDMDX2dswUKEViVSuutQU8Q3d4tYzA+JmZsny5cZ6GvITzLYBsJtbUOv2ltwWUjIShQH3EQgneUglt7PEkz00ch8ICTEQkjESYQREQE1tpaEX1NWxxvjgw5q44o49VYA/KbM+bLFUFmOFUEk9Ao4k/STH9Cj668bi2uMPgiwdBcjFHAHlvA4+In12b1AW+p24izvKifdst3Cp+Zr3P1Ccrbt7OFGMbzGxh5WaiwulZ9QGGZOjPd2Gmz8Q4Een4h6g/uJ60U3j193j2ycc3KPEPTImpsvWG2sFsb48L45d4vMj0PBh6MJtzyZjU6evE7jcAiBAEhJJMYiAiIgZqOUyzFRymWAiIgIiICUTaqA3vnHCwke0MMCcHyzxMvZlG2kfvrPzv+LHU+cDUWsBiw5sFBwwPBSxHP8x+su4lMAPr9FMukBIkyICTIkwERECJxO0ur4LVjO/47B51KQFr/W+6vw3p2bLAoLMcKoJJPIKOJP0lKvL6m0AZWzUsPjXSF4fApUSfz3CXYa7nc+IV5LajUeZbWzezy6ut3uJ3WJ7pgSMWA+LVjzO+MLngFT+6cfb9TtWtxXF9DMtoHIWIcPj0Iw49GE9DppVFCoMKgCqByCqMAfIASv7d0YW4HH3erHdt5DU1qTW36k3k+KpLceaearJhjhph7M7S4rx8NuFP+8A+7b5jeT5JLSBPM9jN3Vj0MSAD4T1Ckgqw9VbB/TPRNnavvawx4NxVx0Fi8GHwzxHoRHVU1blHtx0uTdeM+YbAEmImRsIiICIiBmo5TLMVHKZYCIiAiIgQZSNo/wBazifbfqp/Eehl4MpO0B97Z+d+in8R+cDW3fMfVT/IlzlNQDI5DiPeUy5GAkSZEBJkSYCJE+NRetaM7nCICzHyUDJMDj9pdYCBUBnew9g86wcJV+t8D8qtMfZXSbwbUNxNuVrPnUGy1n63yfyqk49yWam0IcrZqWy/nXXujI9O7qIX89su1VQVQFGFUAADgAoGAB6ATRf4UivuVNflbl6h9YmptXQd/S9ed1mGVb3bVIZH+TKDNyJRE6na7y8z25kirVBd0+zYvusG3HQ/lcH5S0dnteN4cfDcMenfIPCf1ICP0DzmvtzQAXWIR93q1axfIXoAtq/qTdf9LThdnbiN6lm3XQgAnoykMlnyO6f2no9smPX2/fw8228WXf3ekxNfQ6vva1bGCchh7rqd1k+TAibE82Y09KO5ERAREQM1HKZZio5TLAREQEREAZStoD76z87dPU9Rxl1MpWvX72z87fhPmeogYEPEYPX3j/BlwlQQ8R8uoP8AMt5gJEmRASZEmAnA7Ra7eYVLxWvdewdC5P3NHzYb59FHnOrtPXCisuRvHgqoOb2NwWsfE/QZPSU/VI7Hug+brWAdx11Fx3WceiJnHkFEvw03O5UZr8Y1Hl2uyeiyrXnibcqhPM0qTl/12Fm+G55Swz4pqVFCoMIgCqPJVGAPoBPuVXtyna2teMaIiJy6c3b+ha2k92PvqiLav94nHc+DDKfqlF2oQlteor/p3Af5W4rn1ByD8J6ZKXtnZQzdRjwH7+r0S0nfQfltyf1zX02TjOmXqcfOrrbD1eHx+G7iPS5R4h+pMH4o3nO9KHsG9mq3c4sQjdPQWocqT6Z4H0Yy66LVi2sOBjOcqeauDhkPqCCPlOeopxsdNk5VZ4iJmaiIiBmo5TLMVHKZYCIiAiIgDKXrx97Z+dveHU9RLoZTNd/Vfp4394fiPygYEGSOvEeTfvLcZU0HEZ8x0z18xLYYCRJxJAgQBNHae26NN/VsG+fZrHiuY+SoOJM+9r02PS4pJFhAxht1sZ8Sqx9liuQD0JEoem7P7RR2On0VVIb8dlyPew8y+STLsWOtu9p0qyXmviNu419l1ne3Dc3ciqrIbuw3Au562EcOHBRkdTOSmr7q8PjJSwPu8N5l4ggeu6xx8JsL2Y2seeooX0y5/iuG7HbRb2tRp2+KOf8Apmys467jlDHeuW0xMR4W3Q7ZouGa7lY9VyA49CrYIPym7PO9V2D1x5NpSfjcDjy8SkSxdj9h6nTK/wBodPHu7qIzsoI3t58sAATkDA92ZcmOlY3W22ul7zOrV0sURB/n6/ETOuaG0dvabT576+tCPwlhv/5Rk/tKvqNtfaLTdulKVrNVW/wd95w72kdF8CgfOal/+HOqLg13aZN3/ad1YbnPvuWJ8R64MzD/AAztbjbtBiTz3af+bOZupXDTvNu7Jec1u0Q1tNqq62JLjxHPn0xOnoe0laWZWxTv43kLBd4gYDqW4B8AAg8GwOIPPCv+FlfXW3n4LSP5Bnzb/hRURw1l3zWlh/AllsmC/aZ/CnHgy0nsuGk2nXbwUkNjO6wKvjqQDwYeqkibUp/Zv/DsaPULcdU9ndht1N0Im86lCx8RzwJ5Y6eUuEw5IrE/Gdw315a+RERK3TNRymWYqOUywEREBERASma3+q/526kfiPnwlzlN1h+8f8zdcdT0PCBirXiPiOmOvmOEthEqlQwR04jzU8/pLXAREQE5+3dRdVp7H04rNtas4FpcVlVBZgSnHOBwnQnL7UvjQ6k//Bd+9bCBr9je0X/qGir1DIEd99XrGfBajFGTjx6dfOaOx+1F+q2nqtOi1rpdF3YLFLDda7h1O4d4KqrYjDOD7P05uxdcNm6zalLD7tQNo1L1YWpu2qPjagHxPrMXZrSXabX6ytAr6hNBozhjhH1X3zEs3QG1jk+sD0HHp+0ATznbWl+yWbLNl+9tO3V0i+zvG37KrUsFqhcjFG8AqrgDgOGczpdnNDVtbS2anVKLF1b3rUGzijS12NSgq9xyULlxhiWHQDAWXbu2atFprdRcSK6VLHHtHkAg9SSAPjOXodBr76hbdrH099gDimqvTtp6d7itbixC1rAYDHeXjnG7znB/xM0rVbL0lLWNYq6nQ1XWN7T1pkF39SyqT6mehNzPxMCjt24sNHdWblOvGsq0FpGGqrssORqkDc0asFlDdeBzjj2dNsrVUausrqLrdK6Wi5bnrcpaN012Id0MMnfBUcOXCVG3szTtHam19Pbnumr0JLLjeTVKh3LB03gC3yJHWbfZnaO0dn66rZ+0LBqadQrnS6rlaWqG8arM8Sd3zyeXEg8A2+3es1ejto1C6y2vQPalWqRU0xNSP4VuR3rLKu9wbJPPhjM3tXp79TtFlq1l9Wm09ad8tZqCtqX8aVoxQlMV+NsHj3ies6Pa7ufsN4vQvW9ZTcHtu9mErrT+8uyAepE4P+F1zV0W6PUADW6G0rccljaLPFXqN48WDLgAnog9BAusREBERAzUcplmKjlMsBERARPh7AOcxHXJ5wNiUnaV6o1jMcKpdjwJ8IJJ8PX5S2/b085T9pqHFq7oYP3g3CxUMDvDdz0z5gwMmnIyuDz3TwyuQcdDLVKtpVxuDBXAQbpbLDG7wOeZ9RLTAREQEr3b3aSU6C7fzm5TUiqru7O3MAKCeAyflLDMWpZgvgJByo4DJ3SwBOPRST8oFU23sQ67W6DV6ds0YsW8gY39KCuoqVgwBwbql+s57bUtXa2tup01772jWupjptSKbNXR3j93vlMY6ZOAeh4iXNNTeVOa/EoXnkbxOM46efXpPm2684wmB9Tg7wxz6cD6wPNjrWt0uz7q9Lqbnr1em1Gtt7iwXNqAro6KhGbMM5A3fCihQOeJYOymrfZlbaO/Tagqllj6Zq6LLlsouc2iotXlUtVnZSGIHXOOMtm/fu8snhxOCSN0HjxHXP0EK9+eKgLg8t3O9u8uJ5b38CBp9odhLtHQ2UXA1m9B1VmqtGHU5HAlWA5Hjx4zS0faLV11ivUaDUPrEG6TUqtpbnAx3q3kha1bmQ+6VyeBxx6qjU8T4d4heGVKhgBnHpzn01d54ZXqPw8RkY6cDjPzECrafs/rNIE1IT7Rq7NU+o1ddbqu9XZU9IppLkBhUGTdDEZweWZ1V0dmr1lF9lD01aIWlBZ3ffWX3KK97dRm3EVA3M5JbkMceq1d+cBhjHpjgRwJxnJUkfEZkHS3k8beHx45zxPBccuEDlbS0utu1tBOnr+xaawvk6gd69hTdS/u9zGE3nIXOSSDkYmptfYOu/8AVK9ZpFoCpUabVe61W1FJIYAhaiEKNnByc4HThLAlFxHicghj1HFeA+XIyRorOtx5+bDzzyPw+kDdiQgOBnicDPx85MBERAzUcplmKjlMsBERA+LKg3OaN2ygeU6MQOBboWXpmV3U6U77FXZHJOQD4T8a24HpxE9AKgzV1Wzq7BhlB+I/1iBUNE1odVYKQSPEvhwfWtv+RlvnNOwNwgoxwD7J8Q8+BPETfy/u/v8A+IH3E+MWe6PqY3LPJfo0D7ifIqs/t/yn/vHc2eY/y/8AmB9RI+z2e9+yx9lf3/2WBMSPsje+f/r/ANpP2M++31/8QESfsX9zf5jH2Ee83+Zv+8BiMSfsC+v1MfYE8oHzGR5z7GhTyH0En7Gnuj6CBi3x5j6iR3q+8PqJnGkT3R9BJ+zr5QNbvl94fUR3y+Ym33Q8pPdjygfGnORMsgCTAREQEREBERAREQEREBERAREQEREBERAREQEREBERAREQEREBERA//9k="/>
          <p:cNvSpPr>
            <a:spLocks noChangeAspect="1" noChangeArrowheads="1"/>
          </p:cNvSpPr>
          <p:nvPr/>
        </p:nvSpPr>
        <p:spPr bwMode="auto">
          <a:xfrm>
            <a:off x="1679576" y="-1050925"/>
            <a:ext cx="2085975" cy="2200275"/>
          </a:xfrm>
          <a:prstGeom prst="rect">
            <a:avLst/>
          </a:prstGeom>
          <a:noFill/>
        </p:spPr>
        <p:txBody>
          <a:bodyPr vert="horz" wrap="square" lIns="91440" tIns="45720" rIns="91440" bIns="45720" numCol="1" anchor="t" anchorCtr="0" compatLnSpc="1"/>
          <a:lstStyle/>
          <a:p>
            <a:endParaRPr lang="fr-FR"/>
          </a:p>
        </p:txBody>
      </p:sp>
      <p:pic>
        <p:nvPicPr>
          <p:cNvPr id="122890" name="Picture 10" descr="http://www.maclife.com/files/u32/0203_osx_300.jpg"/>
          <p:cNvPicPr>
            <a:picLocks noChangeAspect="1" noChangeArrowheads="1"/>
          </p:cNvPicPr>
          <p:nvPr/>
        </p:nvPicPr>
        <p:blipFill>
          <a:blip r:embed="rId5" cstate="print"/>
          <a:srcRect/>
          <a:stretch>
            <a:fillRect/>
          </a:stretch>
        </p:blipFill>
        <p:spPr bwMode="auto">
          <a:xfrm>
            <a:off x="9163064" y="5157192"/>
            <a:ext cx="1613456" cy="1700809"/>
          </a:xfrm>
          <a:prstGeom prst="rect">
            <a:avLst/>
          </a:prstGeom>
          <a:noFill/>
        </p:spPr>
      </p:pic>
      <p:pic>
        <p:nvPicPr>
          <p:cNvPr id="122891" name="Picture 11"/>
          <p:cNvPicPr>
            <a:picLocks noChangeAspect="1" noChangeArrowheads="1"/>
          </p:cNvPicPr>
          <p:nvPr/>
        </p:nvPicPr>
        <p:blipFill>
          <a:blip r:embed="rId6" cstate="print"/>
          <a:srcRect/>
          <a:stretch>
            <a:fillRect/>
          </a:stretch>
        </p:blipFill>
        <p:spPr bwMode="auto">
          <a:xfrm>
            <a:off x="5735961" y="5373216"/>
            <a:ext cx="1562373" cy="1356940"/>
          </a:xfrm>
          <a:prstGeom prst="rect">
            <a:avLst/>
          </a:prstGeom>
          <a:noFill/>
          <a:ln w="9525">
            <a:noFill/>
            <a:miter lim="800000"/>
            <a:headEnd/>
            <a:tailEnd/>
          </a:ln>
        </p:spPr>
      </p:pic>
      <p:pic>
        <p:nvPicPr>
          <p:cNvPr id="122892" name="Picture 12"/>
          <p:cNvPicPr>
            <a:picLocks noChangeAspect="1" noChangeArrowheads="1"/>
          </p:cNvPicPr>
          <p:nvPr/>
        </p:nvPicPr>
        <p:blipFill>
          <a:blip r:embed="rId7" cstate="print"/>
          <a:srcRect/>
          <a:stretch>
            <a:fillRect/>
          </a:stretch>
        </p:blipFill>
        <p:spPr bwMode="auto">
          <a:xfrm>
            <a:off x="7320137" y="5517233"/>
            <a:ext cx="1908051" cy="1180767"/>
          </a:xfrm>
          <a:prstGeom prst="rect">
            <a:avLst/>
          </a:prstGeom>
          <a:noFill/>
          <a:ln w="9525">
            <a:noFill/>
            <a:miter lim="800000"/>
            <a:headEnd/>
            <a:tailEnd/>
          </a:ln>
        </p:spPr>
      </p:pic>
    </p:spTree>
    <p:extLst>
      <p:ext uri="{BB962C8B-B14F-4D97-AF65-F5344CB8AC3E}">
        <p14:creationId xmlns:p14="http://schemas.microsoft.com/office/powerpoint/2010/main" val="29956657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649054" y="980728"/>
            <a:ext cx="9018947" cy="7509748"/>
          </a:xfrm>
          <a:prstGeom prst="rect">
            <a:avLst/>
          </a:prstGeom>
        </p:spPr>
        <p:txBody>
          <a:bodyPr wrap="square">
            <a:spAutoFit/>
          </a:bodyPr>
          <a:lstStyle/>
          <a:p>
            <a:r>
              <a:rPr lang="fr-FR" sz="2400" dirty="0"/>
              <a:t>Le système d’exploitation</a:t>
            </a:r>
          </a:p>
          <a:p>
            <a:endParaRPr lang="fr-FR" sz="2400" dirty="0"/>
          </a:p>
          <a:p>
            <a:pPr marL="810895" indent="-457200">
              <a:spcBef>
                <a:spcPts val="600"/>
              </a:spcBef>
              <a:buFont typeface="+mj-lt"/>
              <a:buAutoNum type="arabicPeriod" startAt="5"/>
            </a:pPr>
            <a:r>
              <a:rPr lang="fr-FR" sz="2400" b="1" dirty="0"/>
              <a:t>Les différents types de système d’exploitation</a:t>
            </a:r>
          </a:p>
          <a:p>
            <a:pPr marL="810895" indent="-457200">
              <a:spcBef>
                <a:spcPts val="600"/>
              </a:spcBef>
              <a:buFont typeface="+mj-lt"/>
              <a:buAutoNum type="arabicPeriod" startAt="5"/>
            </a:pPr>
            <a:endParaRPr lang="fr-FR" sz="800" b="1" dirty="0"/>
          </a:p>
          <a:p>
            <a:pPr marL="1170305" indent="-457200">
              <a:spcBef>
                <a:spcPts val="600"/>
              </a:spcBef>
              <a:buFont typeface="Arial" panose="020B0604020202020204" pitchFamily="34" charset="0"/>
              <a:buChar char="•"/>
            </a:pPr>
            <a:r>
              <a:rPr lang="fr-FR" sz="2400" b="1" dirty="0"/>
              <a:t>Multi processeurs</a:t>
            </a:r>
          </a:p>
          <a:p>
            <a:pPr marL="1170305" indent="-6350">
              <a:spcBef>
                <a:spcPts val="600"/>
              </a:spcBef>
            </a:pPr>
            <a:r>
              <a:rPr lang="fr-FR" sz="2400" dirty="0"/>
              <a:t>système avec plusieurs processeurs en parallèle</a:t>
            </a:r>
          </a:p>
          <a:p>
            <a:pPr marL="1529080" indent="-365125">
              <a:spcBef>
                <a:spcPts val="600"/>
              </a:spcBef>
              <a:buFont typeface="Cambria" panose="02040503050406030204" pitchFamily="18" charset="0"/>
              <a:buChar char="⇒"/>
            </a:pPr>
            <a:r>
              <a:rPr lang="fr-FR" sz="2400" dirty="0"/>
              <a:t>vrai </a:t>
            </a:r>
            <a:r>
              <a:rPr lang="fr-FR" sz="2400" dirty="0" err="1"/>
              <a:t>multi-tâches</a:t>
            </a:r>
            <a:endParaRPr lang="fr-FR" sz="2400" dirty="0"/>
          </a:p>
          <a:p>
            <a:pPr marL="1529080" indent="-365125">
              <a:spcBef>
                <a:spcPts val="600"/>
              </a:spcBef>
              <a:buFont typeface="Cambria" panose="02040503050406030204" pitchFamily="18" charset="0"/>
              <a:buChar char="⇒"/>
            </a:pPr>
            <a:r>
              <a:rPr lang="fr-FR" sz="2400" dirty="0"/>
              <a:t>Autant de processus que processeurs en même temps</a:t>
            </a:r>
          </a:p>
          <a:p>
            <a:pPr marL="1529080" indent="-365125">
              <a:spcBef>
                <a:spcPts val="600"/>
              </a:spcBef>
            </a:pPr>
            <a:endParaRPr lang="fr-FR" sz="800" dirty="0"/>
          </a:p>
          <a:p>
            <a:pPr marL="1529080" indent="-365125">
              <a:spcBef>
                <a:spcPts val="600"/>
              </a:spcBef>
            </a:pPr>
            <a:r>
              <a:rPr lang="fr-FR" sz="2400" dirty="0"/>
              <a:t>En fait :</a:t>
            </a:r>
          </a:p>
          <a:p>
            <a:pPr marL="1529080" indent="-365125">
              <a:spcBef>
                <a:spcPts val="600"/>
              </a:spcBef>
              <a:buFont typeface="Arial" panose="020B0604020202020204" pitchFamily="34" charset="0"/>
              <a:buChar char="•"/>
            </a:pPr>
            <a:r>
              <a:rPr lang="fr-FR" sz="2400" dirty="0"/>
              <a:t>Puissance de calcul plus importante</a:t>
            </a:r>
          </a:p>
          <a:p>
            <a:pPr marL="1529080" indent="-365125">
              <a:spcBef>
                <a:spcPts val="600"/>
              </a:spcBef>
              <a:buFont typeface="Arial" panose="020B0604020202020204" pitchFamily="34" charset="0"/>
              <a:buChar char="•"/>
            </a:pPr>
            <a:r>
              <a:rPr lang="fr-FR" sz="2400" dirty="0"/>
              <a:t>disponibilité du système (en cas de panne d'un processeur)</a:t>
            </a:r>
          </a:p>
          <a:p>
            <a:pPr marL="1529080" indent="-365125">
              <a:spcBef>
                <a:spcPts val="600"/>
              </a:spcBef>
              <a:buFont typeface="Arial" panose="020B0604020202020204" pitchFamily="34" charset="0"/>
              <a:buChar char="•"/>
            </a:pPr>
            <a:r>
              <a:rPr lang="fr-FR" sz="2400" dirty="0"/>
              <a:t>SMP (</a:t>
            </a:r>
            <a:r>
              <a:rPr lang="fr-FR" sz="2400" dirty="0" err="1"/>
              <a:t>Symmetric</a:t>
            </a:r>
            <a:r>
              <a:rPr lang="fr-FR" sz="2400" dirty="0"/>
              <a:t> </a:t>
            </a:r>
            <a:r>
              <a:rPr lang="fr-FR" sz="2400" dirty="0" err="1"/>
              <a:t>Multiprocessing</a:t>
            </a:r>
            <a:r>
              <a:rPr lang="fr-FR" sz="2400" dirty="0"/>
              <a:t>) : architecture dans laquelle tous les processeurs accèdent à un espace mémoire partagé. </a:t>
            </a:r>
          </a:p>
          <a:p>
            <a:pPr marL="1170305" indent="-457200">
              <a:spcBef>
                <a:spcPts val="600"/>
              </a:spcBef>
            </a:pPr>
            <a:endParaRPr lang="fr-FR" sz="2400" b="1" dirty="0"/>
          </a:p>
          <a:p>
            <a:pPr marL="1170305" indent="-8255">
              <a:spcBef>
                <a:spcPts val="600"/>
              </a:spcBef>
            </a:pPr>
            <a:endParaRPr lang="fr-FR" sz="1000" dirty="0"/>
          </a:p>
          <a:p>
            <a:pPr marL="1529080" indent="-367030">
              <a:spcBef>
                <a:spcPts val="600"/>
              </a:spcBef>
              <a:buFont typeface="Arial" panose="020B0604020202020204" pitchFamily="34" charset="0"/>
              <a:buChar char="•"/>
            </a:pPr>
            <a:endParaRPr lang="fr-FR" sz="1000" dirty="0"/>
          </a:p>
          <a:p>
            <a:endParaRPr lang="fr-FR" sz="2400" dirty="0"/>
          </a:p>
        </p:txBody>
      </p:sp>
    </p:spTree>
    <p:extLst>
      <p:ext uri="{BB962C8B-B14F-4D97-AF65-F5344CB8AC3E}">
        <p14:creationId xmlns:p14="http://schemas.microsoft.com/office/powerpoint/2010/main" val="34643463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649054" y="980728"/>
            <a:ext cx="9018947" cy="5124480"/>
          </a:xfrm>
          <a:prstGeom prst="rect">
            <a:avLst/>
          </a:prstGeom>
        </p:spPr>
        <p:txBody>
          <a:bodyPr wrap="square">
            <a:spAutoFit/>
          </a:bodyPr>
          <a:lstStyle/>
          <a:p>
            <a:r>
              <a:rPr lang="fr-FR" sz="2400" dirty="0"/>
              <a:t>Le système d’exploitation</a:t>
            </a:r>
          </a:p>
          <a:p>
            <a:endParaRPr lang="fr-FR" sz="2400" dirty="0"/>
          </a:p>
          <a:p>
            <a:pPr marL="810895" indent="-457200">
              <a:spcBef>
                <a:spcPts val="600"/>
              </a:spcBef>
              <a:buFont typeface="+mj-lt"/>
              <a:buAutoNum type="arabicPeriod" startAt="5"/>
            </a:pPr>
            <a:r>
              <a:rPr lang="fr-FR" sz="2400" b="1" dirty="0"/>
              <a:t>Les différents types de système d’exploitation</a:t>
            </a:r>
          </a:p>
          <a:p>
            <a:pPr marL="810895" indent="-457200">
              <a:spcBef>
                <a:spcPts val="600"/>
              </a:spcBef>
              <a:buFont typeface="+mj-lt"/>
              <a:buAutoNum type="arabicPeriod" startAt="5"/>
            </a:pPr>
            <a:endParaRPr lang="fr-FR" sz="800" b="1" dirty="0"/>
          </a:p>
          <a:p>
            <a:pPr marL="1170305" indent="-457200">
              <a:spcBef>
                <a:spcPts val="600"/>
              </a:spcBef>
              <a:buFont typeface="Arial" panose="020B0604020202020204" pitchFamily="34" charset="0"/>
              <a:buChar char="•"/>
            </a:pPr>
            <a:r>
              <a:rPr lang="fr-FR" sz="2400" b="1" dirty="0"/>
              <a:t>Mono utilisateur</a:t>
            </a:r>
          </a:p>
          <a:p>
            <a:pPr marL="1170305" indent="-457200">
              <a:spcBef>
                <a:spcPts val="600"/>
              </a:spcBef>
              <a:buFont typeface="Arial" panose="020B0604020202020204" pitchFamily="34" charset="0"/>
              <a:buChar char="•"/>
            </a:pPr>
            <a:r>
              <a:rPr lang="fr-FR" sz="2400" b="1" dirty="0"/>
              <a:t>Multi utilisateurs</a:t>
            </a:r>
          </a:p>
          <a:p>
            <a:pPr marL="1889125" indent="-457200">
              <a:spcBef>
                <a:spcPts val="600"/>
              </a:spcBef>
              <a:buFont typeface="Arial" panose="020B0604020202020204" pitchFamily="34" charset="0"/>
              <a:buChar char="•"/>
            </a:pPr>
            <a:r>
              <a:rPr lang="fr-FR" sz="2400" dirty="0"/>
              <a:t>Peuvent supporter plusieurs sessions en même temps</a:t>
            </a:r>
          </a:p>
          <a:p>
            <a:pPr marL="1889125" indent="-457200">
              <a:spcBef>
                <a:spcPts val="600"/>
              </a:spcBef>
              <a:buFont typeface="Arial" panose="020B0604020202020204" pitchFamily="34" charset="0"/>
              <a:buChar char="•"/>
            </a:pPr>
            <a:r>
              <a:rPr lang="fr-FR" sz="2400" dirty="0"/>
              <a:t>Localement / à distance (terminal, </a:t>
            </a:r>
            <a:r>
              <a:rPr lang="fr-FR" sz="2400" dirty="0" err="1"/>
              <a:t>ssh</a:t>
            </a:r>
            <a:r>
              <a:rPr lang="fr-FR" sz="2400" dirty="0"/>
              <a:t>, bureau à distance, …)</a:t>
            </a:r>
          </a:p>
          <a:p>
            <a:pPr marL="1889125" indent="-457200">
              <a:spcBef>
                <a:spcPts val="600"/>
              </a:spcBef>
              <a:buFont typeface="Arial" panose="020B0604020202020204" pitchFamily="34" charset="0"/>
              <a:buChar char="•"/>
            </a:pPr>
            <a:r>
              <a:rPr lang="fr-FR" sz="2400" dirty="0"/>
              <a:t>Sécurisation des données</a:t>
            </a:r>
          </a:p>
          <a:p>
            <a:pPr marL="1889125" indent="-457200">
              <a:spcBef>
                <a:spcPts val="600"/>
              </a:spcBef>
              <a:buFont typeface="Arial" panose="020B0604020202020204" pitchFamily="34" charset="0"/>
              <a:buChar char="•"/>
            </a:pPr>
            <a:r>
              <a:rPr lang="fr-FR" sz="2400" dirty="0"/>
              <a:t>Droits d’utilisation des programmes</a:t>
            </a:r>
          </a:p>
          <a:p>
            <a:pPr marL="1529080" indent="-367030">
              <a:spcBef>
                <a:spcPts val="600"/>
              </a:spcBef>
              <a:buFont typeface="Arial" panose="020B0604020202020204" pitchFamily="34" charset="0"/>
              <a:buChar char="•"/>
            </a:pPr>
            <a:endParaRPr lang="fr-FR" sz="1000" dirty="0"/>
          </a:p>
          <a:p>
            <a:endParaRPr lang="fr-FR" sz="2400" dirty="0"/>
          </a:p>
        </p:txBody>
      </p:sp>
    </p:spTree>
    <p:extLst>
      <p:ext uri="{BB962C8B-B14F-4D97-AF65-F5344CB8AC3E}">
        <p14:creationId xmlns:p14="http://schemas.microsoft.com/office/powerpoint/2010/main" val="29166505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649054" y="980729"/>
            <a:ext cx="9018947" cy="4447371"/>
          </a:xfrm>
          <a:prstGeom prst="rect">
            <a:avLst/>
          </a:prstGeom>
        </p:spPr>
        <p:txBody>
          <a:bodyPr wrap="square">
            <a:spAutoFit/>
          </a:bodyPr>
          <a:lstStyle/>
          <a:p>
            <a:r>
              <a:rPr lang="fr-FR" sz="2400" dirty="0"/>
              <a:t>Le système d’exploitation</a:t>
            </a:r>
          </a:p>
          <a:p>
            <a:endParaRPr lang="fr-FR" sz="2400" dirty="0"/>
          </a:p>
          <a:p>
            <a:pPr marL="810895" indent="-457200">
              <a:spcBef>
                <a:spcPts val="600"/>
              </a:spcBef>
              <a:buFont typeface="+mj-lt"/>
              <a:buAutoNum type="arabicPeriod" startAt="5"/>
            </a:pPr>
            <a:r>
              <a:rPr lang="fr-FR" sz="2400" b="1" dirty="0"/>
              <a:t>Les différents types de système d’exploitation</a:t>
            </a:r>
          </a:p>
          <a:p>
            <a:pPr marL="810895" indent="-457200">
              <a:spcBef>
                <a:spcPts val="600"/>
              </a:spcBef>
              <a:buFont typeface="+mj-lt"/>
              <a:buAutoNum type="arabicPeriod" startAt="5"/>
            </a:pPr>
            <a:endParaRPr lang="fr-FR" sz="800" b="1" dirty="0"/>
          </a:p>
          <a:p>
            <a:pPr marL="1170305" indent="-457200">
              <a:spcBef>
                <a:spcPts val="600"/>
              </a:spcBef>
              <a:buFont typeface="Arial" panose="020B0604020202020204" pitchFamily="34" charset="0"/>
              <a:buChar char="•"/>
            </a:pPr>
            <a:r>
              <a:rPr lang="fr-FR" sz="2400" b="1" dirty="0"/>
              <a:t>Systèmes embarqués</a:t>
            </a:r>
          </a:p>
          <a:p>
            <a:pPr marL="1170305" indent="-6350">
              <a:spcBef>
                <a:spcPts val="600"/>
              </a:spcBef>
            </a:pPr>
            <a:r>
              <a:rPr lang="fr-FR" sz="2400" dirty="0"/>
              <a:t>prévus pour fonctionner sur :</a:t>
            </a:r>
          </a:p>
          <a:p>
            <a:pPr marL="1529080" indent="-365125">
              <a:spcBef>
                <a:spcPts val="600"/>
              </a:spcBef>
              <a:buFont typeface="Arial" panose="020B0604020202020204" pitchFamily="34" charset="0"/>
              <a:buChar char="•"/>
            </a:pPr>
            <a:r>
              <a:rPr lang="fr-FR" sz="2400" dirty="0"/>
              <a:t> des machines de petite taille (PDA, téléphone, …)</a:t>
            </a:r>
          </a:p>
          <a:p>
            <a:pPr marL="1619250" indent="-455930">
              <a:spcBef>
                <a:spcPts val="600"/>
              </a:spcBef>
              <a:buFont typeface="Arial" panose="020B0604020202020204" pitchFamily="34" charset="0"/>
              <a:buChar char="•"/>
            </a:pPr>
            <a:r>
              <a:rPr lang="fr-FR" sz="2400" dirty="0"/>
              <a:t>des appareils électroniques autonomes (sondes spatiales, robot, ordinateur de bord de véhicule, …) </a:t>
            </a:r>
          </a:p>
          <a:p>
            <a:pPr marL="1170305" indent="-6350">
              <a:spcBef>
                <a:spcPts val="600"/>
              </a:spcBef>
            </a:pPr>
            <a:r>
              <a:rPr lang="fr-FR" sz="2400" b="1" dirty="0"/>
              <a:t>Autonomie réduite = gestion avancée de l'énergie </a:t>
            </a:r>
          </a:p>
          <a:p>
            <a:endParaRPr lang="fr-FR" sz="2400" dirty="0"/>
          </a:p>
        </p:txBody>
      </p:sp>
      <p:pic>
        <p:nvPicPr>
          <p:cNvPr id="124930" name="Picture 2" descr="http://www.iphonic.tv/palm_os_logo.jpg"/>
          <p:cNvPicPr>
            <a:picLocks noChangeAspect="1" noChangeArrowheads="1"/>
          </p:cNvPicPr>
          <p:nvPr/>
        </p:nvPicPr>
        <p:blipFill>
          <a:blip r:embed="rId3" cstate="print"/>
          <a:srcRect/>
          <a:stretch>
            <a:fillRect/>
          </a:stretch>
        </p:blipFill>
        <p:spPr bwMode="auto">
          <a:xfrm>
            <a:off x="1919536" y="5157192"/>
            <a:ext cx="1229122" cy="1229122"/>
          </a:xfrm>
          <a:prstGeom prst="rect">
            <a:avLst/>
          </a:prstGeom>
          <a:noFill/>
        </p:spPr>
      </p:pic>
      <p:pic>
        <p:nvPicPr>
          <p:cNvPr id="124932" name="Picture 4" descr="http://www.ubergizmo.com/photos/2008/8/windows-ce-update.jpg"/>
          <p:cNvPicPr>
            <a:picLocks noChangeAspect="1" noChangeArrowheads="1"/>
          </p:cNvPicPr>
          <p:nvPr/>
        </p:nvPicPr>
        <p:blipFill>
          <a:blip r:embed="rId4" cstate="print"/>
          <a:srcRect/>
          <a:stretch>
            <a:fillRect/>
          </a:stretch>
        </p:blipFill>
        <p:spPr bwMode="auto">
          <a:xfrm>
            <a:off x="3215681" y="5229200"/>
            <a:ext cx="2099235" cy="1166242"/>
          </a:xfrm>
          <a:prstGeom prst="rect">
            <a:avLst/>
          </a:prstGeom>
          <a:noFill/>
        </p:spPr>
      </p:pic>
      <p:pic>
        <p:nvPicPr>
          <p:cNvPr id="124934" name="Picture 6" descr="http://www.numerama.com/media/attach/symbian.jpg"/>
          <p:cNvPicPr>
            <a:picLocks noChangeAspect="1" noChangeArrowheads="1"/>
          </p:cNvPicPr>
          <p:nvPr/>
        </p:nvPicPr>
        <p:blipFill>
          <a:blip r:embed="rId5" cstate="print"/>
          <a:srcRect/>
          <a:stretch>
            <a:fillRect/>
          </a:stretch>
        </p:blipFill>
        <p:spPr bwMode="auto">
          <a:xfrm>
            <a:off x="6888089" y="5373216"/>
            <a:ext cx="1498073" cy="1124744"/>
          </a:xfrm>
          <a:prstGeom prst="rect">
            <a:avLst/>
          </a:prstGeom>
          <a:noFill/>
        </p:spPr>
      </p:pic>
      <p:pic>
        <p:nvPicPr>
          <p:cNvPr id="124936" name="Picture 8" descr="http://www.eco-conscient.com/wp-content/uploads/2010/05/android_logo1.gif"/>
          <p:cNvPicPr>
            <a:picLocks noChangeAspect="1" noChangeArrowheads="1"/>
          </p:cNvPicPr>
          <p:nvPr/>
        </p:nvPicPr>
        <p:blipFill>
          <a:blip r:embed="rId6" cstate="print"/>
          <a:srcRect l="22608" r="20871"/>
          <a:stretch>
            <a:fillRect/>
          </a:stretch>
        </p:blipFill>
        <p:spPr bwMode="auto">
          <a:xfrm>
            <a:off x="5447928" y="5085184"/>
            <a:ext cx="1171974" cy="1556792"/>
          </a:xfrm>
          <a:prstGeom prst="rect">
            <a:avLst/>
          </a:prstGeom>
          <a:noFill/>
        </p:spPr>
      </p:pic>
      <p:pic>
        <p:nvPicPr>
          <p:cNvPr id="124937" name="Picture 9"/>
          <p:cNvPicPr>
            <a:picLocks noChangeAspect="1" noChangeArrowheads="1"/>
          </p:cNvPicPr>
          <p:nvPr/>
        </p:nvPicPr>
        <p:blipFill>
          <a:blip r:embed="rId7" cstate="print"/>
          <a:srcRect/>
          <a:stretch>
            <a:fillRect/>
          </a:stretch>
        </p:blipFill>
        <p:spPr bwMode="auto">
          <a:xfrm>
            <a:off x="8688288" y="5229200"/>
            <a:ext cx="1784414" cy="1158304"/>
          </a:xfrm>
          <a:prstGeom prst="rect">
            <a:avLst/>
          </a:prstGeom>
          <a:noFill/>
          <a:ln w="9525">
            <a:noFill/>
            <a:miter lim="800000"/>
            <a:headEnd/>
            <a:tailEnd/>
          </a:ln>
        </p:spPr>
      </p:pic>
    </p:spTree>
    <p:extLst>
      <p:ext uri="{BB962C8B-B14F-4D97-AF65-F5344CB8AC3E}">
        <p14:creationId xmlns:p14="http://schemas.microsoft.com/office/powerpoint/2010/main" val="31721491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649054" y="980729"/>
            <a:ext cx="9018947" cy="4447371"/>
          </a:xfrm>
          <a:prstGeom prst="rect">
            <a:avLst/>
          </a:prstGeom>
        </p:spPr>
        <p:txBody>
          <a:bodyPr wrap="square">
            <a:spAutoFit/>
          </a:bodyPr>
          <a:lstStyle/>
          <a:p>
            <a:r>
              <a:rPr lang="fr-FR" sz="2400" dirty="0"/>
              <a:t>Le système d’exploitation</a:t>
            </a:r>
          </a:p>
          <a:p>
            <a:endParaRPr lang="fr-FR" sz="2400" dirty="0"/>
          </a:p>
          <a:p>
            <a:pPr marL="810895" indent="-457200">
              <a:spcBef>
                <a:spcPts val="600"/>
              </a:spcBef>
              <a:buFont typeface="+mj-lt"/>
              <a:buAutoNum type="arabicPeriod" startAt="5"/>
            </a:pPr>
            <a:r>
              <a:rPr lang="fr-FR" sz="2400" b="1" dirty="0"/>
              <a:t>Les différents types de système d’exploitation</a:t>
            </a:r>
          </a:p>
          <a:p>
            <a:pPr marL="810895" indent="-457200">
              <a:spcBef>
                <a:spcPts val="600"/>
              </a:spcBef>
              <a:buFont typeface="+mj-lt"/>
              <a:buAutoNum type="arabicPeriod" startAt="5"/>
            </a:pPr>
            <a:endParaRPr lang="fr-FR" sz="800" b="1" dirty="0"/>
          </a:p>
          <a:p>
            <a:pPr marL="1170305" indent="-457200">
              <a:spcBef>
                <a:spcPts val="600"/>
              </a:spcBef>
              <a:buFont typeface="Arial" panose="020B0604020202020204" pitchFamily="34" charset="0"/>
              <a:buChar char="•"/>
            </a:pPr>
            <a:r>
              <a:rPr lang="fr-FR" sz="2400" b="1" dirty="0"/>
              <a:t>Systèmes temps réel</a:t>
            </a:r>
          </a:p>
          <a:p>
            <a:pPr marL="1170305" indent="-6350">
              <a:spcBef>
                <a:spcPts val="600"/>
              </a:spcBef>
            </a:pPr>
            <a:r>
              <a:rPr lang="fr-FR" sz="2400" dirty="0"/>
              <a:t>prévus pour traiter des informations de manière fiable dans un temps donnés :</a:t>
            </a:r>
          </a:p>
          <a:p>
            <a:pPr marL="1529080" indent="-365125">
              <a:spcBef>
                <a:spcPts val="600"/>
              </a:spcBef>
              <a:buFont typeface="Arial" panose="020B0604020202020204" pitchFamily="34" charset="0"/>
              <a:buChar char="•"/>
            </a:pPr>
            <a:r>
              <a:rPr lang="fr-FR" sz="2400" dirty="0"/>
              <a:t>Applications industrielles,</a:t>
            </a:r>
          </a:p>
          <a:p>
            <a:pPr marL="1529080" indent="-365125">
              <a:spcBef>
                <a:spcPts val="600"/>
              </a:spcBef>
              <a:buFont typeface="Arial" panose="020B0604020202020204" pitchFamily="34" charset="0"/>
              <a:buChar char="•"/>
            </a:pPr>
            <a:r>
              <a:rPr lang="fr-FR" sz="2400" dirty="0"/>
              <a:t>Robotique,</a:t>
            </a:r>
          </a:p>
          <a:p>
            <a:pPr marL="1529080" indent="-365125">
              <a:spcBef>
                <a:spcPts val="600"/>
              </a:spcBef>
              <a:buFont typeface="Arial" panose="020B0604020202020204" pitchFamily="34" charset="0"/>
              <a:buChar char="•"/>
            </a:pPr>
            <a:r>
              <a:rPr lang="fr-FR" sz="2400" dirty="0"/>
              <a:t>Transports, …</a:t>
            </a:r>
          </a:p>
          <a:p>
            <a:endParaRPr lang="fr-FR" sz="2400" dirty="0"/>
          </a:p>
        </p:txBody>
      </p:sp>
      <p:pic>
        <p:nvPicPr>
          <p:cNvPr id="126980" name="Picture 4" descr="http://www.onastick.clara.net/s_os9log.gif"/>
          <p:cNvPicPr>
            <a:picLocks noChangeAspect="1" noChangeArrowheads="1"/>
          </p:cNvPicPr>
          <p:nvPr/>
        </p:nvPicPr>
        <p:blipFill>
          <a:blip r:embed="rId3" cstate="print"/>
          <a:srcRect/>
          <a:stretch>
            <a:fillRect/>
          </a:stretch>
        </p:blipFill>
        <p:spPr bwMode="auto">
          <a:xfrm>
            <a:off x="1524000" y="4958888"/>
            <a:ext cx="2626568" cy="1899112"/>
          </a:xfrm>
          <a:prstGeom prst="rect">
            <a:avLst/>
          </a:prstGeom>
          <a:noFill/>
        </p:spPr>
      </p:pic>
      <p:pic>
        <p:nvPicPr>
          <p:cNvPr id="126982" name="Picture 6" descr="http://www.realtimelinuxfoundation.org/icons/rt-tux.jpg"/>
          <p:cNvPicPr>
            <a:picLocks noChangeAspect="1" noChangeArrowheads="1"/>
          </p:cNvPicPr>
          <p:nvPr/>
        </p:nvPicPr>
        <p:blipFill>
          <a:blip r:embed="rId4" cstate="print"/>
          <a:srcRect/>
          <a:stretch>
            <a:fillRect/>
          </a:stretch>
        </p:blipFill>
        <p:spPr bwMode="auto">
          <a:xfrm>
            <a:off x="4223792" y="4985792"/>
            <a:ext cx="1872208" cy="1872208"/>
          </a:xfrm>
          <a:prstGeom prst="rect">
            <a:avLst/>
          </a:prstGeom>
          <a:noFill/>
        </p:spPr>
      </p:pic>
      <p:pic>
        <p:nvPicPr>
          <p:cNvPr id="126983" name="Picture 7"/>
          <p:cNvPicPr>
            <a:picLocks noChangeAspect="1" noChangeArrowheads="1"/>
          </p:cNvPicPr>
          <p:nvPr/>
        </p:nvPicPr>
        <p:blipFill>
          <a:blip r:embed="rId5" cstate="print"/>
          <a:srcRect/>
          <a:stretch>
            <a:fillRect/>
          </a:stretch>
        </p:blipFill>
        <p:spPr bwMode="auto">
          <a:xfrm>
            <a:off x="6312025" y="4941168"/>
            <a:ext cx="1850529" cy="1727160"/>
          </a:xfrm>
          <a:prstGeom prst="rect">
            <a:avLst/>
          </a:prstGeom>
          <a:noFill/>
          <a:ln w="9525">
            <a:noFill/>
            <a:miter lim="800000"/>
            <a:headEnd/>
            <a:tailEnd/>
          </a:ln>
        </p:spPr>
      </p:pic>
      <p:pic>
        <p:nvPicPr>
          <p:cNvPr id="126985" name="Picture 9" descr="http://www.ueidaq.com/media/catalog/product/cache/1/image/9df78eab33525d08d6e5fb8d27136e95/v/x/vxworks.jpg"/>
          <p:cNvPicPr>
            <a:picLocks noChangeAspect="1" noChangeArrowheads="1"/>
          </p:cNvPicPr>
          <p:nvPr/>
        </p:nvPicPr>
        <p:blipFill>
          <a:blip r:embed="rId6" cstate="print"/>
          <a:srcRect t="22376" b="21684"/>
          <a:stretch>
            <a:fillRect/>
          </a:stretch>
        </p:blipFill>
        <p:spPr bwMode="auto">
          <a:xfrm>
            <a:off x="8256240" y="5085184"/>
            <a:ext cx="2317024" cy="1296144"/>
          </a:xfrm>
          <a:prstGeom prst="rect">
            <a:avLst/>
          </a:prstGeom>
          <a:noFill/>
        </p:spPr>
      </p:pic>
    </p:spTree>
    <p:extLst>
      <p:ext uri="{BB962C8B-B14F-4D97-AF65-F5344CB8AC3E}">
        <p14:creationId xmlns:p14="http://schemas.microsoft.com/office/powerpoint/2010/main" val="32486164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649054" y="980729"/>
            <a:ext cx="9018947" cy="4078039"/>
          </a:xfrm>
          <a:prstGeom prst="rect">
            <a:avLst/>
          </a:prstGeom>
        </p:spPr>
        <p:txBody>
          <a:bodyPr wrap="square">
            <a:spAutoFit/>
          </a:bodyPr>
          <a:lstStyle/>
          <a:p>
            <a:r>
              <a:rPr lang="fr-FR" sz="2400" dirty="0"/>
              <a:t>Le système d’exploitation</a:t>
            </a:r>
          </a:p>
          <a:p>
            <a:endParaRPr lang="fr-FR" sz="2400" dirty="0"/>
          </a:p>
          <a:p>
            <a:pPr marL="810895" indent="-457200">
              <a:spcBef>
                <a:spcPts val="600"/>
              </a:spcBef>
              <a:buFont typeface="+mj-lt"/>
              <a:buAutoNum type="arabicPeriod" startAt="6"/>
            </a:pPr>
            <a:r>
              <a:rPr lang="fr-FR" sz="2400" b="1" dirty="0"/>
              <a:t>Activités pratiques</a:t>
            </a:r>
          </a:p>
          <a:p>
            <a:pPr marL="810895" indent="-457200">
              <a:spcBef>
                <a:spcPts val="600"/>
              </a:spcBef>
              <a:buFont typeface="+mj-lt"/>
              <a:buAutoNum type="arabicPeriod" startAt="5"/>
            </a:pPr>
            <a:endParaRPr lang="fr-FR" sz="800" b="1" dirty="0"/>
          </a:p>
          <a:p>
            <a:pPr marL="1170305" indent="-457200">
              <a:spcBef>
                <a:spcPts val="600"/>
              </a:spcBef>
              <a:buFont typeface="Arial" panose="020B0604020202020204" pitchFamily="34" charset="0"/>
              <a:buChar char="•"/>
            </a:pPr>
            <a:r>
              <a:rPr lang="fr-FR" sz="2400" b="1" dirty="0"/>
              <a:t>Installation de linux </a:t>
            </a:r>
            <a:r>
              <a:rPr lang="fr-FR" sz="2400" b="1" dirty="0" err="1"/>
              <a:t>Ubuntu</a:t>
            </a:r>
            <a:endParaRPr lang="fr-FR" sz="2400" b="1" dirty="0"/>
          </a:p>
          <a:p>
            <a:pPr marL="1170305" indent="-457200">
              <a:spcBef>
                <a:spcPts val="600"/>
              </a:spcBef>
              <a:buFont typeface="Arial" panose="020B0604020202020204" pitchFamily="34" charset="0"/>
              <a:buChar char="•"/>
            </a:pPr>
            <a:r>
              <a:rPr lang="fr-FR" sz="2400" b="1" dirty="0"/>
              <a:t>Les principales commandes</a:t>
            </a:r>
          </a:p>
          <a:p>
            <a:pPr marL="1170305" indent="-457200">
              <a:spcBef>
                <a:spcPts val="600"/>
              </a:spcBef>
              <a:buFont typeface="Arial" panose="020B0604020202020204" pitchFamily="34" charset="0"/>
              <a:buChar char="•"/>
            </a:pPr>
            <a:r>
              <a:rPr lang="fr-FR" sz="2400" b="1" dirty="0"/>
              <a:t>La gestion des fichiers</a:t>
            </a:r>
          </a:p>
          <a:p>
            <a:pPr marL="1170305" indent="-457200">
              <a:spcBef>
                <a:spcPts val="600"/>
              </a:spcBef>
              <a:buFont typeface="Arial" panose="020B0604020202020204" pitchFamily="34" charset="0"/>
              <a:buChar char="•"/>
            </a:pPr>
            <a:r>
              <a:rPr lang="fr-FR" sz="2400" b="1" dirty="0"/>
              <a:t>La programmation en C</a:t>
            </a:r>
          </a:p>
          <a:p>
            <a:pPr marL="1170305" indent="-457200">
              <a:spcBef>
                <a:spcPts val="600"/>
              </a:spcBef>
              <a:buFont typeface="Arial" panose="020B0604020202020204" pitchFamily="34" charset="0"/>
              <a:buChar char="•"/>
            </a:pPr>
            <a:endParaRPr lang="fr-FR" sz="2400" b="1" dirty="0"/>
          </a:p>
          <a:p>
            <a:endParaRPr lang="fr-FR" sz="2400" dirty="0"/>
          </a:p>
        </p:txBody>
      </p:sp>
    </p:spTree>
    <p:extLst>
      <p:ext uri="{BB962C8B-B14F-4D97-AF65-F5344CB8AC3E}">
        <p14:creationId xmlns:p14="http://schemas.microsoft.com/office/powerpoint/2010/main" val="475008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rrondir un rectangle avec un coin diagonal 14"/>
          <p:cNvSpPr/>
          <p:nvPr/>
        </p:nvSpPr>
        <p:spPr>
          <a:xfrm>
            <a:off x="2207568" y="1052736"/>
            <a:ext cx="8245424" cy="1872208"/>
          </a:xfrm>
          <a:prstGeom prst="round2DiagRect">
            <a:avLst/>
          </a:prstGeom>
          <a:gradFill flip="none" rotWithShape="1">
            <a:gsLst>
              <a:gs pos="0">
                <a:srgbClr val="5E9EFF"/>
              </a:gs>
              <a:gs pos="39999">
                <a:srgbClr val="85C2FF"/>
              </a:gs>
              <a:gs pos="60000">
                <a:srgbClr val="C4D6EB"/>
              </a:gs>
              <a:gs pos="100000">
                <a:schemeClr val="accent1">
                  <a:lumMod val="40000"/>
                  <a:lumOff val="60000"/>
                </a:schemeClr>
              </a:gs>
            </a:gsLst>
            <a:lin ang="13500000" scaled="1"/>
            <a:tileRect/>
          </a:gradFill>
          <a:ln>
            <a:noFill/>
          </a:ln>
          <a:effectLst/>
          <a:scene3d>
            <a:camera prst="orthographicFront"/>
            <a:lightRig rig="threePt" dir="t"/>
          </a:scene3d>
          <a:sp3d>
            <a:bevelT w="19050" h="50800"/>
          </a:sp3d>
        </p:spPr>
        <p:style>
          <a:lnRef idx="2">
            <a:schemeClr val="accent1">
              <a:shade val="50000"/>
            </a:schemeClr>
          </a:lnRef>
          <a:fillRef idx="1">
            <a:schemeClr val="accent1"/>
          </a:fillRef>
          <a:effectRef idx="0">
            <a:schemeClr val="accent1"/>
          </a:effectRef>
          <a:fontRef idx="minor">
            <a:schemeClr val="lt1"/>
          </a:fontRef>
        </p:style>
        <p:txBody>
          <a:bodyPr/>
          <a:lstStyle/>
          <a:p>
            <a:pPr lvl="1">
              <a:defRPr/>
            </a:pPr>
            <a:endParaRPr lang="fr-FR" i="1" dirty="0">
              <a:solidFill>
                <a:schemeClr val="tx2"/>
              </a:solidFill>
            </a:endParaRPr>
          </a:p>
          <a:p>
            <a:pPr>
              <a:buBlip>
                <a:blip r:embed="rId3"/>
              </a:buBlip>
              <a:defRPr/>
            </a:pPr>
            <a:endParaRPr lang="fr-FR" i="1" dirty="0">
              <a:solidFill>
                <a:schemeClr val="tx2"/>
              </a:solidFill>
            </a:endParaRPr>
          </a:p>
        </p:txBody>
      </p:sp>
      <p:sp>
        <p:nvSpPr>
          <p:cNvPr id="5" name="Espace réservé du contenu 1"/>
          <p:cNvSpPr txBox="1"/>
          <p:nvPr/>
        </p:nvSpPr>
        <p:spPr>
          <a:xfrm>
            <a:off x="1883024" y="1196752"/>
            <a:ext cx="8784976" cy="1656184"/>
          </a:xfrm>
          <a:prstGeom prst="rect">
            <a:avLst/>
          </a:prstGeom>
        </p:spPr>
        <p:txBody>
          <a:bodyPr>
            <a:normAutofit/>
          </a:bodyPr>
          <a:lstStyle/>
          <a:p>
            <a:pPr marL="342900" indent="-342900" algn="ctr">
              <a:spcBef>
                <a:spcPct val="20000"/>
              </a:spcBef>
              <a:defRPr/>
            </a:pPr>
            <a:r>
              <a:rPr lang="fr-FR" sz="3200" dirty="0" err="1"/>
              <a:t>Virtualisation</a:t>
            </a:r>
            <a:endParaRPr lang="fr-FR" sz="3200" dirty="0"/>
          </a:p>
          <a:p>
            <a:pPr marL="742950" lvl="1" indent="-285750">
              <a:spcBef>
                <a:spcPct val="20000"/>
              </a:spcBef>
              <a:buFont typeface="Arial" panose="020B0604020202020204" pitchFamily="34" charset="0"/>
              <a:buChar char="•"/>
              <a:defRPr/>
            </a:pPr>
            <a:r>
              <a:rPr lang="fr-FR" sz="2800" dirty="0"/>
              <a:t>Permet de disposer de plusieurs environnements d’exécution sur un seul ordinateur</a:t>
            </a:r>
          </a:p>
          <a:p>
            <a:pPr marL="742950" lvl="1" indent="-285750">
              <a:spcBef>
                <a:spcPct val="20000"/>
              </a:spcBef>
              <a:buFont typeface="Arial" panose="020B0604020202020204" pitchFamily="34" charset="0"/>
              <a:buChar char="–"/>
              <a:defRPr/>
            </a:pPr>
            <a:endParaRPr lang="fr-FR" sz="2800" dirty="0"/>
          </a:p>
        </p:txBody>
      </p:sp>
      <p:pic>
        <p:nvPicPr>
          <p:cNvPr id="6" name="Picture 4"/>
          <p:cNvPicPr>
            <a:picLocks noChangeAspect="1" noChangeArrowheads="1"/>
          </p:cNvPicPr>
          <p:nvPr/>
        </p:nvPicPr>
        <p:blipFill>
          <a:blip r:embed="rId4" cstate="print"/>
          <a:srcRect/>
          <a:stretch>
            <a:fillRect/>
          </a:stretch>
        </p:blipFill>
        <p:spPr bwMode="auto">
          <a:xfrm>
            <a:off x="2351584" y="3112166"/>
            <a:ext cx="3456384" cy="2765107"/>
          </a:xfrm>
          <a:prstGeom prst="rect">
            <a:avLst/>
          </a:prstGeom>
          <a:noFill/>
          <a:ln w="9525">
            <a:noFill/>
            <a:miter lim="800000"/>
            <a:headEnd/>
            <a:tailEnd/>
          </a:ln>
        </p:spPr>
      </p:pic>
      <p:pic>
        <p:nvPicPr>
          <p:cNvPr id="7" name="Picture 5"/>
          <p:cNvPicPr>
            <a:picLocks noChangeAspect="1" noChangeArrowheads="1"/>
          </p:cNvPicPr>
          <p:nvPr/>
        </p:nvPicPr>
        <p:blipFill>
          <a:blip r:embed="rId5" cstate="print"/>
          <a:srcRect/>
          <a:stretch>
            <a:fillRect/>
          </a:stretch>
        </p:blipFill>
        <p:spPr bwMode="auto">
          <a:xfrm>
            <a:off x="6023993" y="3096344"/>
            <a:ext cx="4451061" cy="2780928"/>
          </a:xfrm>
          <a:prstGeom prst="rect">
            <a:avLst/>
          </a:prstGeom>
          <a:noFill/>
          <a:ln w="9525">
            <a:noFill/>
            <a:miter lim="800000"/>
            <a:headEnd/>
            <a:tailEnd/>
          </a:ln>
        </p:spPr>
      </p:pic>
    </p:spTree>
    <p:extLst>
      <p:ext uri="{BB962C8B-B14F-4D97-AF65-F5344CB8AC3E}">
        <p14:creationId xmlns:p14="http://schemas.microsoft.com/office/powerpoint/2010/main" val="20608265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rrondir un rectangle avec un coin diagonal 14"/>
          <p:cNvSpPr/>
          <p:nvPr/>
        </p:nvSpPr>
        <p:spPr>
          <a:xfrm>
            <a:off x="2207568" y="1052736"/>
            <a:ext cx="8245424" cy="4968552"/>
          </a:xfrm>
          <a:prstGeom prst="round2DiagRect">
            <a:avLst/>
          </a:prstGeom>
          <a:gradFill flip="none" rotWithShape="1">
            <a:gsLst>
              <a:gs pos="0">
                <a:srgbClr val="5E9EFF"/>
              </a:gs>
              <a:gs pos="39999">
                <a:srgbClr val="85C2FF"/>
              </a:gs>
              <a:gs pos="60000">
                <a:srgbClr val="C4D6EB"/>
              </a:gs>
              <a:gs pos="100000">
                <a:schemeClr val="accent1">
                  <a:lumMod val="40000"/>
                  <a:lumOff val="60000"/>
                </a:schemeClr>
              </a:gs>
            </a:gsLst>
            <a:lin ang="13500000" scaled="1"/>
            <a:tileRect/>
          </a:gradFill>
          <a:ln>
            <a:noFill/>
          </a:ln>
          <a:effectLst/>
          <a:scene3d>
            <a:camera prst="orthographicFront"/>
            <a:lightRig rig="threePt" dir="t"/>
          </a:scene3d>
          <a:sp3d>
            <a:bevelT w="19050" h="50800"/>
          </a:sp3d>
        </p:spPr>
        <p:style>
          <a:lnRef idx="2">
            <a:schemeClr val="accent1">
              <a:shade val="50000"/>
            </a:schemeClr>
          </a:lnRef>
          <a:fillRef idx="1">
            <a:schemeClr val="accent1"/>
          </a:fillRef>
          <a:effectRef idx="0">
            <a:schemeClr val="accent1"/>
          </a:effectRef>
          <a:fontRef idx="minor">
            <a:schemeClr val="lt1"/>
          </a:fontRef>
        </p:style>
        <p:txBody>
          <a:bodyPr/>
          <a:lstStyle/>
          <a:p>
            <a:endParaRPr lang="fr-FR" dirty="0"/>
          </a:p>
        </p:txBody>
      </p:sp>
      <p:sp>
        <p:nvSpPr>
          <p:cNvPr id="8" name="Espace réservé du contenu 1"/>
          <p:cNvSpPr txBox="1"/>
          <p:nvPr/>
        </p:nvSpPr>
        <p:spPr>
          <a:xfrm>
            <a:off x="1883024" y="1484784"/>
            <a:ext cx="8784976" cy="4248472"/>
          </a:xfrm>
          <a:prstGeom prst="rect">
            <a:avLst/>
          </a:prstGeom>
        </p:spPr>
        <p:txBody>
          <a:bodyPr/>
          <a:lstStyle/>
          <a:p>
            <a:pPr marL="342900" indent="-342900" algn="ctr">
              <a:spcBef>
                <a:spcPct val="20000"/>
              </a:spcBef>
              <a:defRPr/>
            </a:pPr>
            <a:r>
              <a:rPr lang="fr-FR" sz="3200" dirty="0"/>
              <a:t>Pourquoi </a:t>
            </a:r>
            <a:r>
              <a:rPr lang="fr-FR" sz="3200" dirty="0" err="1"/>
              <a:t>virtualiser</a:t>
            </a:r>
            <a:r>
              <a:rPr lang="fr-FR" sz="3200" dirty="0"/>
              <a:t> ?</a:t>
            </a:r>
          </a:p>
          <a:p>
            <a:pPr marL="342900" indent="-342900" algn="ctr">
              <a:spcBef>
                <a:spcPct val="20000"/>
              </a:spcBef>
              <a:defRPr/>
            </a:pPr>
            <a:endParaRPr lang="fr-FR" sz="3200" dirty="0"/>
          </a:p>
          <a:p>
            <a:pPr marL="742950" lvl="1" indent="-285750">
              <a:spcBef>
                <a:spcPct val="20000"/>
              </a:spcBef>
              <a:buFont typeface="Arial" panose="020B0604020202020204" pitchFamily="34" charset="0"/>
              <a:buChar char="•"/>
              <a:defRPr/>
            </a:pPr>
            <a:r>
              <a:rPr lang="fr-FR" sz="2800" dirty="0"/>
              <a:t>Réduire les coût (nombre de machines réelles, consommation d’énergie, infrastructure, …)</a:t>
            </a:r>
          </a:p>
          <a:p>
            <a:pPr marL="742950" lvl="1" indent="-285750">
              <a:spcBef>
                <a:spcPct val="20000"/>
              </a:spcBef>
              <a:buFont typeface="Arial" panose="020B0604020202020204" pitchFamily="34" charset="0"/>
              <a:buChar char="•"/>
              <a:defRPr/>
            </a:pPr>
            <a:r>
              <a:rPr lang="fr-FR" sz="2800" dirty="0"/>
              <a:t>Installer plusieurs systèmes d’exploitations sans  gestion de </a:t>
            </a:r>
            <a:r>
              <a:rPr lang="fr-FR" sz="2800" dirty="0" err="1"/>
              <a:t>multi-boot</a:t>
            </a:r>
            <a:endParaRPr lang="fr-FR" sz="2800" dirty="0"/>
          </a:p>
          <a:p>
            <a:pPr marL="742950" lvl="1" indent="-285750">
              <a:spcBef>
                <a:spcPct val="20000"/>
              </a:spcBef>
              <a:buFont typeface="Arial" panose="020B0604020202020204" pitchFamily="34" charset="0"/>
              <a:buChar char="•"/>
              <a:defRPr/>
            </a:pPr>
            <a:r>
              <a:rPr lang="fr-FR" sz="2800" dirty="0"/>
              <a:t>Machines virtuelles faciles à créer, à gérer, à sauvegarder et à transporter</a:t>
            </a:r>
          </a:p>
        </p:txBody>
      </p:sp>
    </p:spTree>
    <p:extLst>
      <p:ext uri="{BB962C8B-B14F-4D97-AF65-F5344CB8AC3E}">
        <p14:creationId xmlns:p14="http://schemas.microsoft.com/office/powerpoint/2010/main" val="20921070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rrondir un rectangle avec un coin diagonal 14"/>
          <p:cNvSpPr/>
          <p:nvPr/>
        </p:nvSpPr>
        <p:spPr>
          <a:xfrm>
            <a:off x="2207568" y="1052736"/>
            <a:ext cx="8245424" cy="1584176"/>
          </a:xfrm>
          <a:prstGeom prst="round2DiagRect">
            <a:avLst/>
          </a:prstGeom>
          <a:gradFill flip="none" rotWithShape="1">
            <a:gsLst>
              <a:gs pos="0">
                <a:srgbClr val="5E9EFF"/>
              </a:gs>
              <a:gs pos="39999">
                <a:srgbClr val="85C2FF"/>
              </a:gs>
              <a:gs pos="60000">
                <a:srgbClr val="C4D6EB"/>
              </a:gs>
              <a:gs pos="100000">
                <a:schemeClr val="accent1">
                  <a:lumMod val="40000"/>
                  <a:lumOff val="60000"/>
                </a:schemeClr>
              </a:gs>
            </a:gsLst>
            <a:lin ang="13500000" scaled="1"/>
            <a:tileRect/>
          </a:gradFill>
          <a:ln>
            <a:noFill/>
          </a:ln>
          <a:effectLst/>
          <a:scene3d>
            <a:camera prst="orthographicFront"/>
            <a:lightRig rig="threePt" dir="t"/>
          </a:scene3d>
          <a:sp3d>
            <a:bevelT w="19050" h="50800"/>
          </a:sp3d>
        </p:spPr>
        <p:style>
          <a:lnRef idx="2">
            <a:schemeClr val="accent1">
              <a:shade val="50000"/>
            </a:schemeClr>
          </a:lnRef>
          <a:fillRef idx="1">
            <a:schemeClr val="accent1"/>
          </a:fillRef>
          <a:effectRef idx="0">
            <a:schemeClr val="accent1"/>
          </a:effectRef>
          <a:fontRef idx="minor">
            <a:schemeClr val="lt1"/>
          </a:fontRef>
        </p:style>
        <p:txBody>
          <a:bodyPr/>
          <a:lstStyle/>
          <a:p>
            <a:endParaRPr lang="fr-FR" dirty="0"/>
          </a:p>
        </p:txBody>
      </p:sp>
      <p:sp>
        <p:nvSpPr>
          <p:cNvPr id="6" name="Espace réservé du contenu 1"/>
          <p:cNvSpPr txBox="1"/>
          <p:nvPr/>
        </p:nvSpPr>
        <p:spPr>
          <a:xfrm>
            <a:off x="2279576" y="1196752"/>
            <a:ext cx="8784976" cy="4176464"/>
          </a:xfrm>
          <a:prstGeom prst="rect">
            <a:avLst/>
          </a:prstGeom>
        </p:spPr>
        <p:txBody>
          <a:bodyPr/>
          <a:lstStyle/>
          <a:p>
            <a:pPr marL="342900" indent="-342900" algn="ctr">
              <a:spcBef>
                <a:spcPct val="20000"/>
              </a:spcBef>
              <a:defRPr/>
            </a:pPr>
            <a:r>
              <a:rPr lang="fr-FR" sz="3200" dirty="0"/>
              <a:t>Comment ça marche ?</a:t>
            </a:r>
          </a:p>
          <a:p>
            <a:pPr marL="742950" lvl="1" indent="-285750">
              <a:spcBef>
                <a:spcPct val="20000"/>
              </a:spcBef>
              <a:buFont typeface="Arial" panose="020B0604020202020204" pitchFamily="34" charset="0"/>
              <a:buChar char="•"/>
              <a:defRPr/>
            </a:pPr>
            <a:r>
              <a:rPr lang="fr-FR" sz="2800" dirty="0"/>
              <a:t>Le système de base :</a:t>
            </a:r>
          </a:p>
          <a:p>
            <a:pPr marL="742950" lvl="1" indent="-285750">
              <a:spcBef>
                <a:spcPct val="20000"/>
              </a:spcBef>
              <a:buFont typeface="Arial" panose="020B0604020202020204" pitchFamily="34" charset="0"/>
              <a:buChar char="–"/>
              <a:defRPr/>
            </a:pPr>
            <a:endParaRPr lang="fr-FR" sz="2800" dirty="0"/>
          </a:p>
        </p:txBody>
      </p:sp>
      <p:pic>
        <p:nvPicPr>
          <p:cNvPr id="7" name="Picture 2"/>
          <p:cNvPicPr>
            <a:picLocks noChangeAspect="1" noChangeArrowheads="1"/>
          </p:cNvPicPr>
          <p:nvPr/>
        </p:nvPicPr>
        <p:blipFill>
          <a:blip r:embed="rId3" cstate="print"/>
          <a:srcRect b="14000"/>
          <a:stretch>
            <a:fillRect/>
          </a:stretch>
        </p:blipFill>
        <p:spPr bwMode="auto">
          <a:xfrm>
            <a:off x="3863752" y="2996952"/>
            <a:ext cx="4032448" cy="3168352"/>
          </a:xfrm>
          <a:prstGeom prst="rect">
            <a:avLst/>
          </a:prstGeom>
          <a:noFill/>
          <a:ln w="9525">
            <a:noFill/>
            <a:miter lim="800000"/>
            <a:headEnd/>
            <a:tailEnd/>
          </a:ln>
        </p:spPr>
      </p:pic>
    </p:spTree>
    <p:extLst>
      <p:ext uri="{BB962C8B-B14F-4D97-AF65-F5344CB8AC3E}">
        <p14:creationId xmlns:p14="http://schemas.microsoft.com/office/powerpoint/2010/main" val="25871992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rrondir un rectangle avec un coin diagonal 14"/>
          <p:cNvSpPr/>
          <p:nvPr/>
        </p:nvSpPr>
        <p:spPr>
          <a:xfrm>
            <a:off x="2207568" y="1052736"/>
            <a:ext cx="8245424" cy="1584176"/>
          </a:xfrm>
          <a:prstGeom prst="round2DiagRect">
            <a:avLst/>
          </a:prstGeom>
          <a:gradFill flip="none" rotWithShape="1">
            <a:gsLst>
              <a:gs pos="0">
                <a:srgbClr val="5E9EFF"/>
              </a:gs>
              <a:gs pos="39999">
                <a:srgbClr val="85C2FF"/>
              </a:gs>
              <a:gs pos="60000">
                <a:srgbClr val="C4D6EB"/>
              </a:gs>
              <a:gs pos="100000">
                <a:schemeClr val="accent1">
                  <a:lumMod val="40000"/>
                  <a:lumOff val="60000"/>
                </a:schemeClr>
              </a:gs>
            </a:gsLst>
            <a:lin ang="13500000" scaled="1"/>
            <a:tileRect/>
          </a:gradFill>
          <a:ln>
            <a:noFill/>
          </a:ln>
          <a:effectLst/>
          <a:scene3d>
            <a:camera prst="orthographicFront"/>
            <a:lightRig rig="threePt" dir="t"/>
          </a:scene3d>
          <a:sp3d>
            <a:bevelT w="19050" h="50800"/>
          </a:sp3d>
        </p:spPr>
        <p:style>
          <a:lnRef idx="2">
            <a:schemeClr val="accent1">
              <a:shade val="50000"/>
            </a:schemeClr>
          </a:lnRef>
          <a:fillRef idx="1">
            <a:schemeClr val="accent1"/>
          </a:fillRef>
          <a:effectRef idx="0">
            <a:schemeClr val="accent1"/>
          </a:effectRef>
          <a:fontRef idx="minor">
            <a:schemeClr val="lt1"/>
          </a:fontRef>
        </p:style>
        <p:txBody>
          <a:bodyPr/>
          <a:lstStyle/>
          <a:p>
            <a:endParaRPr lang="fr-FR" dirty="0"/>
          </a:p>
        </p:txBody>
      </p:sp>
      <p:sp>
        <p:nvSpPr>
          <p:cNvPr id="8" name="Espace réservé du contenu 1"/>
          <p:cNvSpPr txBox="1"/>
          <p:nvPr/>
        </p:nvSpPr>
        <p:spPr>
          <a:xfrm>
            <a:off x="2135560" y="1124744"/>
            <a:ext cx="8784976" cy="4248472"/>
          </a:xfrm>
          <a:prstGeom prst="rect">
            <a:avLst/>
          </a:prstGeom>
        </p:spPr>
        <p:txBody>
          <a:bodyPr/>
          <a:lstStyle/>
          <a:p>
            <a:pPr marL="342900" indent="-342900" algn="ctr">
              <a:spcBef>
                <a:spcPct val="20000"/>
              </a:spcBef>
              <a:defRPr/>
            </a:pPr>
            <a:r>
              <a:rPr lang="fr-FR" sz="3200" dirty="0"/>
              <a:t>Comment ça marche ?</a:t>
            </a:r>
          </a:p>
          <a:p>
            <a:pPr marL="742950" lvl="1" indent="-285750">
              <a:spcBef>
                <a:spcPct val="20000"/>
              </a:spcBef>
              <a:buFont typeface="Arial" panose="020B0604020202020204" pitchFamily="34" charset="0"/>
              <a:buChar char="•"/>
              <a:defRPr/>
            </a:pPr>
            <a:r>
              <a:rPr lang="fr-FR" sz="2800" dirty="0"/>
              <a:t>La </a:t>
            </a:r>
            <a:r>
              <a:rPr lang="fr-FR" sz="2800" dirty="0" err="1"/>
              <a:t>virtualisation</a:t>
            </a:r>
            <a:endParaRPr lang="fr-FR" sz="2800" dirty="0"/>
          </a:p>
          <a:p>
            <a:pPr marL="742950" lvl="1" indent="-285750">
              <a:spcBef>
                <a:spcPct val="20000"/>
              </a:spcBef>
              <a:defRPr/>
            </a:pPr>
            <a:endParaRPr lang="fr-FR" sz="2800" dirty="0"/>
          </a:p>
          <a:p>
            <a:pPr marL="742950" lvl="1" indent="-285750">
              <a:spcBef>
                <a:spcPct val="20000"/>
              </a:spcBef>
              <a:buFont typeface="Arial" panose="020B0604020202020204" pitchFamily="34" charset="0"/>
              <a:buChar char="–"/>
              <a:defRPr/>
            </a:pPr>
            <a:endParaRPr lang="fr-FR" sz="2800" dirty="0"/>
          </a:p>
        </p:txBody>
      </p:sp>
      <p:pic>
        <p:nvPicPr>
          <p:cNvPr id="9" name="Image 8" descr="wmware_hosted.jpg"/>
          <p:cNvPicPr>
            <a:picLocks noChangeAspect="1"/>
          </p:cNvPicPr>
          <p:nvPr/>
        </p:nvPicPr>
        <p:blipFill>
          <a:blip r:embed="rId3" cstate="print"/>
          <a:stretch>
            <a:fillRect/>
          </a:stretch>
        </p:blipFill>
        <p:spPr>
          <a:xfrm>
            <a:off x="2279576" y="3031064"/>
            <a:ext cx="4040484" cy="3826936"/>
          </a:xfrm>
          <a:prstGeom prst="rect">
            <a:avLst/>
          </a:prstGeom>
        </p:spPr>
      </p:pic>
      <p:sp>
        <p:nvSpPr>
          <p:cNvPr id="10" name="ZoneTexte 9"/>
          <p:cNvSpPr txBox="1"/>
          <p:nvPr/>
        </p:nvSpPr>
        <p:spPr>
          <a:xfrm>
            <a:off x="6240016" y="3284984"/>
            <a:ext cx="4968552" cy="2308324"/>
          </a:xfrm>
          <a:prstGeom prst="rect">
            <a:avLst/>
          </a:prstGeom>
          <a:noFill/>
        </p:spPr>
        <p:txBody>
          <a:bodyPr wrap="square" rtlCol="0">
            <a:spAutoFit/>
          </a:bodyPr>
          <a:lstStyle/>
          <a:p>
            <a:pPr>
              <a:buFont typeface="Arial" panose="020B0604020202020204" pitchFamily="34" charset="0"/>
              <a:buChar char="•"/>
            </a:pPr>
            <a:r>
              <a:rPr lang="fr-FR" dirty="0"/>
              <a:t>  Les instructions sont exécutées</a:t>
            </a:r>
            <a:br>
              <a:rPr lang="fr-FR" dirty="0"/>
            </a:br>
            <a:r>
              <a:rPr lang="fr-FR" dirty="0"/>
              <a:t>    nativement par le processeur de l'hôte</a:t>
            </a:r>
          </a:p>
          <a:p>
            <a:pPr marL="71755" indent="-504190">
              <a:buFontTx/>
              <a:buChar char="-"/>
            </a:pPr>
            <a:endParaRPr lang="fr-FR" dirty="0"/>
          </a:p>
          <a:p>
            <a:pPr>
              <a:buFont typeface="Arial" panose="020B0604020202020204" pitchFamily="34" charset="0"/>
              <a:buChar char="•"/>
            </a:pPr>
            <a:r>
              <a:rPr lang="fr-FR" dirty="0"/>
              <a:t>   Les performances sont souvent proches</a:t>
            </a:r>
            <a:br>
              <a:rPr lang="fr-FR" dirty="0"/>
            </a:br>
            <a:r>
              <a:rPr lang="fr-FR" dirty="0"/>
              <a:t>     d'une machine réelle</a:t>
            </a:r>
          </a:p>
          <a:p>
            <a:pPr>
              <a:buFont typeface="Arial" panose="020B0604020202020204" pitchFamily="34" charset="0"/>
              <a:buChar char="•"/>
            </a:pPr>
            <a:endParaRPr lang="fr-FR" dirty="0"/>
          </a:p>
          <a:p>
            <a:pPr>
              <a:buFont typeface="Arial" panose="020B0604020202020204" pitchFamily="34" charset="0"/>
              <a:buChar char="•"/>
            </a:pPr>
            <a:r>
              <a:rPr lang="fr-FR" dirty="0"/>
              <a:t>   Perte de performances lors d’appels au</a:t>
            </a:r>
            <a:br>
              <a:rPr lang="fr-FR" dirty="0"/>
            </a:br>
            <a:r>
              <a:rPr lang="fr-FR" dirty="0"/>
              <a:t>    matériel (comme une carte graphique)</a:t>
            </a:r>
          </a:p>
        </p:txBody>
      </p:sp>
    </p:spTree>
    <p:extLst>
      <p:ext uri="{BB962C8B-B14F-4D97-AF65-F5344CB8AC3E}">
        <p14:creationId xmlns:p14="http://schemas.microsoft.com/office/powerpoint/2010/main" val="28969632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rrondir un rectangle avec un coin diagonal 14"/>
          <p:cNvSpPr/>
          <p:nvPr/>
        </p:nvSpPr>
        <p:spPr>
          <a:xfrm>
            <a:off x="2207568" y="1052736"/>
            <a:ext cx="8245424" cy="1584176"/>
          </a:xfrm>
          <a:prstGeom prst="round2DiagRect">
            <a:avLst/>
          </a:prstGeom>
          <a:gradFill flip="none" rotWithShape="1">
            <a:gsLst>
              <a:gs pos="0">
                <a:srgbClr val="5E9EFF"/>
              </a:gs>
              <a:gs pos="39999">
                <a:srgbClr val="85C2FF"/>
              </a:gs>
              <a:gs pos="60000">
                <a:srgbClr val="C4D6EB"/>
              </a:gs>
              <a:gs pos="100000">
                <a:schemeClr val="accent1">
                  <a:lumMod val="40000"/>
                  <a:lumOff val="60000"/>
                </a:schemeClr>
              </a:gs>
            </a:gsLst>
            <a:lin ang="13500000" scaled="1"/>
            <a:tileRect/>
          </a:gradFill>
          <a:ln>
            <a:noFill/>
          </a:ln>
          <a:effectLst/>
          <a:scene3d>
            <a:camera prst="orthographicFront"/>
            <a:lightRig rig="threePt" dir="t"/>
          </a:scene3d>
          <a:sp3d>
            <a:bevelT w="19050" h="50800"/>
          </a:sp3d>
        </p:spPr>
        <p:style>
          <a:lnRef idx="2">
            <a:schemeClr val="accent1">
              <a:shade val="50000"/>
            </a:schemeClr>
          </a:lnRef>
          <a:fillRef idx="1">
            <a:schemeClr val="accent1"/>
          </a:fillRef>
          <a:effectRef idx="0">
            <a:schemeClr val="accent1"/>
          </a:effectRef>
          <a:fontRef idx="minor">
            <a:schemeClr val="lt1"/>
          </a:fontRef>
        </p:style>
        <p:txBody>
          <a:bodyPr/>
          <a:lstStyle/>
          <a:p>
            <a:endParaRPr lang="fr-FR" dirty="0"/>
          </a:p>
        </p:txBody>
      </p:sp>
      <p:sp>
        <p:nvSpPr>
          <p:cNvPr id="11" name="Espace réservé du contenu 1"/>
          <p:cNvSpPr txBox="1"/>
          <p:nvPr/>
        </p:nvSpPr>
        <p:spPr>
          <a:xfrm>
            <a:off x="2207568" y="1052736"/>
            <a:ext cx="8784976" cy="4248472"/>
          </a:xfrm>
          <a:prstGeom prst="rect">
            <a:avLst/>
          </a:prstGeom>
        </p:spPr>
        <p:txBody>
          <a:bodyPr/>
          <a:lstStyle/>
          <a:p>
            <a:pPr marL="342900" indent="-342900" algn="ctr">
              <a:spcBef>
                <a:spcPct val="20000"/>
              </a:spcBef>
              <a:defRPr/>
            </a:pPr>
            <a:r>
              <a:rPr lang="fr-FR" sz="3200" dirty="0"/>
              <a:t>Comment ça marche ?</a:t>
            </a:r>
          </a:p>
          <a:p>
            <a:pPr marL="742950" lvl="1" indent="-285750">
              <a:spcBef>
                <a:spcPct val="20000"/>
              </a:spcBef>
              <a:buFont typeface="Arial" panose="020B0604020202020204" pitchFamily="34" charset="0"/>
              <a:buChar char="•"/>
              <a:defRPr/>
            </a:pPr>
            <a:r>
              <a:rPr lang="fr-FR" sz="2800" dirty="0"/>
              <a:t>La </a:t>
            </a:r>
            <a:r>
              <a:rPr lang="fr-FR" sz="2800" dirty="0" err="1"/>
              <a:t>paravirtualisation</a:t>
            </a:r>
            <a:endParaRPr lang="fr-FR" sz="2800" dirty="0"/>
          </a:p>
          <a:p>
            <a:pPr marL="1143000" lvl="2" indent="-228600">
              <a:spcBef>
                <a:spcPct val="20000"/>
              </a:spcBef>
              <a:buFont typeface="Arial" panose="020B0604020202020204" pitchFamily="34" charset="0"/>
              <a:buChar char="•"/>
              <a:defRPr/>
            </a:pPr>
            <a:endParaRPr lang="fr-FR" sz="2400" dirty="0"/>
          </a:p>
        </p:txBody>
      </p:sp>
      <p:pic>
        <p:nvPicPr>
          <p:cNvPr id="12" name="Image 11" descr="wmware_hypervisor.jpg"/>
          <p:cNvPicPr>
            <a:picLocks noChangeAspect="1"/>
          </p:cNvPicPr>
          <p:nvPr/>
        </p:nvPicPr>
        <p:blipFill>
          <a:blip r:embed="rId3" cstate="print"/>
          <a:stretch>
            <a:fillRect/>
          </a:stretch>
        </p:blipFill>
        <p:spPr>
          <a:xfrm>
            <a:off x="2135560" y="3068961"/>
            <a:ext cx="5112568" cy="3029297"/>
          </a:xfrm>
          <a:prstGeom prst="rect">
            <a:avLst/>
          </a:prstGeom>
        </p:spPr>
      </p:pic>
      <p:sp>
        <p:nvSpPr>
          <p:cNvPr id="13" name="ZoneTexte 12"/>
          <p:cNvSpPr txBox="1"/>
          <p:nvPr/>
        </p:nvSpPr>
        <p:spPr>
          <a:xfrm>
            <a:off x="7176120" y="3717032"/>
            <a:ext cx="3483646" cy="1477328"/>
          </a:xfrm>
          <a:prstGeom prst="rect">
            <a:avLst/>
          </a:prstGeom>
          <a:noFill/>
        </p:spPr>
        <p:txBody>
          <a:bodyPr wrap="none" rtlCol="0">
            <a:spAutoFit/>
          </a:bodyPr>
          <a:lstStyle/>
          <a:p>
            <a:pPr>
              <a:buFont typeface="Arial" panose="020B0604020202020204" pitchFamily="34" charset="0"/>
              <a:buChar char="•"/>
            </a:pPr>
            <a:r>
              <a:rPr lang="fr-FR" dirty="0"/>
              <a:t>  Basés sur un </a:t>
            </a:r>
            <a:r>
              <a:rPr lang="fr-FR" dirty="0" err="1"/>
              <a:t>hyperviseur</a:t>
            </a:r>
            <a:r>
              <a:rPr lang="fr-FR" dirty="0"/>
              <a:t>  qui </a:t>
            </a:r>
          </a:p>
          <a:p>
            <a:r>
              <a:rPr lang="fr-FR" dirty="0"/>
              <a:t>   remplace  l’OS hôte.</a:t>
            </a:r>
          </a:p>
          <a:p>
            <a:endParaRPr lang="fr-FR" dirty="0"/>
          </a:p>
          <a:p>
            <a:pPr>
              <a:buFont typeface="Arial" panose="020B0604020202020204" pitchFamily="34" charset="0"/>
              <a:buChar char="•"/>
            </a:pPr>
            <a:r>
              <a:rPr lang="fr-FR" dirty="0"/>
              <a:t>  Destiner au milieu de l’entreprise</a:t>
            </a:r>
            <a:br>
              <a:rPr lang="fr-FR" dirty="0"/>
            </a:br>
            <a:r>
              <a:rPr lang="fr-FR" dirty="0"/>
              <a:t>   car très robuste et performant</a:t>
            </a:r>
          </a:p>
        </p:txBody>
      </p:sp>
    </p:spTree>
    <p:extLst>
      <p:ext uri="{BB962C8B-B14F-4D97-AF65-F5344CB8AC3E}">
        <p14:creationId xmlns:p14="http://schemas.microsoft.com/office/powerpoint/2010/main" val="11355435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rrondir un rectangle avec un coin diagonal 14"/>
          <p:cNvSpPr/>
          <p:nvPr/>
        </p:nvSpPr>
        <p:spPr>
          <a:xfrm>
            <a:off x="2207568" y="1052736"/>
            <a:ext cx="8245424" cy="1584176"/>
          </a:xfrm>
          <a:prstGeom prst="round2DiagRect">
            <a:avLst/>
          </a:prstGeom>
          <a:gradFill flip="none" rotWithShape="1">
            <a:gsLst>
              <a:gs pos="0">
                <a:srgbClr val="5E9EFF"/>
              </a:gs>
              <a:gs pos="39999">
                <a:srgbClr val="85C2FF"/>
              </a:gs>
              <a:gs pos="60000">
                <a:srgbClr val="C4D6EB"/>
              </a:gs>
              <a:gs pos="100000">
                <a:schemeClr val="accent1">
                  <a:lumMod val="40000"/>
                  <a:lumOff val="60000"/>
                </a:schemeClr>
              </a:gs>
            </a:gsLst>
            <a:lin ang="13500000" scaled="1"/>
            <a:tileRect/>
          </a:gradFill>
          <a:ln>
            <a:noFill/>
          </a:ln>
          <a:effectLst/>
          <a:scene3d>
            <a:camera prst="orthographicFront"/>
            <a:lightRig rig="threePt" dir="t"/>
          </a:scene3d>
          <a:sp3d>
            <a:bevelT w="19050" h="50800"/>
          </a:sp3d>
        </p:spPr>
        <p:style>
          <a:lnRef idx="2">
            <a:schemeClr val="accent1">
              <a:shade val="50000"/>
            </a:schemeClr>
          </a:lnRef>
          <a:fillRef idx="1">
            <a:schemeClr val="accent1"/>
          </a:fillRef>
          <a:effectRef idx="0">
            <a:schemeClr val="accent1"/>
          </a:effectRef>
          <a:fontRef idx="minor">
            <a:schemeClr val="lt1"/>
          </a:fontRef>
        </p:style>
        <p:txBody>
          <a:bodyPr/>
          <a:lstStyle/>
          <a:p>
            <a:endParaRPr lang="fr-FR" dirty="0"/>
          </a:p>
        </p:txBody>
      </p:sp>
      <p:sp>
        <p:nvSpPr>
          <p:cNvPr id="8" name="Espace réservé du contenu 1"/>
          <p:cNvSpPr txBox="1"/>
          <p:nvPr/>
        </p:nvSpPr>
        <p:spPr>
          <a:xfrm>
            <a:off x="2190554" y="1052736"/>
            <a:ext cx="8784976" cy="4248472"/>
          </a:xfrm>
          <a:prstGeom prst="rect">
            <a:avLst/>
          </a:prstGeom>
        </p:spPr>
        <p:txBody>
          <a:bodyPr/>
          <a:lstStyle/>
          <a:p>
            <a:pPr marL="342900" indent="-342900" algn="ctr">
              <a:spcBef>
                <a:spcPct val="20000"/>
              </a:spcBef>
              <a:defRPr/>
            </a:pPr>
            <a:r>
              <a:rPr lang="fr-FR" sz="3200" dirty="0"/>
              <a:t>Les produits</a:t>
            </a:r>
          </a:p>
          <a:p>
            <a:pPr marL="742950" lvl="1" indent="-285750">
              <a:spcBef>
                <a:spcPct val="20000"/>
              </a:spcBef>
              <a:buFont typeface="Arial" panose="020B0604020202020204" pitchFamily="34" charset="0"/>
              <a:buChar char="•"/>
              <a:defRPr/>
            </a:pPr>
            <a:r>
              <a:rPr lang="fr-FR" sz="2800" dirty="0"/>
              <a:t>Virtual Box</a:t>
            </a:r>
          </a:p>
        </p:txBody>
      </p:sp>
      <p:pic>
        <p:nvPicPr>
          <p:cNvPr id="9" name="Picture 4"/>
          <p:cNvPicPr>
            <a:picLocks noChangeAspect="1" noChangeArrowheads="1"/>
          </p:cNvPicPr>
          <p:nvPr/>
        </p:nvPicPr>
        <p:blipFill>
          <a:blip r:embed="rId3" cstate="print"/>
          <a:srcRect/>
          <a:stretch>
            <a:fillRect/>
          </a:stretch>
        </p:blipFill>
        <p:spPr bwMode="auto">
          <a:xfrm>
            <a:off x="2135560" y="2852937"/>
            <a:ext cx="3017682" cy="3298875"/>
          </a:xfrm>
          <a:prstGeom prst="rect">
            <a:avLst/>
          </a:prstGeom>
          <a:noFill/>
          <a:ln w="9525">
            <a:noFill/>
            <a:miter lim="800000"/>
            <a:headEnd/>
            <a:tailEnd/>
          </a:ln>
        </p:spPr>
      </p:pic>
      <p:sp>
        <p:nvSpPr>
          <p:cNvPr id="10" name="ZoneTexte 9"/>
          <p:cNvSpPr txBox="1"/>
          <p:nvPr/>
        </p:nvSpPr>
        <p:spPr>
          <a:xfrm>
            <a:off x="5303913" y="3645025"/>
            <a:ext cx="5126981" cy="1661993"/>
          </a:xfrm>
          <a:prstGeom prst="rect">
            <a:avLst/>
          </a:prstGeom>
          <a:noFill/>
        </p:spPr>
        <p:txBody>
          <a:bodyPr wrap="none" rtlCol="0">
            <a:spAutoFit/>
          </a:bodyPr>
          <a:lstStyle/>
          <a:p>
            <a:pPr>
              <a:spcBef>
                <a:spcPts val="600"/>
              </a:spcBef>
              <a:spcAft>
                <a:spcPts val="600"/>
              </a:spcAft>
              <a:buFont typeface="Arial" panose="020B0604020202020204" pitchFamily="34" charset="0"/>
              <a:buChar char="•"/>
            </a:pPr>
            <a:r>
              <a:rPr lang="fr-FR" dirty="0"/>
              <a:t> logiciel de </a:t>
            </a:r>
            <a:r>
              <a:rPr lang="fr-FR" dirty="0" err="1"/>
              <a:t>virtualisation</a:t>
            </a:r>
            <a:r>
              <a:rPr lang="fr-FR" dirty="0"/>
              <a:t> de systèmes d'exploitation</a:t>
            </a:r>
          </a:p>
          <a:p>
            <a:pPr>
              <a:spcBef>
                <a:spcPts val="600"/>
              </a:spcBef>
              <a:spcAft>
                <a:spcPts val="600"/>
              </a:spcAft>
              <a:buFont typeface="Arial" panose="020B0604020202020204" pitchFamily="34" charset="0"/>
              <a:buChar char="•"/>
            </a:pPr>
            <a:r>
              <a:rPr lang="fr-FR" dirty="0"/>
              <a:t> utilisant les ressources matérielles du système hôte</a:t>
            </a:r>
          </a:p>
          <a:p>
            <a:pPr>
              <a:spcBef>
                <a:spcPts val="600"/>
              </a:spcBef>
              <a:spcAft>
                <a:spcPts val="600"/>
              </a:spcAft>
              <a:buFont typeface="Arial" panose="020B0604020202020204" pitchFamily="34" charset="0"/>
              <a:buChar char="•"/>
            </a:pPr>
            <a:r>
              <a:rPr lang="fr-FR" dirty="0"/>
              <a:t> licence GPL ou PUEL (propriétaire ORACLE)</a:t>
            </a:r>
          </a:p>
          <a:p>
            <a:pPr>
              <a:spcBef>
                <a:spcPts val="600"/>
              </a:spcBef>
              <a:spcAft>
                <a:spcPts val="600"/>
              </a:spcAft>
              <a:buFont typeface="Arial" panose="020B0604020202020204" pitchFamily="34" charset="0"/>
              <a:buChar char="•"/>
            </a:pPr>
            <a:r>
              <a:rPr lang="fr-FR" dirty="0"/>
              <a:t> version pour Windows, Linux et Mac OS</a:t>
            </a:r>
          </a:p>
        </p:txBody>
      </p:sp>
    </p:spTree>
    <p:extLst>
      <p:ext uri="{BB962C8B-B14F-4D97-AF65-F5344CB8AC3E}">
        <p14:creationId xmlns:p14="http://schemas.microsoft.com/office/powerpoint/2010/main" val="37822309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rrondir un rectangle avec un coin diagonal 14"/>
          <p:cNvSpPr/>
          <p:nvPr/>
        </p:nvSpPr>
        <p:spPr>
          <a:xfrm>
            <a:off x="2207568" y="1052736"/>
            <a:ext cx="8245424" cy="1584176"/>
          </a:xfrm>
          <a:prstGeom prst="round2DiagRect">
            <a:avLst/>
          </a:prstGeom>
          <a:gradFill flip="none" rotWithShape="1">
            <a:gsLst>
              <a:gs pos="0">
                <a:srgbClr val="5E9EFF"/>
              </a:gs>
              <a:gs pos="39999">
                <a:srgbClr val="85C2FF"/>
              </a:gs>
              <a:gs pos="60000">
                <a:srgbClr val="C4D6EB"/>
              </a:gs>
              <a:gs pos="100000">
                <a:schemeClr val="accent1">
                  <a:lumMod val="40000"/>
                  <a:lumOff val="60000"/>
                </a:schemeClr>
              </a:gs>
            </a:gsLst>
            <a:lin ang="13500000" scaled="1"/>
            <a:tileRect/>
          </a:gradFill>
          <a:ln>
            <a:noFill/>
          </a:ln>
          <a:effectLst/>
          <a:scene3d>
            <a:camera prst="orthographicFront"/>
            <a:lightRig rig="threePt" dir="t"/>
          </a:scene3d>
          <a:sp3d>
            <a:bevelT w="19050" h="50800"/>
          </a:sp3d>
        </p:spPr>
        <p:style>
          <a:lnRef idx="2">
            <a:schemeClr val="accent1">
              <a:shade val="50000"/>
            </a:schemeClr>
          </a:lnRef>
          <a:fillRef idx="1">
            <a:schemeClr val="accent1"/>
          </a:fillRef>
          <a:effectRef idx="0">
            <a:schemeClr val="accent1"/>
          </a:effectRef>
          <a:fontRef idx="minor">
            <a:schemeClr val="lt1"/>
          </a:fontRef>
        </p:style>
        <p:txBody>
          <a:bodyPr/>
          <a:lstStyle/>
          <a:p>
            <a:endParaRPr lang="fr-FR" dirty="0"/>
          </a:p>
        </p:txBody>
      </p:sp>
      <p:sp>
        <p:nvSpPr>
          <p:cNvPr id="11" name="Espace réservé du contenu 1"/>
          <p:cNvSpPr txBox="1"/>
          <p:nvPr/>
        </p:nvSpPr>
        <p:spPr>
          <a:xfrm>
            <a:off x="2160119" y="1069960"/>
            <a:ext cx="8784976" cy="4248472"/>
          </a:xfrm>
          <a:prstGeom prst="rect">
            <a:avLst/>
          </a:prstGeom>
        </p:spPr>
        <p:txBody>
          <a:bodyPr/>
          <a:lstStyle/>
          <a:p>
            <a:pPr marL="342900" indent="-342900" algn="ctr">
              <a:spcBef>
                <a:spcPct val="20000"/>
              </a:spcBef>
              <a:defRPr/>
            </a:pPr>
            <a:r>
              <a:rPr lang="fr-FR" sz="3200" dirty="0"/>
              <a:t>Les produits</a:t>
            </a:r>
          </a:p>
          <a:p>
            <a:pPr marL="742950" lvl="1" indent="-285750">
              <a:spcBef>
                <a:spcPct val="20000"/>
              </a:spcBef>
              <a:buFont typeface="Arial" panose="020B0604020202020204" pitchFamily="34" charset="0"/>
              <a:buChar char="•"/>
              <a:defRPr/>
            </a:pPr>
            <a:r>
              <a:rPr lang="fr-FR" sz="2800" dirty="0"/>
              <a:t>Microsoft Virtual PC</a:t>
            </a:r>
          </a:p>
        </p:txBody>
      </p:sp>
      <p:sp>
        <p:nvSpPr>
          <p:cNvPr id="12" name="ZoneTexte 11"/>
          <p:cNvSpPr txBox="1"/>
          <p:nvPr/>
        </p:nvSpPr>
        <p:spPr>
          <a:xfrm>
            <a:off x="5375920" y="3501008"/>
            <a:ext cx="4598054" cy="1938992"/>
          </a:xfrm>
          <a:prstGeom prst="rect">
            <a:avLst/>
          </a:prstGeom>
          <a:noFill/>
        </p:spPr>
        <p:txBody>
          <a:bodyPr wrap="none" rtlCol="0">
            <a:spAutoFit/>
          </a:bodyPr>
          <a:lstStyle/>
          <a:p>
            <a:pPr>
              <a:spcBef>
                <a:spcPts val="600"/>
              </a:spcBef>
              <a:spcAft>
                <a:spcPts val="600"/>
              </a:spcAft>
              <a:buFont typeface="Arial" panose="020B0604020202020204" pitchFamily="34" charset="0"/>
              <a:buChar char="•"/>
            </a:pPr>
            <a:r>
              <a:rPr lang="fr-FR" dirty="0"/>
              <a:t> Solution d'ordinateur virtuel de Microsoft</a:t>
            </a:r>
          </a:p>
          <a:p>
            <a:pPr>
              <a:spcBef>
                <a:spcPts val="600"/>
              </a:spcBef>
              <a:spcAft>
                <a:spcPts val="600"/>
              </a:spcAft>
              <a:buFont typeface="Arial" panose="020B0604020202020204" pitchFamily="34" charset="0"/>
              <a:buChar char="•"/>
            </a:pPr>
            <a:r>
              <a:rPr lang="fr-FR" dirty="0"/>
              <a:t> version pour Windows gratuite</a:t>
            </a:r>
          </a:p>
          <a:p>
            <a:pPr>
              <a:spcBef>
                <a:spcPts val="600"/>
              </a:spcBef>
              <a:spcAft>
                <a:spcPts val="600"/>
              </a:spcAft>
              <a:buFont typeface="Arial" panose="020B0604020202020204" pitchFamily="34" charset="0"/>
              <a:buChar char="•"/>
            </a:pPr>
            <a:r>
              <a:rPr lang="fr-FR" dirty="0"/>
              <a:t> version pour Mac OS payante</a:t>
            </a:r>
          </a:p>
          <a:p>
            <a:pPr>
              <a:spcBef>
                <a:spcPts val="600"/>
              </a:spcBef>
              <a:spcAft>
                <a:spcPts val="600"/>
              </a:spcAft>
              <a:buFont typeface="Arial" panose="020B0604020202020204" pitchFamily="34" charset="0"/>
              <a:buChar char="•"/>
            </a:pPr>
            <a:r>
              <a:rPr lang="fr-FR" dirty="0"/>
              <a:t> problèmes dans la </a:t>
            </a:r>
            <a:r>
              <a:rPr lang="fr-FR" dirty="0" err="1"/>
              <a:t>virtualisation</a:t>
            </a:r>
            <a:r>
              <a:rPr lang="fr-FR" dirty="0"/>
              <a:t> de linux </a:t>
            </a:r>
            <a:br>
              <a:rPr lang="fr-FR" dirty="0"/>
            </a:br>
            <a:r>
              <a:rPr lang="fr-FR" dirty="0"/>
              <a:t>  (gestion de la carte graphique, de la souris, …)</a:t>
            </a:r>
          </a:p>
        </p:txBody>
      </p:sp>
      <p:pic>
        <p:nvPicPr>
          <p:cNvPr id="13" name="Picture 2"/>
          <p:cNvPicPr>
            <a:picLocks noChangeAspect="1" noChangeArrowheads="1"/>
          </p:cNvPicPr>
          <p:nvPr/>
        </p:nvPicPr>
        <p:blipFill>
          <a:blip r:embed="rId3" cstate="print"/>
          <a:srcRect/>
          <a:stretch>
            <a:fillRect/>
          </a:stretch>
        </p:blipFill>
        <p:spPr bwMode="auto">
          <a:xfrm>
            <a:off x="2165996" y="3334544"/>
            <a:ext cx="3209925" cy="2209800"/>
          </a:xfrm>
          <a:prstGeom prst="rect">
            <a:avLst/>
          </a:prstGeom>
          <a:noFill/>
          <a:ln w="9525">
            <a:noFill/>
            <a:miter lim="800000"/>
            <a:headEnd/>
            <a:tailEnd/>
          </a:ln>
        </p:spPr>
      </p:pic>
    </p:spTree>
    <p:extLst>
      <p:ext uri="{BB962C8B-B14F-4D97-AF65-F5344CB8AC3E}">
        <p14:creationId xmlns:p14="http://schemas.microsoft.com/office/powerpoint/2010/main" val="18050417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rrondir un rectangle avec un coin diagonal 14"/>
          <p:cNvSpPr/>
          <p:nvPr/>
        </p:nvSpPr>
        <p:spPr>
          <a:xfrm>
            <a:off x="2207568" y="1052736"/>
            <a:ext cx="8245424" cy="1584176"/>
          </a:xfrm>
          <a:prstGeom prst="round2DiagRect">
            <a:avLst/>
          </a:prstGeom>
          <a:gradFill flip="none" rotWithShape="1">
            <a:gsLst>
              <a:gs pos="0">
                <a:srgbClr val="5E9EFF"/>
              </a:gs>
              <a:gs pos="39999">
                <a:srgbClr val="85C2FF"/>
              </a:gs>
              <a:gs pos="60000">
                <a:srgbClr val="C4D6EB"/>
              </a:gs>
              <a:gs pos="100000">
                <a:schemeClr val="accent1">
                  <a:lumMod val="40000"/>
                  <a:lumOff val="60000"/>
                </a:schemeClr>
              </a:gs>
            </a:gsLst>
            <a:lin ang="13500000" scaled="1"/>
            <a:tileRect/>
          </a:gradFill>
          <a:ln>
            <a:noFill/>
          </a:ln>
          <a:effectLst/>
          <a:scene3d>
            <a:camera prst="orthographicFront"/>
            <a:lightRig rig="threePt" dir="t"/>
          </a:scene3d>
          <a:sp3d>
            <a:bevelT w="19050" h="50800"/>
          </a:sp3d>
        </p:spPr>
        <p:style>
          <a:lnRef idx="2">
            <a:schemeClr val="accent1">
              <a:shade val="50000"/>
            </a:schemeClr>
          </a:lnRef>
          <a:fillRef idx="1">
            <a:schemeClr val="accent1"/>
          </a:fillRef>
          <a:effectRef idx="0">
            <a:schemeClr val="accent1"/>
          </a:effectRef>
          <a:fontRef idx="minor">
            <a:schemeClr val="lt1"/>
          </a:fontRef>
        </p:style>
        <p:txBody>
          <a:bodyPr/>
          <a:lstStyle/>
          <a:p>
            <a:endParaRPr lang="fr-FR" dirty="0"/>
          </a:p>
        </p:txBody>
      </p:sp>
      <p:sp>
        <p:nvSpPr>
          <p:cNvPr id="8" name="Espace réservé du contenu 1"/>
          <p:cNvSpPr txBox="1"/>
          <p:nvPr/>
        </p:nvSpPr>
        <p:spPr>
          <a:xfrm>
            <a:off x="2207568" y="1047512"/>
            <a:ext cx="8784976" cy="4248472"/>
          </a:xfrm>
          <a:prstGeom prst="rect">
            <a:avLst/>
          </a:prstGeom>
        </p:spPr>
        <p:txBody>
          <a:bodyPr/>
          <a:lstStyle/>
          <a:p>
            <a:pPr marL="342900" indent="-342900" algn="ctr">
              <a:spcBef>
                <a:spcPct val="20000"/>
              </a:spcBef>
              <a:defRPr/>
            </a:pPr>
            <a:r>
              <a:rPr lang="fr-FR" sz="3200" dirty="0"/>
              <a:t>Les produits</a:t>
            </a:r>
          </a:p>
          <a:p>
            <a:pPr marL="742950" lvl="1" indent="-285750">
              <a:spcBef>
                <a:spcPct val="20000"/>
              </a:spcBef>
              <a:buFont typeface="Arial" panose="020B0604020202020204" pitchFamily="34" charset="0"/>
              <a:buChar char="•"/>
              <a:defRPr/>
            </a:pPr>
            <a:r>
              <a:rPr lang="fr-FR" sz="2800" dirty="0" err="1"/>
              <a:t>VMware</a:t>
            </a:r>
            <a:endParaRPr lang="fr-FR" sz="2800" dirty="0"/>
          </a:p>
        </p:txBody>
      </p:sp>
      <p:sp>
        <p:nvSpPr>
          <p:cNvPr id="9" name="ZoneTexte 8"/>
          <p:cNvSpPr txBox="1"/>
          <p:nvPr/>
        </p:nvSpPr>
        <p:spPr>
          <a:xfrm>
            <a:off x="5375921" y="3573016"/>
            <a:ext cx="5243167" cy="1938992"/>
          </a:xfrm>
          <a:prstGeom prst="rect">
            <a:avLst/>
          </a:prstGeom>
          <a:noFill/>
        </p:spPr>
        <p:txBody>
          <a:bodyPr wrap="none" rtlCol="0">
            <a:spAutoFit/>
          </a:bodyPr>
          <a:lstStyle/>
          <a:p>
            <a:pPr>
              <a:spcBef>
                <a:spcPts val="600"/>
              </a:spcBef>
              <a:spcAft>
                <a:spcPts val="600"/>
              </a:spcAft>
              <a:buFont typeface="Arial" panose="020B0604020202020204" pitchFamily="34" charset="0"/>
              <a:buChar char="•"/>
            </a:pPr>
            <a:r>
              <a:rPr lang="fr-FR" dirty="0"/>
              <a:t> ensemble de produits propriétaires de </a:t>
            </a:r>
            <a:r>
              <a:rPr lang="fr-FR" dirty="0" err="1"/>
              <a:t>virtualisation</a:t>
            </a:r>
            <a:r>
              <a:rPr lang="fr-FR" dirty="0"/>
              <a:t> </a:t>
            </a:r>
            <a:br>
              <a:rPr lang="fr-FR" dirty="0"/>
            </a:br>
            <a:r>
              <a:rPr lang="fr-FR" dirty="0"/>
              <a:t>  d'architectures x86</a:t>
            </a:r>
          </a:p>
          <a:p>
            <a:pPr>
              <a:spcBef>
                <a:spcPts val="600"/>
              </a:spcBef>
              <a:spcAft>
                <a:spcPts val="600"/>
              </a:spcAft>
              <a:buFont typeface="Arial" panose="020B0604020202020204" pitchFamily="34" charset="0"/>
              <a:buChar char="•"/>
            </a:pPr>
            <a:r>
              <a:rPr lang="fr-FR" dirty="0"/>
              <a:t> système hôtes </a:t>
            </a:r>
            <a:r>
              <a:rPr lang="fr-FR" dirty="0" err="1"/>
              <a:t>windows</a:t>
            </a:r>
            <a:r>
              <a:rPr lang="fr-FR" dirty="0"/>
              <a:t>, linux ou Mac OS</a:t>
            </a:r>
          </a:p>
          <a:p>
            <a:pPr>
              <a:spcBef>
                <a:spcPts val="600"/>
              </a:spcBef>
              <a:spcAft>
                <a:spcPts val="600"/>
              </a:spcAft>
              <a:buFont typeface="Arial" panose="020B0604020202020204" pitchFamily="34" charset="0"/>
              <a:buChar char="•"/>
            </a:pPr>
            <a:r>
              <a:rPr lang="fr-FR" dirty="0"/>
              <a:t> possibilité d'émuler une machine multiprocesseur</a:t>
            </a:r>
          </a:p>
          <a:p>
            <a:pPr>
              <a:spcBef>
                <a:spcPts val="600"/>
              </a:spcBef>
              <a:spcAft>
                <a:spcPts val="600"/>
              </a:spcAft>
              <a:buFont typeface="Arial" panose="020B0604020202020204" pitchFamily="34" charset="0"/>
              <a:buChar char="•"/>
            </a:pPr>
            <a:r>
              <a:rPr lang="fr-FR" dirty="0"/>
              <a:t> interface graphique 3D </a:t>
            </a:r>
            <a:r>
              <a:rPr lang="fr-FR" dirty="0" err="1"/>
              <a:t>virtualisée</a:t>
            </a:r>
            <a:r>
              <a:rPr lang="fr-FR" dirty="0"/>
              <a:t> </a:t>
            </a:r>
          </a:p>
        </p:txBody>
      </p:sp>
      <p:pic>
        <p:nvPicPr>
          <p:cNvPr id="10" name="Picture 2"/>
          <p:cNvPicPr>
            <a:picLocks noChangeAspect="1" noChangeArrowheads="1"/>
          </p:cNvPicPr>
          <p:nvPr/>
        </p:nvPicPr>
        <p:blipFill>
          <a:blip r:embed="rId3" cstate="print"/>
          <a:srcRect t="24616" b="25460"/>
          <a:stretch>
            <a:fillRect/>
          </a:stretch>
        </p:blipFill>
        <p:spPr bwMode="auto">
          <a:xfrm>
            <a:off x="2190554" y="3573016"/>
            <a:ext cx="3028950" cy="1512168"/>
          </a:xfrm>
          <a:prstGeom prst="rect">
            <a:avLst/>
          </a:prstGeom>
          <a:noFill/>
          <a:ln w="9525">
            <a:noFill/>
            <a:miter lim="800000"/>
            <a:headEnd/>
            <a:tailEnd/>
          </a:ln>
        </p:spPr>
      </p:pic>
    </p:spTree>
    <p:extLst>
      <p:ext uri="{BB962C8B-B14F-4D97-AF65-F5344CB8AC3E}">
        <p14:creationId xmlns:p14="http://schemas.microsoft.com/office/powerpoint/2010/main" val="12731386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rrondir un rectangle avec un coin diagonal 14"/>
          <p:cNvSpPr/>
          <p:nvPr/>
        </p:nvSpPr>
        <p:spPr>
          <a:xfrm>
            <a:off x="2207568" y="1052736"/>
            <a:ext cx="8245424" cy="1584176"/>
          </a:xfrm>
          <a:prstGeom prst="round2DiagRect">
            <a:avLst/>
          </a:prstGeom>
          <a:gradFill flip="none" rotWithShape="1">
            <a:gsLst>
              <a:gs pos="0">
                <a:srgbClr val="5E9EFF"/>
              </a:gs>
              <a:gs pos="39999">
                <a:srgbClr val="85C2FF"/>
              </a:gs>
              <a:gs pos="60000">
                <a:srgbClr val="C4D6EB"/>
              </a:gs>
              <a:gs pos="100000">
                <a:schemeClr val="accent1">
                  <a:lumMod val="40000"/>
                  <a:lumOff val="60000"/>
                </a:schemeClr>
              </a:gs>
            </a:gsLst>
            <a:lin ang="13500000" scaled="1"/>
            <a:tileRect/>
          </a:gradFill>
          <a:ln>
            <a:noFill/>
          </a:ln>
          <a:effectLst/>
          <a:scene3d>
            <a:camera prst="orthographicFront"/>
            <a:lightRig rig="threePt" dir="t"/>
          </a:scene3d>
          <a:sp3d>
            <a:bevelT w="19050" h="50800"/>
          </a:sp3d>
        </p:spPr>
        <p:style>
          <a:lnRef idx="2">
            <a:schemeClr val="accent1">
              <a:shade val="50000"/>
            </a:schemeClr>
          </a:lnRef>
          <a:fillRef idx="1">
            <a:schemeClr val="accent1"/>
          </a:fillRef>
          <a:effectRef idx="0">
            <a:schemeClr val="accent1"/>
          </a:effectRef>
          <a:fontRef idx="minor">
            <a:schemeClr val="lt1"/>
          </a:fontRef>
        </p:style>
        <p:txBody>
          <a:bodyPr/>
          <a:lstStyle/>
          <a:p>
            <a:endParaRPr lang="fr-FR" dirty="0"/>
          </a:p>
        </p:txBody>
      </p:sp>
      <p:sp>
        <p:nvSpPr>
          <p:cNvPr id="11" name="Espace réservé du contenu 1"/>
          <p:cNvSpPr txBox="1"/>
          <p:nvPr/>
        </p:nvSpPr>
        <p:spPr>
          <a:xfrm>
            <a:off x="2184650" y="1047512"/>
            <a:ext cx="8784976" cy="4248472"/>
          </a:xfrm>
          <a:prstGeom prst="rect">
            <a:avLst/>
          </a:prstGeom>
        </p:spPr>
        <p:txBody>
          <a:bodyPr/>
          <a:lstStyle/>
          <a:p>
            <a:pPr marL="342900" indent="-342900" algn="ctr">
              <a:spcBef>
                <a:spcPct val="20000"/>
              </a:spcBef>
              <a:defRPr/>
            </a:pPr>
            <a:r>
              <a:rPr lang="fr-FR" sz="3200" dirty="0"/>
              <a:t>Quelques produits </a:t>
            </a:r>
            <a:r>
              <a:rPr lang="fr-FR" sz="3200" dirty="0" err="1"/>
              <a:t>VMware</a:t>
            </a:r>
            <a:endParaRPr lang="fr-FR" sz="3200" dirty="0"/>
          </a:p>
          <a:p>
            <a:pPr marL="742950" lvl="1" indent="-285750">
              <a:spcBef>
                <a:spcPct val="20000"/>
              </a:spcBef>
              <a:buFont typeface="Arial" panose="020B0604020202020204" pitchFamily="34" charset="0"/>
              <a:buChar char="•"/>
              <a:defRPr/>
            </a:pPr>
            <a:r>
              <a:rPr lang="fr-FR" sz="2800" dirty="0" err="1"/>
              <a:t>VMware</a:t>
            </a:r>
            <a:r>
              <a:rPr lang="fr-FR" sz="2800" dirty="0"/>
              <a:t> Workstation </a:t>
            </a:r>
          </a:p>
        </p:txBody>
      </p:sp>
      <p:sp>
        <p:nvSpPr>
          <p:cNvPr id="12" name="ZoneTexte 11"/>
          <p:cNvSpPr txBox="1"/>
          <p:nvPr/>
        </p:nvSpPr>
        <p:spPr>
          <a:xfrm>
            <a:off x="5231905" y="3356992"/>
            <a:ext cx="5308889" cy="2369880"/>
          </a:xfrm>
          <a:prstGeom prst="rect">
            <a:avLst/>
          </a:prstGeom>
          <a:noFill/>
        </p:spPr>
        <p:txBody>
          <a:bodyPr wrap="none" rtlCol="0">
            <a:spAutoFit/>
          </a:bodyPr>
          <a:lstStyle/>
          <a:p>
            <a:pPr>
              <a:spcBef>
                <a:spcPts val="600"/>
              </a:spcBef>
              <a:spcAft>
                <a:spcPts val="600"/>
              </a:spcAft>
              <a:buFont typeface="Arial" panose="020B0604020202020204" pitchFamily="34" charset="0"/>
              <a:buChar char="•"/>
            </a:pPr>
            <a:r>
              <a:rPr lang="fr-FR" dirty="0"/>
              <a:t> permet la création de machines virtuelles sur tout OS</a:t>
            </a:r>
          </a:p>
          <a:p>
            <a:pPr>
              <a:spcBef>
                <a:spcPts val="600"/>
              </a:spcBef>
              <a:spcAft>
                <a:spcPts val="600"/>
              </a:spcAft>
              <a:buFont typeface="Arial" panose="020B0604020202020204" pitchFamily="34" charset="0"/>
              <a:buChar char="•"/>
            </a:pPr>
            <a:r>
              <a:rPr lang="fr-FR" dirty="0"/>
              <a:t> leader et pionnier de la </a:t>
            </a:r>
            <a:r>
              <a:rPr lang="fr-FR" dirty="0" err="1"/>
              <a:t>virtualisation</a:t>
            </a:r>
            <a:r>
              <a:rPr lang="fr-FR" dirty="0"/>
              <a:t> des PC</a:t>
            </a:r>
          </a:p>
          <a:p>
            <a:pPr>
              <a:spcBef>
                <a:spcPts val="600"/>
              </a:spcBef>
              <a:spcAft>
                <a:spcPts val="600"/>
              </a:spcAft>
              <a:buFont typeface="Arial" panose="020B0604020202020204" pitchFamily="34" charset="0"/>
              <a:buChar char="•"/>
            </a:pPr>
            <a:r>
              <a:rPr lang="fr-FR" dirty="0"/>
              <a:t> souple, intuitif et performant</a:t>
            </a:r>
          </a:p>
          <a:p>
            <a:pPr>
              <a:spcBef>
                <a:spcPts val="600"/>
              </a:spcBef>
              <a:spcAft>
                <a:spcPts val="600"/>
              </a:spcAft>
              <a:buFont typeface="Arial" panose="020B0604020202020204" pitchFamily="34" charset="0"/>
              <a:buChar char="•"/>
            </a:pPr>
            <a:r>
              <a:rPr lang="fr-FR" dirty="0"/>
              <a:t> création de réseaux de machines virtuels </a:t>
            </a:r>
          </a:p>
          <a:p>
            <a:pPr>
              <a:spcBef>
                <a:spcPts val="600"/>
              </a:spcBef>
              <a:spcAft>
                <a:spcPts val="600"/>
              </a:spcAft>
              <a:buFont typeface="Arial" panose="020B0604020202020204" pitchFamily="34" charset="0"/>
              <a:buChar char="•"/>
            </a:pPr>
            <a:r>
              <a:rPr lang="fr-FR" dirty="0"/>
              <a:t> développement, test, démonstration </a:t>
            </a:r>
            <a:br>
              <a:rPr lang="fr-FR" dirty="0"/>
            </a:br>
            <a:r>
              <a:rPr lang="fr-FR" dirty="0"/>
              <a:t>  et déploiement de logiciels</a:t>
            </a:r>
          </a:p>
        </p:txBody>
      </p:sp>
      <p:pic>
        <p:nvPicPr>
          <p:cNvPr id="13" name="Picture 3"/>
          <p:cNvPicPr>
            <a:picLocks noChangeAspect="1" noChangeArrowheads="1"/>
          </p:cNvPicPr>
          <p:nvPr/>
        </p:nvPicPr>
        <p:blipFill>
          <a:blip r:embed="rId3" cstate="print"/>
          <a:srcRect/>
          <a:stretch>
            <a:fillRect/>
          </a:stretch>
        </p:blipFill>
        <p:spPr bwMode="auto">
          <a:xfrm>
            <a:off x="2135560" y="3284985"/>
            <a:ext cx="2903238" cy="2925571"/>
          </a:xfrm>
          <a:prstGeom prst="rect">
            <a:avLst/>
          </a:prstGeom>
          <a:noFill/>
          <a:ln w="9525">
            <a:noFill/>
            <a:miter lim="800000"/>
            <a:headEnd/>
            <a:tailEnd/>
          </a:ln>
        </p:spPr>
      </p:pic>
    </p:spTree>
    <p:extLst>
      <p:ext uri="{BB962C8B-B14F-4D97-AF65-F5344CB8AC3E}">
        <p14:creationId xmlns:p14="http://schemas.microsoft.com/office/powerpoint/2010/main" val="38344171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rrondir un rectangle avec un coin diagonal 14"/>
          <p:cNvSpPr/>
          <p:nvPr/>
        </p:nvSpPr>
        <p:spPr>
          <a:xfrm>
            <a:off x="2207568" y="1052736"/>
            <a:ext cx="8245424" cy="1584176"/>
          </a:xfrm>
          <a:prstGeom prst="round2DiagRect">
            <a:avLst/>
          </a:prstGeom>
          <a:gradFill flip="none" rotWithShape="1">
            <a:gsLst>
              <a:gs pos="0">
                <a:srgbClr val="5E9EFF"/>
              </a:gs>
              <a:gs pos="39999">
                <a:srgbClr val="85C2FF"/>
              </a:gs>
              <a:gs pos="60000">
                <a:srgbClr val="C4D6EB"/>
              </a:gs>
              <a:gs pos="100000">
                <a:schemeClr val="accent1">
                  <a:lumMod val="40000"/>
                  <a:lumOff val="60000"/>
                </a:schemeClr>
              </a:gs>
            </a:gsLst>
            <a:lin ang="13500000" scaled="1"/>
            <a:tileRect/>
          </a:gradFill>
          <a:ln>
            <a:noFill/>
          </a:ln>
          <a:effectLst/>
          <a:scene3d>
            <a:camera prst="orthographicFront"/>
            <a:lightRig rig="threePt" dir="t"/>
          </a:scene3d>
          <a:sp3d>
            <a:bevelT w="19050" h="50800"/>
          </a:sp3d>
        </p:spPr>
        <p:style>
          <a:lnRef idx="2">
            <a:schemeClr val="accent1">
              <a:shade val="50000"/>
            </a:schemeClr>
          </a:lnRef>
          <a:fillRef idx="1">
            <a:schemeClr val="accent1"/>
          </a:fillRef>
          <a:effectRef idx="0">
            <a:schemeClr val="accent1"/>
          </a:effectRef>
          <a:fontRef idx="minor">
            <a:schemeClr val="lt1"/>
          </a:fontRef>
        </p:style>
        <p:txBody>
          <a:bodyPr/>
          <a:lstStyle/>
          <a:p>
            <a:endParaRPr lang="fr-FR" dirty="0"/>
          </a:p>
        </p:txBody>
      </p:sp>
      <p:sp>
        <p:nvSpPr>
          <p:cNvPr id="8" name="Espace réservé du contenu 1"/>
          <p:cNvSpPr txBox="1"/>
          <p:nvPr/>
        </p:nvSpPr>
        <p:spPr>
          <a:xfrm>
            <a:off x="2207568" y="1052736"/>
            <a:ext cx="8784976" cy="4248472"/>
          </a:xfrm>
          <a:prstGeom prst="rect">
            <a:avLst/>
          </a:prstGeom>
        </p:spPr>
        <p:txBody>
          <a:bodyPr/>
          <a:lstStyle/>
          <a:p>
            <a:pPr marL="342900" indent="-342900" algn="ctr">
              <a:spcBef>
                <a:spcPct val="20000"/>
              </a:spcBef>
              <a:defRPr/>
            </a:pPr>
            <a:r>
              <a:rPr lang="fr-FR" sz="3200" dirty="0"/>
              <a:t>Quelques produits </a:t>
            </a:r>
            <a:r>
              <a:rPr lang="fr-FR" sz="3200" dirty="0" err="1"/>
              <a:t>VMware</a:t>
            </a:r>
            <a:endParaRPr lang="fr-FR" sz="3200" dirty="0"/>
          </a:p>
          <a:p>
            <a:pPr marL="742950" lvl="1" indent="-285750">
              <a:spcBef>
                <a:spcPct val="20000"/>
              </a:spcBef>
              <a:buFont typeface="Arial" panose="020B0604020202020204" pitchFamily="34" charset="0"/>
              <a:buChar char="•"/>
            </a:pPr>
            <a:r>
              <a:rPr lang="fr-FR" sz="2800" dirty="0" err="1"/>
              <a:t>VMware</a:t>
            </a:r>
            <a:r>
              <a:rPr lang="fr-FR" sz="2800" dirty="0"/>
              <a:t> Player</a:t>
            </a:r>
          </a:p>
        </p:txBody>
      </p:sp>
      <p:sp>
        <p:nvSpPr>
          <p:cNvPr id="9" name="ZoneTexte 8"/>
          <p:cNvSpPr txBox="1"/>
          <p:nvPr/>
        </p:nvSpPr>
        <p:spPr>
          <a:xfrm>
            <a:off x="4871865" y="3645024"/>
            <a:ext cx="5569923" cy="923330"/>
          </a:xfrm>
          <a:prstGeom prst="rect">
            <a:avLst/>
          </a:prstGeom>
          <a:noFill/>
        </p:spPr>
        <p:txBody>
          <a:bodyPr wrap="none" rtlCol="0">
            <a:spAutoFit/>
          </a:bodyPr>
          <a:lstStyle/>
          <a:p>
            <a:r>
              <a:rPr lang="fr-FR" b="1" dirty="0"/>
              <a:t>simulation de PC</a:t>
            </a:r>
            <a:r>
              <a:rPr lang="fr-FR" dirty="0"/>
              <a:t>, installation de systèmes d’exploitation, </a:t>
            </a:r>
          </a:p>
          <a:p>
            <a:r>
              <a:rPr lang="fr-FR" dirty="0"/>
              <a:t>développement, déploiement de logiciels, </a:t>
            </a:r>
          </a:p>
          <a:p>
            <a:r>
              <a:rPr lang="fr-FR" dirty="0"/>
              <a:t>gestion de serveur, …</a:t>
            </a:r>
          </a:p>
        </p:txBody>
      </p:sp>
      <p:pic>
        <p:nvPicPr>
          <p:cNvPr id="10" name="Picture 3"/>
          <p:cNvPicPr>
            <a:picLocks noChangeAspect="1" noChangeArrowheads="1"/>
          </p:cNvPicPr>
          <p:nvPr/>
        </p:nvPicPr>
        <p:blipFill>
          <a:blip r:embed="rId3" cstate="print"/>
          <a:srcRect/>
          <a:stretch>
            <a:fillRect/>
          </a:stretch>
        </p:blipFill>
        <p:spPr bwMode="auto">
          <a:xfrm>
            <a:off x="2279576" y="3068960"/>
            <a:ext cx="2520280" cy="2520280"/>
          </a:xfrm>
          <a:prstGeom prst="rect">
            <a:avLst/>
          </a:prstGeom>
          <a:noFill/>
          <a:ln w="9525">
            <a:noFill/>
            <a:miter lim="800000"/>
            <a:headEnd/>
            <a:tailEnd/>
          </a:ln>
        </p:spPr>
      </p:pic>
    </p:spTree>
    <p:extLst>
      <p:ext uri="{BB962C8B-B14F-4D97-AF65-F5344CB8AC3E}">
        <p14:creationId xmlns:p14="http://schemas.microsoft.com/office/powerpoint/2010/main" val="165275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rrondir un rectangle avec un coin diagonal 14"/>
          <p:cNvSpPr/>
          <p:nvPr/>
        </p:nvSpPr>
        <p:spPr>
          <a:xfrm>
            <a:off x="2207568" y="1052736"/>
            <a:ext cx="8245424" cy="1584176"/>
          </a:xfrm>
          <a:prstGeom prst="round2DiagRect">
            <a:avLst/>
          </a:prstGeom>
          <a:gradFill flip="none" rotWithShape="1">
            <a:gsLst>
              <a:gs pos="0">
                <a:srgbClr val="5E9EFF"/>
              </a:gs>
              <a:gs pos="39999">
                <a:srgbClr val="85C2FF"/>
              </a:gs>
              <a:gs pos="60000">
                <a:srgbClr val="C4D6EB"/>
              </a:gs>
              <a:gs pos="100000">
                <a:schemeClr val="accent1">
                  <a:lumMod val="40000"/>
                  <a:lumOff val="60000"/>
                </a:schemeClr>
              </a:gs>
            </a:gsLst>
            <a:lin ang="13500000" scaled="1"/>
            <a:tileRect/>
          </a:gradFill>
          <a:ln>
            <a:noFill/>
          </a:ln>
          <a:effectLst/>
          <a:scene3d>
            <a:camera prst="orthographicFront"/>
            <a:lightRig rig="threePt" dir="t"/>
          </a:scene3d>
          <a:sp3d>
            <a:bevelT w="19050" h="50800"/>
          </a:sp3d>
        </p:spPr>
        <p:style>
          <a:lnRef idx="2">
            <a:schemeClr val="accent1">
              <a:shade val="50000"/>
            </a:schemeClr>
          </a:lnRef>
          <a:fillRef idx="1">
            <a:schemeClr val="accent1"/>
          </a:fillRef>
          <a:effectRef idx="0">
            <a:schemeClr val="accent1"/>
          </a:effectRef>
          <a:fontRef idx="minor">
            <a:schemeClr val="lt1"/>
          </a:fontRef>
        </p:style>
        <p:txBody>
          <a:bodyPr/>
          <a:lstStyle/>
          <a:p>
            <a:endParaRPr lang="fr-FR" dirty="0"/>
          </a:p>
        </p:txBody>
      </p:sp>
      <p:sp>
        <p:nvSpPr>
          <p:cNvPr id="11" name="Espace réservé du contenu 1"/>
          <p:cNvSpPr txBox="1"/>
          <p:nvPr/>
        </p:nvSpPr>
        <p:spPr>
          <a:xfrm>
            <a:off x="2184650" y="1047512"/>
            <a:ext cx="8784976" cy="4248472"/>
          </a:xfrm>
          <a:prstGeom prst="rect">
            <a:avLst/>
          </a:prstGeom>
        </p:spPr>
        <p:txBody>
          <a:bodyPr/>
          <a:lstStyle/>
          <a:p>
            <a:pPr marL="342900" indent="-342900" algn="ctr">
              <a:spcBef>
                <a:spcPct val="20000"/>
              </a:spcBef>
              <a:defRPr/>
            </a:pPr>
            <a:r>
              <a:rPr lang="fr-FR" sz="3200" dirty="0"/>
              <a:t>Quelques produits </a:t>
            </a:r>
            <a:r>
              <a:rPr lang="fr-FR" sz="3200" dirty="0" err="1"/>
              <a:t>VMware</a:t>
            </a:r>
            <a:endParaRPr lang="fr-FR" sz="3200" dirty="0"/>
          </a:p>
          <a:p>
            <a:pPr marL="742950" lvl="1" indent="-285750">
              <a:spcBef>
                <a:spcPct val="20000"/>
              </a:spcBef>
              <a:buFont typeface="Arial" panose="020B0604020202020204" pitchFamily="34" charset="0"/>
              <a:buChar char="•"/>
              <a:defRPr/>
            </a:pPr>
            <a:r>
              <a:rPr lang="fr-FR" sz="2800" dirty="0" err="1"/>
              <a:t>VMware</a:t>
            </a:r>
            <a:r>
              <a:rPr lang="fr-FR" sz="2800" dirty="0"/>
              <a:t> ESX / </a:t>
            </a:r>
            <a:r>
              <a:rPr lang="fr-FR" sz="2800" dirty="0" err="1"/>
              <a:t>ESXi</a:t>
            </a:r>
            <a:endParaRPr lang="fr-FR" sz="2800" dirty="0"/>
          </a:p>
        </p:txBody>
      </p:sp>
      <p:sp>
        <p:nvSpPr>
          <p:cNvPr id="12" name="ZoneTexte 11"/>
          <p:cNvSpPr txBox="1"/>
          <p:nvPr/>
        </p:nvSpPr>
        <p:spPr>
          <a:xfrm>
            <a:off x="5055567" y="3573016"/>
            <a:ext cx="5142049" cy="2492990"/>
          </a:xfrm>
          <a:prstGeom prst="rect">
            <a:avLst/>
          </a:prstGeom>
          <a:noFill/>
        </p:spPr>
        <p:txBody>
          <a:bodyPr wrap="none" rtlCol="0">
            <a:spAutoFit/>
          </a:bodyPr>
          <a:lstStyle/>
          <a:p>
            <a:pPr>
              <a:spcBef>
                <a:spcPts val="600"/>
              </a:spcBef>
              <a:spcAft>
                <a:spcPts val="600"/>
              </a:spcAft>
              <a:buFont typeface="Arial" panose="020B0604020202020204" pitchFamily="34" charset="0"/>
              <a:buChar char="•"/>
            </a:pPr>
            <a:r>
              <a:rPr lang="fr-FR" dirty="0"/>
              <a:t> </a:t>
            </a:r>
            <a:r>
              <a:rPr lang="fr-FR" dirty="0" err="1"/>
              <a:t>hyperviseurs</a:t>
            </a:r>
            <a:r>
              <a:rPr lang="fr-FR" dirty="0"/>
              <a:t>  qui  partitionnent les serveurs </a:t>
            </a:r>
            <a:br>
              <a:rPr lang="fr-FR" dirty="0"/>
            </a:br>
            <a:r>
              <a:rPr lang="fr-FR" dirty="0"/>
              <a:t>  physiques en plusieurs machines virtuelles</a:t>
            </a:r>
          </a:p>
          <a:p>
            <a:pPr>
              <a:spcBef>
                <a:spcPts val="600"/>
              </a:spcBef>
              <a:spcAft>
                <a:spcPts val="600"/>
              </a:spcAft>
              <a:buFont typeface="Arial" panose="020B0604020202020204" pitchFamily="34" charset="0"/>
              <a:buChar char="•"/>
            </a:pPr>
            <a:r>
              <a:rPr lang="fr-FR" dirty="0"/>
              <a:t> </a:t>
            </a:r>
            <a:r>
              <a:rPr lang="fr-FR" dirty="0" err="1"/>
              <a:t>ESXi</a:t>
            </a:r>
            <a:r>
              <a:rPr lang="fr-FR" dirty="0"/>
              <a:t> : version gratuite</a:t>
            </a:r>
          </a:p>
          <a:p>
            <a:pPr>
              <a:spcBef>
                <a:spcPts val="600"/>
              </a:spcBef>
              <a:spcAft>
                <a:spcPts val="600"/>
              </a:spcAft>
              <a:buFont typeface="Arial" panose="020B0604020202020204" pitchFamily="34" charset="0"/>
              <a:buChar char="•"/>
            </a:pPr>
            <a:r>
              <a:rPr lang="fr-FR" dirty="0"/>
              <a:t> exécute des systèmes d’exploitation Windows, </a:t>
            </a:r>
            <a:br>
              <a:rPr lang="fr-FR" dirty="0"/>
            </a:br>
            <a:r>
              <a:rPr lang="fr-FR" dirty="0"/>
              <a:t>  Linux, Solaris et NetWare non modifiés </a:t>
            </a:r>
            <a:br>
              <a:rPr lang="fr-FR" dirty="0"/>
            </a:br>
            <a:r>
              <a:rPr lang="fr-FR" dirty="0"/>
              <a:t>  sur les machines virtuelles.</a:t>
            </a:r>
          </a:p>
          <a:p>
            <a:pPr>
              <a:spcBef>
                <a:spcPts val="600"/>
              </a:spcBef>
              <a:spcAft>
                <a:spcPts val="600"/>
              </a:spcAft>
              <a:buFont typeface="Arial" panose="020B0604020202020204" pitchFamily="34" charset="0"/>
              <a:buChar char="•"/>
            </a:pPr>
            <a:r>
              <a:rPr lang="fr-FR" dirty="0"/>
              <a:t>  basés sur une distribution </a:t>
            </a:r>
            <a:r>
              <a:rPr lang="fr-FR" dirty="0" err="1"/>
              <a:t>RedHat</a:t>
            </a:r>
            <a:r>
              <a:rPr lang="fr-FR" dirty="0"/>
              <a:t> Linux 5 modifiée</a:t>
            </a:r>
          </a:p>
        </p:txBody>
      </p:sp>
      <p:pic>
        <p:nvPicPr>
          <p:cNvPr id="13" name="Picture 3"/>
          <p:cNvPicPr>
            <a:picLocks noChangeAspect="1" noChangeArrowheads="1"/>
          </p:cNvPicPr>
          <p:nvPr/>
        </p:nvPicPr>
        <p:blipFill>
          <a:blip r:embed="rId3" cstate="print"/>
          <a:srcRect/>
          <a:stretch>
            <a:fillRect/>
          </a:stretch>
        </p:blipFill>
        <p:spPr bwMode="auto">
          <a:xfrm>
            <a:off x="2207568" y="3356993"/>
            <a:ext cx="2736304" cy="2913475"/>
          </a:xfrm>
          <a:prstGeom prst="rect">
            <a:avLst/>
          </a:prstGeom>
          <a:noFill/>
          <a:ln w="9525">
            <a:noFill/>
            <a:miter lim="800000"/>
            <a:headEnd/>
            <a:tailEnd/>
          </a:ln>
        </p:spPr>
      </p:pic>
    </p:spTree>
    <p:extLst>
      <p:ext uri="{BB962C8B-B14F-4D97-AF65-F5344CB8AC3E}">
        <p14:creationId xmlns:p14="http://schemas.microsoft.com/office/powerpoint/2010/main" val="27608488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rrondir un rectangle avec un coin diagonal 14"/>
          <p:cNvSpPr/>
          <p:nvPr/>
        </p:nvSpPr>
        <p:spPr>
          <a:xfrm>
            <a:off x="1991544" y="1772816"/>
            <a:ext cx="8245424" cy="3384376"/>
          </a:xfrm>
          <a:prstGeom prst="round2DiagRect">
            <a:avLst/>
          </a:prstGeom>
          <a:gradFill flip="none" rotWithShape="1">
            <a:gsLst>
              <a:gs pos="0">
                <a:srgbClr val="5E9EFF"/>
              </a:gs>
              <a:gs pos="39999">
                <a:srgbClr val="85C2FF"/>
              </a:gs>
              <a:gs pos="60000">
                <a:srgbClr val="C4D6EB"/>
              </a:gs>
              <a:gs pos="100000">
                <a:schemeClr val="accent1">
                  <a:lumMod val="40000"/>
                  <a:lumOff val="60000"/>
                </a:schemeClr>
              </a:gs>
            </a:gsLst>
            <a:lin ang="13500000" scaled="1"/>
            <a:tileRect/>
          </a:gradFill>
          <a:ln>
            <a:noFill/>
          </a:ln>
          <a:effectLst/>
          <a:scene3d>
            <a:camera prst="orthographicFront"/>
            <a:lightRig rig="threePt" dir="t"/>
          </a:scene3d>
          <a:sp3d>
            <a:bevelT w="19050" h="50800"/>
          </a:sp3d>
        </p:spPr>
        <p:style>
          <a:lnRef idx="2">
            <a:schemeClr val="accent1">
              <a:shade val="50000"/>
            </a:schemeClr>
          </a:lnRef>
          <a:fillRef idx="1">
            <a:schemeClr val="accent1"/>
          </a:fillRef>
          <a:effectRef idx="0">
            <a:schemeClr val="accent1"/>
          </a:effectRef>
          <a:fontRef idx="minor">
            <a:schemeClr val="lt1"/>
          </a:fontRef>
        </p:style>
        <p:txBody>
          <a:bodyPr/>
          <a:lstStyle/>
          <a:p>
            <a:endParaRPr lang="fr-FR" dirty="0"/>
          </a:p>
        </p:txBody>
      </p:sp>
      <p:sp>
        <p:nvSpPr>
          <p:cNvPr id="10" name="Espace réservé du contenu 1"/>
          <p:cNvSpPr txBox="1"/>
          <p:nvPr/>
        </p:nvSpPr>
        <p:spPr>
          <a:xfrm>
            <a:off x="2063552" y="1844824"/>
            <a:ext cx="8784976" cy="4248472"/>
          </a:xfrm>
          <a:prstGeom prst="rect">
            <a:avLst/>
          </a:prstGeom>
        </p:spPr>
        <p:txBody>
          <a:bodyPr/>
          <a:lstStyle/>
          <a:p>
            <a:pPr marL="342900" indent="-342900" algn="ctr">
              <a:spcBef>
                <a:spcPct val="20000"/>
              </a:spcBef>
              <a:defRPr/>
            </a:pPr>
            <a:r>
              <a:rPr lang="fr-FR" sz="3200" dirty="0"/>
              <a:t>TP Machine virtuelle et linux </a:t>
            </a:r>
            <a:r>
              <a:rPr lang="fr-FR" sz="3200" dirty="0" err="1"/>
              <a:t>Ubuntu</a:t>
            </a:r>
            <a:endParaRPr lang="fr-FR" sz="3200" dirty="0"/>
          </a:p>
          <a:p>
            <a:pPr marL="742950" lvl="1" indent="-285750">
              <a:spcBef>
                <a:spcPct val="20000"/>
              </a:spcBef>
              <a:buFont typeface="Arial" panose="020B0604020202020204" pitchFamily="34" charset="0"/>
              <a:buChar char="•"/>
              <a:defRPr/>
            </a:pPr>
            <a:r>
              <a:rPr lang="fr-FR" sz="2800" dirty="0"/>
              <a:t>Création d’une machine virtuelle</a:t>
            </a:r>
          </a:p>
          <a:p>
            <a:pPr marL="742950" lvl="1" indent="-285750">
              <a:spcBef>
                <a:spcPct val="20000"/>
              </a:spcBef>
              <a:buFont typeface="Arial" panose="020B0604020202020204" pitchFamily="34" charset="0"/>
              <a:buChar char="•"/>
              <a:defRPr/>
            </a:pPr>
            <a:r>
              <a:rPr lang="fr-FR" sz="2800" dirty="0"/>
              <a:t>Installation de linux </a:t>
            </a:r>
            <a:r>
              <a:rPr lang="fr-FR" sz="2800" dirty="0" err="1"/>
              <a:t>Ubuntu</a:t>
            </a:r>
            <a:endParaRPr lang="fr-FR" sz="2800" dirty="0"/>
          </a:p>
          <a:p>
            <a:pPr marL="742950" lvl="1" indent="-285750">
              <a:spcBef>
                <a:spcPct val="20000"/>
              </a:spcBef>
              <a:buFont typeface="Arial" panose="020B0604020202020204" pitchFamily="34" charset="0"/>
              <a:buChar char="•"/>
              <a:defRPr/>
            </a:pPr>
            <a:r>
              <a:rPr lang="fr-FR" sz="2800" dirty="0"/>
              <a:t>Configuration de l’environnement</a:t>
            </a:r>
          </a:p>
          <a:p>
            <a:pPr marL="742950" lvl="1" indent="-285750">
              <a:spcBef>
                <a:spcPct val="20000"/>
              </a:spcBef>
              <a:buFont typeface="Arial" panose="020B0604020202020204" pitchFamily="34" charset="0"/>
              <a:buChar char="•"/>
              <a:defRPr/>
            </a:pPr>
            <a:r>
              <a:rPr lang="fr-FR" sz="2800" dirty="0"/>
              <a:t>Logiciels de bases</a:t>
            </a:r>
          </a:p>
          <a:p>
            <a:pPr marL="742950" lvl="1" indent="-285750">
              <a:spcBef>
                <a:spcPct val="20000"/>
              </a:spcBef>
              <a:buFont typeface="Arial" panose="020B0604020202020204" pitchFamily="34" charset="0"/>
              <a:buChar char="•"/>
              <a:defRPr/>
            </a:pPr>
            <a:r>
              <a:rPr lang="fr-FR" sz="2800" dirty="0"/>
              <a:t>Installation de logiciels</a:t>
            </a:r>
          </a:p>
          <a:p>
            <a:pPr marL="742950" lvl="1" indent="-285750">
              <a:spcBef>
                <a:spcPct val="20000"/>
              </a:spcBef>
              <a:buFont typeface="Arial" panose="020B0604020202020204" pitchFamily="34" charset="0"/>
              <a:buChar char="•"/>
              <a:defRPr/>
            </a:pPr>
            <a:endParaRPr lang="fr-FR" sz="2800" dirty="0"/>
          </a:p>
        </p:txBody>
      </p:sp>
    </p:spTree>
    <p:extLst>
      <p:ext uri="{BB962C8B-B14F-4D97-AF65-F5344CB8AC3E}">
        <p14:creationId xmlns:p14="http://schemas.microsoft.com/office/powerpoint/2010/main" val="9413682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llipse 9"/>
          <p:cNvSpPr/>
          <p:nvPr/>
        </p:nvSpPr>
        <p:spPr>
          <a:xfrm>
            <a:off x="2567608" y="1628800"/>
            <a:ext cx="7128792" cy="4365104"/>
          </a:xfrm>
          <a:prstGeom prst="ellipse">
            <a:avLst/>
          </a:prstGeom>
          <a:scene3d>
            <a:camera prst="orthographicFront"/>
            <a:lightRig rig="threePt" dir="t"/>
          </a:scene3d>
          <a:sp3d>
            <a:bevelT w="127000" h="127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p:cNvSpPr/>
          <p:nvPr/>
        </p:nvSpPr>
        <p:spPr>
          <a:xfrm>
            <a:off x="4655840" y="1988841"/>
            <a:ext cx="2952328" cy="1253753"/>
          </a:xfrm>
          <a:prstGeom prst="rect">
            <a:avLst/>
          </a:prstGeom>
          <a:noFill/>
        </p:spPr>
        <p:txBody>
          <a:bodyPr spcFirstLastPara="1" wrap="none" lIns="91440" tIns="45720" rIns="91440" bIns="45720" numCol="1">
            <a:prstTxWarp prst="textArchUp">
              <a:avLst>
                <a:gd name="adj" fmla="val 10799663"/>
              </a:avLst>
            </a:prstTxWarp>
            <a:spAutoFit/>
          </a:bodyPr>
          <a:lstStyle/>
          <a:p>
            <a:pPr algn="ctr"/>
            <a:r>
              <a:rPr lang="fr-FR" sz="2800" dirty="0">
                <a:ln w="18415" cmpd="sng">
                  <a:solidFill>
                    <a:srgbClr val="FFFFFF"/>
                  </a:solidFill>
                  <a:prstDash val="solid"/>
                </a:ln>
                <a:solidFill>
                  <a:srgbClr val="FFFFFF"/>
                </a:solidFill>
                <a:effectLst>
                  <a:outerShdw blurRad="63500" dir="3600000" algn="tl" rotWithShape="0">
                    <a:srgbClr val="000000">
                      <a:alpha val="70000"/>
                    </a:srgbClr>
                  </a:outerShdw>
                </a:effectLst>
              </a:rPr>
              <a:t>Utilisateur</a:t>
            </a:r>
          </a:p>
        </p:txBody>
      </p:sp>
      <p:sp>
        <p:nvSpPr>
          <p:cNvPr id="12" name="Ellipse 11"/>
          <p:cNvSpPr/>
          <p:nvPr/>
        </p:nvSpPr>
        <p:spPr>
          <a:xfrm>
            <a:off x="3575720" y="2132856"/>
            <a:ext cx="5184576" cy="3312368"/>
          </a:xfrm>
          <a:prstGeom prst="ellipse">
            <a:avLst/>
          </a:prstGeom>
          <a:solidFill>
            <a:schemeClr val="accent1">
              <a:lumMod val="40000"/>
              <a:lumOff val="60000"/>
            </a:schemeClr>
          </a:solidFill>
          <a:scene3d>
            <a:camera prst="orthographicFront"/>
            <a:lightRig rig="threePt" dir="t"/>
          </a:scene3d>
          <a:sp3d>
            <a:bevelT w="127000" h="127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p:cNvSpPr/>
          <p:nvPr/>
        </p:nvSpPr>
        <p:spPr>
          <a:xfrm>
            <a:off x="4727848" y="2564905"/>
            <a:ext cx="2952328" cy="1253753"/>
          </a:xfrm>
          <a:prstGeom prst="rect">
            <a:avLst/>
          </a:prstGeom>
          <a:noFill/>
        </p:spPr>
        <p:txBody>
          <a:bodyPr spcFirstLastPara="1" wrap="none" lIns="91440" tIns="45720" rIns="91440" bIns="45720" numCol="1">
            <a:prstTxWarp prst="textArchUp">
              <a:avLst>
                <a:gd name="adj" fmla="val 10799663"/>
              </a:avLst>
            </a:prstTxWarp>
            <a:spAutoFit/>
          </a:bodyPr>
          <a:lstStyle/>
          <a:p>
            <a:pPr algn="ctr"/>
            <a:r>
              <a:rPr lang="fr-FR" sz="2800" dirty="0">
                <a:ln w="18415" cmpd="sng">
                  <a:solidFill>
                    <a:srgbClr val="FFFFFF"/>
                  </a:solidFill>
                  <a:prstDash val="solid"/>
                </a:ln>
                <a:solidFill>
                  <a:srgbClr val="FFFFFF"/>
                </a:solidFill>
                <a:effectLst>
                  <a:outerShdw blurRad="63500" dir="3600000" algn="tl" rotWithShape="0">
                    <a:srgbClr val="000000">
                      <a:alpha val="70000"/>
                    </a:srgbClr>
                  </a:outerShdw>
                </a:effectLst>
              </a:rPr>
              <a:t>Shell</a:t>
            </a:r>
          </a:p>
        </p:txBody>
      </p:sp>
      <p:sp>
        <p:nvSpPr>
          <p:cNvPr id="14" name="Ellipse 13"/>
          <p:cNvSpPr/>
          <p:nvPr/>
        </p:nvSpPr>
        <p:spPr>
          <a:xfrm>
            <a:off x="4295800" y="2780928"/>
            <a:ext cx="3672408" cy="2160240"/>
          </a:xfrm>
          <a:prstGeom prst="ellipse">
            <a:avLst/>
          </a:prstGeom>
          <a:solidFill>
            <a:schemeClr val="accent2">
              <a:lumMod val="40000"/>
              <a:lumOff val="60000"/>
            </a:schemeClr>
          </a:solidFill>
          <a:scene3d>
            <a:camera prst="orthographicFront"/>
            <a:lightRig rig="threePt" dir="t"/>
          </a:scene3d>
          <a:sp3d>
            <a:bevelT w="127000" h="127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p:cNvSpPr/>
          <p:nvPr/>
        </p:nvSpPr>
        <p:spPr>
          <a:xfrm>
            <a:off x="4727848" y="3111352"/>
            <a:ext cx="2952328" cy="1253753"/>
          </a:xfrm>
          <a:prstGeom prst="rect">
            <a:avLst/>
          </a:prstGeom>
          <a:noFill/>
        </p:spPr>
        <p:txBody>
          <a:bodyPr spcFirstLastPara="1" wrap="none" lIns="91440" tIns="45720" rIns="91440" bIns="45720" numCol="1">
            <a:prstTxWarp prst="textArchUp">
              <a:avLst>
                <a:gd name="adj" fmla="val 10799663"/>
              </a:avLst>
            </a:prstTxWarp>
            <a:spAutoFit/>
          </a:bodyPr>
          <a:lstStyle/>
          <a:p>
            <a:pPr algn="ctr"/>
            <a:r>
              <a:rPr lang="fr-FR" sz="2800" dirty="0">
                <a:ln w="18415" cmpd="sng">
                  <a:solidFill>
                    <a:srgbClr val="FFFFFF"/>
                  </a:solidFill>
                  <a:prstDash val="solid"/>
                </a:ln>
                <a:solidFill>
                  <a:srgbClr val="FFFFFF"/>
                </a:solidFill>
                <a:effectLst>
                  <a:outerShdw blurRad="63500" dir="3600000" algn="tl" rotWithShape="0">
                    <a:srgbClr val="000000">
                      <a:alpha val="70000"/>
                    </a:srgbClr>
                  </a:outerShdw>
                </a:effectLst>
              </a:rPr>
              <a:t>Fichiers</a:t>
            </a:r>
          </a:p>
        </p:txBody>
      </p:sp>
      <p:sp>
        <p:nvSpPr>
          <p:cNvPr id="17" name="Ellipse 16"/>
          <p:cNvSpPr/>
          <p:nvPr/>
        </p:nvSpPr>
        <p:spPr>
          <a:xfrm>
            <a:off x="5159896" y="3284984"/>
            <a:ext cx="2024608" cy="1304528"/>
          </a:xfrm>
          <a:prstGeom prst="ellipse">
            <a:avLst/>
          </a:prstGeom>
          <a:solidFill>
            <a:schemeClr val="accent2">
              <a:lumMod val="75000"/>
            </a:schemeClr>
          </a:solidFill>
          <a:scene3d>
            <a:camera prst="orthographicFront"/>
            <a:lightRig rig="threePt" dir="t"/>
          </a:scene3d>
          <a:sp3d>
            <a:bevelT w="127000" h="127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17"/>
          <p:cNvSpPr/>
          <p:nvPr/>
        </p:nvSpPr>
        <p:spPr>
          <a:xfrm>
            <a:off x="4799856" y="3573017"/>
            <a:ext cx="2952328" cy="1253753"/>
          </a:xfrm>
          <a:prstGeom prst="rect">
            <a:avLst/>
          </a:prstGeom>
          <a:noFill/>
        </p:spPr>
        <p:txBody>
          <a:bodyPr spcFirstLastPara="1" wrap="none" lIns="91440" tIns="45720" rIns="91440" bIns="45720" numCol="1">
            <a:prstTxWarp prst="textArchUp">
              <a:avLst>
                <a:gd name="adj" fmla="val 10799663"/>
              </a:avLst>
            </a:prstTxWarp>
            <a:spAutoFit/>
          </a:bodyPr>
          <a:lstStyle/>
          <a:p>
            <a:pPr algn="ctr"/>
            <a:r>
              <a:rPr lang="fr-FR" sz="2000" dirty="0">
                <a:ln w="18415" cmpd="sng">
                  <a:solidFill>
                    <a:srgbClr val="FFFFFF"/>
                  </a:solidFill>
                  <a:prstDash val="solid"/>
                </a:ln>
                <a:solidFill>
                  <a:srgbClr val="FFFFFF"/>
                </a:solidFill>
                <a:effectLst>
                  <a:outerShdw blurRad="63500" dir="3600000" algn="tl" rotWithShape="0">
                    <a:srgbClr val="000000">
                      <a:alpha val="70000"/>
                    </a:srgbClr>
                  </a:outerShdw>
                </a:effectLst>
              </a:rPr>
              <a:t>Noyau</a:t>
            </a:r>
          </a:p>
        </p:txBody>
      </p:sp>
      <p:sp>
        <p:nvSpPr>
          <p:cNvPr id="19" name="Ellipse 18"/>
          <p:cNvSpPr/>
          <p:nvPr/>
        </p:nvSpPr>
        <p:spPr>
          <a:xfrm>
            <a:off x="5519936" y="3717032"/>
            <a:ext cx="1368152" cy="648072"/>
          </a:xfrm>
          <a:prstGeom prst="ellipse">
            <a:avLst/>
          </a:prstGeom>
          <a:solidFill>
            <a:srgbClr val="C00000"/>
          </a:solidFill>
          <a:scene3d>
            <a:camera prst="orthographicFront"/>
            <a:lightRig rig="threePt" dir="t"/>
          </a:scene3d>
          <a:sp3d>
            <a:bevelT w="127000" h="127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19"/>
          <p:cNvSpPr/>
          <p:nvPr/>
        </p:nvSpPr>
        <p:spPr>
          <a:xfrm>
            <a:off x="4799856" y="4047456"/>
            <a:ext cx="2952328" cy="1253753"/>
          </a:xfrm>
          <a:prstGeom prst="rect">
            <a:avLst/>
          </a:prstGeom>
          <a:noFill/>
        </p:spPr>
        <p:txBody>
          <a:bodyPr spcFirstLastPara="1" wrap="none" lIns="91440" tIns="45720" rIns="91440" bIns="45720" numCol="1">
            <a:prstTxWarp prst="textArchUp">
              <a:avLst>
                <a:gd name="adj" fmla="val 10799663"/>
              </a:avLst>
            </a:prstTxWarp>
            <a:spAutoFit/>
          </a:bodyPr>
          <a:lstStyle/>
          <a:p>
            <a:pPr algn="ctr"/>
            <a:r>
              <a:rPr lang="fr-FR" sz="2000" dirty="0">
                <a:ln w="18415" cmpd="sng">
                  <a:solidFill>
                    <a:srgbClr val="FFFFFF"/>
                  </a:solidFill>
                  <a:prstDash val="solid"/>
                </a:ln>
                <a:solidFill>
                  <a:srgbClr val="FFFFFF"/>
                </a:solidFill>
                <a:effectLst>
                  <a:outerShdw blurRad="63500" dir="3600000" algn="tl" rotWithShape="0">
                    <a:srgbClr val="000000">
                      <a:alpha val="70000"/>
                    </a:srgbClr>
                  </a:outerShdw>
                </a:effectLst>
              </a:rPr>
              <a:t>Matériel</a:t>
            </a:r>
          </a:p>
        </p:txBody>
      </p:sp>
    </p:spTree>
    <p:extLst>
      <p:ext uri="{BB962C8B-B14F-4D97-AF65-F5344CB8AC3E}">
        <p14:creationId xmlns:p14="http://schemas.microsoft.com/office/powerpoint/2010/main" val="7468488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6"/>
                                        </p:tgtEl>
                                        <p:attrNameLst>
                                          <p:attrName>style.visibility</p:attrName>
                                        </p:attrNameLst>
                                      </p:cBhvr>
                                      <p:to>
                                        <p:strVal val="visible"/>
                                      </p:to>
                                    </p:set>
                                    <p:anim calcmode="lin" valueType="num">
                                      <p:cBhvr>
                                        <p:cTn id="12" dur="500" fill="hold"/>
                                        <p:tgtEl>
                                          <p:spTgt spid="16"/>
                                        </p:tgtEl>
                                        <p:attrNameLst>
                                          <p:attrName>ppt_w</p:attrName>
                                        </p:attrNameLst>
                                      </p:cBhvr>
                                      <p:tavLst>
                                        <p:tav tm="0">
                                          <p:val>
                                            <p:fltVal val="0"/>
                                          </p:val>
                                        </p:tav>
                                        <p:tav tm="100000">
                                          <p:val>
                                            <p:strVal val="#ppt_w"/>
                                          </p:val>
                                        </p:tav>
                                      </p:tavLst>
                                    </p:anim>
                                    <p:anim calcmode="lin" valueType="num">
                                      <p:cBhvr>
                                        <p:cTn id="13" dur="500" fill="hold"/>
                                        <p:tgtEl>
                                          <p:spTgt spid="16"/>
                                        </p:tgtEl>
                                        <p:attrNameLst>
                                          <p:attrName>ppt_h</p:attrName>
                                        </p:attrNameLst>
                                      </p:cBhvr>
                                      <p:tavLst>
                                        <p:tav tm="0">
                                          <p:val>
                                            <p:fltVal val="0"/>
                                          </p:val>
                                        </p:tav>
                                        <p:tav tm="100000">
                                          <p:val>
                                            <p:strVal val="#ppt_h"/>
                                          </p:val>
                                        </p:tav>
                                      </p:tavLst>
                                    </p:anim>
                                    <p:animEffect transition="in" filter="fade">
                                      <p:cBhvr>
                                        <p:cTn id="14" dur="500"/>
                                        <p:tgtEl>
                                          <p:spTgt spid="16"/>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p:cTn id="19" dur="500" fill="hold"/>
                                        <p:tgtEl>
                                          <p:spTgt spid="12"/>
                                        </p:tgtEl>
                                        <p:attrNameLst>
                                          <p:attrName>ppt_w</p:attrName>
                                        </p:attrNameLst>
                                      </p:cBhvr>
                                      <p:tavLst>
                                        <p:tav tm="0">
                                          <p:val>
                                            <p:fltVal val="0"/>
                                          </p:val>
                                        </p:tav>
                                        <p:tav tm="100000">
                                          <p:val>
                                            <p:strVal val="#ppt_w"/>
                                          </p:val>
                                        </p:tav>
                                      </p:tavLst>
                                    </p:anim>
                                    <p:anim calcmode="lin" valueType="num">
                                      <p:cBhvr>
                                        <p:cTn id="20" dur="500" fill="hold"/>
                                        <p:tgtEl>
                                          <p:spTgt spid="12"/>
                                        </p:tgtEl>
                                        <p:attrNameLst>
                                          <p:attrName>ppt_h</p:attrName>
                                        </p:attrNameLst>
                                      </p:cBhvr>
                                      <p:tavLst>
                                        <p:tav tm="0">
                                          <p:val>
                                            <p:fltVal val="0"/>
                                          </p:val>
                                        </p:tav>
                                        <p:tav tm="100000">
                                          <p:val>
                                            <p:strVal val="#ppt_h"/>
                                          </p:val>
                                        </p:tav>
                                      </p:tavLst>
                                    </p:anim>
                                    <p:animEffect transition="in" filter="fade">
                                      <p:cBhvr>
                                        <p:cTn id="21" dur="500"/>
                                        <p:tgtEl>
                                          <p:spTgt spid="12"/>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 calcmode="lin" valueType="num">
                                      <p:cBhvr>
                                        <p:cTn id="24" dur="500" fill="hold"/>
                                        <p:tgtEl>
                                          <p:spTgt spid="13"/>
                                        </p:tgtEl>
                                        <p:attrNameLst>
                                          <p:attrName>ppt_w</p:attrName>
                                        </p:attrNameLst>
                                      </p:cBhvr>
                                      <p:tavLst>
                                        <p:tav tm="0">
                                          <p:val>
                                            <p:fltVal val="0"/>
                                          </p:val>
                                        </p:tav>
                                        <p:tav tm="100000">
                                          <p:val>
                                            <p:strVal val="#ppt_w"/>
                                          </p:val>
                                        </p:tav>
                                      </p:tavLst>
                                    </p:anim>
                                    <p:anim calcmode="lin" valueType="num">
                                      <p:cBhvr>
                                        <p:cTn id="25" dur="500" fill="hold"/>
                                        <p:tgtEl>
                                          <p:spTgt spid="13"/>
                                        </p:tgtEl>
                                        <p:attrNameLst>
                                          <p:attrName>ppt_h</p:attrName>
                                        </p:attrNameLst>
                                      </p:cBhvr>
                                      <p:tavLst>
                                        <p:tav tm="0">
                                          <p:val>
                                            <p:fltVal val="0"/>
                                          </p:val>
                                        </p:tav>
                                        <p:tav tm="100000">
                                          <p:val>
                                            <p:strVal val="#ppt_h"/>
                                          </p:val>
                                        </p:tav>
                                      </p:tavLst>
                                    </p:anim>
                                    <p:animEffect transition="in" filter="fade">
                                      <p:cBhvr>
                                        <p:cTn id="2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14" grpId="0" animBg="1"/>
      <p:bldP spid="16"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rrondir un rectangle avec un coin diagonal 14"/>
          <p:cNvSpPr/>
          <p:nvPr/>
        </p:nvSpPr>
        <p:spPr>
          <a:xfrm>
            <a:off x="2207568" y="1052736"/>
            <a:ext cx="8245424" cy="1368152"/>
          </a:xfrm>
          <a:prstGeom prst="round2DiagRect">
            <a:avLst/>
          </a:prstGeom>
          <a:gradFill flip="none" rotWithShape="1">
            <a:gsLst>
              <a:gs pos="0">
                <a:srgbClr val="5E9EFF"/>
              </a:gs>
              <a:gs pos="39999">
                <a:srgbClr val="85C2FF"/>
              </a:gs>
              <a:gs pos="60000">
                <a:srgbClr val="C4D6EB"/>
              </a:gs>
              <a:gs pos="100000">
                <a:schemeClr val="accent1">
                  <a:lumMod val="40000"/>
                  <a:lumOff val="60000"/>
                </a:schemeClr>
              </a:gs>
            </a:gsLst>
            <a:lin ang="13500000" scaled="1"/>
            <a:tileRect/>
          </a:gradFill>
          <a:ln>
            <a:noFill/>
          </a:ln>
          <a:effectLst/>
          <a:scene3d>
            <a:camera prst="orthographicFront"/>
            <a:lightRig rig="threePt" dir="t"/>
          </a:scene3d>
          <a:sp3d>
            <a:bevelT w="19050" h="50800"/>
          </a:sp3d>
        </p:spPr>
        <p:style>
          <a:lnRef idx="2">
            <a:schemeClr val="accent1">
              <a:shade val="50000"/>
            </a:schemeClr>
          </a:lnRef>
          <a:fillRef idx="1">
            <a:schemeClr val="accent1"/>
          </a:fillRef>
          <a:effectRef idx="0">
            <a:schemeClr val="accent1"/>
          </a:effectRef>
          <a:fontRef idx="minor">
            <a:schemeClr val="lt1"/>
          </a:fontRef>
        </p:style>
        <p:txBody>
          <a:bodyPr/>
          <a:lstStyle/>
          <a:p>
            <a:pPr lvl="1">
              <a:defRPr/>
            </a:pPr>
            <a:endParaRPr lang="fr-FR" i="1" dirty="0">
              <a:solidFill>
                <a:schemeClr val="tx2"/>
              </a:solidFill>
            </a:endParaRPr>
          </a:p>
          <a:p>
            <a:pPr>
              <a:buBlip>
                <a:blip r:embed="rId3"/>
              </a:buBlip>
              <a:defRPr/>
            </a:pPr>
            <a:endParaRPr lang="fr-FR" i="1" dirty="0">
              <a:solidFill>
                <a:schemeClr val="tx2"/>
              </a:solidFill>
            </a:endParaRPr>
          </a:p>
        </p:txBody>
      </p:sp>
      <p:sp>
        <p:nvSpPr>
          <p:cNvPr id="5" name="Espace réservé du contenu 1"/>
          <p:cNvSpPr txBox="1"/>
          <p:nvPr/>
        </p:nvSpPr>
        <p:spPr>
          <a:xfrm>
            <a:off x="1883024" y="1196752"/>
            <a:ext cx="8784976" cy="1656184"/>
          </a:xfrm>
          <a:prstGeom prst="rect">
            <a:avLst/>
          </a:prstGeom>
        </p:spPr>
        <p:txBody>
          <a:bodyPr>
            <a:normAutofit/>
          </a:bodyPr>
          <a:lstStyle/>
          <a:p>
            <a:pPr marL="342900" indent="-342900" algn="ctr">
              <a:spcBef>
                <a:spcPct val="20000"/>
              </a:spcBef>
              <a:defRPr/>
            </a:pPr>
            <a:r>
              <a:rPr lang="fr-FR" sz="3200" dirty="0"/>
              <a:t>Les principales commandes</a:t>
            </a:r>
          </a:p>
          <a:p>
            <a:pPr marL="742950" lvl="1" indent="-285750">
              <a:spcBef>
                <a:spcPct val="20000"/>
              </a:spcBef>
              <a:buFont typeface="Arial" panose="020B0604020202020204" pitchFamily="34" charset="0"/>
              <a:buChar char="•"/>
              <a:defRPr/>
            </a:pPr>
            <a:r>
              <a:rPr lang="fr-FR" sz="2800" dirty="0"/>
              <a:t>Le </a:t>
            </a:r>
            <a:r>
              <a:rPr lang="fr-FR" sz="2800" dirty="0" err="1"/>
              <a:t>shell</a:t>
            </a:r>
            <a:endParaRPr lang="fr-FR" sz="2800" dirty="0"/>
          </a:p>
          <a:p>
            <a:pPr marL="742950" lvl="1" indent="-285750">
              <a:spcBef>
                <a:spcPct val="20000"/>
              </a:spcBef>
              <a:buFont typeface="Arial" panose="020B0604020202020204" pitchFamily="34" charset="0"/>
              <a:buChar char="–"/>
              <a:defRPr/>
            </a:pPr>
            <a:endParaRPr lang="fr-FR" sz="2800" dirty="0"/>
          </a:p>
        </p:txBody>
      </p:sp>
      <p:sp>
        <p:nvSpPr>
          <p:cNvPr id="9" name="ZoneTexte 8"/>
          <p:cNvSpPr txBox="1"/>
          <p:nvPr/>
        </p:nvSpPr>
        <p:spPr>
          <a:xfrm>
            <a:off x="5951984" y="3789041"/>
            <a:ext cx="4499992" cy="830997"/>
          </a:xfrm>
          <a:prstGeom prst="rect">
            <a:avLst/>
          </a:prstGeom>
          <a:noFill/>
        </p:spPr>
        <p:txBody>
          <a:bodyPr wrap="square" rtlCol="0">
            <a:spAutoFit/>
          </a:bodyPr>
          <a:lstStyle/>
          <a:p>
            <a:r>
              <a:rPr lang="fr-FR" sz="2400" dirty="0"/>
              <a:t>Intermédiaire entre l’utilisateur et le système d’exploitation</a:t>
            </a:r>
          </a:p>
        </p:txBody>
      </p:sp>
      <p:pic>
        <p:nvPicPr>
          <p:cNvPr id="1026" name="Picture 2"/>
          <p:cNvPicPr>
            <a:picLocks noChangeAspect="1" noChangeArrowheads="1"/>
          </p:cNvPicPr>
          <p:nvPr/>
        </p:nvPicPr>
        <p:blipFill>
          <a:blip r:embed="rId4" cstate="print"/>
          <a:srcRect/>
          <a:stretch>
            <a:fillRect/>
          </a:stretch>
        </p:blipFill>
        <p:spPr bwMode="auto">
          <a:xfrm>
            <a:off x="2711624" y="2636912"/>
            <a:ext cx="3024336" cy="4037644"/>
          </a:xfrm>
          <a:prstGeom prst="rect">
            <a:avLst/>
          </a:prstGeom>
          <a:noFill/>
          <a:ln w="9525">
            <a:noFill/>
            <a:miter lim="800000"/>
            <a:headEnd/>
            <a:tailEnd/>
          </a:ln>
        </p:spPr>
      </p:pic>
    </p:spTree>
    <p:extLst>
      <p:ext uri="{BB962C8B-B14F-4D97-AF65-F5344CB8AC3E}">
        <p14:creationId xmlns:p14="http://schemas.microsoft.com/office/powerpoint/2010/main" val="21097506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rrondir un rectangle avec un coin diagonal 14"/>
          <p:cNvSpPr/>
          <p:nvPr/>
        </p:nvSpPr>
        <p:spPr>
          <a:xfrm>
            <a:off x="2207568" y="1052736"/>
            <a:ext cx="8245424" cy="1368152"/>
          </a:xfrm>
          <a:prstGeom prst="round2DiagRect">
            <a:avLst/>
          </a:prstGeom>
          <a:gradFill flip="none" rotWithShape="1">
            <a:gsLst>
              <a:gs pos="0">
                <a:srgbClr val="5E9EFF"/>
              </a:gs>
              <a:gs pos="39999">
                <a:srgbClr val="85C2FF"/>
              </a:gs>
              <a:gs pos="60000">
                <a:srgbClr val="C4D6EB"/>
              </a:gs>
              <a:gs pos="100000">
                <a:schemeClr val="accent1">
                  <a:lumMod val="40000"/>
                  <a:lumOff val="60000"/>
                </a:schemeClr>
              </a:gs>
            </a:gsLst>
            <a:lin ang="13500000" scaled="1"/>
            <a:tileRect/>
          </a:gradFill>
          <a:ln>
            <a:noFill/>
          </a:ln>
          <a:effectLst/>
          <a:scene3d>
            <a:camera prst="orthographicFront"/>
            <a:lightRig rig="threePt" dir="t"/>
          </a:scene3d>
          <a:sp3d>
            <a:bevelT w="19050" h="50800"/>
          </a:sp3d>
        </p:spPr>
        <p:style>
          <a:lnRef idx="2">
            <a:schemeClr val="accent1">
              <a:shade val="50000"/>
            </a:schemeClr>
          </a:lnRef>
          <a:fillRef idx="1">
            <a:schemeClr val="accent1"/>
          </a:fillRef>
          <a:effectRef idx="0">
            <a:schemeClr val="accent1"/>
          </a:effectRef>
          <a:fontRef idx="minor">
            <a:schemeClr val="lt1"/>
          </a:fontRef>
        </p:style>
        <p:txBody>
          <a:bodyPr/>
          <a:lstStyle/>
          <a:p>
            <a:pPr lvl="1">
              <a:defRPr/>
            </a:pPr>
            <a:endParaRPr lang="fr-FR" i="1" dirty="0">
              <a:solidFill>
                <a:schemeClr val="tx2"/>
              </a:solidFill>
            </a:endParaRPr>
          </a:p>
          <a:p>
            <a:pPr>
              <a:buBlip>
                <a:blip r:embed="rId3"/>
              </a:buBlip>
              <a:defRPr/>
            </a:pPr>
            <a:endParaRPr lang="fr-FR" i="1" dirty="0">
              <a:solidFill>
                <a:schemeClr val="tx2"/>
              </a:solidFill>
            </a:endParaRPr>
          </a:p>
        </p:txBody>
      </p:sp>
      <p:sp>
        <p:nvSpPr>
          <p:cNvPr id="5" name="Espace réservé du contenu 1"/>
          <p:cNvSpPr txBox="1"/>
          <p:nvPr/>
        </p:nvSpPr>
        <p:spPr>
          <a:xfrm>
            <a:off x="1883024" y="1196752"/>
            <a:ext cx="8784976" cy="1656184"/>
          </a:xfrm>
          <a:prstGeom prst="rect">
            <a:avLst/>
          </a:prstGeom>
        </p:spPr>
        <p:txBody>
          <a:bodyPr>
            <a:normAutofit/>
          </a:bodyPr>
          <a:lstStyle/>
          <a:p>
            <a:pPr marL="342900" indent="-342900" algn="ctr">
              <a:spcBef>
                <a:spcPct val="20000"/>
              </a:spcBef>
              <a:defRPr/>
            </a:pPr>
            <a:r>
              <a:rPr lang="fr-FR" sz="3200" dirty="0"/>
              <a:t>Les principales commandes</a:t>
            </a:r>
          </a:p>
          <a:p>
            <a:pPr marL="742950" lvl="1" indent="-285750">
              <a:spcBef>
                <a:spcPct val="20000"/>
              </a:spcBef>
              <a:buFont typeface="Arial" panose="020B0604020202020204" pitchFamily="34" charset="0"/>
              <a:buChar char="•"/>
              <a:defRPr/>
            </a:pPr>
            <a:r>
              <a:rPr lang="fr-FR" sz="2800" dirty="0"/>
              <a:t>Le terminal </a:t>
            </a:r>
            <a:r>
              <a:rPr lang="fr-FR" sz="2800" dirty="0" err="1"/>
              <a:t>shell</a:t>
            </a:r>
            <a:endParaRPr lang="fr-FR" sz="2800" dirty="0"/>
          </a:p>
          <a:p>
            <a:pPr marL="742950" lvl="1" indent="-285750">
              <a:spcBef>
                <a:spcPct val="20000"/>
              </a:spcBef>
              <a:buFont typeface="Arial" panose="020B0604020202020204" pitchFamily="34" charset="0"/>
              <a:buChar char="–"/>
              <a:defRPr/>
            </a:pPr>
            <a:endParaRPr lang="fr-FR" sz="2800" dirty="0"/>
          </a:p>
        </p:txBody>
      </p:sp>
      <p:sp>
        <p:nvSpPr>
          <p:cNvPr id="9" name="ZoneTexte 8"/>
          <p:cNvSpPr txBox="1"/>
          <p:nvPr/>
        </p:nvSpPr>
        <p:spPr>
          <a:xfrm>
            <a:off x="2460104" y="5657672"/>
            <a:ext cx="7596336" cy="1200329"/>
          </a:xfrm>
          <a:prstGeom prst="rect">
            <a:avLst/>
          </a:prstGeom>
          <a:noFill/>
        </p:spPr>
        <p:txBody>
          <a:bodyPr wrap="square" rtlCol="0">
            <a:spAutoFit/>
          </a:bodyPr>
          <a:lstStyle/>
          <a:p>
            <a:r>
              <a:rPr lang="fr-FR" sz="2400" dirty="0"/>
              <a:t>Une interface homme-machine permettant à l’utilisateur de saisir des commandes </a:t>
            </a:r>
            <a:r>
              <a:rPr lang="fr-FR" sz="2400" dirty="0" err="1"/>
              <a:t>shell</a:t>
            </a:r>
            <a:r>
              <a:rPr lang="fr-FR" sz="2400" dirty="0"/>
              <a:t> pour administrer son ordinateur sans utiliser d’interface graphique</a:t>
            </a:r>
          </a:p>
        </p:txBody>
      </p:sp>
      <p:pic>
        <p:nvPicPr>
          <p:cNvPr id="7" name="Image 6"/>
          <p:cNvPicPr/>
          <p:nvPr/>
        </p:nvPicPr>
        <p:blipFill>
          <a:blip r:embed="rId4" cstate="print"/>
          <a:srcRect/>
          <a:stretch>
            <a:fillRect/>
          </a:stretch>
        </p:blipFill>
        <p:spPr bwMode="auto">
          <a:xfrm>
            <a:off x="3359696" y="2564904"/>
            <a:ext cx="5400600" cy="3024336"/>
          </a:xfrm>
          <a:prstGeom prst="rect">
            <a:avLst/>
          </a:prstGeom>
          <a:noFill/>
          <a:ln w="9525">
            <a:noFill/>
            <a:miter lim="800000"/>
            <a:headEnd/>
            <a:tailEnd/>
          </a:ln>
        </p:spPr>
      </p:pic>
    </p:spTree>
    <p:extLst>
      <p:ext uri="{BB962C8B-B14F-4D97-AF65-F5344CB8AC3E}">
        <p14:creationId xmlns:p14="http://schemas.microsoft.com/office/powerpoint/2010/main" val="40743912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rrondir un rectangle avec un coin diagonal 14"/>
          <p:cNvSpPr/>
          <p:nvPr/>
        </p:nvSpPr>
        <p:spPr>
          <a:xfrm>
            <a:off x="2207568" y="1052736"/>
            <a:ext cx="8245424" cy="1368152"/>
          </a:xfrm>
          <a:prstGeom prst="round2DiagRect">
            <a:avLst/>
          </a:prstGeom>
          <a:gradFill flip="none" rotWithShape="1">
            <a:gsLst>
              <a:gs pos="0">
                <a:srgbClr val="5E9EFF"/>
              </a:gs>
              <a:gs pos="39999">
                <a:srgbClr val="85C2FF"/>
              </a:gs>
              <a:gs pos="60000">
                <a:srgbClr val="C4D6EB"/>
              </a:gs>
              <a:gs pos="100000">
                <a:schemeClr val="accent1">
                  <a:lumMod val="40000"/>
                  <a:lumOff val="60000"/>
                </a:schemeClr>
              </a:gs>
            </a:gsLst>
            <a:lin ang="13500000" scaled="1"/>
            <a:tileRect/>
          </a:gradFill>
          <a:ln>
            <a:noFill/>
          </a:ln>
          <a:effectLst/>
          <a:scene3d>
            <a:camera prst="orthographicFront"/>
            <a:lightRig rig="threePt" dir="t"/>
          </a:scene3d>
          <a:sp3d>
            <a:bevelT w="19050" h="50800"/>
          </a:sp3d>
        </p:spPr>
        <p:style>
          <a:lnRef idx="2">
            <a:schemeClr val="accent1">
              <a:shade val="50000"/>
            </a:schemeClr>
          </a:lnRef>
          <a:fillRef idx="1">
            <a:schemeClr val="accent1"/>
          </a:fillRef>
          <a:effectRef idx="0">
            <a:schemeClr val="accent1"/>
          </a:effectRef>
          <a:fontRef idx="minor">
            <a:schemeClr val="lt1"/>
          </a:fontRef>
        </p:style>
        <p:txBody>
          <a:bodyPr/>
          <a:lstStyle/>
          <a:p>
            <a:pPr lvl="1">
              <a:defRPr/>
            </a:pPr>
            <a:endParaRPr lang="fr-FR" i="1" dirty="0">
              <a:solidFill>
                <a:schemeClr val="tx2"/>
              </a:solidFill>
            </a:endParaRPr>
          </a:p>
          <a:p>
            <a:pPr>
              <a:buBlip>
                <a:blip r:embed="rId3"/>
              </a:buBlip>
              <a:defRPr/>
            </a:pPr>
            <a:endParaRPr lang="fr-FR" i="1" dirty="0">
              <a:solidFill>
                <a:schemeClr val="tx2"/>
              </a:solidFill>
            </a:endParaRPr>
          </a:p>
        </p:txBody>
      </p:sp>
      <p:sp>
        <p:nvSpPr>
          <p:cNvPr id="5" name="Espace réservé du contenu 1"/>
          <p:cNvSpPr txBox="1"/>
          <p:nvPr/>
        </p:nvSpPr>
        <p:spPr>
          <a:xfrm>
            <a:off x="1883024" y="1196752"/>
            <a:ext cx="8784976" cy="1656184"/>
          </a:xfrm>
          <a:prstGeom prst="rect">
            <a:avLst/>
          </a:prstGeom>
        </p:spPr>
        <p:txBody>
          <a:bodyPr>
            <a:normAutofit/>
          </a:bodyPr>
          <a:lstStyle/>
          <a:p>
            <a:pPr marL="342900" indent="-342900" algn="ctr">
              <a:spcBef>
                <a:spcPct val="20000"/>
              </a:spcBef>
              <a:defRPr/>
            </a:pPr>
            <a:r>
              <a:rPr lang="fr-FR" sz="3200" dirty="0"/>
              <a:t>Les principales commandes</a:t>
            </a:r>
          </a:p>
          <a:p>
            <a:pPr marL="742950" lvl="1" indent="-285750">
              <a:spcBef>
                <a:spcPct val="20000"/>
              </a:spcBef>
              <a:buFont typeface="Arial" panose="020B0604020202020204" pitchFamily="34" charset="0"/>
              <a:buChar char="•"/>
              <a:defRPr/>
            </a:pPr>
            <a:r>
              <a:rPr lang="fr-FR" sz="2800" dirty="0"/>
              <a:t>Protocole </a:t>
            </a:r>
            <a:r>
              <a:rPr lang="fr-FR" sz="2800" dirty="0" err="1"/>
              <a:t>ssh</a:t>
            </a:r>
            <a:r>
              <a:rPr lang="fr-FR" sz="2800" dirty="0"/>
              <a:t> (</a:t>
            </a:r>
            <a:r>
              <a:rPr lang="fr-FR" sz="2800" dirty="0" err="1"/>
              <a:t>secure</a:t>
            </a:r>
            <a:r>
              <a:rPr lang="fr-FR" sz="2800" dirty="0"/>
              <a:t> Shell)</a:t>
            </a:r>
          </a:p>
        </p:txBody>
      </p:sp>
      <p:sp>
        <p:nvSpPr>
          <p:cNvPr id="9" name="ZoneTexte 8"/>
          <p:cNvSpPr txBox="1"/>
          <p:nvPr/>
        </p:nvSpPr>
        <p:spPr>
          <a:xfrm>
            <a:off x="2279576" y="2564904"/>
            <a:ext cx="7596336" cy="2677656"/>
          </a:xfrm>
          <a:prstGeom prst="rect">
            <a:avLst/>
          </a:prstGeom>
          <a:noFill/>
        </p:spPr>
        <p:txBody>
          <a:bodyPr wrap="square" rtlCol="0">
            <a:spAutoFit/>
          </a:bodyPr>
          <a:lstStyle/>
          <a:p>
            <a:r>
              <a:rPr lang="fr-FR" sz="2400" dirty="0"/>
              <a:t>Permet de prendre la main à distance sur un système linux</a:t>
            </a:r>
          </a:p>
          <a:p>
            <a:r>
              <a:rPr lang="fr-FR" sz="2400" dirty="0"/>
              <a:t>Permet d’échanger des données de manière cryptées entre deux ordinateurs </a:t>
            </a:r>
          </a:p>
          <a:p>
            <a:endParaRPr lang="fr-FR" sz="2400" dirty="0"/>
          </a:p>
          <a:p>
            <a:endParaRPr lang="fr-FR" sz="2400" dirty="0"/>
          </a:p>
          <a:p>
            <a:endParaRPr lang="fr-FR" sz="2400" dirty="0"/>
          </a:p>
          <a:p>
            <a:endParaRPr lang="fr-FR" sz="2400" dirty="0"/>
          </a:p>
        </p:txBody>
      </p:sp>
      <p:graphicFrame>
        <p:nvGraphicFramePr>
          <p:cNvPr id="10" name="Tableau 9"/>
          <p:cNvGraphicFramePr>
            <a:graphicFrameLocks noGrp="1"/>
          </p:cNvGraphicFramePr>
          <p:nvPr/>
        </p:nvGraphicFramePr>
        <p:xfrm>
          <a:off x="2279576" y="3717032"/>
          <a:ext cx="7416824" cy="504056"/>
        </p:xfrm>
        <a:graphic>
          <a:graphicData uri="http://schemas.openxmlformats.org/drawingml/2006/table">
            <a:tbl>
              <a:tblPr/>
              <a:tblGrid>
                <a:gridCol w="7416824"/>
              </a:tblGrid>
              <a:tr h="504056">
                <a:tc>
                  <a:txBody>
                    <a:bodyPr/>
                    <a:lstStyle/>
                    <a:p>
                      <a:pPr>
                        <a:spcBef>
                          <a:spcPts val="600"/>
                        </a:spcBef>
                        <a:spcAft>
                          <a:spcPts val="595"/>
                        </a:spcAft>
                      </a:pPr>
                      <a:r>
                        <a:rPr lang="fr-FR" sz="2800" b="1" dirty="0">
                          <a:latin typeface="Courier New" panose="02070309020205020404"/>
                          <a:ea typeface="Times New Roman" panose="02020603050405020304"/>
                          <a:cs typeface="Times New Roman" panose="02020603050405020304"/>
                        </a:rPr>
                        <a:t># </a:t>
                      </a:r>
                      <a:r>
                        <a:rPr lang="fr-FR" sz="2800" b="1" dirty="0" err="1">
                          <a:latin typeface="Courier New" panose="02070309020205020404"/>
                          <a:ea typeface="Times New Roman" panose="02020603050405020304"/>
                          <a:cs typeface="Times New Roman" panose="02020603050405020304"/>
                        </a:rPr>
                        <a:t>ssh</a:t>
                      </a:r>
                      <a:r>
                        <a:rPr lang="fr-FR" sz="2800" b="1" dirty="0">
                          <a:latin typeface="Courier New" panose="02070309020205020404"/>
                          <a:ea typeface="Times New Roman" panose="02020603050405020304"/>
                          <a:cs typeface="Times New Roman" panose="02020603050405020304"/>
                        </a:rPr>
                        <a:t> 192.168.1.1 </a:t>
                      </a:r>
                      <a:endParaRPr lang="fr-FR" sz="2800" b="1" dirty="0">
                        <a:latin typeface="Times New Roman" panose="02020603050405020304"/>
                        <a:ea typeface="Times New Roman" panose="02020603050405020304"/>
                        <a:cs typeface="Times New Roman" panose="02020603050405020304"/>
                      </a:endParaRPr>
                    </a:p>
                  </a:txBody>
                  <a:tcPr marL="60368" marR="603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11" name="Image 10"/>
          <p:cNvPicPr/>
          <p:nvPr/>
        </p:nvPicPr>
        <p:blipFill>
          <a:blip r:embed="rId4" cstate="print"/>
          <a:srcRect/>
          <a:stretch>
            <a:fillRect/>
          </a:stretch>
        </p:blipFill>
        <p:spPr bwMode="auto">
          <a:xfrm>
            <a:off x="2279576" y="4941168"/>
            <a:ext cx="1296144" cy="1152128"/>
          </a:xfrm>
          <a:prstGeom prst="rect">
            <a:avLst/>
          </a:prstGeom>
          <a:noFill/>
          <a:ln w="9525">
            <a:noFill/>
            <a:miter lim="800000"/>
            <a:headEnd/>
            <a:tailEnd/>
          </a:ln>
        </p:spPr>
      </p:pic>
      <p:pic>
        <p:nvPicPr>
          <p:cNvPr id="12" name="Image 11"/>
          <p:cNvPicPr/>
          <p:nvPr/>
        </p:nvPicPr>
        <p:blipFill>
          <a:blip r:embed="rId5" cstate="print"/>
          <a:srcRect/>
          <a:stretch>
            <a:fillRect/>
          </a:stretch>
        </p:blipFill>
        <p:spPr bwMode="auto">
          <a:xfrm>
            <a:off x="3647728" y="4365104"/>
            <a:ext cx="2376264" cy="2492896"/>
          </a:xfrm>
          <a:prstGeom prst="rect">
            <a:avLst/>
          </a:prstGeom>
          <a:noFill/>
          <a:ln w="9525">
            <a:noFill/>
            <a:miter lim="800000"/>
            <a:headEnd/>
            <a:tailEnd/>
          </a:ln>
        </p:spPr>
      </p:pic>
      <p:sp>
        <p:nvSpPr>
          <p:cNvPr id="2049" name="Rectangle 1"/>
          <p:cNvSpPr>
            <a:spLocks noChangeArrowheads="1"/>
          </p:cNvSpPr>
          <p:nvPr/>
        </p:nvSpPr>
        <p:spPr bwMode="auto">
          <a:xfrm>
            <a:off x="6096000" y="5201182"/>
            <a:ext cx="4572000" cy="461665"/>
          </a:xfrm>
          <a:prstGeom prst="rect">
            <a:avLst/>
          </a:prstGeom>
          <a:noFill/>
          <a:ln w="9525">
            <a:noFill/>
            <a:miter lim="800000"/>
          </a:ln>
          <a:effectLst/>
        </p:spPr>
        <p:txBody>
          <a:bodyPr vert="horz" wrap="square" lIns="91440" tIns="45720" rIns="91440" bIns="45720" numCol="1" anchor="ctr" anchorCtr="0" compatLnSpc="1">
            <a:spAutoFit/>
          </a:bodyPr>
          <a:lstStyle/>
          <a:p>
            <a:pPr fontAlgn="base">
              <a:spcBef>
                <a:spcPct val="0"/>
              </a:spcBef>
              <a:spcAft>
                <a:spcPct val="0"/>
              </a:spcAft>
            </a:pPr>
            <a:r>
              <a:rPr lang="fr-FR" sz="2400" b="1" dirty="0" err="1">
                <a:latin typeface="Courier New" panose="02070309020205020404" pitchFamily="49" charset="0"/>
                <a:ea typeface="Cambria" panose="02040503050406030204" pitchFamily="18" charset="0"/>
                <a:cs typeface="Courier New" panose="02070309020205020404" pitchFamily="49" charset="0"/>
              </a:rPr>
              <a:t>sudo</a:t>
            </a:r>
            <a:r>
              <a:rPr lang="fr-FR" sz="2400" b="1" dirty="0">
                <a:latin typeface="Courier New" panose="02070309020205020404" pitchFamily="49" charset="0"/>
                <a:ea typeface="Cambria" panose="02040503050406030204" pitchFamily="18" charset="0"/>
                <a:cs typeface="Courier New" panose="02070309020205020404" pitchFamily="49" charset="0"/>
              </a:rPr>
              <a:t> </a:t>
            </a:r>
            <a:r>
              <a:rPr lang="fr-FR" sz="2400" b="1" dirty="0" err="1">
                <a:latin typeface="Courier New" panose="02070309020205020404" pitchFamily="49" charset="0"/>
                <a:ea typeface="Cambria" panose="02040503050406030204" pitchFamily="18" charset="0"/>
                <a:cs typeface="Courier New" panose="02070309020205020404" pitchFamily="49" charset="0"/>
              </a:rPr>
              <a:t>apt</a:t>
            </a:r>
            <a:r>
              <a:rPr lang="fr-FR" sz="2400" b="1" dirty="0">
                <a:latin typeface="Courier New" panose="02070309020205020404" pitchFamily="49" charset="0"/>
                <a:ea typeface="Cambria" panose="02040503050406030204" pitchFamily="18" charset="0"/>
                <a:cs typeface="Courier New" panose="02070309020205020404" pitchFamily="49" charset="0"/>
              </a:rPr>
              <a:t>-</a:t>
            </a:r>
            <a:r>
              <a:rPr lang="fr-FR" sz="2400" b="1" dirty="0" err="1">
                <a:latin typeface="Courier New" panose="02070309020205020404" pitchFamily="49" charset="0"/>
                <a:ea typeface="Cambria" panose="02040503050406030204" pitchFamily="18" charset="0"/>
                <a:cs typeface="Courier New" panose="02070309020205020404" pitchFamily="49" charset="0"/>
              </a:rPr>
              <a:t>get</a:t>
            </a:r>
            <a:r>
              <a:rPr lang="fr-FR" sz="2400" b="1" dirty="0">
                <a:latin typeface="Courier New" panose="02070309020205020404" pitchFamily="49" charset="0"/>
                <a:ea typeface="Cambria" panose="02040503050406030204" pitchFamily="18" charset="0"/>
                <a:cs typeface="Courier New" panose="02070309020205020404" pitchFamily="49" charset="0"/>
              </a:rPr>
              <a:t> </a:t>
            </a:r>
            <a:r>
              <a:rPr lang="fr-FR" sz="2400" b="1" dirty="0" err="1">
                <a:latin typeface="Courier New" panose="02070309020205020404" pitchFamily="49" charset="0"/>
                <a:ea typeface="Cambria" panose="02040503050406030204" pitchFamily="18" charset="0"/>
                <a:cs typeface="Courier New" panose="02070309020205020404" pitchFamily="49" charset="0"/>
              </a:rPr>
              <a:t>install</a:t>
            </a:r>
            <a:r>
              <a:rPr lang="fr-FR" sz="2400" b="1" dirty="0">
                <a:latin typeface="Courier New" panose="02070309020205020404" pitchFamily="49" charset="0"/>
                <a:ea typeface="Cambria" panose="02040503050406030204" pitchFamily="18" charset="0"/>
                <a:cs typeface="Courier New" panose="02070309020205020404" pitchFamily="49" charset="0"/>
              </a:rPr>
              <a:t> </a:t>
            </a:r>
            <a:r>
              <a:rPr lang="fr-FR" sz="2400" b="1" dirty="0" err="1">
                <a:latin typeface="Courier New" panose="02070309020205020404" pitchFamily="49" charset="0"/>
                <a:ea typeface="Cambria" panose="02040503050406030204" pitchFamily="18" charset="0"/>
                <a:cs typeface="Courier New" panose="02070309020205020404" pitchFamily="49" charset="0"/>
              </a:rPr>
              <a:t>ssh</a:t>
            </a:r>
            <a:endParaRPr lang="fr-FR"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434934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rrondir un rectangle avec un coin diagonal 14"/>
          <p:cNvSpPr/>
          <p:nvPr/>
        </p:nvSpPr>
        <p:spPr>
          <a:xfrm>
            <a:off x="2207568" y="1052736"/>
            <a:ext cx="8245424" cy="1368152"/>
          </a:xfrm>
          <a:prstGeom prst="round2DiagRect">
            <a:avLst/>
          </a:prstGeom>
          <a:gradFill flip="none" rotWithShape="1">
            <a:gsLst>
              <a:gs pos="0">
                <a:srgbClr val="5E9EFF"/>
              </a:gs>
              <a:gs pos="39999">
                <a:srgbClr val="85C2FF"/>
              </a:gs>
              <a:gs pos="60000">
                <a:srgbClr val="C4D6EB"/>
              </a:gs>
              <a:gs pos="100000">
                <a:schemeClr val="accent1">
                  <a:lumMod val="40000"/>
                  <a:lumOff val="60000"/>
                </a:schemeClr>
              </a:gs>
            </a:gsLst>
            <a:lin ang="13500000" scaled="1"/>
            <a:tileRect/>
          </a:gradFill>
          <a:ln>
            <a:noFill/>
          </a:ln>
          <a:effectLst/>
          <a:scene3d>
            <a:camera prst="orthographicFront"/>
            <a:lightRig rig="threePt" dir="t"/>
          </a:scene3d>
          <a:sp3d>
            <a:bevelT w="19050" h="50800"/>
          </a:sp3d>
        </p:spPr>
        <p:style>
          <a:lnRef idx="2">
            <a:schemeClr val="accent1">
              <a:shade val="50000"/>
            </a:schemeClr>
          </a:lnRef>
          <a:fillRef idx="1">
            <a:schemeClr val="accent1"/>
          </a:fillRef>
          <a:effectRef idx="0">
            <a:schemeClr val="accent1"/>
          </a:effectRef>
          <a:fontRef idx="minor">
            <a:schemeClr val="lt1"/>
          </a:fontRef>
        </p:style>
        <p:txBody>
          <a:bodyPr/>
          <a:lstStyle/>
          <a:p>
            <a:pPr lvl="1">
              <a:defRPr/>
            </a:pPr>
            <a:endParaRPr lang="fr-FR" i="1" dirty="0">
              <a:solidFill>
                <a:schemeClr val="tx2"/>
              </a:solidFill>
            </a:endParaRPr>
          </a:p>
          <a:p>
            <a:pPr>
              <a:buBlip>
                <a:blip r:embed="rId3"/>
              </a:buBlip>
              <a:defRPr/>
            </a:pPr>
            <a:endParaRPr lang="fr-FR" i="1" dirty="0">
              <a:solidFill>
                <a:schemeClr val="tx2"/>
              </a:solidFill>
            </a:endParaRPr>
          </a:p>
        </p:txBody>
      </p:sp>
      <p:sp>
        <p:nvSpPr>
          <p:cNvPr id="5" name="Espace réservé du contenu 1"/>
          <p:cNvSpPr txBox="1"/>
          <p:nvPr/>
        </p:nvSpPr>
        <p:spPr>
          <a:xfrm>
            <a:off x="1883024" y="1196752"/>
            <a:ext cx="8784976" cy="1656184"/>
          </a:xfrm>
          <a:prstGeom prst="rect">
            <a:avLst/>
          </a:prstGeom>
        </p:spPr>
        <p:txBody>
          <a:bodyPr>
            <a:normAutofit/>
          </a:bodyPr>
          <a:lstStyle/>
          <a:p>
            <a:pPr marL="342900" indent="-342900" algn="ctr">
              <a:spcBef>
                <a:spcPct val="20000"/>
              </a:spcBef>
              <a:defRPr/>
            </a:pPr>
            <a:r>
              <a:rPr lang="fr-FR" sz="3200" dirty="0"/>
              <a:t>Les principales commandes</a:t>
            </a:r>
          </a:p>
          <a:p>
            <a:pPr marL="742950" lvl="1" indent="-285750">
              <a:spcBef>
                <a:spcPct val="20000"/>
              </a:spcBef>
              <a:buFont typeface="Arial" panose="020B0604020202020204" pitchFamily="34" charset="0"/>
              <a:buChar char="•"/>
              <a:defRPr/>
            </a:pPr>
            <a:r>
              <a:rPr lang="fr-FR" sz="2800" dirty="0"/>
              <a:t>Qu’est-ce qu’une commande ?</a:t>
            </a:r>
          </a:p>
        </p:txBody>
      </p:sp>
      <p:sp>
        <p:nvSpPr>
          <p:cNvPr id="9" name="ZoneTexte 8"/>
          <p:cNvSpPr txBox="1"/>
          <p:nvPr/>
        </p:nvSpPr>
        <p:spPr>
          <a:xfrm>
            <a:off x="2279576" y="2564904"/>
            <a:ext cx="8064896" cy="4154984"/>
          </a:xfrm>
          <a:prstGeom prst="rect">
            <a:avLst/>
          </a:prstGeom>
          <a:noFill/>
        </p:spPr>
        <p:txBody>
          <a:bodyPr wrap="square" rtlCol="0">
            <a:spAutoFit/>
          </a:bodyPr>
          <a:lstStyle/>
          <a:p>
            <a:r>
              <a:rPr lang="fr-FR" sz="2400" dirty="0"/>
              <a:t>Fichier exécutable agissant sur le système ou sur des fichiers</a:t>
            </a:r>
          </a:p>
          <a:p>
            <a:endParaRPr lang="fr-FR" sz="2400" dirty="0"/>
          </a:p>
          <a:p>
            <a:r>
              <a:rPr lang="fr-FR" sz="2400" dirty="0"/>
              <a:t>Situées généralement dans le dossier </a:t>
            </a:r>
            <a:r>
              <a:rPr lang="fr-FR" sz="2400" dirty="0">
                <a:latin typeface="Courier New" panose="02070309020205020404" pitchFamily="49" charset="0"/>
                <a:cs typeface="Courier New" panose="02070309020205020404" pitchFamily="49" charset="0"/>
              </a:rPr>
              <a:t>/</a:t>
            </a:r>
            <a:r>
              <a:rPr lang="fr-FR" sz="2400" dirty="0" err="1">
                <a:latin typeface="Courier New" panose="02070309020205020404" pitchFamily="49" charset="0"/>
                <a:cs typeface="Courier New" panose="02070309020205020404" pitchFamily="49" charset="0"/>
              </a:rPr>
              <a:t>bin</a:t>
            </a:r>
            <a:endParaRPr lang="fr-FR" sz="2400" dirty="0"/>
          </a:p>
          <a:p>
            <a:endParaRPr lang="fr-FR" sz="2400" dirty="0"/>
          </a:p>
          <a:p>
            <a:r>
              <a:rPr lang="fr-FR" sz="2400" dirty="0"/>
              <a:t>La variable système </a:t>
            </a:r>
            <a:r>
              <a:rPr lang="fr-FR" sz="2400" dirty="0">
                <a:latin typeface="Courier New" panose="02070309020205020404" pitchFamily="49" charset="0"/>
                <a:cs typeface="Courier New" panose="02070309020205020404" pitchFamily="49" charset="0"/>
              </a:rPr>
              <a:t>PATH</a:t>
            </a:r>
            <a:r>
              <a:rPr lang="fr-FR" sz="2400" dirty="0"/>
              <a:t> contient une liste de dossiers qui contiennent les commandes accessibles</a:t>
            </a:r>
          </a:p>
          <a:p>
            <a:endParaRPr lang="fr-FR" sz="2400" dirty="0"/>
          </a:p>
          <a:p>
            <a:r>
              <a:rPr lang="fr-FR" sz="2400" dirty="0"/>
              <a:t>La commande </a:t>
            </a:r>
            <a:r>
              <a:rPr lang="fr-FR" sz="2400" dirty="0" err="1">
                <a:latin typeface="Courier New" panose="02070309020205020404" pitchFamily="49" charset="0"/>
                <a:cs typeface="Courier New" panose="02070309020205020404" pitchFamily="49" charset="0"/>
              </a:rPr>
              <a:t>whereis</a:t>
            </a:r>
            <a:r>
              <a:rPr lang="fr-FR" sz="2400" dirty="0"/>
              <a:t> permet de connaitre l’emplacement d’une commande </a:t>
            </a:r>
          </a:p>
          <a:p>
            <a:endParaRPr lang="fr-FR" sz="2400" dirty="0"/>
          </a:p>
          <a:p>
            <a:endParaRPr lang="fr-FR" sz="2400" dirty="0"/>
          </a:p>
        </p:txBody>
      </p:sp>
    </p:spTree>
    <p:extLst>
      <p:ext uri="{BB962C8B-B14F-4D97-AF65-F5344CB8AC3E}">
        <p14:creationId xmlns:p14="http://schemas.microsoft.com/office/powerpoint/2010/main" val="8952189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rrondir un rectangle avec un coin diagonal 14"/>
          <p:cNvSpPr/>
          <p:nvPr/>
        </p:nvSpPr>
        <p:spPr>
          <a:xfrm>
            <a:off x="2207568" y="1052736"/>
            <a:ext cx="8245424" cy="1368152"/>
          </a:xfrm>
          <a:prstGeom prst="round2DiagRect">
            <a:avLst/>
          </a:prstGeom>
          <a:gradFill flip="none" rotWithShape="1">
            <a:gsLst>
              <a:gs pos="0">
                <a:srgbClr val="5E9EFF"/>
              </a:gs>
              <a:gs pos="39999">
                <a:srgbClr val="85C2FF"/>
              </a:gs>
              <a:gs pos="60000">
                <a:srgbClr val="C4D6EB"/>
              </a:gs>
              <a:gs pos="100000">
                <a:schemeClr val="accent1">
                  <a:lumMod val="40000"/>
                  <a:lumOff val="60000"/>
                </a:schemeClr>
              </a:gs>
            </a:gsLst>
            <a:lin ang="13500000" scaled="1"/>
            <a:tileRect/>
          </a:gradFill>
          <a:ln>
            <a:noFill/>
          </a:ln>
          <a:effectLst/>
          <a:scene3d>
            <a:camera prst="orthographicFront"/>
            <a:lightRig rig="threePt" dir="t"/>
          </a:scene3d>
          <a:sp3d>
            <a:bevelT w="19050" h="50800"/>
          </a:sp3d>
        </p:spPr>
        <p:style>
          <a:lnRef idx="2">
            <a:schemeClr val="accent1">
              <a:shade val="50000"/>
            </a:schemeClr>
          </a:lnRef>
          <a:fillRef idx="1">
            <a:schemeClr val="accent1"/>
          </a:fillRef>
          <a:effectRef idx="0">
            <a:schemeClr val="accent1"/>
          </a:effectRef>
          <a:fontRef idx="minor">
            <a:schemeClr val="lt1"/>
          </a:fontRef>
        </p:style>
        <p:txBody>
          <a:bodyPr/>
          <a:lstStyle/>
          <a:p>
            <a:pPr lvl="1">
              <a:defRPr/>
            </a:pPr>
            <a:endParaRPr lang="fr-FR" i="1" dirty="0">
              <a:solidFill>
                <a:schemeClr val="tx2"/>
              </a:solidFill>
            </a:endParaRPr>
          </a:p>
          <a:p>
            <a:pPr>
              <a:buBlip>
                <a:blip r:embed="rId3"/>
              </a:buBlip>
              <a:defRPr/>
            </a:pPr>
            <a:endParaRPr lang="fr-FR" i="1" dirty="0">
              <a:solidFill>
                <a:schemeClr val="tx2"/>
              </a:solidFill>
            </a:endParaRPr>
          </a:p>
        </p:txBody>
      </p:sp>
      <p:sp>
        <p:nvSpPr>
          <p:cNvPr id="5" name="Espace réservé du contenu 1"/>
          <p:cNvSpPr txBox="1"/>
          <p:nvPr/>
        </p:nvSpPr>
        <p:spPr>
          <a:xfrm>
            <a:off x="1883024" y="1196752"/>
            <a:ext cx="8784976" cy="1656184"/>
          </a:xfrm>
          <a:prstGeom prst="rect">
            <a:avLst/>
          </a:prstGeom>
        </p:spPr>
        <p:txBody>
          <a:bodyPr>
            <a:normAutofit/>
          </a:bodyPr>
          <a:lstStyle/>
          <a:p>
            <a:pPr marL="342900" indent="-342900" algn="ctr">
              <a:spcBef>
                <a:spcPct val="20000"/>
              </a:spcBef>
              <a:defRPr/>
            </a:pPr>
            <a:r>
              <a:rPr lang="fr-FR" sz="3200" dirty="0"/>
              <a:t>Les principales commandes</a:t>
            </a:r>
          </a:p>
          <a:p>
            <a:pPr marL="742950" lvl="1" indent="-285750">
              <a:spcBef>
                <a:spcPct val="20000"/>
              </a:spcBef>
              <a:buFont typeface="Arial" panose="020B0604020202020204" pitchFamily="34" charset="0"/>
              <a:buChar char="•"/>
              <a:defRPr/>
            </a:pPr>
            <a:r>
              <a:rPr lang="fr-FR" sz="2800" dirty="0"/>
              <a:t>Format d’une commande</a:t>
            </a:r>
          </a:p>
        </p:txBody>
      </p:sp>
      <p:sp>
        <p:nvSpPr>
          <p:cNvPr id="9" name="ZoneTexte 8"/>
          <p:cNvSpPr txBox="1"/>
          <p:nvPr/>
        </p:nvSpPr>
        <p:spPr>
          <a:xfrm>
            <a:off x="2279576" y="2564905"/>
            <a:ext cx="8064896" cy="461665"/>
          </a:xfrm>
          <a:prstGeom prst="rect">
            <a:avLst/>
          </a:prstGeom>
          <a:noFill/>
        </p:spPr>
        <p:txBody>
          <a:bodyPr wrap="square" rtlCol="0">
            <a:spAutoFit/>
          </a:bodyPr>
          <a:lstStyle/>
          <a:p>
            <a:r>
              <a:rPr lang="fr-FR" sz="2400" b="1" dirty="0" err="1">
                <a:latin typeface="Courier New" panose="02070309020205020404" pitchFamily="49" charset="0"/>
                <a:cs typeface="Courier New" panose="02070309020205020404" pitchFamily="49" charset="0"/>
              </a:rPr>
              <a:t>nom_cmd</a:t>
            </a:r>
            <a:r>
              <a:rPr lang="fr-FR" sz="2400" b="1" dirty="0">
                <a:latin typeface="Courier New" panose="02070309020205020404" pitchFamily="49" charset="0"/>
                <a:cs typeface="Courier New" panose="02070309020205020404" pitchFamily="49" charset="0"/>
              </a:rPr>
              <a:t> [ option ... ] [ argument ... ]</a:t>
            </a:r>
            <a:endParaRPr lang="fr-FR" sz="2400" dirty="0">
              <a:latin typeface="Courier New" panose="02070309020205020404" pitchFamily="49" charset="0"/>
              <a:cs typeface="Courier New" panose="02070309020205020404" pitchFamily="49" charset="0"/>
            </a:endParaRPr>
          </a:p>
        </p:txBody>
      </p:sp>
      <p:graphicFrame>
        <p:nvGraphicFramePr>
          <p:cNvPr id="7" name="Tableau 6"/>
          <p:cNvGraphicFramePr>
            <a:graphicFrameLocks noGrp="1"/>
          </p:cNvGraphicFramePr>
          <p:nvPr/>
        </p:nvGraphicFramePr>
        <p:xfrm>
          <a:off x="2063552" y="3284984"/>
          <a:ext cx="8604448" cy="1905000"/>
        </p:xfrm>
        <a:graphic>
          <a:graphicData uri="http://schemas.openxmlformats.org/drawingml/2006/table">
            <a:tbl>
              <a:tblPr/>
              <a:tblGrid>
                <a:gridCol w="8604448"/>
              </a:tblGrid>
              <a:tr h="804900">
                <a:tc>
                  <a:txBody>
                    <a:bodyPr/>
                    <a:lstStyle/>
                    <a:p>
                      <a:pPr>
                        <a:spcBef>
                          <a:spcPts val="600"/>
                        </a:spcBef>
                        <a:spcAft>
                          <a:spcPts val="600"/>
                        </a:spcAft>
                      </a:pPr>
                      <a:r>
                        <a:rPr lang="fr-FR" sz="2000" dirty="0" err="1">
                          <a:latin typeface="Courier New" panose="02070309020205020404"/>
                          <a:ea typeface="Times New Roman" panose="02020603050405020304"/>
                        </a:rPr>
                        <a:t>ls</a:t>
                      </a:r>
                      <a:r>
                        <a:rPr lang="fr-FR" sz="2000" dirty="0">
                          <a:latin typeface="Courier New" panose="02070309020205020404"/>
                          <a:ea typeface="Times New Roman" panose="02020603050405020304"/>
                        </a:rPr>
                        <a:t> –l /home/m* </a:t>
                      </a:r>
                      <a:endParaRPr lang="fr-FR" sz="2000" dirty="0">
                        <a:latin typeface="Times New Roman" panose="02020603050405020304"/>
                        <a:ea typeface="Times New Roman" panose="02020603050405020304"/>
                      </a:endParaRPr>
                    </a:p>
                    <a:p>
                      <a:pPr marL="342900" lvl="0" indent="-342900">
                        <a:spcAft>
                          <a:spcPts val="0"/>
                        </a:spcAft>
                        <a:buFont typeface="Symbol" panose="05050102010706020507"/>
                        <a:buChar char=""/>
                        <a:tabLst>
                          <a:tab pos="1079500" algn="l"/>
                        </a:tabLst>
                      </a:pPr>
                      <a:r>
                        <a:rPr lang="fr-FR" sz="2000" dirty="0" err="1">
                          <a:latin typeface="Courier New" panose="02070309020205020404"/>
                          <a:ea typeface="Times New Roman" panose="02020603050405020304"/>
                        </a:rPr>
                        <a:t>ls</a:t>
                      </a:r>
                      <a:r>
                        <a:rPr lang="fr-FR" sz="2000" dirty="0">
                          <a:latin typeface="Courier New" panose="02070309020205020404"/>
                          <a:ea typeface="Times New Roman" panose="02020603050405020304"/>
                        </a:rPr>
                        <a:t> : nom de la commande qui Affiche les informations </a:t>
                      </a:r>
                      <a:r>
                        <a:rPr lang="fr-FR" sz="2000" dirty="0" smtClean="0">
                          <a:latin typeface="Courier New" panose="02070309020205020404"/>
                          <a:ea typeface="Times New Roman" panose="02020603050405020304"/>
                        </a:rPr>
                        <a:t>	des </a:t>
                      </a:r>
                      <a:r>
                        <a:rPr lang="fr-FR" sz="2000" dirty="0">
                          <a:latin typeface="Courier New" panose="02070309020205020404"/>
                          <a:ea typeface="Times New Roman" panose="02020603050405020304"/>
                        </a:rPr>
                        <a:t>fichiers</a:t>
                      </a:r>
                      <a:endParaRPr lang="fr-FR" sz="2000" dirty="0">
                        <a:latin typeface="Times New Roman" panose="02020603050405020304"/>
                        <a:ea typeface="Times New Roman" panose="02020603050405020304"/>
                      </a:endParaRPr>
                    </a:p>
                    <a:p>
                      <a:pPr marL="342900" lvl="0" indent="-342900">
                        <a:spcAft>
                          <a:spcPts val="0"/>
                        </a:spcAft>
                        <a:buFont typeface="Symbol" panose="05050102010706020507"/>
                        <a:buChar char=""/>
                      </a:pPr>
                      <a:r>
                        <a:rPr lang="fr-FR" sz="2000" dirty="0">
                          <a:latin typeface="Courier New" panose="02070309020205020404"/>
                          <a:ea typeface="Times New Roman" panose="02020603050405020304"/>
                        </a:rPr>
                        <a:t>-l : option</a:t>
                      </a:r>
                      <a:endParaRPr lang="fr-FR" sz="2000" dirty="0">
                        <a:latin typeface="Times New Roman" panose="02020603050405020304"/>
                        <a:ea typeface="Times New Roman" panose="02020603050405020304"/>
                      </a:endParaRPr>
                    </a:p>
                    <a:p>
                      <a:pPr marL="342900" lvl="0" indent="-342900">
                        <a:spcAft>
                          <a:spcPts val="0"/>
                        </a:spcAft>
                        <a:buFont typeface="Symbol" panose="05050102010706020507"/>
                        <a:buChar char=""/>
                      </a:pPr>
                      <a:r>
                        <a:rPr lang="fr-FR" sz="2000" dirty="0">
                          <a:latin typeface="Courier New" panose="02070309020205020404"/>
                          <a:ea typeface="Times New Roman" panose="02020603050405020304"/>
                        </a:rPr>
                        <a:t>/home/m* : argument</a:t>
                      </a:r>
                      <a:endParaRPr lang="fr-FR" sz="2000" dirty="0">
                        <a:latin typeface="Times New Roman" panose="02020603050405020304"/>
                        <a:ea typeface="Times New Roman" panose="02020603050405020304"/>
                      </a:endParaRPr>
                    </a:p>
                    <a:p>
                      <a:pPr marL="342900" lvl="0" indent="-342900">
                        <a:spcAft>
                          <a:spcPts val="600"/>
                        </a:spcAft>
                        <a:buFont typeface="Symbol" panose="05050102010706020507"/>
                        <a:buChar char=""/>
                      </a:pPr>
                      <a:r>
                        <a:rPr lang="fr-FR" sz="2000" dirty="0">
                          <a:latin typeface="Courier New" panose="02070309020205020404"/>
                          <a:ea typeface="Times New Roman" panose="02020603050405020304"/>
                        </a:rPr>
                        <a:t>* : méta-caractère. Remplace une ou plusieurs lettres</a:t>
                      </a:r>
                      <a:endParaRPr lang="fr-FR" sz="2000" dirty="0">
                        <a:latin typeface="Times New Roman" panose="02020603050405020304"/>
                        <a:ea typeface="Times New Roman" panose="02020603050405020304"/>
                      </a:endParaRPr>
                    </a:p>
                  </a:txBody>
                  <a:tcPr marL="60368" marR="603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0" name="Rectangle 9"/>
          <p:cNvSpPr/>
          <p:nvPr/>
        </p:nvSpPr>
        <p:spPr>
          <a:xfrm>
            <a:off x="2207568" y="5373217"/>
            <a:ext cx="5494902" cy="1200329"/>
          </a:xfrm>
          <a:prstGeom prst="rect">
            <a:avLst/>
          </a:prstGeom>
        </p:spPr>
        <p:txBody>
          <a:bodyPr wrap="none">
            <a:spAutoFit/>
          </a:bodyPr>
          <a:lstStyle/>
          <a:p>
            <a:r>
              <a:rPr lang="fr-FR" sz="2400" dirty="0"/>
              <a:t>Pour obtenir de l’aide sur une commande :</a:t>
            </a:r>
          </a:p>
          <a:p>
            <a:r>
              <a:rPr lang="fr-FR" sz="2400" dirty="0"/>
              <a:t>utilisez comme option </a:t>
            </a:r>
            <a:r>
              <a:rPr lang="fr-FR" sz="2400" b="1" dirty="0">
                <a:latin typeface="Courier New" panose="02070309020205020404" pitchFamily="49" charset="0"/>
                <a:cs typeface="Courier New" panose="02070309020205020404" pitchFamily="49" charset="0"/>
              </a:rPr>
              <a:t>–help</a:t>
            </a:r>
          </a:p>
          <a:p>
            <a:r>
              <a:rPr lang="fr-FR" sz="2400" dirty="0">
                <a:cs typeface="Courier New" panose="02070309020205020404" pitchFamily="49" charset="0"/>
              </a:rPr>
              <a:t>Ex :  </a:t>
            </a:r>
            <a:r>
              <a:rPr lang="fr-FR" sz="2400" b="1" dirty="0" err="1">
                <a:latin typeface="Courier New" panose="02070309020205020404" pitchFamily="49" charset="0"/>
                <a:cs typeface="Courier New" panose="02070309020205020404" pitchFamily="49" charset="0"/>
              </a:rPr>
              <a:t>ls</a:t>
            </a:r>
            <a:r>
              <a:rPr lang="fr-FR" sz="2400" b="1" dirty="0">
                <a:latin typeface="Courier New" panose="02070309020205020404" pitchFamily="49" charset="0"/>
                <a:cs typeface="Courier New" panose="02070309020205020404" pitchFamily="49" charset="0"/>
              </a:rPr>
              <a:t> --help</a:t>
            </a:r>
          </a:p>
        </p:txBody>
      </p:sp>
    </p:spTree>
    <p:extLst>
      <p:ext uri="{BB962C8B-B14F-4D97-AF65-F5344CB8AC3E}">
        <p14:creationId xmlns:p14="http://schemas.microsoft.com/office/powerpoint/2010/main" val="38306562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rrondir un rectangle avec un coin diagonal 14"/>
          <p:cNvSpPr/>
          <p:nvPr/>
        </p:nvSpPr>
        <p:spPr>
          <a:xfrm>
            <a:off x="2207568" y="1052736"/>
            <a:ext cx="8245424" cy="1368152"/>
          </a:xfrm>
          <a:prstGeom prst="round2DiagRect">
            <a:avLst/>
          </a:prstGeom>
          <a:gradFill flip="none" rotWithShape="1">
            <a:gsLst>
              <a:gs pos="0">
                <a:srgbClr val="5E9EFF"/>
              </a:gs>
              <a:gs pos="39999">
                <a:srgbClr val="85C2FF"/>
              </a:gs>
              <a:gs pos="60000">
                <a:srgbClr val="C4D6EB"/>
              </a:gs>
              <a:gs pos="100000">
                <a:schemeClr val="accent1">
                  <a:lumMod val="40000"/>
                  <a:lumOff val="60000"/>
                </a:schemeClr>
              </a:gs>
            </a:gsLst>
            <a:lin ang="13500000" scaled="1"/>
            <a:tileRect/>
          </a:gradFill>
          <a:ln>
            <a:noFill/>
          </a:ln>
          <a:effectLst/>
          <a:scene3d>
            <a:camera prst="orthographicFront"/>
            <a:lightRig rig="threePt" dir="t"/>
          </a:scene3d>
          <a:sp3d>
            <a:bevelT w="19050" h="50800"/>
          </a:sp3d>
        </p:spPr>
        <p:style>
          <a:lnRef idx="2">
            <a:schemeClr val="accent1">
              <a:shade val="50000"/>
            </a:schemeClr>
          </a:lnRef>
          <a:fillRef idx="1">
            <a:schemeClr val="accent1"/>
          </a:fillRef>
          <a:effectRef idx="0">
            <a:schemeClr val="accent1"/>
          </a:effectRef>
          <a:fontRef idx="minor">
            <a:schemeClr val="lt1"/>
          </a:fontRef>
        </p:style>
        <p:txBody>
          <a:bodyPr/>
          <a:lstStyle/>
          <a:p>
            <a:pPr lvl="1">
              <a:defRPr/>
            </a:pPr>
            <a:endParaRPr lang="fr-FR" i="1" dirty="0">
              <a:solidFill>
                <a:schemeClr val="tx2"/>
              </a:solidFill>
            </a:endParaRPr>
          </a:p>
          <a:p>
            <a:pPr>
              <a:buBlip>
                <a:blip r:embed="rId3"/>
              </a:buBlip>
              <a:defRPr/>
            </a:pPr>
            <a:endParaRPr lang="fr-FR" i="1" dirty="0">
              <a:solidFill>
                <a:schemeClr val="tx2"/>
              </a:solidFill>
            </a:endParaRPr>
          </a:p>
        </p:txBody>
      </p:sp>
      <p:sp>
        <p:nvSpPr>
          <p:cNvPr id="5" name="Espace réservé du contenu 1"/>
          <p:cNvSpPr txBox="1"/>
          <p:nvPr/>
        </p:nvSpPr>
        <p:spPr>
          <a:xfrm>
            <a:off x="1883024" y="1196752"/>
            <a:ext cx="8784976" cy="1656184"/>
          </a:xfrm>
          <a:prstGeom prst="rect">
            <a:avLst/>
          </a:prstGeom>
        </p:spPr>
        <p:txBody>
          <a:bodyPr>
            <a:normAutofit/>
          </a:bodyPr>
          <a:lstStyle/>
          <a:p>
            <a:pPr marL="342900" indent="-342900" algn="ctr">
              <a:spcBef>
                <a:spcPct val="20000"/>
              </a:spcBef>
              <a:defRPr/>
            </a:pPr>
            <a:r>
              <a:rPr lang="fr-FR" sz="3200" dirty="0"/>
              <a:t>Les principales commandes</a:t>
            </a:r>
          </a:p>
          <a:p>
            <a:pPr marL="742950" lvl="1" indent="-285750">
              <a:spcBef>
                <a:spcPct val="20000"/>
              </a:spcBef>
              <a:buFont typeface="Arial" panose="020B0604020202020204" pitchFamily="34" charset="0"/>
              <a:buChar char="•"/>
              <a:defRPr/>
            </a:pPr>
            <a:r>
              <a:rPr lang="fr-FR" sz="2800" dirty="0"/>
              <a:t>Les utilisateurs et les groupes</a:t>
            </a:r>
          </a:p>
        </p:txBody>
      </p:sp>
      <p:sp>
        <p:nvSpPr>
          <p:cNvPr id="12" name="ZoneTexte 11"/>
          <p:cNvSpPr txBox="1"/>
          <p:nvPr/>
        </p:nvSpPr>
        <p:spPr>
          <a:xfrm>
            <a:off x="2279576" y="2996952"/>
            <a:ext cx="7592720" cy="2677656"/>
          </a:xfrm>
          <a:prstGeom prst="rect">
            <a:avLst/>
          </a:prstGeom>
          <a:noFill/>
        </p:spPr>
        <p:txBody>
          <a:bodyPr wrap="none" rtlCol="0">
            <a:spAutoFit/>
          </a:bodyPr>
          <a:lstStyle/>
          <a:p>
            <a:r>
              <a:rPr lang="fr-FR" sz="2400" dirty="0"/>
              <a:t>Utilisateur = propriétaire de fichiers ou de processus</a:t>
            </a:r>
          </a:p>
          <a:p>
            <a:endParaRPr lang="fr-FR" sz="2400" dirty="0"/>
          </a:p>
          <a:p>
            <a:r>
              <a:rPr lang="fr-FR" sz="2400" dirty="0"/>
              <a:t>Groupe = ensemble d’utilisateurs </a:t>
            </a:r>
          </a:p>
          <a:p>
            <a:endParaRPr lang="fr-FR" sz="2400" dirty="0"/>
          </a:p>
          <a:p>
            <a:r>
              <a:rPr lang="fr-FR" sz="2400" dirty="0"/>
              <a:t>Définition des droits d’accès aux fichiers et aux commandes</a:t>
            </a:r>
          </a:p>
          <a:p>
            <a:endParaRPr lang="fr-FR" sz="2400" dirty="0"/>
          </a:p>
          <a:p>
            <a:r>
              <a:rPr lang="fr-FR" sz="2400" b="1" dirty="0" err="1">
                <a:latin typeface="Courier New" panose="02070309020205020404" pitchFamily="49" charset="0"/>
                <a:cs typeface="Courier New" panose="02070309020205020404" pitchFamily="49" charset="0"/>
              </a:rPr>
              <a:t>root</a:t>
            </a:r>
            <a:r>
              <a:rPr lang="fr-FR" sz="2400" dirty="0"/>
              <a:t>  possède tous les droits sur le système</a:t>
            </a:r>
          </a:p>
        </p:txBody>
      </p:sp>
    </p:spTree>
    <p:extLst>
      <p:ext uri="{BB962C8B-B14F-4D97-AF65-F5344CB8AC3E}">
        <p14:creationId xmlns:p14="http://schemas.microsoft.com/office/powerpoint/2010/main" val="4811125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rrondir un rectangle avec un coin diagonal 14"/>
          <p:cNvSpPr/>
          <p:nvPr/>
        </p:nvSpPr>
        <p:spPr>
          <a:xfrm>
            <a:off x="2207568" y="1052736"/>
            <a:ext cx="8245424" cy="1368152"/>
          </a:xfrm>
          <a:prstGeom prst="round2DiagRect">
            <a:avLst/>
          </a:prstGeom>
          <a:gradFill flip="none" rotWithShape="1">
            <a:gsLst>
              <a:gs pos="0">
                <a:srgbClr val="5E9EFF"/>
              </a:gs>
              <a:gs pos="39999">
                <a:srgbClr val="85C2FF"/>
              </a:gs>
              <a:gs pos="60000">
                <a:srgbClr val="C4D6EB"/>
              </a:gs>
              <a:gs pos="100000">
                <a:schemeClr val="accent1">
                  <a:lumMod val="40000"/>
                  <a:lumOff val="60000"/>
                </a:schemeClr>
              </a:gs>
            </a:gsLst>
            <a:lin ang="13500000" scaled="1"/>
            <a:tileRect/>
          </a:gradFill>
          <a:ln>
            <a:noFill/>
          </a:ln>
          <a:effectLst/>
          <a:scene3d>
            <a:camera prst="orthographicFront"/>
            <a:lightRig rig="threePt" dir="t"/>
          </a:scene3d>
          <a:sp3d>
            <a:bevelT w="19050" h="50800"/>
          </a:sp3d>
        </p:spPr>
        <p:style>
          <a:lnRef idx="2">
            <a:schemeClr val="accent1">
              <a:shade val="50000"/>
            </a:schemeClr>
          </a:lnRef>
          <a:fillRef idx="1">
            <a:schemeClr val="accent1"/>
          </a:fillRef>
          <a:effectRef idx="0">
            <a:schemeClr val="accent1"/>
          </a:effectRef>
          <a:fontRef idx="minor">
            <a:schemeClr val="lt1"/>
          </a:fontRef>
        </p:style>
        <p:txBody>
          <a:bodyPr/>
          <a:lstStyle/>
          <a:p>
            <a:pPr lvl="1">
              <a:defRPr/>
            </a:pPr>
            <a:endParaRPr lang="fr-FR" i="1" dirty="0">
              <a:solidFill>
                <a:schemeClr val="tx2"/>
              </a:solidFill>
            </a:endParaRPr>
          </a:p>
          <a:p>
            <a:pPr>
              <a:buBlip>
                <a:blip r:embed="rId3"/>
              </a:buBlip>
              <a:defRPr/>
            </a:pPr>
            <a:endParaRPr lang="fr-FR" i="1" dirty="0">
              <a:solidFill>
                <a:schemeClr val="tx2"/>
              </a:solidFill>
            </a:endParaRPr>
          </a:p>
        </p:txBody>
      </p:sp>
      <p:sp>
        <p:nvSpPr>
          <p:cNvPr id="5" name="Espace réservé du contenu 1"/>
          <p:cNvSpPr txBox="1"/>
          <p:nvPr/>
        </p:nvSpPr>
        <p:spPr>
          <a:xfrm>
            <a:off x="1883024" y="1196752"/>
            <a:ext cx="8784976" cy="1656184"/>
          </a:xfrm>
          <a:prstGeom prst="rect">
            <a:avLst/>
          </a:prstGeom>
        </p:spPr>
        <p:txBody>
          <a:bodyPr>
            <a:normAutofit/>
          </a:bodyPr>
          <a:lstStyle/>
          <a:p>
            <a:pPr marL="342900" indent="-342900" algn="ctr">
              <a:spcBef>
                <a:spcPct val="20000"/>
              </a:spcBef>
              <a:defRPr/>
            </a:pPr>
            <a:r>
              <a:rPr lang="fr-FR" sz="3200" dirty="0"/>
              <a:t>Les principales commandes</a:t>
            </a:r>
          </a:p>
          <a:p>
            <a:pPr marL="742950" lvl="1" indent="-285750">
              <a:spcBef>
                <a:spcPct val="20000"/>
              </a:spcBef>
              <a:buFont typeface="Arial" panose="020B0604020202020204" pitchFamily="34" charset="0"/>
              <a:buChar char="•"/>
              <a:defRPr/>
            </a:pPr>
            <a:r>
              <a:rPr lang="fr-FR" sz="2800" dirty="0"/>
              <a:t>Les utilisateurs et les groupes</a:t>
            </a:r>
          </a:p>
        </p:txBody>
      </p:sp>
      <p:pic>
        <p:nvPicPr>
          <p:cNvPr id="77826" name="Picture 2"/>
          <p:cNvPicPr>
            <a:picLocks noChangeAspect="1" noChangeArrowheads="1"/>
          </p:cNvPicPr>
          <p:nvPr/>
        </p:nvPicPr>
        <p:blipFill>
          <a:blip r:embed="rId4" cstate="print"/>
          <a:srcRect/>
          <a:stretch>
            <a:fillRect/>
          </a:stretch>
        </p:blipFill>
        <p:spPr bwMode="auto">
          <a:xfrm>
            <a:off x="2207568" y="2564904"/>
            <a:ext cx="8240458" cy="3456384"/>
          </a:xfrm>
          <a:prstGeom prst="rect">
            <a:avLst/>
          </a:prstGeom>
          <a:noFill/>
          <a:ln w="9525">
            <a:noFill/>
            <a:miter lim="800000"/>
            <a:headEnd/>
            <a:tailEnd/>
          </a:ln>
        </p:spPr>
      </p:pic>
    </p:spTree>
    <p:extLst>
      <p:ext uri="{BB962C8B-B14F-4D97-AF65-F5344CB8AC3E}">
        <p14:creationId xmlns:p14="http://schemas.microsoft.com/office/powerpoint/2010/main" val="20734243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rrondir un rectangle avec un coin diagonal 14"/>
          <p:cNvSpPr/>
          <p:nvPr/>
        </p:nvSpPr>
        <p:spPr>
          <a:xfrm>
            <a:off x="2207568" y="1052736"/>
            <a:ext cx="8245424" cy="1368152"/>
          </a:xfrm>
          <a:prstGeom prst="round2DiagRect">
            <a:avLst/>
          </a:prstGeom>
          <a:gradFill flip="none" rotWithShape="1">
            <a:gsLst>
              <a:gs pos="0">
                <a:srgbClr val="5E9EFF"/>
              </a:gs>
              <a:gs pos="39999">
                <a:srgbClr val="85C2FF"/>
              </a:gs>
              <a:gs pos="60000">
                <a:srgbClr val="C4D6EB"/>
              </a:gs>
              <a:gs pos="100000">
                <a:schemeClr val="accent1">
                  <a:lumMod val="40000"/>
                  <a:lumOff val="60000"/>
                </a:schemeClr>
              </a:gs>
            </a:gsLst>
            <a:lin ang="13500000" scaled="1"/>
            <a:tileRect/>
          </a:gradFill>
          <a:ln>
            <a:noFill/>
          </a:ln>
          <a:effectLst/>
          <a:scene3d>
            <a:camera prst="orthographicFront"/>
            <a:lightRig rig="threePt" dir="t"/>
          </a:scene3d>
          <a:sp3d>
            <a:bevelT w="19050" h="50800"/>
          </a:sp3d>
        </p:spPr>
        <p:style>
          <a:lnRef idx="2">
            <a:schemeClr val="accent1">
              <a:shade val="50000"/>
            </a:schemeClr>
          </a:lnRef>
          <a:fillRef idx="1">
            <a:schemeClr val="accent1"/>
          </a:fillRef>
          <a:effectRef idx="0">
            <a:schemeClr val="accent1"/>
          </a:effectRef>
          <a:fontRef idx="minor">
            <a:schemeClr val="lt1"/>
          </a:fontRef>
        </p:style>
        <p:txBody>
          <a:bodyPr/>
          <a:lstStyle/>
          <a:p>
            <a:pPr lvl="1">
              <a:defRPr/>
            </a:pPr>
            <a:endParaRPr lang="fr-FR" i="1" dirty="0">
              <a:solidFill>
                <a:schemeClr val="tx2"/>
              </a:solidFill>
            </a:endParaRPr>
          </a:p>
          <a:p>
            <a:pPr>
              <a:buBlip>
                <a:blip r:embed="rId3"/>
              </a:buBlip>
              <a:defRPr/>
            </a:pPr>
            <a:endParaRPr lang="fr-FR" i="1" dirty="0">
              <a:solidFill>
                <a:schemeClr val="tx2"/>
              </a:solidFill>
            </a:endParaRPr>
          </a:p>
        </p:txBody>
      </p:sp>
      <p:sp>
        <p:nvSpPr>
          <p:cNvPr id="5" name="Espace réservé du contenu 1"/>
          <p:cNvSpPr txBox="1"/>
          <p:nvPr/>
        </p:nvSpPr>
        <p:spPr>
          <a:xfrm>
            <a:off x="1883024" y="1196752"/>
            <a:ext cx="8784976" cy="1656184"/>
          </a:xfrm>
          <a:prstGeom prst="rect">
            <a:avLst/>
          </a:prstGeom>
        </p:spPr>
        <p:txBody>
          <a:bodyPr>
            <a:normAutofit/>
          </a:bodyPr>
          <a:lstStyle/>
          <a:p>
            <a:pPr marL="342900" indent="-342900" algn="ctr">
              <a:spcBef>
                <a:spcPct val="20000"/>
              </a:spcBef>
              <a:defRPr/>
            </a:pPr>
            <a:r>
              <a:rPr lang="fr-FR" sz="3200" dirty="0"/>
              <a:t>Les principales commandes</a:t>
            </a:r>
          </a:p>
          <a:p>
            <a:pPr marL="742950" lvl="1" indent="-285750">
              <a:spcBef>
                <a:spcPct val="20000"/>
              </a:spcBef>
              <a:buFont typeface="Arial" panose="020B0604020202020204" pitchFamily="34" charset="0"/>
              <a:buChar char="•"/>
              <a:defRPr/>
            </a:pPr>
            <a:r>
              <a:rPr lang="fr-FR" sz="2800" dirty="0"/>
              <a:t>Les redirecteurs</a:t>
            </a:r>
          </a:p>
        </p:txBody>
      </p:sp>
      <p:pic>
        <p:nvPicPr>
          <p:cNvPr id="78850" name="Picture 2"/>
          <p:cNvPicPr>
            <a:picLocks noChangeAspect="1" noChangeArrowheads="1"/>
          </p:cNvPicPr>
          <p:nvPr/>
        </p:nvPicPr>
        <p:blipFill>
          <a:blip r:embed="rId4" cstate="print"/>
          <a:srcRect/>
          <a:stretch>
            <a:fillRect/>
          </a:stretch>
        </p:blipFill>
        <p:spPr bwMode="auto">
          <a:xfrm>
            <a:off x="2123498" y="2492896"/>
            <a:ext cx="8544502" cy="4248472"/>
          </a:xfrm>
          <a:prstGeom prst="rect">
            <a:avLst/>
          </a:prstGeom>
          <a:noFill/>
          <a:ln w="9525">
            <a:noFill/>
            <a:miter lim="800000"/>
            <a:headEnd/>
            <a:tailEnd/>
          </a:ln>
        </p:spPr>
      </p:pic>
    </p:spTree>
    <p:extLst>
      <p:ext uri="{BB962C8B-B14F-4D97-AF65-F5344CB8AC3E}">
        <p14:creationId xmlns:p14="http://schemas.microsoft.com/office/powerpoint/2010/main" val="29162434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rrondir un rectangle avec un coin diagonal 14"/>
          <p:cNvSpPr/>
          <p:nvPr/>
        </p:nvSpPr>
        <p:spPr>
          <a:xfrm>
            <a:off x="2207568" y="1052736"/>
            <a:ext cx="8245424" cy="1368152"/>
          </a:xfrm>
          <a:prstGeom prst="round2DiagRect">
            <a:avLst/>
          </a:prstGeom>
          <a:gradFill flip="none" rotWithShape="1">
            <a:gsLst>
              <a:gs pos="0">
                <a:srgbClr val="5E9EFF"/>
              </a:gs>
              <a:gs pos="39999">
                <a:srgbClr val="85C2FF"/>
              </a:gs>
              <a:gs pos="60000">
                <a:srgbClr val="C4D6EB"/>
              </a:gs>
              <a:gs pos="100000">
                <a:schemeClr val="accent1">
                  <a:lumMod val="40000"/>
                  <a:lumOff val="60000"/>
                </a:schemeClr>
              </a:gs>
            </a:gsLst>
            <a:lin ang="13500000" scaled="1"/>
            <a:tileRect/>
          </a:gradFill>
          <a:ln>
            <a:noFill/>
          </a:ln>
          <a:effectLst/>
          <a:scene3d>
            <a:camera prst="orthographicFront"/>
            <a:lightRig rig="threePt" dir="t"/>
          </a:scene3d>
          <a:sp3d>
            <a:bevelT w="19050" h="50800"/>
          </a:sp3d>
        </p:spPr>
        <p:style>
          <a:lnRef idx="2">
            <a:schemeClr val="accent1">
              <a:shade val="50000"/>
            </a:schemeClr>
          </a:lnRef>
          <a:fillRef idx="1">
            <a:schemeClr val="accent1"/>
          </a:fillRef>
          <a:effectRef idx="0">
            <a:schemeClr val="accent1"/>
          </a:effectRef>
          <a:fontRef idx="minor">
            <a:schemeClr val="lt1"/>
          </a:fontRef>
        </p:style>
        <p:txBody>
          <a:bodyPr/>
          <a:lstStyle/>
          <a:p>
            <a:pPr lvl="1">
              <a:defRPr/>
            </a:pPr>
            <a:endParaRPr lang="fr-FR" i="1" dirty="0">
              <a:solidFill>
                <a:schemeClr val="tx2"/>
              </a:solidFill>
            </a:endParaRPr>
          </a:p>
          <a:p>
            <a:pPr>
              <a:buBlip>
                <a:blip r:embed="rId3"/>
              </a:buBlip>
              <a:defRPr/>
            </a:pPr>
            <a:endParaRPr lang="fr-FR" i="1" dirty="0">
              <a:solidFill>
                <a:schemeClr val="tx2"/>
              </a:solidFill>
            </a:endParaRPr>
          </a:p>
        </p:txBody>
      </p:sp>
      <p:sp>
        <p:nvSpPr>
          <p:cNvPr id="5" name="Espace réservé du contenu 1"/>
          <p:cNvSpPr txBox="1"/>
          <p:nvPr/>
        </p:nvSpPr>
        <p:spPr>
          <a:xfrm>
            <a:off x="1883024" y="1196752"/>
            <a:ext cx="8784976" cy="1656184"/>
          </a:xfrm>
          <a:prstGeom prst="rect">
            <a:avLst/>
          </a:prstGeom>
        </p:spPr>
        <p:txBody>
          <a:bodyPr>
            <a:normAutofit/>
          </a:bodyPr>
          <a:lstStyle/>
          <a:p>
            <a:pPr marL="342900" indent="-342900" algn="ctr">
              <a:spcBef>
                <a:spcPct val="20000"/>
              </a:spcBef>
              <a:defRPr/>
            </a:pPr>
            <a:r>
              <a:rPr lang="fr-FR" sz="3200" dirty="0"/>
              <a:t>Les principales commandes</a:t>
            </a:r>
          </a:p>
          <a:p>
            <a:pPr marL="742950" lvl="1" indent="-285750">
              <a:spcBef>
                <a:spcPct val="20000"/>
              </a:spcBef>
              <a:buFont typeface="Arial" panose="020B0604020202020204" pitchFamily="34" charset="0"/>
              <a:buChar char="•"/>
              <a:defRPr/>
            </a:pPr>
            <a:r>
              <a:rPr lang="fr-FR" sz="2800" dirty="0"/>
              <a:t>Les redirecteurs</a:t>
            </a:r>
          </a:p>
        </p:txBody>
      </p:sp>
      <p:graphicFrame>
        <p:nvGraphicFramePr>
          <p:cNvPr id="7" name="Tableau 6"/>
          <p:cNvGraphicFramePr>
            <a:graphicFrameLocks noGrp="1"/>
          </p:cNvGraphicFramePr>
          <p:nvPr/>
        </p:nvGraphicFramePr>
        <p:xfrm>
          <a:off x="2135560" y="2564904"/>
          <a:ext cx="8352928" cy="320040"/>
        </p:xfrm>
        <a:graphic>
          <a:graphicData uri="http://schemas.openxmlformats.org/drawingml/2006/table">
            <a:tbl>
              <a:tblPr/>
              <a:tblGrid>
                <a:gridCol w="8352928"/>
              </a:tblGrid>
              <a:tr h="134150">
                <a:tc>
                  <a:txBody>
                    <a:bodyPr/>
                    <a:lstStyle/>
                    <a:p>
                      <a:pPr>
                        <a:spcBef>
                          <a:spcPts val="600"/>
                        </a:spcBef>
                        <a:spcAft>
                          <a:spcPts val="600"/>
                        </a:spcAft>
                      </a:pPr>
                      <a:r>
                        <a:rPr lang="fr-FR" sz="2100" dirty="0">
                          <a:latin typeface="Courier New" panose="02070309020205020404"/>
                          <a:ea typeface="Cambria" panose="02040503050406030204"/>
                        </a:rPr>
                        <a:t># </a:t>
                      </a:r>
                      <a:r>
                        <a:rPr lang="fr-FR" sz="2100" dirty="0" err="1">
                          <a:latin typeface="Courier New" panose="02070309020205020404"/>
                          <a:ea typeface="Cambria" panose="02040503050406030204"/>
                        </a:rPr>
                        <a:t>echo</a:t>
                      </a:r>
                      <a:r>
                        <a:rPr lang="fr-FR" sz="2100" dirty="0">
                          <a:latin typeface="Courier New" panose="02070309020205020404"/>
                          <a:ea typeface="Cambria" panose="02040503050406030204"/>
                        </a:rPr>
                        <a:t> message à transmettre sur ttyS0 &gt; /</a:t>
                      </a:r>
                      <a:r>
                        <a:rPr lang="fr-FR" sz="2100" dirty="0" err="1">
                          <a:latin typeface="Courier New" panose="02070309020205020404"/>
                          <a:ea typeface="Cambria" panose="02040503050406030204"/>
                        </a:rPr>
                        <a:t>dev</a:t>
                      </a:r>
                      <a:r>
                        <a:rPr lang="fr-FR" sz="2100" dirty="0">
                          <a:latin typeface="Courier New" panose="02070309020205020404"/>
                          <a:ea typeface="Cambria" panose="02040503050406030204"/>
                        </a:rPr>
                        <a:t>/ttyS0</a:t>
                      </a:r>
                      <a:endParaRPr lang="fr-FR" sz="2100" dirty="0">
                        <a:latin typeface="Times New Roman" panose="02020603050405020304"/>
                        <a:ea typeface="Cambria" panose="02040503050406030204"/>
                      </a:endParaRPr>
                    </a:p>
                  </a:txBody>
                  <a:tcPr marL="60368" marR="603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9" name="Tableau 8"/>
          <p:cNvGraphicFramePr>
            <a:graphicFrameLocks noGrp="1"/>
          </p:cNvGraphicFramePr>
          <p:nvPr/>
        </p:nvGraphicFramePr>
        <p:xfrm>
          <a:off x="2135560" y="2996952"/>
          <a:ext cx="8352928" cy="1219200"/>
        </p:xfrm>
        <a:graphic>
          <a:graphicData uri="http://schemas.openxmlformats.org/drawingml/2006/table">
            <a:tbl>
              <a:tblPr/>
              <a:tblGrid>
                <a:gridCol w="8352928"/>
              </a:tblGrid>
              <a:tr h="402450">
                <a:tc>
                  <a:txBody>
                    <a:bodyPr/>
                    <a:lstStyle/>
                    <a:p>
                      <a:pPr>
                        <a:spcBef>
                          <a:spcPts val="600"/>
                        </a:spcBef>
                        <a:spcAft>
                          <a:spcPts val="0"/>
                        </a:spcAft>
                      </a:pPr>
                      <a:r>
                        <a:rPr lang="fr-FR" sz="2000" dirty="0">
                          <a:latin typeface="Courier New" panose="02070309020205020404"/>
                          <a:ea typeface="Cambria" panose="02040503050406030204"/>
                        </a:rPr>
                        <a:t># cat &lt; /</a:t>
                      </a:r>
                      <a:r>
                        <a:rPr lang="fr-FR" sz="2000" dirty="0" err="1">
                          <a:latin typeface="Courier New" panose="02070309020205020404"/>
                          <a:ea typeface="Cambria" panose="02040503050406030204"/>
                        </a:rPr>
                        <a:t>dev</a:t>
                      </a:r>
                      <a:r>
                        <a:rPr lang="fr-FR" sz="2000" dirty="0">
                          <a:latin typeface="Courier New" panose="02070309020205020404"/>
                          <a:ea typeface="Cambria" panose="02040503050406030204"/>
                        </a:rPr>
                        <a:t>/ttyS0</a:t>
                      </a:r>
                      <a:endParaRPr lang="fr-FR" sz="2000" dirty="0">
                        <a:latin typeface="Times New Roman" panose="02020603050405020304"/>
                        <a:ea typeface="Cambria" panose="02040503050406030204"/>
                      </a:endParaRPr>
                    </a:p>
                    <a:p>
                      <a:pPr>
                        <a:spcAft>
                          <a:spcPts val="0"/>
                        </a:spcAft>
                      </a:pPr>
                      <a:r>
                        <a:rPr lang="fr-FR" sz="2000" dirty="0">
                          <a:latin typeface="Courier New" panose="02070309020205020404"/>
                          <a:ea typeface="Cambria" panose="02040503050406030204"/>
                        </a:rPr>
                        <a:t># </a:t>
                      </a:r>
                      <a:r>
                        <a:rPr lang="fr-FR" sz="2000" dirty="0" smtClean="0">
                          <a:latin typeface="Courier New" panose="02070309020205020404"/>
                          <a:ea typeface="Cambria" panose="02040503050406030204"/>
                        </a:rPr>
                        <a:t>reçu sur le </a:t>
                      </a:r>
                      <a:r>
                        <a:rPr lang="fr-FR" sz="2000" dirty="0">
                          <a:latin typeface="Courier New" panose="02070309020205020404"/>
                          <a:ea typeface="Cambria" panose="02040503050406030204"/>
                        </a:rPr>
                        <a:t>port série ttyS0 (appuyez sur Ctrl+C pour terminer)</a:t>
                      </a:r>
                      <a:endParaRPr lang="fr-FR" sz="2000" dirty="0">
                        <a:latin typeface="Times New Roman" panose="02020603050405020304"/>
                        <a:ea typeface="Cambria" panose="02040503050406030204"/>
                      </a:endParaRPr>
                    </a:p>
                    <a:p>
                      <a:pPr>
                        <a:spcAft>
                          <a:spcPts val="0"/>
                        </a:spcAft>
                      </a:pPr>
                      <a:r>
                        <a:rPr lang="fr-FR" sz="2000" dirty="0">
                          <a:latin typeface="Courier New" panose="02070309020205020404"/>
                          <a:ea typeface="Cambria" panose="02040503050406030204"/>
                        </a:rPr>
                        <a:t># Ctrl+C	</a:t>
                      </a:r>
                      <a:endParaRPr lang="fr-FR" sz="2000" dirty="0">
                        <a:latin typeface="Times New Roman" panose="02020603050405020304"/>
                        <a:ea typeface="Cambria" panose="02040503050406030204"/>
                      </a:endParaRPr>
                    </a:p>
                  </a:txBody>
                  <a:tcPr marL="60368" marR="603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10" name="Image 9"/>
          <p:cNvPicPr/>
          <p:nvPr/>
        </p:nvPicPr>
        <p:blipFill>
          <a:blip r:embed="rId4" cstate="print">
            <a:clrChange>
              <a:clrFrom>
                <a:srgbClr val="FFFFFF"/>
              </a:clrFrom>
              <a:clrTo>
                <a:srgbClr val="FFFFFF">
                  <a:alpha val="0"/>
                </a:srgbClr>
              </a:clrTo>
            </a:clrChange>
          </a:blip>
          <a:srcRect/>
          <a:stretch>
            <a:fillRect/>
          </a:stretch>
        </p:blipFill>
        <p:spPr bwMode="auto">
          <a:xfrm>
            <a:off x="1919536" y="4509120"/>
            <a:ext cx="2880320" cy="2160240"/>
          </a:xfrm>
          <a:prstGeom prst="rect">
            <a:avLst/>
          </a:prstGeom>
          <a:noFill/>
          <a:ln w="9525">
            <a:noFill/>
            <a:miter lim="800000"/>
            <a:headEnd/>
            <a:tailEnd/>
          </a:ln>
        </p:spPr>
      </p:pic>
      <p:graphicFrame>
        <p:nvGraphicFramePr>
          <p:cNvPr id="11" name="Tableau 10"/>
          <p:cNvGraphicFramePr>
            <a:graphicFrameLocks noGrp="1"/>
          </p:cNvGraphicFramePr>
          <p:nvPr/>
        </p:nvGraphicFramePr>
        <p:xfrm>
          <a:off x="4871864" y="5117936"/>
          <a:ext cx="5724128" cy="975360"/>
        </p:xfrm>
        <a:graphic>
          <a:graphicData uri="http://schemas.openxmlformats.org/drawingml/2006/table">
            <a:tbl>
              <a:tblPr/>
              <a:tblGrid>
                <a:gridCol w="5724128"/>
              </a:tblGrid>
              <a:tr h="138430">
                <a:tc>
                  <a:txBody>
                    <a:bodyPr/>
                    <a:lstStyle/>
                    <a:p>
                      <a:pPr>
                        <a:spcBef>
                          <a:spcPts val="600"/>
                        </a:spcBef>
                        <a:spcAft>
                          <a:spcPts val="0"/>
                        </a:spcAft>
                      </a:pPr>
                      <a:r>
                        <a:rPr lang="fr-FR" sz="1600" b="1" dirty="0" smtClean="0">
                          <a:latin typeface="Courier New" panose="02070309020205020404"/>
                          <a:ea typeface="Cambria" panose="02040503050406030204"/>
                          <a:cs typeface="Times New Roman" panose="02020603050405020304"/>
                        </a:rPr>
                        <a:t>#</a:t>
                      </a:r>
                      <a:r>
                        <a:rPr lang="fr-FR" sz="1600" dirty="0" smtClean="0">
                          <a:latin typeface="Courier New" panose="02070309020205020404"/>
                          <a:ea typeface="Cambria" panose="02040503050406030204"/>
                          <a:cs typeface="Times New Roman" panose="02020603050405020304"/>
                        </a:rPr>
                        <a:t> </a:t>
                      </a:r>
                      <a:r>
                        <a:rPr lang="fr-FR" sz="1600" dirty="0" err="1">
                          <a:latin typeface="Courier New" panose="02070309020205020404"/>
                          <a:ea typeface="Cambria" panose="02040503050406030204"/>
                          <a:cs typeface="Times New Roman" panose="02020603050405020304"/>
                        </a:rPr>
                        <a:t>echo</a:t>
                      </a:r>
                      <a:r>
                        <a:rPr lang="fr-FR" sz="1600" dirty="0">
                          <a:latin typeface="Courier New" panose="02070309020205020404"/>
                          <a:ea typeface="Cambria" panose="02040503050406030204"/>
                          <a:cs typeface="Times New Roman" panose="02020603050405020304"/>
                        </a:rPr>
                        <a:t> 82 &gt; /</a:t>
                      </a:r>
                      <a:r>
                        <a:rPr lang="fr-FR" sz="1600" dirty="0" err="1">
                          <a:latin typeface="Courier New" panose="02070309020205020404"/>
                          <a:ea typeface="Cambria" panose="02040503050406030204"/>
                          <a:cs typeface="Times New Roman" panose="02020603050405020304"/>
                        </a:rPr>
                        <a:t>sys</a:t>
                      </a:r>
                      <a:r>
                        <a:rPr lang="fr-FR" sz="1600" dirty="0">
                          <a:latin typeface="Courier New" panose="02070309020205020404"/>
                          <a:ea typeface="Cambria" panose="02040503050406030204"/>
                          <a:cs typeface="Times New Roman" panose="02020603050405020304"/>
                        </a:rPr>
                        <a:t>/class/</a:t>
                      </a:r>
                      <a:r>
                        <a:rPr lang="fr-FR" sz="1600" dirty="0" err="1">
                          <a:latin typeface="Courier New" panose="02070309020205020404"/>
                          <a:ea typeface="Cambria" panose="02040503050406030204"/>
                          <a:cs typeface="Times New Roman" panose="02020603050405020304"/>
                        </a:rPr>
                        <a:t>gpio</a:t>
                      </a:r>
                      <a:r>
                        <a:rPr lang="fr-FR" sz="1600" dirty="0">
                          <a:latin typeface="Courier New" panose="02070309020205020404"/>
                          <a:ea typeface="Cambria" panose="02040503050406030204"/>
                          <a:cs typeface="Times New Roman" panose="02020603050405020304"/>
                        </a:rPr>
                        <a:t>/export</a:t>
                      </a:r>
                      <a:endParaRPr lang="fr-FR" sz="1600" dirty="0">
                        <a:latin typeface="Arial" panose="020B0604020202020204"/>
                        <a:ea typeface="Cambria" panose="02040503050406030204"/>
                        <a:cs typeface="Times New Roman" panose="02020603050405020304"/>
                      </a:endParaRPr>
                    </a:p>
                    <a:p>
                      <a:pPr>
                        <a:spcAft>
                          <a:spcPts val="0"/>
                        </a:spcAft>
                      </a:pPr>
                      <a:r>
                        <a:rPr lang="fr-FR" sz="1600" b="1" dirty="0" smtClean="0">
                          <a:latin typeface="Courier New" panose="02070309020205020404"/>
                          <a:ea typeface="Cambria" panose="02040503050406030204"/>
                          <a:cs typeface="Times New Roman" panose="02020603050405020304"/>
                        </a:rPr>
                        <a:t>#</a:t>
                      </a:r>
                      <a:r>
                        <a:rPr lang="fr-FR" sz="1600" dirty="0" smtClean="0">
                          <a:latin typeface="Courier New" panose="02070309020205020404"/>
                          <a:ea typeface="Cambria" panose="02040503050406030204"/>
                          <a:cs typeface="Times New Roman" panose="02020603050405020304"/>
                        </a:rPr>
                        <a:t> </a:t>
                      </a:r>
                      <a:r>
                        <a:rPr lang="fr-FR" sz="1600" dirty="0" err="1">
                          <a:latin typeface="Courier New" panose="02070309020205020404"/>
                          <a:ea typeface="Cambria" panose="02040503050406030204"/>
                          <a:cs typeface="Times New Roman" panose="02020603050405020304"/>
                        </a:rPr>
                        <a:t>echo</a:t>
                      </a:r>
                      <a:r>
                        <a:rPr lang="fr-FR" sz="1600" dirty="0">
                          <a:latin typeface="Courier New" panose="02070309020205020404"/>
                          <a:ea typeface="Cambria" panose="02040503050406030204"/>
                          <a:cs typeface="Times New Roman" panose="02020603050405020304"/>
                        </a:rPr>
                        <a:t> out &gt; </a:t>
                      </a:r>
                      <a:r>
                        <a:rPr lang="fr-FR" sz="1600" dirty="0" smtClean="0">
                          <a:latin typeface="Courier New" panose="02070309020205020404"/>
                          <a:ea typeface="Cambria" panose="02040503050406030204"/>
                          <a:cs typeface="Times New Roman" panose="02020603050405020304"/>
                        </a:rPr>
                        <a:t>/</a:t>
                      </a:r>
                      <a:r>
                        <a:rPr lang="fr-FR" sz="1600" dirty="0" err="1" smtClean="0">
                          <a:latin typeface="Courier New" panose="02070309020205020404"/>
                          <a:ea typeface="Cambria" panose="02040503050406030204"/>
                          <a:cs typeface="Times New Roman" panose="02020603050405020304"/>
                        </a:rPr>
                        <a:t>sys</a:t>
                      </a:r>
                      <a:r>
                        <a:rPr lang="fr-FR" sz="1600" dirty="0" smtClean="0">
                          <a:latin typeface="Courier New" panose="02070309020205020404"/>
                          <a:ea typeface="Cambria" panose="02040503050406030204"/>
                          <a:cs typeface="Times New Roman" panose="02020603050405020304"/>
                        </a:rPr>
                        <a:t>/class/</a:t>
                      </a:r>
                      <a:r>
                        <a:rPr lang="fr-FR" sz="1600" dirty="0" err="1" smtClean="0">
                          <a:latin typeface="Courier New" panose="02070309020205020404"/>
                          <a:ea typeface="Cambria" panose="02040503050406030204"/>
                          <a:cs typeface="Times New Roman" panose="02020603050405020304"/>
                        </a:rPr>
                        <a:t>gpio</a:t>
                      </a:r>
                      <a:r>
                        <a:rPr lang="fr-FR" sz="1600" dirty="0" smtClean="0">
                          <a:latin typeface="Courier New" panose="02070309020205020404"/>
                          <a:ea typeface="Cambria" panose="02040503050406030204"/>
                          <a:cs typeface="Times New Roman" panose="02020603050405020304"/>
                        </a:rPr>
                        <a:t>/gpio82/direction</a:t>
                      </a:r>
                      <a:endParaRPr lang="fr-FR" sz="1600" dirty="0">
                        <a:latin typeface="Arial" panose="020B0604020202020204"/>
                        <a:ea typeface="Cambria" panose="02040503050406030204"/>
                        <a:cs typeface="Times New Roman" panose="02020603050405020304"/>
                      </a:endParaRPr>
                    </a:p>
                    <a:p>
                      <a:pPr>
                        <a:spcAft>
                          <a:spcPts val="0"/>
                        </a:spcAft>
                      </a:pPr>
                      <a:r>
                        <a:rPr lang="fr-FR" sz="1600" b="1" dirty="0" smtClean="0">
                          <a:latin typeface="Courier New" panose="02070309020205020404"/>
                          <a:ea typeface="Cambria" panose="02040503050406030204"/>
                          <a:cs typeface="Times New Roman" panose="02020603050405020304"/>
                        </a:rPr>
                        <a:t>#</a:t>
                      </a:r>
                      <a:r>
                        <a:rPr lang="fr-FR" sz="1600" dirty="0" smtClean="0">
                          <a:latin typeface="Courier New" panose="02070309020205020404"/>
                          <a:ea typeface="Cambria" panose="02040503050406030204"/>
                          <a:cs typeface="Times New Roman" panose="02020603050405020304"/>
                        </a:rPr>
                        <a:t> </a:t>
                      </a:r>
                      <a:r>
                        <a:rPr lang="fr-FR" sz="1600" dirty="0" err="1">
                          <a:latin typeface="Courier New" panose="02070309020205020404"/>
                          <a:ea typeface="Cambria" panose="02040503050406030204"/>
                          <a:cs typeface="Times New Roman" panose="02020603050405020304"/>
                        </a:rPr>
                        <a:t>echo</a:t>
                      </a:r>
                      <a:r>
                        <a:rPr lang="fr-FR" sz="1600" dirty="0">
                          <a:latin typeface="Courier New" panose="02070309020205020404"/>
                          <a:ea typeface="Cambria" panose="02040503050406030204"/>
                          <a:cs typeface="Times New Roman" panose="02020603050405020304"/>
                        </a:rPr>
                        <a:t> 1 &gt; /</a:t>
                      </a:r>
                      <a:r>
                        <a:rPr lang="fr-FR" sz="1600" dirty="0" err="1">
                          <a:latin typeface="Courier New" panose="02070309020205020404"/>
                          <a:ea typeface="Cambria" panose="02040503050406030204"/>
                          <a:cs typeface="Times New Roman" panose="02020603050405020304"/>
                        </a:rPr>
                        <a:t>sys</a:t>
                      </a:r>
                      <a:r>
                        <a:rPr lang="fr-FR" sz="1600" dirty="0">
                          <a:latin typeface="Courier New" panose="02070309020205020404"/>
                          <a:ea typeface="Cambria" panose="02040503050406030204"/>
                          <a:cs typeface="Times New Roman" panose="02020603050405020304"/>
                        </a:rPr>
                        <a:t>/class/</a:t>
                      </a:r>
                      <a:r>
                        <a:rPr lang="fr-FR" sz="1600" dirty="0" err="1">
                          <a:latin typeface="Courier New" panose="02070309020205020404"/>
                          <a:ea typeface="Cambria" panose="02040503050406030204"/>
                          <a:cs typeface="Times New Roman" panose="02020603050405020304"/>
                        </a:rPr>
                        <a:t>gpio</a:t>
                      </a:r>
                      <a:r>
                        <a:rPr lang="fr-FR" sz="1600" dirty="0">
                          <a:latin typeface="Courier New" panose="02070309020205020404"/>
                          <a:ea typeface="Cambria" panose="02040503050406030204"/>
                          <a:cs typeface="Times New Roman" panose="02020603050405020304"/>
                        </a:rPr>
                        <a:t>/gpio82/value </a:t>
                      </a:r>
                      <a:endParaRPr lang="fr-FR" sz="1600" dirty="0">
                        <a:latin typeface="Arial" panose="020B0604020202020204"/>
                        <a:ea typeface="Cambria" panose="02040503050406030204"/>
                        <a:cs typeface="Times New Roman" panose="02020603050405020304"/>
                      </a:endParaRPr>
                    </a:p>
                    <a:p>
                      <a:pPr>
                        <a:spcAft>
                          <a:spcPts val="600"/>
                        </a:spcAft>
                      </a:pPr>
                      <a:r>
                        <a:rPr lang="fr-FR" sz="1600" b="1" dirty="0" smtClean="0">
                          <a:latin typeface="Courier New" panose="02070309020205020404"/>
                          <a:ea typeface="Cambria" panose="02040503050406030204"/>
                          <a:cs typeface="Times New Roman" panose="02020603050405020304"/>
                        </a:rPr>
                        <a:t>#</a:t>
                      </a:r>
                      <a:r>
                        <a:rPr lang="fr-FR" sz="1600" dirty="0" smtClean="0">
                          <a:latin typeface="Courier New" panose="02070309020205020404"/>
                          <a:ea typeface="Cambria" panose="02040503050406030204"/>
                          <a:cs typeface="Times New Roman" panose="02020603050405020304"/>
                        </a:rPr>
                        <a:t> </a:t>
                      </a:r>
                      <a:r>
                        <a:rPr lang="fr-FR" sz="1600" dirty="0" err="1">
                          <a:latin typeface="Courier New" panose="02070309020205020404"/>
                          <a:ea typeface="Cambria" panose="02040503050406030204"/>
                          <a:cs typeface="Times New Roman" panose="02020603050405020304"/>
                        </a:rPr>
                        <a:t>echo</a:t>
                      </a:r>
                      <a:r>
                        <a:rPr lang="fr-FR" sz="1600" dirty="0">
                          <a:latin typeface="Courier New" panose="02070309020205020404"/>
                          <a:ea typeface="Cambria" panose="02040503050406030204"/>
                          <a:cs typeface="Times New Roman" panose="02020603050405020304"/>
                        </a:rPr>
                        <a:t> 0 &gt; /</a:t>
                      </a:r>
                      <a:r>
                        <a:rPr lang="fr-FR" sz="1600" dirty="0" err="1">
                          <a:latin typeface="Courier New" panose="02070309020205020404"/>
                          <a:ea typeface="Cambria" panose="02040503050406030204"/>
                          <a:cs typeface="Times New Roman" panose="02020603050405020304"/>
                        </a:rPr>
                        <a:t>sys</a:t>
                      </a:r>
                      <a:r>
                        <a:rPr lang="fr-FR" sz="1600" dirty="0">
                          <a:latin typeface="Courier New" panose="02070309020205020404"/>
                          <a:ea typeface="Cambria" panose="02040503050406030204"/>
                          <a:cs typeface="Times New Roman" panose="02020603050405020304"/>
                        </a:rPr>
                        <a:t>/class/</a:t>
                      </a:r>
                      <a:r>
                        <a:rPr lang="fr-FR" sz="1600" dirty="0" err="1">
                          <a:latin typeface="Courier New" panose="02070309020205020404"/>
                          <a:ea typeface="Cambria" panose="02040503050406030204"/>
                          <a:cs typeface="Times New Roman" panose="02020603050405020304"/>
                        </a:rPr>
                        <a:t>gpio</a:t>
                      </a:r>
                      <a:r>
                        <a:rPr lang="fr-FR" sz="1600" dirty="0">
                          <a:latin typeface="Courier New" panose="02070309020205020404"/>
                          <a:ea typeface="Cambria" panose="02040503050406030204"/>
                          <a:cs typeface="Times New Roman" panose="02020603050405020304"/>
                        </a:rPr>
                        <a:t>/gpio82/value</a:t>
                      </a:r>
                      <a:endParaRPr lang="fr-FR" sz="1600" dirty="0">
                        <a:latin typeface="Arial" panose="020B0604020202020204"/>
                        <a:ea typeface="Cambria" panose="02040503050406030204"/>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3158281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rrondir un rectangle avec un coin diagonal 14"/>
          <p:cNvSpPr/>
          <p:nvPr/>
        </p:nvSpPr>
        <p:spPr>
          <a:xfrm>
            <a:off x="2207568" y="1052736"/>
            <a:ext cx="8245424" cy="1368152"/>
          </a:xfrm>
          <a:prstGeom prst="round2DiagRect">
            <a:avLst/>
          </a:prstGeom>
          <a:gradFill flip="none" rotWithShape="1">
            <a:gsLst>
              <a:gs pos="0">
                <a:srgbClr val="5E9EFF"/>
              </a:gs>
              <a:gs pos="39999">
                <a:srgbClr val="85C2FF"/>
              </a:gs>
              <a:gs pos="60000">
                <a:srgbClr val="C4D6EB"/>
              </a:gs>
              <a:gs pos="100000">
                <a:schemeClr val="accent1">
                  <a:lumMod val="40000"/>
                  <a:lumOff val="60000"/>
                </a:schemeClr>
              </a:gs>
            </a:gsLst>
            <a:lin ang="13500000" scaled="1"/>
            <a:tileRect/>
          </a:gradFill>
          <a:ln>
            <a:noFill/>
          </a:ln>
          <a:effectLst/>
          <a:scene3d>
            <a:camera prst="orthographicFront"/>
            <a:lightRig rig="threePt" dir="t"/>
          </a:scene3d>
          <a:sp3d>
            <a:bevelT w="19050" h="50800"/>
          </a:sp3d>
        </p:spPr>
        <p:style>
          <a:lnRef idx="2">
            <a:schemeClr val="accent1">
              <a:shade val="50000"/>
            </a:schemeClr>
          </a:lnRef>
          <a:fillRef idx="1">
            <a:schemeClr val="accent1"/>
          </a:fillRef>
          <a:effectRef idx="0">
            <a:schemeClr val="accent1"/>
          </a:effectRef>
          <a:fontRef idx="minor">
            <a:schemeClr val="lt1"/>
          </a:fontRef>
        </p:style>
        <p:txBody>
          <a:bodyPr/>
          <a:lstStyle/>
          <a:p>
            <a:pPr lvl="1">
              <a:defRPr/>
            </a:pPr>
            <a:endParaRPr lang="fr-FR" i="1" dirty="0">
              <a:solidFill>
                <a:schemeClr val="tx2"/>
              </a:solidFill>
            </a:endParaRPr>
          </a:p>
          <a:p>
            <a:pPr>
              <a:buBlip>
                <a:blip r:embed="rId3"/>
              </a:buBlip>
              <a:defRPr/>
            </a:pPr>
            <a:endParaRPr lang="fr-FR" i="1" dirty="0">
              <a:solidFill>
                <a:schemeClr val="tx2"/>
              </a:solidFill>
            </a:endParaRPr>
          </a:p>
        </p:txBody>
      </p:sp>
      <p:sp>
        <p:nvSpPr>
          <p:cNvPr id="5" name="Espace réservé du contenu 1"/>
          <p:cNvSpPr txBox="1"/>
          <p:nvPr/>
        </p:nvSpPr>
        <p:spPr>
          <a:xfrm>
            <a:off x="1883024" y="1196752"/>
            <a:ext cx="8784976" cy="1656184"/>
          </a:xfrm>
          <a:prstGeom prst="rect">
            <a:avLst/>
          </a:prstGeom>
        </p:spPr>
        <p:txBody>
          <a:bodyPr>
            <a:normAutofit/>
          </a:bodyPr>
          <a:lstStyle/>
          <a:p>
            <a:pPr marL="342900" indent="-342900" algn="ctr">
              <a:spcBef>
                <a:spcPct val="20000"/>
              </a:spcBef>
              <a:defRPr/>
            </a:pPr>
            <a:r>
              <a:rPr lang="fr-FR" sz="3200" dirty="0"/>
              <a:t>Le système de fichier</a:t>
            </a:r>
          </a:p>
          <a:p>
            <a:pPr marL="742950" lvl="1" indent="-285750">
              <a:spcBef>
                <a:spcPct val="20000"/>
              </a:spcBef>
              <a:buFont typeface="Arial" panose="020B0604020202020204" pitchFamily="34" charset="0"/>
              <a:buChar char="•"/>
              <a:defRPr/>
            </a:pPr>
            <a:r>
              <a:rPr lang="fr-FR" sz="2800" dirty="0"/>
              <a:t>Organisation</a:t>
            </a:r>
          </a:p>
        </p:txBody>
      </p:sp>
      <p:sp>
        <p:nvSpPr>
          <p:cNvPr id="12" name="ZoneTexte 11"/>
          <p:cNvSpPr txBox="1"/>
          <p:nvPr/>
        </p:nvSpPr>
        <p:spPr>
          <a:xfrm>
            <a:off x="2279577" y="2996952"/>
            <a:ext cx="8255017" cy="3416320"/>
          </a:xfrm>
          <a:prstGeom prst="rect">
            <a:avLst/>
          </a:prstGeom>
          <a:noFill/>
        </p:spPr>
        <p:txBody>
          <a:bodyPr wrap="none" rtlCol="0">
            <a:spAutoFit/>
          </a:bodyPr>
          <a:lstStyle/>
          <a:p>
            <a:r>
              <a:rPr lang="fr-FR" sz="2400" dirty="0"/>
              <a:t>Système de fichiers = type de formatage appliqué à une partition</a:t>
            </a:r>
          </a:p>
          <a:p>
            <a:endParaRPr lang="fr-FR" sz="2400" dirty="0"/>
          </a:p>
          <a:p>
            <a:r>
              <a:rPr lang="fr-FR" sz="2400" dirty="0"/>
              <a:t>Linux = système de fichiers organisé à partir </a:t>
            </a:r>
          </a:p>
          <a:p>
            <a:pPr>
              <a:tabLst>
                <a:tab pos="899795" algn="l"/>
              </a:tabLst>
            </a:pPr>
            <a:r>
              <a:rPr lang="fr-FR" sz="2400" dirty="0"/>
              <a:t>	d'une arborescence unique</a:t>
            </a:r>
          </a:p>
          <a:p>
            <a:pPr>
              <a:tabLst>
                <a:tab pos="899795" algn="l"/>
              </a:tabLst>
            </a:pPr>
            <a:endParaRPr lang="fr-FR" sz="2400" dirty="0"/>
          </a:p>
          <a:p>
            <a:pPr>
              <a:tabLst>
                <a:tab pos="899795" algn="l"/>
              </a:tabLst>
            </a:pPr>
            <a:r>
              <a:rPr lang="fr-FR" sz="2400" dirty="0"/>
              <a:t>Compatible avec la plupart des systèmes de fichiers existant </a:t>
            </a:r>
          </a:p>
          <a:p>
            <a:pPr>
              <a:tabLst>
                <a:tab pos="899795" algn="l"/>
              </a:tabLst>
            </a:pPr>
            <a:r>
              <a:rPr lang="fr-FR" sz="2400" dirty="0"/>
              <a:t>(FAT, FAT 32 ou NTFS de Microsoft, …)</a:t>
            </a:r>
          </a:p>
          <a:p>
            <a:pPr>
              <a:tabLst>
                <a:tab pos="899795" algn="l"/>
              </a:tabLst>
            </a:pPr>
            <a:endParaRPr lang="fr-FR" sz="2400" dirty="0"/>
          </a:p>
          <a:p>
            <a:pPr>
              <a:tabLst>
                <a:tab pos="899795" algn="l"/>
              </a:tabLst>
            </a:pPr>
            <a:r>
              <a:rPr lang="fr-FR" sz="2400" b="1" dirty="0"/>
              <a:t>Système de fichier généralement utilisé sous linux est </a:t>
            </a:r>
            <a:r>
              <a:rPr lang="fr-FR" sz="2400" b="1" i="1" dirty="0"/>
              <a:t>ext4</a:t>
            </a:r>
            <a:r>
              <a:rPr lang="fr-FR" sz="2400" b="1" dirty="0"/>
              <a:t> </a:t>
            </a:r>
          </a:p>
        </p:txBody>
      </p:sp>
    </p:spTree>
    <p:extLst>
      <p:ext uri="{BB962C8B-B14F-4D97-AF65-F5344CB8AC3E}">
        <p14:creationId xmlns:p14="http://schemas.microsoft.com/office/powerpoint/2010/main" val="8756387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rrondir un rectangle avec un coin diagonal 14"/>
          <p:cNvSpPr/>
          <p:nvPr/>
        </p:nvSpPr>
        <p:spPr>
          <a:xfrm>
            <a:off x="2207568" y="1052736"/>
            <a:ext cx="8245424" cy="1368152"/>
          </a:xfrm>
          <a:prstGeom prst="round2DiagRect">
            <a:avLst/>
          </a:prstGeom>
          <a:gradFill flip="none" rotWithShape="1">
            <a:gsLst>
              <a:gs pos="0">
                <a:srgbClr val="5E9EFF"/>
              </a:gs>
              <a:gs pos="39999">
                <a:srgbClr val="85C2FF"/>
              </a:gs>
              <a:gs pos="60000">
                <a:srgbClr val="C4D6EB"/>
              </a:gs>
              <a:gs pos="100000">
                <a:schemeClr val="accent1">
                  <a:lumMod val="40000"/>
                  <a:lumOff val="60000"/>
                </a:schemeClr>
              </a:gs>
            </a:gsLst>
            <a:lin ang="13500000" scaled="1"/>
            <a:tileRect/>
          </a:gradFill>
          <a:ln>
            <a:noFill/>
          </a:ln>
          <a:effectLst/>
          <a:scene3d>
            <a:camera prst="orthographicFront"/>
            <a:lightRig rig="threePt" dir="t"/>
          </a:scene3d>
          <a:sp3d>
            <a:bevelT w="19050" h="50800"/>
          </a:sp3d>
        </p:spPr>
        <p:style>
          <a:lnRef idx="2">
            <a:schemeClr val="accent1">
              <a:shade val="50000"/>
            </a:schemeClr>
          </a:lnRef>
          <a:fillRef idx="1">
            <a:schemeClr val="accent1"/>
          </a:fillRef>
          <a:effectRef idx="0">
            <a:schemeClr val="accent1"/>
          </a:effectRef>
          <a:fontRef idx="minor">
            <a:schemeClr val="lt1"/>
          </a:fontRef>
        </p:style>
        <p:txBody>
          <a:bodyPr/>
          <a:lstStyle/>
          <a:p>
            <a:pPr lvl="1">
              <a:defRPr/>
            </a:pPr>
            <a:endParaRPr lang="fr-FR" i="1" dirty="0">
              <a:solidFill>
                <a:schemeClr val="tx2"/>
              </a:solidFill>
            </a:endParaRPr>
          </a:p>
          <a:p>
            <a:pPr>
              <a:buBlip>
                <a:blip r:embed="rId3"/>
              </a:buBlip>
              <a:defRPr/>
            </a:pPr>
            <a:endParaRPr lang="fr-FR" i="1" dirty="0">
              <a:solidFill>
                <a:schemeClr val="tx2"/>
              </a:solidFill>
            </a:endParaRPr>
          </a:p>
        </p:txBody>
      </p:sp>
      <p:sp>
        <p:nvSpPr>
          <p:cNvPr id="5" name="Espace réservé du contenu 1"/>
          <p:cNvSpPr txBox="1"/>
          <p:nvPr/>
        </p:nvSpPr>
        <p:spPr>
          <a:xfrm>
            <a:off x="1883024" y="1196752"/>
            <a:ext cx="8784976" cy="1656184"/>
          </a:xfrm>
          <a:prstGeom prst="rect">
            <a:avLst/>
          </a:prstGeom>
        </p:spPr>
        <p:txBody>
          <a:bodyPr>
            <a:normAutofit/>
          </a:bodyPr>
          <a:lstStyle/>
          <a:p>
            <a:pPr marL="342900" indent="-342900" algn="ctr">
              <a:spcBef>
                <a:spcPct val="20000"/>
              </a:spcBef>
              <a:defRPr/>
            </a:pPr>
            <a:r>
              <a:rPr lang="fr-FR" sz="3200" dirty="0"/>
              <a:t>Le système de fichier</a:t>
            </a:r>
          </a:p>
          <a:p>
            <a:pPr marL="742950" lvl="1" indent="-285750">
              <a:spcBef>
                <a:spcPct val="20000"/>
              </a:spcBef>
              <a:buFont typeface="Arial" panose="020B0604020202020204" pitchFamily="34" charset="0"/>
              <a:buChar char="•"/>
              <a:defRPr/>
            </a:pPr>
            <a:r>
              <a:rPr lang="fr-FR" sz="2800" dirty="0"/>
              <a:t>Les droits d’accès</a:t>
            </a:r>
          </a:p>
        </p:txBody>
      </p:sp>
      <p:sp>
        <p:nvSpPr>
          <p:cNvPr id="9" name="Rectangle 8"/>
          <p:cNvSpPr/>
          <p:nvPr/>
        </p:nvSpPr>
        <p:spPr>
          <a:xfrm>
            <a:off x="2207568" y="2564905"/>
            <a:ext cx="8208912" cy="3477875"/>
          </a:xfrm>
          <a:prstGeom prst="rect">
            <a:avLst/>
          </a:prstGeom>
        </p:spPr>
        <p:txBody>
          <a:bodyPr wrap="square">
            <a:spAutoFit/>
          </a:bodyPr>
          <a:lstStyle/>
          <a:p>
            <a:r>
              <a:rPr lang="fr-FR" sz="2000" b="1" dirty="0"/>
              <a:t>Un fichier, comme un dossier, possède trois séries de droits d’accès :</a:t>
            </a:r>
          </a:p>
          <a:p>
            <a:endParaRPr lang="fr-FR" sz="2000" dirty="0"/>
          </a:p>
          <a:p>
            <a:pPr marL="630555" indent="-269875">
              <a:buFont typeface="Arial" panose="020B0604020202020204" pitchFamily="34" charset="0"/>
              <a:buChar char="•"/>
            </a:pPr>
            <a:r>
              <a:rPr lang="fr-FR" sz="2000" dirty="0"/>
              <a:t>Ceux du propriétaire,</a:t>
            </a:r>
          </a:p>
          <a:p>
            <a:pPr marL="630555" indent="-269875">
              <a:buFont typeface="Arial" panose="020B0604020202020204" pitchFamily="34" charset="0"/>
              <a:buChar char="•"/>
            </a:pPr>
            <a:r>
              <a:rPr lang="fr-FR" sz="2000" dirty="0"/>
              <a:t>Ceux du groupe,</a:t>
            </a:r>
          </a:p>
          <a:p>
            <a:pPr marL="630555" indent="-269875">
              <a:buFont typeface="Arial" panose="020B0604020202020204" pitchFamily="34" charset="0"/>
              <a:buChar char="•"/>
            </a:pPr>
            <a:r>
              <a:rPr lang="fr-FR" sz="2000" dirty="0"/>
              <a:t>Ceux de tous les utilisateurs.</a:t>
            </a:r>
          </a:p>
          <a:p>
            <a:pPr marL="630555" indent="-269875">
              <a:buFont typeface="Arial" panose="020B0604020202020204" pitchFamily="34" charset="0"/>
              <a:buChar char="•"/>
            </a:pPr>
            <a:endParaRPr lang="fr-FR" sz="2000" dirty="0"/>
          </a:p>
          <a:p>
            <a:r>
              <a:rPr lang="fr-FR" sz="2000" b="1" dirty="0"/>
              <a:t>Ils sont représentés par les lettres :</a:t>
            </a:r>
          </a:p>
          <a:p>
            <a:endParaRPr lang="fr-FR" sz="2000" dirty="0"/>
          </a:p>
          <a:p>
            <a:pPr marL="630555" indent="-269875">
              <a:buFont typeface="Arial" panose="020B0604020202020204" pitchFamily="34" charset="0"/>
              <a:buChar char="•"/>
            </a:pPr>
            <a:r>
              <a:rPr lang="fr-FR" sz="2000" b="1" dirty="0"/>
              <a:t>r : (</a:t>
            </a:r>
            <a:r>
              <a:rPr lang="fr-FR" sz="2000" b="1" dirty="0" err="1"/>
              <a:t>read</a:t>
            </a:r>
            <a:r>
              <a:rPr lang="fr-FR" sz="2000" b="1" dirty="0"/>
              <a:t>) </a:t>
            </a:r>
            <a:r>
              <a:rPr lang="fr-FR" sz="2000" dirty="0"/>
              <a:t>droits d’accès en lecture</a:t>
            </a:r>
          </a:p>
          <a:p>
            <a:pPr marL="630555" indent="-269875">
              <a:buFont typeface="Arial" panose="020B0604020202020204" pitchFamily="34" charset="0"/>
              <a:buChar char="•"/>
            </a:pPr>
            <a:r>
              <a:rPr lang="fr-FR" sz="2000" b="1" dirty="0"/>
              <a:t>w : (</a:t>
            </a:r>
            <a:r>
              <a:rPr lang="fr-FR" sz="2000" b="1" dirty="0" err="1"/>
              <a:t>write</a:t>
            </a:r>
            <a:r>
              <a:rPr lang="fr-FR" sz="2000" b="1" dirty="0"/>
              <a:t>) </a:t>
            </a:r>
            <a:r>
              <a:rPr lang="fr-FR" sz="2000" dirty="0"/>
              <a:t>droit d’accès en écriture</a:t>
            </a:r>
          </a:p>
          <a:p>
            <a:pPr marL="630555" indent="-269875">
              <a:buFont typeface="Arial" panose="020B0604020202020204" pitchFamily="34" charset="0"/>
              <a:buChar char="•"/>
            </a:pPr>
            <a:r>
              <a:rPr lang="fr-FR" sz="2000" b="1" dirty="0"/>
              <a:t>x : (</a:t>
            </a:r>
            <a:r>
              <a:rPr lang="fr-FR" sz="2000" b="1" dirty="0" err="1"/>
              <a:t>execution</a:t>
            </a:r>
            <a:r>
              <a:rPr lang="fr-FR" sz="2000" b="1" dirty="0"/>
              <a:t>) </a:t>
            </a:r>
            <a:r>
              <a:rPr lang="fr-FR" sz="2000" dirty="0"/>
              <a:t>droits d’accès en exécution.</a:t>
            </a:r>
          </a:p>
        </p:txBody>
      </p:sp>
    </p:spTree>
    <p:extLst>
      <p:ext uri="{BB962C8B-B14F-4D97-AF65-F5344CB8AC3E}">
        <p14:creationId xmlns:p14="http://schemas.microsoft.com/office/powerpoint/2010/main" val="19190681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rrondir un rectangle avec un coin diagonal 14"/>
          <p:cNvSpPr/>
          <p:nvPr/>
        </p:nvSpPr>
        <p:spPr>
          <a:xfrm>
            <a:off x="2207568" y="1052736"/>
            <a:ext cx="8245424" cy="1368152"/>
          </a:xfrm>
          <a:prstGeom prst="round2DiagRect">
            <a:avLst/>
          </a:prstGeom>
          <a:gradFill flip="none" rotWithShape="1">
            <a:gsLst>
              <a:gs pos="0">
                <a:srgbClr val="5E9EFF"/>
              </a:gs>
              <a:gs pos="39999">
                <a:srgbClr val="85C2FF"/>
              </a:gs>
              <a:gs pos="60000">
                <a:srgbClr val="C4D6EB"/>
              </a:gs>
              <a:gs pos="100000">
                <a:schemeClr val="accent1">
                  <a:lumMod val="40000"/>
                  <a:lumOff val="60000"/>
                </a:schemeClr>
              </a:gs>
            </a:gsLst>
            <a:lin ang="13500000" scaled="1"/>
            <a:tileRect/>
          </a:gradFill>
          <a:ln>
            <a:noFill/>
          </a:ln>
          <a:effectLst/>
          <a:scene3d>
            <a:camera prst="orthographicFront"/>
            <a:lightRig rig="threePt" dir="t"/>
          </a:scene3d>
          <a:sp3d>
            <a:bevelT w="19050" h="50800"/>
          </a:sp3d>
        </p:spPr>
        <p:style>
          <a:lnRef idx="2">
            <a:schemeClr val="accent1">
              <a:shade val="50000"/>
            </a:schemeClr>
          </a:lnRef>
          <a:fillRef idx="1">
            <a:schemeClr val="accent1"/>
          </a:fillRef>
          <a:effectRef idx="0">
            <a:schemeClr val="accent1"/>
          </a:effectRef>
          <a:fontRef idx="minor">
            <a:schemeClr val="lt1"/>
          </a:fontRef>
        </p:style>
        <p:txBody>
          <a:bodyPr/>
          <a:lstStyle/>
          <a:p>
            <a:pPr lvl="1">
              <a:defRPr/>
            </a:pPr>
            <a:endParaRPr lang="fr-FR" i="1" dirty="0">
              <a:solidFill>
                <a:schemeClr val="tx2"/>
              </a:solidFill>
            </a:endParaRPr>
          </a:p>
          <a:p>
            <a:pPr>
              <a:buBlip>
                <a:blip r:embed="rId3"/>
              </a:buBlip>
              <a:defRPr/>
            </a:pPr>
            <a:endParaRPr lang="fr-FR" i="1" dirty="0">
              <a:solidFill>
                <a:schemeClr val="tx2"/>
              </a:solidFill>
            </a:endParaRPr>
          </a:p>
        </p:txBody>
      </p:sp>
      <p:sp>
        <p:nvSpPr>
          <p:cNvPr id="5" name="Espace réservé du contenu 1"/>
          <p:cNvSpPr txBox="1"/>
          <p:nvPr/>
        </p:nvSpPr>
        <p:spPr>
          <a:xfrm>
            <a:off x="1883024" y="1196752"/>
            <a:ext cx="8784976" cy="1656184"/>
          </a:xfrm>
          <a:prstGeom prst="rect">
            <a:avLst/>
          </a:prstGeom>
        </p:spPr>
        <p:txBody>
          <a:bodyPr>
            <a:normAutofit/>
          </a:bodyPr>
          <a:lstStyle/>
          <a:p>
            <a:pPr marL="342900" indent="-342900" algn="ctr">
              <a:spcBef>
                <a:spcPct val="20000"/>
              </a:spcBef>
              <a:defRPr/>
            </a:pPr>
            <a:r>
              <a:rPr lang="fr-FR" sz="3200" dirty="0"/>
              <a:t>Le système de fichier</a:t>
            </a:r>
          </a:p>
          <a:p>
            <a:pPr marL="742950" lvl="1" indent="-285750">
              <a:spcBef>
                <a:spcPct val="20000"/>
              </a:spcBef>
              <a:buFont typeface="Arial" panose="020B0604020202020204" pitchFamily="34" charset="0"/>
              <a:buChar char="•"/>
              <a:defRPr/>
            </a:pPr>
            <a:r>
              <a:rPr lang="fr-FR" sz="2800" dirty="0"/>
              <a:t>Les droits d’accès</a:t>
            </a:r>
          </a:p>
        </p:txBody>
      </p:sp>
      <p:sp>
        <p:nvSpPr>
          <p:cNvPr id="9" name="Rectangle 8"/>
          <p:cNvSpPr/>
          <p:nvPr/>
        </p:nvSpPr>
        <p:spPr>
          <a:xfrm>
            <a:off x="3071664" y="2780929"/>
            <a:ext cx="6624736" cy="3170099"/>
          </a:xfrm>
          <a:prstGeom prst="rect">
            <a:avLst/>
          </a:prstGeom>
        </p:spPr>
        <p:txBody>
          <a:bodyPr wrap="square">
            <a:spAutoFit/>
          </a:bodyPr>
          <a:lstStyle/>
          <a:p>
            <a:r>
              <a:rPr lang="fr-FR" sz="2000" dirty="0">
                <a:latin typeface="Courier New" panose="02070309020205020404" pitchFamily="49" charset="0"/>
                <a:cs typeface="Courier New" panose="02070309020205020404" pitchFamily="49" charset="0"/>
              </a:rPr>
              <a:t>Binaire ----- Droit ----- Octal </a:t>
            </a:r>
            <a:br>
              <a:rPr lang="fr-FR" sz="2000" dirty="0">
                <a:latin typeface="Courier New" panose="02070309020205020404" pitchFamily="49" charset="0"/>
                <a:cs typeface="Courier New" panose="02070309020205020404" pitchFamily="49" charset="0"/>
              </a:rPr>
            </a:br>
            <a:r>
              <a:rPr lang="fr-FR" sz="2000" dirty="0">
                <a:latin typeface="Courier New" panose="02070309020205020404" pitchFamily="49" charset="0"/>
                <a:cs typeface="Courier New" panose="02070309020205020404" pitchFamily="49" charset="0"/>
              </a:rPr>
              <a:t> 000 -------- (---) ------- 0 </a:t>
            </a:r>
            <a:br>
              <a:rPr lang="fr-FR" sz="2000" dirty="0">
                <a:latin typeface="Courier New" panose="02070309020205020404" pitchFamily="49" charset="0"/>
                <a:cs typeface="Courier New" panose="02070309020205020404" pitchFamily="49" charset="0"/>
              </a:rPr>
            </a:br>
            <a:r>
              <a:rPr lang="fr-FR" sz="2000" dirty="0">
                <a:latin typeface="Courier New" panose="02070309020205020404" pitchFamily="49" charset="0"/>
                <a:cs typeface="Courier New" panose="02070309020205020404" pitchFamily="49" charset="0"/>
              </a:rPr>
              <a:t> 001 -------- (--x) ------- 1 </a:t>
            </a:r>
            <a:br>
              <a:rPr lang="fr-FR" sz="2000" dirty="0">
                <a:latin typeface="Courier New" panose="02070309020205020404" pitchFamily="49" charset="0"/>
                <a:cs typeface="Courier New" panose="02070309020205020404" pitchFamily="49" charset="0"/>
              </a:rPr>
            </a:br>
            <a:r>
              <a:rPr lang="fr-FR" sz="2000" dirty="0">
                <a:latin typeface="Courier New" panose="02070309020205020404" pitchFamily="49" charset="0"/>
                <a:cs typeface="Courier New" panose="02070309020205020404" pitchFamily="49" charset="0"/>
              </a:rPr>
              <a:t> 010 -------- (-w-) ------- 2 </a:t>
            </a:r>
            <a:br>
              <a:rPr lang="fr-FR" sz="2000" dirty="0">
                <a:latin typeface="Courier New" panose="02070309020205020404" pitchFamily="49" charset="0"/>
                <a:cs typeface="Courier New" panose="02070309020205020404" pitchFamily="49" charset="0"/>
              </a:rPr>
            </a:br>
            <a:r>
              <a:rPr lang="fr-FR" sz="2000" dirty="0">
                <a:latin typeface="Courier New" panose="02070309020205020404" pitchFamily="49" charset="0"/>
                <a:cs typeface="Courier New" panose="02070309020205020404" pitchFamily="49" charset="0"/>
              </a:rPr>
              <a:t> 011 -------- (-</a:t>
            </a:r>
            <a:r>
              <a:rPr lang="fr-FR" sz="2000" dirty="0" err="1">
                <a:latin typeface="Courier New" panose="02070309020205020404" pitchFamily="49" charset="0"/>
                <a:cs typeface="Courier New" panose="02070309020205020404" pitchFamily="49" charset="0"/>
              </a:rPr>
              <a:t>wx</a:t>
            </a:r>
            <a:r>
              <a:rPr lang="fr-FR" sz="2000" dirty="0">
                <a:latin typeface="Courier New" panose="02070309020205020404" pitchFamily="49" charset="0"/>
                <a:cs typeface="Courier New" panose="02070309020205020404" pitchFamily="49" charset="0"/>
              </a:rPr>
              <a:t>) ------- 3 </a:t>
            </a:r>
            <a:br>
              <a:rPr lang="fr-FR" sz="2000" dirty="0">
                <a:latin typeface="Courier New" panose="02070309020205020404" pitchFamily="49" charset="0"/>
                <a:cs typeface="Courier New" panose="02070309020205020404" pitchFamily="49" charset="0"/>
              </a:rPr>
            </a:br>
            <a:r>
              <a:rPr lang="fr-FR" sz="2000" dirty="0">
                <a:latin typeface="Courier New" panose="02070309020205020404" pitchFamily="49" charset="0"/>
                <a:cs typeface="Courier New" panose="02070309020205020404" pitchFamily="49" charset="0"/>
              </a:rPr>
              <a:t> 100 -------- (r--) ------- 4 </a:t>
            </a:r>
            <a:br>
              <a:rPr lang="fr-FR" sz="2000" dirty="0">
                <a:latin typeface="Courier New" panose="02070309020205020404" pitchFamily="49" charset="0"/>
                <a:cs typeface="Courier New" panose="02070309020205020404" pitchFamily="49" charset="0"/>
              </a:rPr>
            </a:br>
            <a:r>
              <a:rPr lang="fr-FR" sz="2000" dirty="0">
                <a:latin typeface="Courier New" panose="02070309020205020404" pitchFamily="49" charset="0"/>
                <a:cs typeface="Courier New" panose="02070309020205020404" pitchFamily="49" charset="0"/>
              </a:rPr>
              <a:t> 101 -------- (r-x) ------- 5 </a:t>
            </a:r>
            <a:br>
              <a:rPr lang="fr-FR" sz="2000" dirty="0">
                <a:latin typeface="Courier New" panose="02070309020205020404" pitchFamily="49" charset="0"/>
                <a:cs typeface="Courier New" panose="02070309020205020404" pitchFamily="49" charset="0"/>
              </a:rPr>
            </a:br>
            <a:r>
              <a:rPr lang="fr-FR" sz="2000" dirty="0">
                <a:latin typeface="Courier New" panose="02070309020205020404" pitchFamily="49" charset="0"/>
                <a:cs typeface="Courier New" panose="02070309020205020404" pitchFamily="49" charset="0"/>
              </a:rPr>
              <a:t> 110 -------- (</a:t>
            </a:r>
            <a:r>
              <a:rPr lang="fr-FR" sz="2000" dirty="0" err="1">
                <a:latin typeface="Courier New" panose="02070309020205020404" pitchFamily="49" charset="0"/>
                <a:cs typeface="Courier New" panose="02070309020205020404" pitchFamily="49" charset="0"/>
              </a:rPr>
              <a:t>rw</a:t>
            </a:r>
            <a:r>
              <a:rPr lang="fr-FR" sz="2000" dirty="0">
                <a:latin typeface="Courier New" panose="02070309020205020404" pitchFamily="49" charset="0"/>
                <a:cs typeface="Courier New" panose="02070309020205020404" pitchFamily="49" charset="0"/>
              </a:rPr>
              <a:t>-) ------- 6 </a:t>
            </a:r>
            <a:br>
              <a:rPr lang="fr-FR" sz="2000" dirty="0">
                <a:latin typeface="Courier New" panose="02070309020205020404" pitchFamily="49" charset="0"/>
                <a:cs typeface="Courier New" panose="02070309020205020404" pitchFamily="49" charset="0"/>
              </a:rPr>
            </a:br>
            <a:r>
              <a:rPr lang="fr-FR" sz="2000" dirty="0">
                <a:latin typeface="Courier New" panose="02070309020205020404" pitchFamily="49" charset="0"/>
                <a:cs typeface="Courier New" panose="02070309020205020404" pitchFamily="49" charset="0"/>
              </a:rPr>
              <a:t> 111 -------- (</a:t>
            </a:r>
            <a:r>
              <a:rPr lang="fr-FR" sz="2000" dirty="0" err="1">
                <a:latin typeface="Courier New" panose="02070309020205020404" pitchFamily="49" charset="0"/>
                <a:cs typeface="Courier New" panose="02070309020205020404" pitchFamily="49" charset="0"/>
              </a:rPr>
              <a:t>rwx</a:t>
            </a:r>
            <a:r>
              <a:rPr lang="fr-FR" sz="2000" dirty="0">
                <a:latin typeface="Courier New" panose="02070309020205020404" pitchFamily="49" charset="0"/>
                <a:cs typeface="Courier New" panose="02070309020205020404" pitchFamily="49" charset="0"/>
              </a:rPr>
              <a:t>) ------- 7 </a:t>
            </a:r>
          </a:p>
          <a:p>
            <a:endParaRPr lang="fr-FR" sz="20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6554729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rrondir un rectangle avec un coin diagonal 14"/>
          <p:cNvSpPr/>
          <p:nvPr/>
        </p:nvSpPr>
        <p:spPr>
          <a:xfrm>
            <a:off x="2207568" y="1052736"/>
            <a:ext cx="8245424" cy="1368152"/>
          </a:xfrm>
          <a:prstGeom prst="round2DiagRect">
            <a:avLst/>
          </a:prstGeom>
          <a:gradFill flip="none" rotWithShape="1">
            <a:gsLst>
              <a:gs pos="0">
                <a:srgbClr val="5E9EFF"/>
              </a:gs>
              <a:gs pos="39999">
                <a:srgbClr val="85C2FF"/>
              </a:gs>
              <a:gs pos="60000">
                <a:srgbClr val="C4D6EB"/>
              </a:gs>
              <a:gs pos="100000">
                <a:schemeClr val="accent1">
                  <a:lumMod val="40000"/>
                  <a:lumOff val="60000"/>
                </a:schemeClr>
              </a:gs>
            </a:gsLst>
            <a:lin ang="13500000" scaled="1"/>
            <a:tileRect/>
          </a:gradFill>
          <a:ln>
            <a:noFill/>
          </a:ln>
          <a:effectLst/>
          <a:scene3d>
            <a:camera prst="orthographicFront"/>
            <a:lightRig rig="threePt" dir="t"/>
          </a:scene3d>
          <a:sp3d>
            <a:bevelT w="19050" h="50800"/>
          </a:sp3d>
        </p:spPr>
        <p:style>
          <a:lnRef idx="2">
            <a:schemeClr val="accent1">
              <a:shade val="50000"/>
            </a:schemeClr>
          </a:lnRef>
          <a:fillRef idx="1">
            <a:schemeClr val="accent1"/>
          </a:fillRef>
          <a:effectRef idx="0">
            <a:schemeClr val="accent1"/>
          </a:effectRef>
          <a:fontRef idx="minor">
            <a:schemeClr val="lt1"/>
          </a:fontRef>
        </p:style>
        <p:txBody>
          <a:bodyPr/>
          <a:lstStyle/>
          <a:p>
            <a:pPr lvl="1">
              <a:defRPr/>
            </a:pPr>
            <a:endParaRPr lang="fr-FR" i="1" dirty="0">
              <a:solidFill>
                <a:schemeClr val="tx2"/>
              </a:solidFill>
            </a:endParaRPr>
          </a:p>
          <a:p>
            <a:pPr>
              <a:buBlip>
                <a:blip r:embed="rId3"/>
              </a:buBlip>
              <a:defRPr/>
            </a:pPr>
            <a:endParaRPr lang="fr-FR" i="1" dirty="0">
              <a:solidFill>
                <a:schemeClr val="tx2"/>
              </a:solidFill>
            </a:endParaRPr>
          </a:p>
        </p:txBody>
      </p:sp>
      <p:sp>
        <p:nvSpPr>
          <p:cNvPr id="5" name="Espace réservé du contenu 1"/>
          <p:cNvSpPr txBox="1"/>
          <p:nvPr/>
        </p:nvSpPr>
        <p:spPr>
          <a:xfrm>
            <a:off x="1883024" y="1196752"/>
            <a:ext cx="8784976" cy="1656184"/>
          </a:xfrm>
          <a:prstGeom prst="rect">
            <a:avLst/>
          </a:prstGeom>
        </p:spPr>
        <p:txBody>
          <a:bodyPr>
            <a:normAutofit/>
          </a:bodyPr>
          <a:lstStyle/>
          <a:p>
            <a:pPr marL="342900" indent="-342900" algn="ctr">
              <a:spcBef>
                <a:spcPct val="20000"/>
              </a:spcBef>
              <a:defRPr/>
            </a:pPr>
            <a:r>
              <a:rPr lang="fr-FR" sz="3200" dirty="0"/>
              <a:t>Les commandes réseau</a:t>
            </a:r>
          </a:p>
          <a:p>
            <a:pPr marL="742950" lvl="1" indent="-285750">
              <a:spcBef>
                <a:spcPct val="20000"/>
              </a:spcBef>
              <a:buFont typeface="Arial" panose="020B0604020202020204" pitchFamily="34" charset="0"/>
              <a:buChar char="•"/>
              <a:defRPr/>
            </a:pPr>
            <a:r>
              <a:rPr lang="fr-FR" sz="2800" dirty="0" err="1"/>
              <a:t>ifconfig</a:t>
            </a:r>
            <a:endParaRPr lang="fr-FR" sz="2800" dirty="0"/>
          </a:p>
        </p:txBody>
      </p:sp>
      <p:graphicFrame>
        <p:nvGraphicFramePr>
          <p:cNvPr id="10" name="Tableau 9"/>
          <p:cNvGraphicFramePr>
            <a:graphicFrameLocks noGrp="1"/>
          </p:cNvGraphicFramePr>
          <p:nvPr/>
        </p:nvGraphicFramePr>
        <p:xfrm>
          <a:off x="2207568" y="2564904"/>
          <a:ext cx="8208912" cy="4114800"/>
        </p:xfrm>
        <a:graphic>
          <a:graphicData uri="http://schemas.openxmlformats.org/drawingml/2006/table">
            <a:tbl>
              <a:tblPr/>
              <a:tblGrid>
                <a:gridCol w="8208912"/>
              </a:tblGrid>
              <a:tr h="2212484">
                <a:tc>
                  <a:txBody>
                    <a:bodyPr/>
                    <a:lstStyle/>
                    <a:p>
                      <a:pPr>
                        <a:spcBef>
                          <a:spcPts val="600"/>
                        </a:spcBef>
                        <a:spcAft>
                          <a:spcPts val="600"/>
                        </a:spcAft>
                      </a:pPr>
                      <a:r>
                        <a:rPr lang="fr-FR" sz="2000" dirty="0">
                          <a:latin typeface="Courier New" panose="02070309020205020404"/>
                          <a:ea typeface="Cambria" panose="02040503050406030204"/>
                        </a:rPr>
                        <a:t>Affichage des paramètres réseaux de toutes les interfaces</a:t>
                      </a:r>
                      <a:endParaRPr lang="fr-FR" sz="2000" dirty="0">
                        <a:latin typeface="Times New Roman" panose="02020603050405020304"/>
                        <a:ea typeface="Cambria" panose="02040503050406030204"/>
                      </a:endParaRPr>
                    </a:p>
                    <a:p>
                      <a:pPr>
                        <a:spcBef>
                          <a:spcPts val="600"/>
                        </a:spcBef>
                        <a:spcAft>
                          <a:spcPts val="600"/>
                        </a:spcAft>
                      </a:pPr>
                      <a:r>
                        <a:rPr lang="fr-FR" sz="2000" b="1" dirty="0">
                          <a:latin typeface="Courier New" panose="02070309020205020404"/>
                          <a:ea typeface="Cambria" panose="02040503050406030204"/>
                        </a:rPr>
                        <a:t>$ </a:t>
                      </a:r>
                      <a:r>
                        <a:rPr lang="fr-FR" sz="2000" b="1" dirty="0" err="1">
                          <a:latin typeface="Courier New" panose="02070309020205020404"/>
                          <a:ea typeface="Cambria" panose="02040503050406030204"/>
                        </a:rPr>
                        <a:t>ifconfig</a:t>
                      </a:r>
                      <a:endParaRPr lang="fr-FR" sz="2000" b="1" dirty="0">
                        <a:latin typeface="Times New Roman" panose="02020603050405020304"/>
                        <a:ea typeface="Cambria" panose="02040503050406030204"/>
                      </a:endParaRPr>
                    </a:p>
                    <a:p>
                      <a:pPr>
                        <a:spcBef>
                          <a:spcPts val="600"/>
                        </a:spcBef>
                        <a:spcAft>
                          <a:spcPts val="600"/>
                        </a:spcAft>
                      </a:pPr>
                      <a:r>
                        <a:rPr lang="fr-FR" sz="2000" dirty="0">
                          <a:latin typeface="Courier New" panose="02070309020205020404"/>
                          <a:ea typeface="Cambria" panose="02040503050406030204"/>
                        </a:rPr>
                        <a:t>Configuration de l’interface eth0 en automatique (DHCP)</a:t>
                      </a:r>
                      <a:endParaRPr lang="fr-FR" sz="2000" dirty="0">
                        <a:latin typeface="Times New Roman" panose="02020603050405020304"/>
                        <a:ea typeface="Cambria" panose="02040503050406030204"/>
                      </a:endParaRPr>
                    </a:p>
                    <a:p>
                      <a:pPr>
                        <a:spcBef>
                          <a:spcPts val="600"/>
                        </a:spcBef>
                        <a:spcAft>
                          <a:spcPts val="600"/>
                        </a:spcAft>
                      </a:pPr>
                      <a:r>
                        <a:rPr lang="fr-FR" sz="2000" b="1" dirty="0">
                          <a:latin typeface="Courier New" panose="02070309020205020404"/>
                          <a:ea typeface="Cambria" panose="02040503050406030204"/>
                        </a:rPr>
                        <a:t>$ </a:t>
                      </a:r>
                      <a:r>
                        <a:rPr lang="fr-FR" sz="2000" b="1" dirty="0" err="1">
                          <a:latin typeface="Courier New" panose="02070309020205020404"/>
                          <a:ea typeface="Cambria" panose="02040503050406030204"/>
                        </a:rPr>
                        <a:t>ifconfig</a:t>
                      </a:r>
                      <a:r>
                        <a:rPr lang="fr-FR" sz="2000" b="1" dirty="0">
                          <a:latin typeface="Courier New" panose="02070309020205020404"/>
                          <a:ea typeface="Cambria" panose="02040503050406030204"/>
                        </a:rPr>
                        <a:t> eth0 auto</a:t>
                      </a:r>
                      <a:endParaRPr lang="fr-FR" sz="2000" b="1" dirty="0">
                        <a:latin typeface="Times New Roman" panose="02020603050405020304"/>
                        <a:ea typeface="Cambria" panose="02040503050406030204"/>
                      </a:endParaRPr>
                    </a:p>
                    <a:p>
                      <a:pPr>
                        <a:spcBef>
                          <a:spcPts val="600"/>
                        </a:spcBef>
                        <a:spcAft>
                          <a:spcPts val="600"/>
                        </a:spcAft>
                      </a:pPr>
                      <a:r>
                        <a:rPr lang="fr-FR" sz="2000" dirty="0">
                          <a:latin typeface="Courier New" panose="02070309020205020404"/>
                          <a:ea typeface="Cambria" panose="02040503050406030204"/>
                        </a:rPr>
                        <a:t>Configuration manuelle de eth0</a:t>
                      </a:r>
                      <a:endParaRPr lang="fr-FR" sz="2000" dirty="0">
                        <a:latin typeface="Times New Roman" panose="02020603050405020304"/>
                        <a:ea typeface="Cambria" panose="02040503050406030204"/>
                      </a:endParaRPr>
                    </a:p>
                    <a:p>
                      <a:pPr>
                        <a:spcBef>
                          <a:spcPts val="600"/>
                        </a:spcBef>
                        <a:spcAft>
                          <a:spcPts val="600"/>
                        </a:spcAft>
                      </a:pPr>
                      <a:r>
                        <a:rPr lang="fr-FR" sz="2000" b="1" dirty="0">
                          <a:latin typeface="Courier New" panose="02070309020205020404"/>
                          <a:ea typeface="Cambria" panose="02040503050406030204"/>
                        </a:rPr>
                        <a:t># </a:t>
                      </a:r>
                      <a:r>
                        <a:rPr lang="fr-FR" sz="2000" b="1" dirty="0" err="1">
                          <a:latin typeface="Courier New" panose="02070309020205020404"/>
                          <a:ea typeface="Cambria" panose="02040503050406030204"/>
                        </a:rPr>
                        <a:t>ifconfig</a:t>
                      </a:r>
                      <a:r>
                        <a:rPr lang="fr-FR" sz="2000" b="1" dirty="0">
                          <a:latin typeface="Courier New" panose="02070309020205020404"/>
                          <a:ea typeface="Cambria" panose="02040503050406030204"/>
                        </a:rPr>
                        <a:t> eth0 192.168.1.15 </a:t>
                      </a:r>
                      <a:r>
                        <a:rPr lang="fr-FR" sz="2000" b="1" dirty="0" err="1">
                          <a:latin typeface="Courier New" panose="02070309020205020404"/>
                          <a:ea typeface="Cambria" panose="02040503050406030204"/>
                        </a:rPr>
                        <a:t>netmask</a:t>
                      </a:r>
                      <a:r>
                        <a:rPr lang="fr-FR" sz="2000" b="1" dirty="0">
                          <a:latin typeface="Courier New" panose="02070309020205020404"/>
                          <a:ea typeface="Cambria" panose="02040503050406030204"/>
                        </a:rPr>
                        <a:t> 255.255.255.0</a:t>
                      </a:r>
                      <a:endParaRPr lang="fr-FR" sz="2000" b="1" dirty="0">
                        <a:latin typeface="Times New Roman" panose="02020603050405020304"/>
                        <a:ea typeface="Cambria" panose="02040503050406030204"/>
                      </a:endParaRPr>
                    </a:p>
                    <a:p>
                      <a:pPr>
                        <a:spcBef>
                          <a:spcPts val="600"/>
                        </a:spcBef>
                        <a:spcAft>
                          <a:spcPts val="600"/>
                        </a:spcAft>
                      </a:pPr>
                      <a:r>
                        <a:rPr lang="fr-FR" sz="2000" dirty="0">
                          <a:latin typeface="Courier New" panose="02070309020205020404"/>
                          <a:ea typeface="Cambria" panose="02040503050406030204"/>
                        </a:rPr>
                        <a:t>Activer ou désactiver l’interface eth0</a:t>
                      </a:r>
                      <a:endParaRPr lang="fr-FR" sz="2000" dirty="0">
                        <a:latin typeface="Times New Roman" panose="02020603050405020304"/>
                        <a:ea typeface="Cambria" panose="02040503050406030204"/>
                      </a:endParaRPr>
                    </a:p>
                    <a:p>
                      <a:pPr>
                        <a:spcBef>
                          <a:spcPts val="600"/>
                        </a:spcBef>
                        <a:spcAft>
                          <a:spcPts val="600"/>
                        </a:spcAft>
                      </a:pPr>
                      <a:r>
                        <a:rPr lang="fr-FR" sz="2000" b="1" dirty="0">
                          <a:latin typeface="Courier New" panose="02070309020205020404"/>
                          <a:ea typeface="Cambria" panose="02040503050406030204"/>
                        </a:rPr>
                        <a:t># </a:t>
                      </a:r>
                      <a:r>
                        <a:rPr lang="fr-FR" sz="2000" b="1" dirty="0" err="1">
                          <a:latin typeface="Courier New" panose="02070309020205020404"/>
                          <a:ea typeface="Cambria" panose="02040503050406030204"/>
                        </a:rPr>
                        <a:t>ifconfig</a:t>
                      </a:r>
                      <a:r>
                        <a:rPr lang="fr-FR" sz="2000" b="1" dirty="0">
                          <a:latin typeface="Courier New" panose="02070309020205020404"/>
                          <a:ea typeface="Cambria" panose="02040503050406030204"/>
                        </a:rPr>
                        <a:t> eth0 up|down</a:t>
                      </a:r>
                      <a:endParaRPr lang="fr-FR" sz="2000" b="1" dirty="0">
                        <a:latin typeface="Times New Roman" panose="02020603050405020304"/>
                        <a:ea typeface="Cambria" panose="02040503050406030204"/>
                      </a:endParaRPr>
                    </a:p>
                  </a:txBody>
                  <a:tcPr marL="63014" marR="630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5782446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rrondir un rectangle avec un coin diagonal 14"/>
          <p:cNvSpPr/>
          <p:nvPr/>
        </p:nvSpPr>
        <p:spPr>
          <a:xfrm>
            <a:off x="2207568" y="1052736"/>
            <a:ext cx="8245424" cy="1368152"/>
          </a:xfrm>
          <a:prstGeom prst="round2DiagRect">
            <a:avLst/>
          </a:prstGeom>
          <a:gradFill flip="none" rotWithShape="1">
            <a:gsLst>
              <a:gs pos="0">
                <a:srgbClr val="5E9EFF"/>
              </a:gs>
              <a:gs pos="39999">
                <a:srgbClr val="85C2FF"/>
              </a:gs>
              <a:gs pos="60000">
                <a:srgbClr val="C4D6EB"/>
              </a:gs>
              <a:gs pos="100000">
                <a:schemeClr val="accent1">
                  <a:lumMod val="40000"/>
                  <a:lumOff val="60000"/>
                </a:schemeClr>
              </a:gs>
            </a:gsLst>
            <a:lin ang="13500000" scaled="1"/>
            <a:tileRect/>
          </a:gradFill>
          <a:ln>
            <a:noFill/>
          </a:ln>
          <a:effectLst/>
          <a:scene3d>
            <a:camera prst="orthographicFront"/>
            <a:lightRig rig="threePt" dir="t"/>
          </a:scene3d>
          <a:sp3d>
            <a:bevelT w="19050" h="50800"/>
          </a:sp3d>
        </p:spPr>
        <p:style>
          <a:lnRef idx="2">
            <a:schemeClr val="accent1">
              <a:shade val="50000"/>
            </a:schemeClr>
          </a:lnRef>
          <a:fillRef idx="1">
            <a:schemeClr val="accent1"/>
          </a:fillRef>
          <a:effectRef idx="0">
            <a:schemeClr val="accent1"/>
          </a:effectRef>
          <a:fontRef idx="minor">
            <a:schemeClr val="lt1"/>
          </a:fontRef>
        </p:style>
        <p:txBody>
          <a:bodyPr/>
          <a:lstStyle/>
          <a:p>
            <a:pPr lvl="1">
              <a:defRPr/>
            </a:pPr>
            <a:endParaRPr lang="fr-FR" i="1" dirty="0">
              <a:solidFill>
                <a:schemeClr val="tx2"/>
              </a:solidFill>
            </a:endParaRPr>
          </a:p>
          <a:p>
            <a:pPr>
              <a:buBlip>
                <a:blip r:embed="rId3"/>
              </a:buBlip>
              <a:defRPr/>
            </a:pPr>
            <a:endParaRPr lang="fr-FR" i="1" dirty="0">
              <a:solidFill>
                <a:schemeClr val="tx2"/>
              </a:solidFill>
            </a:endParaRPr>
          </a:p>
        </p:txBody>
      </p:sp>
      <p:sp>
        <p:nvSpPr>
          <p:cNvPr id="5" name="Espace réservé du contenu 1"/>
          <p:cNvSpPr txBox="1"/>
          <p:nvPr/>
        </p:nvSpPr>
        <p:spPr>
          <a:xfrm>
            <a:off x="1883024" y="1196752"/>
            <a:ext cx="8784976" cy="1656184"/>
          </a:xfrm>
          <a:prstGeom prst="rect">
            <a:avLst/>
          </a:prstGeom>
        </p:spPr>
        <p:txBody>
          <a:bodyPr>
            <a:normAutofit/>
          </a:bodyPr>
          <a:lstStyle/>
          <a:p>
            <a:pPr marL="342900" indent="-342900" algn="ctr">
              <a:spcBef>
                <a:spcPct val="20000"/>
              </a:spcBef>
              <a:defRPr/>
            </a:pPr>
            <a:r>
              <a:rPr lang="fr-FR" sz="3200" dirty="0"/>
              <a:t>Programmation en C</a:t>
            </a:r>
          </a:p>
          <a:p>
            <a:pPr marL="742950" lvl="1" indent="-285750">
              <a:spcBef>
                <a:spcPct val="20000"/>
              </a:spcBef>
              <a:buFont typeface="Arial" panose="020B0604020202020204" pitchFamily="34" charset="0"/>
              <a:buChar char="•"/>
              <a:defRPr/>
            </a:pPr>
            <a:r>
              <a:rPr lang="fr-FR" sz="2800" dirty="0"/>
              <a:t>Compilateur </a:t>
            </a:r>
            <a:r>
              <a:rPr lang="fr-FR" sz="2800" dirty="0" err="1"/>
              <a:t>gcc</a:t>
            </a:r>
            <a:endParaRPr lang="fr-FR" sz="2800" dirty="0"/>
          </a:p>
        </p:txBody>
      </p:sp>
      <p:sp>
        <p:nvSpPr>
          <p:cNvPr id="11" name="ZoneTexte 10"/>
          <p:cNvSpPr txBox="1"/>
          <p:nvPr/>
        </p:nvSpPr>
        <p:spPr>
          <a:xfrm>
            <a:off x="2207568" y="2564904"/>
            <a:ext cx="8136904" cy="1569660"/>
          </a:xfrm>
          <a:prstGeom prst="rect">
            <a:avLst/>
          </a:prstGeom>
          <a:ln w="9525"/>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latin typeface="Courier New" panose="02070309020205020404" pitchFamily="49" charset="0"/>
                <a:cs typeface="Courier New" panose="02070309020205020404" pitchFamily="49" charset="0"/>
              </a:rPr>
              <a:t>#include&lt;</a:t>
            </a:r>
            <a:r>
              <a:rPr lang="en-US" sz="2400" dirty="0" err="1">
                <a:latin typeface="Courier New" panose="02070309020205020404" pitchFamily="49" charset="0"/>
                <a:cs typeface="Courier New" panose="02070309020205020404" pitchFamily="49" charset="0"/>
              </a:rPr>
              <a:t>stdio.h</a:t>
            </a:r>
            <a:r>
              <a:rPr lang="en-US" sz="2400" dirty="0">
                <a:latin typeface="Courier New" panose="02070309020205020404" pitchFamily="49" charset="0"/>
                <a:cs typeface="Courier New" panose="02070309020205020404" pitchFamily="49" charset="0"/>
              </a:rPr>
              <a:t>&gt; main()</a:t>
            </a:r>
          </a:p>
          <a:p>
            <a:r>
              <a:rPr lang="en-US" sz="2400" dirty="0">
                <a:latin typeface="Courier New" panose="02070309020205020404" pitchFamily="49" charset="0"/>
                <a:cs typeface="Courier New" panose="02070309020205020404" pitchFamily="49" charset="0"/>
              </a:rPr>
              <a:t>{    </a:t>
            </a:r>
          </a:p>
          <a:p>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printf</a:t>
            </a:r>
            <a:r>
              <a:rPr lang="en-US" sz="2400" dirty="0">
                <a:latin typeface="Courier New" panose="02070309020205020404" pitchFamily="49" charset="0"/>
                <a:cs typeface="Courier New" panose="02070309020205020404" pitchFamily="49" charset="0"/>
              </a:rPr>
              <a:t>("Hello World"); </a:t>
            </a:r>
          </a:p>
          <a:p>
            <a:r>
              <a:rPr lang="fr-FR" sz="2400" dirty="0">
                <a:latin typeface="Courier New" panose="02070309020205020404" pitchFamily="49" charset="0"/>
                <a:cs typeface="Courier New" panose="02070309020205020404" pitchFamily="49" charset="0"/>
              </a:rPr>
              <a:t>}</a:t>
            </a:r>
          </a:p>
        </p:txBody>
      </p:sp>
      <p:sp>
        <p:nvSpPr>
          <p:cNvPr id="12" name="Rectangle 11"/>
          <p:cNvSpPr/>
          <p:nvPr/>
        </p:nvSpPr>
        <p:spPr>
          <a:xfrm>
            <a:off x="2207568" y="4437113"/>
            <a:ext cx="8136904" cy="461665"/>
          </a:xfrm>
          <a:prstGeom prst="rect">
            <a:avLst/>
          </a:prstGeom>
          <a:ln w="9525"/>
        </p:spPr>
        <p:style>
          <a:lnRef idx="2">
            <a:schemeClr val="dk1"/>
          </a:lnRef>
          <a:fillRef idx="1">
            <a:schemeClr val="lt1"/>
          </a:fillRef>
          <a:effectRef idx="0">
            <a:schemeClr val="dk1"/>
          </a:effectRef>
          <a:fontRef idx="minor">
            <a:schemeClr val="dk1"/>
          </a:fontRef>
        </p:style>
        <p:txBody>
          <a:bodyPr wrap="square">
            <a:spAutoFit/>
          </a:bodyPr>
          <a:lstStyle/>
          <a:p>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gcc</a:t>
            </a:r>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helloword.c</a:t>
            </a:r>
            <a:r>
              <a:rPr lang="en-US" sz="2400" b="1" dirty="0">
                <a:latin typeface="Courier New" panose="02070309020205020404" pitchFamily="49" charset="0"/>
                <a:cs typeface="Courier New" panose="02070309020205020404" pitchFamily="49" charset="0"/>
              </a:rPr>
              <a:t> -o executable</a:t>
            </a:r>
            <a:endParaRPr lang="fr-FR" sz="2400" dirty="0">
              <a:latin typeface="Courier New" panose="02070309020205020404" pitchFamily="49" charset="0"/>
              <a:cs typeface="Courier New" panose="02070309020205020404" pitchFamily="49" charset="0"/>
            </a:endParaRPr>
          </a:p>
        </p:txBody>
      </p:sp>
      <p:sp>
        <p:nvSpPr>
          <p:cNvPr id="13" name="Rectangle 12"/>
          <p:cNvSpPr/>
          <p:nvPr/>
        </p:nvSpPr>
        <p:spPr>
          <a:xfrm>
            <a:off x="2207568" y="5229202"/>
            <a:ext cx="8136904" cy="461665"/>
          </a:xfrm>
          <a:prstGeom prst="rect">
            <a:avLst/>
          </a:prstGeom>
          <a:ln w="9525"/>
        </p:spPr>
        <p:style>
          <a:lnRef idx="2">
            <a:schemeClr val="dk1"/>
          </a:lnRef>
          <a:fillRef idx="1">
            <a:schemeClr val="lt1"/>
          </a:fillRef>
          <a:effectRef idx="0">
            <a:schemeClr val="dk1"/>
          </a:effectRef>
          <a:fontRef idx="minor">
            <a:schemeClr val="dk1"/>
          </a:fontRef>
        </p:style>
        <p:txBody>
          <a:bodyPr wrap="square">
            <a:spAutoFit/>
          </a:bodyPr>
          <a:lstStyle/>
          <a:p>
            <a:r>
              <a:rPr lang="fr-FR" sz="2400" b="1" dirty="0">
                <a:latin typeface="Courier New" panose="02070309020205020404" pitchFamily="49" charset="0"/>
                <a:cs typeface="Courier New" panose="02070309020205020404" pitchFamily="49" charset="0"/>
              </a:rPr>
              <a:t># ./</a:t>
            </a:r>
            <a:r>
              <a:rPr lang="fr-FR" sz="2400" b="1" dirty="0" err="1">
                <a:latin typeface="Courier New" panose="02070309020205020404" pitchFamily="49" charset="0"/>
                <a:cs typeface="Courier New" panose="02070309020205020404" pitchFamily="49" charset="0"/>
              </a:rPr>
              <a:t>executable</a:t>
            </a:r>
            <a:endParaRPr lang="fr-FR" sz="2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9465346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rrondir un rectangle avec un coin diagonal 14"/>
          <p:cNvSpPr/>
          <p:nvPr/>
        </p:nvSpPr>
        <p:spPr>
          <a:xfrm>
            <a:off x="2207568" y="1052736"/>
            <a:ext cx="8245424" cy="3384376"/>
          </a:xfrm>
          <a:prstGeom prst="round2DiagRect">
            <a:avLst/>
          </a:prstGeom>
          <a:gradFill flip="none" rotWithShape="1">
            <a:gsLst>
              <a:gs pos="0">
                <a:srgbClr val="5E9EFF"/>
              </a:gs>
              <a:gs pos="39999">
                <a:srgbClr val="85C2FF"/>
              </a:gs>
              <a:gs pos="60000">
                <a:srgbClr val="C4D6EB"/>
              </a:gs>
              <a:gs pos="100000">
                <a:schemeClr val="accent1">
                  <a:lumMod val="40000"/>
                  <a:lumOff val="60000"/>
                </a:schemeClr>
              </a:gs>
            </a:gsLst>
            <a:lin ang="13500000" scaled="1"/>
            <a:tileRect/>
          </a:gradFill>
          <a:ln>
            <a:noFill/>
          </a:ln>
          <a:effectLst/>
          <a:scene3d>
            <a:camera prst="orthographicFront"/>
            <a:lightRig rig="threePt" dir="t"/>
          </a:scene3d>
          <a:sp3d>
            <a:bevelT w="19050" h="50800"/>
          </a:sp3d>
        </p:spPr>
        <p:style>
          <a:lnRef idx="2">
            <a:schemeClr val="accent1">
              <a:shade val="50000"/>
            </a:schemeClr>
          </a:lnRef>
          <a:fillRef idx="1">
            <a:schemeClr val="accent1"/>
          </a:fillRef>
          <a:effectRef idx="0">
            <a:schemeClr val="accent1"/>
          </a:effectRef>
          <a:fontRef idx="minor">
            <a:schemeClr val="lt1"/>
          </a:fontRef>
        </p:style>
        <p:txBody>
          <a:bodyPr/>
          <a:lstStyle/>
          <a:p>
            <a:endParaRPr lang="fr-FR" dirty="0"/>
          </a:p>
        </p:txBody>
      </p:sp>
      <p:sp>
        <p:nvSpPr>
          <p:cNvPr id="10" name="Espace réservé du contenu 1"/>
          <p:cNvSpPr txBox="1"/>
          <p:nvPr/>
        </p:nvSpPr>
        <p:spPr>
          <a:xfrm>
            <a:off x="2207568" y="1052736"/>
            <a:ext cx="8208912" cy="4248472"/>
          </a:xfrm>
          <a:prstGeom prst="rect">
            <a:avLst/>
          </a:prstGeom>
        </p:spPr>
        <p:txBody>
          <a:bodyPr/>
          <a:lstStyle/>
          <a:p>
            <a:pPr marL="342900" indent="-342900" algn="ctr">
              <a:spcBef>
                <a:spcPct val="20000"/>
              </a:spcBef>
              <a:defRPr/>
            </a:pPr>
            <a:r>
              <a:rPr lang="fr-FR" sz="3200" dirty="0"/>
              <a:t>Commandes de bases linux</a:t>
            </a:r>
          </a:p>
          <a:p>
            <a:pPr marL="342900" indent="-342900" algn="ctr">
              <a:spcBef>
                <a:spcPct val="20000"/>
              </a:spcBef>
              <a:defRPr/>
            </a:pPr>
            <a:r>
              <a:rPr lang="fr-FR" sz="3200" dirty="0"/>
              <a:t>Programmation en C</a:t>
            </a:r>
          </a:p>
          <a:p>
            <a:pPr marL="742950" lvl="1" indent="-285750">
              <a:spcBef>
                <a:spcPct val="20000"/>
              </a:spcBef>
              <a:buFont typeface="Arial" panose="020B0604020202020204" pitchFamily="34" charset="0"/>
              <a:buChar char="•"/>
              <a:defRPr/>
            </a:pPr>
            <a:r>
              <a:rPr lang="fr-FR" sz="2800" dirty="0"/>
              <a:t>Les commandes de bases</a:t>
            </a:r>
          </a:p>
          <a:p>
            <a:pPr marL="742950" lvl="1" indent="-285750">
              <a:spcBef>
                <a:spcPct val="20000"/>
              </a:spcBef>
              <a:buFont typeface="Arial" panose="020B0604020202020204" pitchFamily="34" charset="0"/>
              <a:buChar char="•"/>
              <a:defRPr/>
            </a:pPr>
            <a:r>
              <a:rPr lang="fr-FR" sz="2800" dirty="0"/>
              <a:t>Le système de fichiers</a:t>
            </a:r>
          </a:p>
          <a:p>
            <a:pPr marL="742950" lvl="1" indent="-285750">
              <a:spcBef>
                <a:spcPct val="20000"/>
              </a:spcBef>
              <a:buFont typeface="Arial" panose="020B0604020202020204" pitchFamily="34" charset="0"/>
              <a:buChar char="•"/>
              <a:defRPr/>
            </a:pPr>
            <a:r>
              <a:rPr lang="fr-FR" sz="2800" dirty="0"/>
              <a:t>Les commandes réseaux</a:t>
            </a:r>
          </a:p>
          <a:p>
            <a:pPr marL="742950" lvl="1" indent="-285750">
              <a:spcBef>
                <a:spcPct val="20000"/>
              </a:spcBef>
              <a:buFont typeface="Arial" panose="020B0604020202020204" pitchFamily="34" charset="0"/>
              <a:buChar char="•"/>
              <a:defRPr/>
            </a:pPr>
            <a:r>
              <a:rPr lang="fr-FR" sz="2800" dirty="0"/>
              <a:t>Programmation en C</a:t>
            </a:r>
          </a:p>
          <a:p>
            <a:pPr marL="742950" lvl="1" indent="-285750">
              <a:spcBef>
                <a:spcPct val="20000"/>
              </a:spcBef>
              <a:buFont typeface="Arial" panose="020B0604020202020204" pitchFamily="34" charset="0"/>
              <a:buChar char="•"/>
              <a:defRPr/>
            </a:pPr>
            <a:endParaRPr lang="fr-FR" sz="2800" dirty="0"/>
          </a:p>
        </p:txBody>
      </p:sp>
    </p:spTree>
    <p:extLst>
      <p:ext uri="{BB962C8B-B14F-4D97-AF65-F5344CB8AC3E}">
        <p14:creationId xmlns:p14="http://schemas.microsoft.com/office/powerpoint/2010/main" val="3639233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5601"/>
          <p:cNvSpPr txBox="1"/>
          <p:nvPr/>
        </p:nvSpPr>
        <p:spPr>
          <a:xfrm>
            <a:off x="2567608" y="1412776"/>
            <a:ext cx="6858000" cy="4524315"/>
          </a:xfrm>
          <a:prstGeom prst="rect">
            <a:avLst/>
          </a:prstGeom>
          <a:noFill/>
          <a:ln w="9525">
            <a:noFill/>
          </a:ln>
        </p:spPr>
        <p:txBody>
          <a:bodyPr>
            <a:spAutoFit/>
          </a:bodyPr>
          <a:lstStyle/>
          <a:p>
            <a:pPr algn="ctr">
              <a:spcBef>
                <a:spcPct val="50000"/>
              </a:spcBef>
            </a:pPr>
            <a:endParaRPr sz="4800" b="1" dirty="0">
              <a:solidFill>
                <a:srgbClr val="FF0000"/>
              </a:solidFill>
              <a:latin typeface="Times New Roman" panose="02020603050405020304" charset="0"/>
            </a:endParaRPr>
          </a:p>
          <a:p>
            <a:pPr algn="ctr">
              <a:spcBef>
                <a:spcPct val="50000"/>
              </a:spcBef>
            </a:pPr>
            <a:r>
              <a:rPr lang="fr-CD" sz="4800" b="1" dirty="0">
                <a:solidFill>
                  <a:srgbClr val="FF0000"/>
                </a:solidFill>
                <a:latin typeface="Times New Roman" panose="02020603050405020304" charset="0"/>
              </a:rPr>
              <a:t>Pratique de l’Ordinateur</a:t>
            </a:r>
          </a:p>
          <a:p>
            <a:pPr algn="ctr">
              <a:spcBef>
                <a:spcPct val="50000"/>
              </a:spcBef>
            </a:pPr>
            <a:r>
              <a:rPr lang="fr-CD" sz="3600" b="1" dirty="0">
                <a:solidFill>
                  <a:srgbClr val="FF0000"/>
                </a:solidFill>
                <a:latin typeface="Times New Roman" panose="02020603050405020304" charset="0"/>
              </a:rPr>
              <a:t>Troisième </a:t>
            </a:r>
            <a:r>
              <a:rPr lang="fr-CD" sz="3600" b="1" dirty="0" smtClean="0">
                <a:solidFill>
                  <a:srgbClr val="FF0000"/>
                </a:solidFill>
                <a:latin typeface="Times New Roman" panose="02020603050405020304" charset="0"/>
              </a:rPr>
              <a:t>partie</a:t>
            </a:r>
          </a:p>
          <a:p>
            <a:pPr algn="ctr">
              <a:spcBef>
                <a:spcPct val="50000"/>
              </a:spcBef>
            </a:pPr>
            <a:r>
              <a:rPr lang="fr-FR" sz="4000" b="1" dirty="0">
                <a:latin typeface="Times New Roman" panose="02020603050405020304" charset="0"/>
              </a:rPr>
              <a:t>Editeur de </a:t>
            </a:r>
            <a:r>
              <a:rPr lang="fr-FR" sz="4000" b="1" dirty="0" smtClean="0">
                <a:latin typeface="Times New Roman" panose="02020603050405020304" charset="0"/>
              </a:rPr>
              <a:t>texte</a:t>
            </a:r>
            <a:endParaRPr sz="4000" dirty="0">
              <a:solidFill>
                <a:srgbClr val="FFFFFF"/>
              </a:solidFill>
              <a:latin typeface="Times New Roman" panose="02020603050405020304" charset="0"/>
            </a:endParaRPr>
          </a:p>
          <a:p>
            <a:pPr lvl="4">
              <a:spcBef>
                <a:spcPct val="50000"/>
              </a:spcBef>
            </a:pPr>
            <a:endParaRPr dirty="0">
              <a:solidFill>
                <a:srgbClr val="FFFFFF"/>
              </a:solidFill>
              <a:latin typeface="Arial" panose="020B0604020202020204" pitchFamily="34" charset="0"/>
            </a:endParaRPr>
          </a:p>
          <a:p>
            <a:pPr lvl="4">
              <a:spcBef>
                <a:spcPct val="50000"/>
              </a:spcBef>
            </a:pPr>
            <a:r>
              <a:rPr dirty="0">
                <a:solidFill>
                  <a:srgbClr val="0000FF"/>
                </a:solidFill>
                <a:latin typeface="Arial" panose="020B0604020202020204" pitchFamily="34" charset="0"/>
              </a:rPr>
              <a:t>     </a:t>
            </a:r>
          </a:p>
        </p:txBody>
      </p:sp>
    </p:spTree>
    <p:extLst>
      <p:ext uri="{BB962C8B-B14F-4D97-AF65-F5344CB8AC3E}">
        <p14:creationId xmlns:p14="http://schemas.microsoft.com/office/powerpoint/2010/main" val="257218393"/>
      </p:ext>
    </p:extLst>
  </p:cSld>
  <p:clrMapOvr>
    <a:masterClrMapping/>
  </p:clrMapOvr>
  <p:timing>
    <p:tnLst>
      <p:par>
        <p:cTn id="1" dur="indefinite" restart="never" nodeType="tmRoot"/>
      </p:par>
    </p:tnLst>
    <p:bldLst>
      <p:bldP spid="25602"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pPr>
              <a:defRPr/>
            </a:pPr>
            <a:fld id="{DD6C68E3-0F6A-45B0-965E-5A6E62F5DC4D}" type="slidenum">
              <a:rPr lang="fr-FR"/>
              <a:pPr>
                <a:defRPr/>
              </a:pPr>
              <a:t>86</a:t>
            </a:fld>
            <a:r>
              <a:rPr lang="fr-FR"/>
              <a:t>/56</a:t>
            </a:r>
          </a:p>
        </p:txBody>
      </p:sp>
      <p:sp>
        <p:nvSpPr>
          <p:cNvPr id="6147" name="Rectangle 2"/>
          <p:cNvSpPr>
            <a:spLocks noGrp="1" noChangeArrowheads="1"/>
          </p:cNvSpPr>
          <p:nvPr>
            <p:ph type="title"/>
          </p:nvPr>
        </p:nvSpPr>
        <p:spPr>
          <a:xfrm>
            <a:off x="838200" y="-291697"/>
            <a:ext cx="10515600" cy="1325563"/>
          </a:xfrm>
        </p:spPr>
        <p:txBody>
          <a:bodyPr/>
          <a:lstStyle/>
          <a:p>
            <a:pPr eaLnBrk="1" hangingPunct="1"/>
            <a:r>
              <a:rPr lang="fr-FR" dirty="0" smtClean="0"/>
              <a:t>Présentation</a:t>
            </a:r>
          </a:p>
        </p:txBody>
      </p:sp>
      <p:sp>
        <p:nvSpPr>
          <p:cNvPr id="6148" name="Rectangle 3"/>
          <p:cNvSpPr>
            <a:spLocks noGrp="1" noChangeArrowheads="1"/>
          </p:cNvSpPr>
          <p:nvPr>
            <p:ph type="body" idx="1"/>
          </p:nvPr>
        </p:nvSpPr>
        <p:spPr>
          <a:xfrm>
            <a:off x="1524000" y="1196976"/>
            <a:ext cx="9144000" cy="5661025"/>
          </a:xfrm>
        </p:spPr>
        <p:txBody>
          <a:bodyPr/>
          <a:lstStyle/>
          <a:p>
            <a:pPr eaLnBrk="1" hangingPunct="1">
              <a:lnSpc>
                <a:spcPct val="80000"/>
              </a:lnSpc>
            </a:pPr>
            <a:r>
              <a:rPr lang="fr-FR" sz="2400"/>
              <a:t> MS Word est un traitement de texte. Il permet de :</a:t>
            </a:r>
          </a:p>
          <a:p>
            <a:pPr lvl="1" eaLnBrk="1" hangingPunct="1">
              <a:lnSpc>
                <a:spcPct val="80000"/>
              </a:lnSpc>
            </a:pPr>
            <a:r>
              <a:rPr lang="fr-FR" sz="2000"/>
              <a:t> mettre en forme des documents (rapports de stages, thèses, mémoires, etc.)</a:t>
            </a:r>
          </a:p>
          <a:p>
            <a:pPr lvl="1" eaLnBrk="1" hangingPunct="1">
              <a:lnSpc>
                <a:spcPct val="80000"/>
              </a:lnSpc>
            </a:pPr>
            <a:r>
              <a:rPr lang="fr-FR" sz="2000"/>
              <a:t> de les compléter avec des graphiques, images,  documents de calculs, résultats de requêtes etc.</a:t>
            </a:r>
          </a:p>
          <a:p>
            <a:pPr lvl="1" eaLnBrk="1" hangingPunct="1">
              <a:lnSpc>
                <a:spcPct val="80000"/>
              </a:lnSpc>
            </a:pPr>
            <a:r>
              <a:rPr lang="fr-FR" sz="2000"/>
              <a:t> d’automatiser la présentation (table de matière automatiques, index etc.)</a:t>
            </a:r>
          </a:p>
          <a:p>
            <a:pPr eaLnBrk="1" hangingPunct="1">
              <a:lnSpc>
                <a:spcPct val="80000"/>
              </a:lnSpc>
            </a:pPr>
            <a:r>
              <a:rPr lang="fr-FR" sz="2400"/>
              <a:t> MS Word est wysiwyg = </a:t>
            </a:r>
            <a:r>
              <a:rPr lang="fr-FR" sz="2400" i="1"/>
              <a:t>« What you see is what you get »</a:t>
            </a:r>
            <a:r>
              <a:rPr lang="fr-FR" sz="2400"/>
              <a:t> (quand on imprime) mais aussi </a:t>
            </a:r>
            <a:r>
              <a:rPr lang="fr-FR" sz="2400" i="1"/>
              <a:t>« what you see is all you get »</a:t>
            </a:r>
            <a:r>
              <a:rPr lang="fr-FR" sz="2400"/>
              <a:t> (on ne peut faire mieux que ce que l’on voit)</a:t>
            </a:r>
          </a:p>
          <a:p>
            <a:pPr eaLnBrk="1" hangingPunct="1">
              <a:lnSpc>
                <a:spcPct val="80000"/>
              </a:lnSpc>
            </a:pPr>
            <a:r>
              <a:rPr lang="fr-FR" sz="2400"/>
              <a:t> Il reste néanmoins très puissants et suffisant pour beaucoup de documents écrit (pour ce qui préfère plus compliqué mais plus puissant, il existe LaTeX)</a:t>
            </a:r>
          </a:p>
          <a:p>
            <a:pPr eaLnBrk="1" hangingPunct="1">
              <a:lnSpc>
                <a:spcPct val="80000"/>
              </a:lnSpc>
            </a:pPr>
            <a:r>
              <a:rPr lang="fr-FR" sz="2400"/>
              <a:t> MS Word fait partie de la suite MS Office. C’est donc un logiciel propriétaire. Il existe série Office gratuite appelé « OpenOffice »</a:t>
            </a:r>
          </a:p>
          <a:p>
            <a:pPr eaLnBrk="1" hangingPunct="1">
              <a:lnSpc>
                <a:spcPct val="80000"/>
              </a:lnSpc>
            </a:pPr>
            <a:r>
              <a:rPr lang="fr-FR" sz="2400"/>
              <a:t> Et par rapport à MS Office 2007 ? En fait la version que nous allons utiliser est celle de 2003. Il n’y a pas de grosses modifications et les principes que nous allons voir restent les mêmes (seules les dessins des icônes ont changé)</a:t>
            </a:r>
          </a:p>
        </p:txBody>
      </p:sp>
    </p:spTree>
    <p:extLst>
      <p:ext uri="{BB962C8B-B14F-4D97-AF65-F5344CB8AC3E}">
        <p14:creationId xmlns:p14="http://schemas.microsoft.com/office/powerpoint/2010/main" val="2225739588"/>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5"/>
          <p:cNvSpPr>
            <a:spLocks noGrp="1"/>
          </p:cNvSpPr>
          <p:nvPr>
            <p:ph type="sldNum" sz="quarter" idx="12"/>
          </p:nvPr>
        </p:nvSpPr>
        <p:spPr/>
        <p:txBody>
          <a:bodyPr/>
          <a:lstStyle/>
          <a:p>
            <a:pPr>
              <a:defRPr/>
            </a:pPr>
            <a:fld id="{A5E248B0-4034-425C-AD51-682517E9D9C0}" type="slidenum">
              <a:rPr lang="fr-FR"/>
              <a:pPr>
                <a:defRPr/>
              </a:pPr>
              <a:t>87</a:t>
            </a:fld>
            <a:r>
              <a:rPr lang="fr-FR"/>
              <a:t>/56</a:t>
            </a:r>
          </a:p>
        </p:txBody>
      </p:sp>
      <p:sp>
        <p:nvSpPr>
          <p:cNvPr id="7171" name="Rectangle 2"/>
          <p:cNvSpPr>
            <a:spLocks noGrp="1" noChangeArrowheads="1"/>
          </p:cNvSpPr>
          <p:nvPr>
            <p:ph type="title"/>
          </p:nvPr>
        </p:nvSpPr>
        <p:spPr>
          <a:xfrm>
            <a:off x="838200" y="-85633"/>
            <a:ext cx="10515600" cy="1325563"/>
          </a:xfrm>
        </p:spPr>
        <p:txBody>
          <a:bodyPr/>
          <a:lstStyle/>
          <a:p>
            <a:pPr eaLnBrk="1" hangingPunct="1"/>
            <a:r>
              <a:rPr lang="fr-FR" dirty="0" smtClean="0"/>
              <a:t>Lancement</a:t>
            </a:r>
          </a:p>
        </p:txBody>
      </p:sp>
      <p:sp>
        <p:nvSpPr>
          <p:cNvPr id="7172" name="Rectangle 3"/>
          <p:cNvSpPr>
            <a:spLocks noGrp="1" noChangeArrowheads="1"/>
          </p:cNvSpPr>
          <p:nvPr>
            <p:ph type="body" idx="1"/>
          </p:nvPr>
        </p:nvSpPr>
        <p:spPr>
          <a:xfrm>
            <a:off x="1524000" y="1052513"/>
            <a:ext cx="9144000" cy="4114800"/>
          </a:xfrm>
        </p:spPr>
        <p:txBody>
          <a:bodyPr/>
          <a:lstStyle/>
          <a:p>
            <a:pPr eaLnBrk="1" hangingPunct="1"/>
            <a:r>
              <a:rPr lang="fr-FR" dirty="0" smtClean="0"/>
              <a:t> Soit par  un icône sur votre bureau</a:t>
            </a:r>
          </a:p>
          <a:p>
            <a:pPr eaLnBrk="1" hangingPunct="1"/>
            <a:r>
              <a:rPr lang="fr-FR" dirty="0" smtClean="0"/>
              <a:t> Soit par la barre Office</a:t>
            </a:r>
          </a:p>
          <a:p>
            <a:pPr eaLnBrk="1" hangingPunct="1">
              <a:buFontTx/>
              <a:buNone/>
            </a:pPr>
            <a:endParaRPr lang="fr-FR" dirty="0" smtClean="0"/>
          </a:p>
          <a:p>
            <a:pPr eaLnBrk="1" hangingPunct="1"/>
            <a:r>
              <a:rPr lang="fr-FR" dirty="0" smtClean="0"/>
              <a:t> Soit rechercher le raccourci lançant le programme Microsoft Word, soit dans le menu Démarrer, puis Programmes, soit sur le bureau, soit dans la barre des tâches…</a:t>
            </a:r>
          </a:p>
        </p:txBody>
      </p:sp>
      <p:pic>
        <p:nvPicPr>
          <p:cNvPr id="717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75764" y="1"/>
            <a:ext cx="1392237"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4" name="Picture 5"/>
          <p:cNvPicPr>
            <a:picLocks noChangeAspect="1" noChangeArrowheads="1"/>
          </p:cNvPicPr>
          <p:nvPr/>
        </p:nvPicPr>
        <p:blipFill>
          <a:blip r:embed="rId3">
            <a:extLst>
              <a:ext uri="{28A0092B-C50C-407E-A947-70E740481C1C}">
                <a14:useLocalDpi xmlns:a14="http://schemas.microsoft.com/office/drawing/2010/main" val="0"/>
              </a:ext>
            </a:extLst>
          </a:blip>
          <a:srcRect l="97095" b="75665"/>
          <a:stretch>
            <a:fillRect/>
          </a:stretch>
        </p:blipFill>
        <p:spPr bwMode="auto">
          <a:xfrm>
            <a:off x="8040688" y="1125539"/>
            <a:ext cx="190500" cy="176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5" name="Picture 6"/>
          <p:cNvPicPr>
            <a:picLocks noChangeAspect="1" noChangeArrowheads="1"/>
          </p:cNvPicPr>
          <p:nvPr/>
        </p:nvPicPr>
        <p:blipFill>
          <a:blip r:embed="rId4">
            <a:extLst>
              <a:ext uri="{28A0092B-C50C-407E-A947-70E740481C1C}">
                <a14:useLocalDpi xmlns:a14="http://schemas.microsoft.com/office/drawing/2010/main" val="0"/>
              </a:ext>
            </a:extLst>
          </a:blip>
          <a:srcRect t="56046" r="54922"/>
          <a:stretch>
            <a:fillRect/>
          </a:stretch>
        </p:blipFill>
        <p:spPr bwMode="auto">
          <a:xfrm>
            <a:off x="4800600" y="4378326"/>
            <a:ext cx="3443288" cy="247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25502099"/>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4"/>
          <p:cNvSpPr>
            <a:spLocks noGrp="1"/>
          </p:cNvSpPr>
          <p:nvPr>
            <p:ph type="sldNum" sz="quarter" idx="12"/>
          </p:nvPr>
        </p:nvSpPr>
        <p:spPr/>
        <p:txBody>
          <a:bodyPr/>
          <a:lstStyle/>
          <a:p>
            <a:pPr>
              <a:defRPr/>
            </a:pPr>
            <a:fld id="{5D659714-0364-4275-824F-128E15FEDA5C}" type="slidenum">
              <a:rPr lang="fr-FR"/>
              <a:pPr>
                <a:defRPr/>
              </a:pPr>
              <a:t>88</a:t>
            </a:fld>
            <a:r>
              <a:rPr lang="fr-FR"/>
              <a:t>/56</a:t>
            </a:r>
          </a:p>
        </p:txBody>
      </p:sp>
      <p:sp>
        <p:nvSpPr>
          <p:cNvPr id="8195" name="Rectangle 4"/>
          <p:cNvSpPr>
            <a:spLocks noGrp="1" noChangeArrowheads="1"/>
          </p:cNvSpPr>
          <p:nvPr>
            <p:ph type="title"/>
          </p:nvPr>
        </p:nvSpPr>
        <p:spPr>
          <a:xfrm>
            <a:off x="838200" y="-304576"/>
            <a:ext cx="10515600" cy="1325563"/>
          </a:xfrm>
        </p:spPr>
        <p:txBody>
          <a:bodyPr/>
          <a:lstStyle/>
          <a:p>
            <a:pPr eaLnBrk="1" hangingPunct="1"/>
            <a:r>
              <a:rPr lang="fr-FR" dirty="0" smtClean="0"/>
              <a:t>Page d’accueil</a:t>
            </a:r>
          </a:p>
        </p:txBody>
      </p:sp>
      <p:pic>
        <p:nvPicPr>
          <p:cNvPr id="819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058864"/>
            <a:ext cx="9144000" cy="527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197" name="AutoShape 6"/>
          <p:cNvSpPr>
            <a:spLocks/>
          </p:cNvSpPr>
          <p:nvPr/>
        </p:nvSpPr>
        <p:spPr bwMode="auto">
          <a:xfrm>
            <a:off x="3216276" y="2420939"/>
            <a:ext cx="1389063" cy="584775"/>
          </a:xfrm>
          <a:prstGeom prst="borderCallout2">
            <a:avLst>
              <a:gd name="adj1" fmla="val 41667"/>
              <a:gd name="adj2" fmla="val -7574"/>
              <a:gd name="adj3" fmla="val 41667"/>
              <a:gd name="adj4" fmla="val -17426"/>
              <a:gd name="adj5" fmla="val -187731"/>
              <a:gd name="adj6" fmla="val -27463"/>
            </a:avLst>
          </a:prstGeom>
          <a:solidFill>
            <a:srgbClr val="FFFFFF"/>
          </a:solidFill>
          <a:ln w="9525">
            <a:solidFill>
              <a:srgbClr val="000000"/>
            </a:solidFill>
            <a:miter lim="800000"/>
            <a:headEnd/>
            <a:tailEnd/>
          </a:ln>
        </p:spPr>
        <p:txBody>
          <a:bodyPr>
            <a:spAutoFit/>
          </a:bodyPr>
          <a:lstStyle>
            <a:lvl1pPr>
              <a:defRPr sz="2000">
                <a:solidFill>
                  <a:schemeClr val="tx1"/>
                </a:solidFill>
                <a:latin typeface="Vianta" pitchFamily="66" charset="0"/>
              </a:defRPr>
            </a:lvl1pPr>
            <a:lvl2pPr marL="742950" indent="-285750">
              <a:defRPr sz="2000">
                <a:solidFill>
                  <a:schemeClr val="tx1"/>
                </a:solidFill>
                <a:latin typeface="Vianta" pitchFamily="66" charset="0"/>
              </a:defRPr>
            </a:lvl2pPr>
            <a:lvl3pPr marL="1143000" indent="-228600">
              <a:defRPr sz="2000">
                <a:solidFill>
                  <a:schemeClr val="tx1"/>
                </a:solidFill>
                <a:latin typeface="Vianta" pitchFamily="66" charset="0"/>
              </a:defRPr>
            </a:lvl3pPr>
            <a:lvl4pPr marL="1600200" indent="-228600">
              <a:defRPr sz="2000">
                <a:solidFill>
                  <a:schemeClr val="tx1"/>
                </a:solidFill>
                <a:latin typeface="Vianta" pitchFamily="66" charset="0"/>
              </a:defRPr>
            </a:lvl4pPr>
            <a:lvl5pPr marL="2057400" indent="-228600">
              <a:defRPr sz="2000">
                <a:solidFill>
                  <a:schemeClr val="tx1"/>
                </a:solidFill>
                <a:latin typeface="Vianta" pitchFamily="66" charset="0"/>
              </a:defRPr>
            </a:lvl5pPr>
            <a:lvl6pPr marL="2514600" indent="-228600" eaLnBrk="0" fontAlgn="base" hangingPunct="0">
              <a:spcBef>
                <a:spcPct val="0"/>
              </a:spcBef>
              <a:spcAft>
                <a:spcPct val="0"/>
              </a:spcAft>
              <a:defRPr sz="2000">
                <a:solidFill>
                  <a:schemeClr val="tx1"/>
                </a:solidFill>
                <a:latin typeface="Vianta" pitchFamily="66" charset="0"/>
              </a:defRPr>
            </a:lvl6pPr>
            <a:lvl7pPr marL="2971800" indent="-228600" eaLnBrk="0" fontAlgn="base" hangingPunct="0">
              <a:spcBef>
                <a:spcPct val="0"/>
              </a:spcBef>
              <a:spcAft>
                <a:spcPct val="0"/>
              </a:spcAft>
              <a:defRPr sz="2000">
                <a:solidFill>
                  <a:schemeClr val="tx1"/>
                </a:solidFill>
                <a:latin typeface="Vianta" pitchFamily="66" charset="0"/>
              </a:defRPr>
            </a:lvl7pPr>
            <a:lvl8pPr marL="3429000" indent="-228600" eaLnBrk="0" fontAlgn="base" hangingPunct="0">
              <a:spcBef>
                <a:spcPct val="0"/>
              </a:spcBef>
              <a:spcAft>
                <a:spcPct val="0"/>
              </a:spcAft>
              <a:defRPr sz="2000">
                <a:solidFill>
                  <a:schemeClr val="tx1"/>
                </a:solidFill>
                <a:latin typeface="Vianta" pitchFamily="66" charset="0"/>
              </a:defRPr>
            </a:lvl8pPr>
            <a:lvl9pPr marL="3886200" indent="-228600" eaLnBrk="0" fontAlgn="base" hangingPunct="0">
              <a:spcBef>
                <a:spcPct val="0"/>
              </a:spcBef>
              <a:spcAft>
                <a:spcPct val="0"/>
              </a:spcAft>
              <a:defRPr sz="2000">
                <a:solidFill>
                  <a:schemeClr val="tx1"/>
                </a:solidFill>
                <a:latin typeface="Vianta" pitchFamily="66" charset="0"/>
              </a:defRPr>
            </a:lvl9pPr>
          </a:lstStyle>
          <a:p>
            <a:pPr eaLnBrk="1" hangingPunct="1"/>
            <a:r>
              <a:rPr lang="fr-FR" sz="1600"/>
              <a:t>Barre d’outils</a:t>
            </a:r>
          </a:p>
        </p:txBody>
      </p:sp>
      <p:sp>
        <p:nvSpPr>
          <p:cNvPr id="8198" name="AutoShape 7"/>
          <p:cNvSpPr>
            <a:spLocks/>
          </p:cNvSpPr>
          <p:nvPr/>
        </p:nvSpPr>
        <p:spPr bwMode="auto">
          <a:xfrm>
            <a:off x="5303838" y="2492376"/>
            <a:ext cx="2119312" cy="346075"/>
          </a:xfrm>
          <a:prstGeom prst="borderCallout2">
            <a:avLst>
              <a:gd name="adj1" fmla="val 41667"/>
              <a:gd name="adj2" fmla="val -5556"/>
              <a:gd name="adj3" fmla="val 41667"/>
              <a:gd name="adj4" fmla="val -12778"/>
              <a:gd name="adj5" fmla="val -187731"/>
              <a:gd name="adj6" fmla="val -20139"/>
            </a:avLst>
          </a:prstGeom>
          <a:solidFill>
            <a:srgbClr val="FFFFFF"/>
          </a:solidFill>
          <a:ln w="9525">
            <a:solidFill>
              <a:srgbClr val="000000"/>
            </a:solidFill>
            <a:miter lim="800000"/>
            <a:headEnd/>
            <a:tailEnd/>
          </a:ln>
        </p:spPr>
        <p:txBody>
          <a:bodyPr>
            <a:spAutoFit/>
          </a:bodyPr>
          <a:lstStyle>
            <a:lvl1pPr>
              <a:defRPr sz="2000">
                <a:solidFill>
                  <a:schemeClr val="tx1"/>
                </a:solidFill>
                <a:latin typeface="Vianta" pitchFamily="66" charset="0"/>
              </a:defRPr>
            </a:lvl1pPr>
            <a:lvl2pPr marL="742950" indent="-285750">
              <a:defRPr sz="2000">
                <a:solidFill>
                  <a:schemeClr val="tx1"/>
                </a:solidFill>
                <a:latin typeface="Vianta" pitchFamily="66" charset="0"/>
              </a:defRPr>
            </a:lvl2pPr>
            <a:lvl3pPr marL="1143000" indent="-228600">
              <a:defRPr sz="2000">
                <a:solidFill>
                  <a:schemeClr val="tx1"/>
                </a:solidFill>
                <a:latin typeface="Vianta" pitchFamily="66" charset="0"/>
              </a:defRPr>
            </a:lvl3pPr>
            <a:lvl4pPr marL="1600200" indent="-228600">
              <a:defRPr sz="2000">
                <a:solidFill>
                  <a:schemeClr val="tx1"/>
                </a:solidFill>
                <a:latin typeface="Vianta" pitchFamily="66" charset="0"/>
              </a:defRPr>
            </a:lvl4pPr>
            <a:lvl5pPr marL="2057400" indent="-228600">
              <a:defRPr sz="2000">
                <a:solidFill>
                  <a:schemeClr val="tx1"/>
                </a:solidFill>
                <a:latin typeface="Vianta" pitchFamily="66" charset="0"/>
              </a:defRPr>
            </a:lvl5pPr>
            <a:lvl6pPr marL="2514600" indent="-228600" eaLnBrk="0" fontAlgn="base" hangingPunct="0">
              <a:spcBef>
                <a:spcPct val="0"/>
              </a:spcBef>
              <a:spcAft>
                <a:spcPct val="0"/>
              </a:spcAft>
              <a:defRPr sz="2000">
                <a:solidFill>
                  <a:schemeClr val="tx1"/>
                </a:solidFill>
                <a:latin typeface="Vianta" pitchFamily="66" charset="0"/>
              </a:defRPr>
            </a:lvl6pPr>
            <a:lvl7pPr marL="2971800" indent="-228600" eaLnBrk="0" fontAlgn="base" hangingPunct="0">
              <a:spcBef>
                <a:spcPct val="0"/>
              </a:spcBef>
              <a:spcAft>
                <a:spcPct val="0"/>
              </a:spcAft>
              <a:defRPr sz="2000">
                <a:solidFill>
                  <a:schemeClr val="tx1"/>
                </a:solidFill>
                <a:latin typeface="Vianta" pitchFamily="66" charset="0"/>
              </a:defRPr>
            </a:lvl7pPr>
            <a:lvl8pPr marL="3429000" indent="-228600" eaLnBrk="0" fontAlgn="base" hangingPunct="0">
              <a:spcBef>
                <a:spcPct val="0"/>
              </a:spcBef>
              <a:spcAft>
                <a:spcPct val="0"/>
              </a:spcAft>
              <a:defRPr sz="2000">
                <a:solidFill>
                  <a:schemeClr val="tx1"/>
                </a:solidFill>
                <a:latin typeface="Vianta" pitchFamily="66" charset="0"/>
              </a:defRPr>
            </a:lvl8pPr>
            <a:lvl9pPr marL="3886200" indent="-228600" eaLnBrk="0" fontAlgn="base" hangingPunct="0">
              <a:spcBef>
                <a:spcPct val="0"/>
              </a:spcBef>
              <a:spcAft>
                <a:spcPct val="0"/>
              </a:spcAft>
              <a:defRPr sz="2000">
                <a:solidFill>
                  <a:schemeClr val="tx1"/>
                </a:solidFill>
                <a:latin typeface="Vianta" pitchFamily="66" charset="0"/>
              </a:defRPr>
            </a:lvl9pPr>
          </a:lstStyle>
          <a:p>
            <a:pPr eaLnBrk="1" hangingPunct="1"/>
            <a:r>
              <a:rPr lang="fr-FR" sz="1600"/>
              <a:t>Règle horizontale</a:t>
            </a:r>
          </a:p>
        </p:txBody>
      </p:sp>
      <p:sp>
        <p:nvSpPr>
          <p:cNvPr id="8199" name="AutoShape 8"/>
          <p:cNvSpPr>
            <a:spLocks/>
          </p:cNvSpPr>
          <p:nvPr/>
        </p:nvSpPr>
        <p:spPr bwMode="auto">
          <a:xfrm>
            <a:off x="4367213" y="4005263"/>
            <a:ext cx="2857500" cy="590550"/>
          </a:xfrm>
          <a:prstGeom prst="borderCallout2">
            <a:avLst>
              <a:gd name="adj1" fmla="val 50000"/>
              <a:gd name="adj2" fmla="val -1111"/>
              <a:gd name="adj3" fmla="val 41667"/>
              <a:gd name="adj4" fmla="val -11273"/>
              <a:gd name="adj5" fmla="val -187731"/>
              <a:gd name="adj6" fmla="val -17769"/>
            </a:avLst>
          </a:prstGeom>
          <a:solidFill>
            <a:srgbClr val="FFFFFF"/>
          </a:solidFill>
          <a:ln w="9525">
            <a:solidFill>
              <a:srgbClr val="000000"/>
            </a:solidFill>
            <a:miter lim="800000"/>
            <a:headEnd/>
            <a:tailEnd/>
          </a:ln>
        </p:spPr>
        <p:txBody>
          <a:bodyPr>
            <a:spAutoFit/>
          </a:bodyPr>
          <a:lstStyle>
            <a:lvl1pPr>
              <a:defRPr sz="2000">
                <a:solidFill>
                  <a:schemeClr val="tx1"/>
                </a:solidFill>
                <a:latin typeface="Vianta" pitchFamily="66" charset="0"/>
              </a:defRPr>
            </a:lvl1pPr>
            <a:lvl2pPr marL="742950" indent="-285750">
              <a:defRPr sz="2000">
                <a:solidFill>
                  <a:schemeClr val="tx1"/>
                </a:solidFill>
                <a:latin typeface="Vianta" pitchFamily="66" charset="0"/>
              </a:defRPr>
            </a:lvl2pPr>
            <a:lvl3pPr marL="1143000" indent="-228600">
              <a:defRPr sz="2000">
                <a:solidFill>
                  <a:schemeClr val="tx1"/>
                </a:solidFill>
                <a:latin typeface="Vianta" pitchFamily="66" charset="0"/>
              </a:defRPr>
            </a:lvl3pPr>
            <a:lvl4pPr marL="1600200" indent="-228600">
              <a:defRPr sz="2000">
                <a:solidFill>
                  <a:schemeClr val="tx1"/>
                </a:solidFill>
                <a:latin typeface="Vianta" pitchFamily="66" charset="0"/>
              </a:defRPr>
            </a:lvl4pPr>
            <a:lvl5pPr marL="2057400" indent="-228600">
              <a:defRPr sz="2000">
                <a:solidFill>
                  <a:schemeClr val="tx1"/>
                </a:solidFill>
                <a:latin typeface="Vianta" pitchFamily="66" charset="0"/>
              </a:defRPr>
            </a:lvl5pPr>
            <a:lvl6pPr marL="2514600" indent="-228600" eaLnBrk="0" fontAlgn="base" hangingPunct="0">
              <a:spcBef>
                <a:spcPct val="0"/>
              </a:spcBef>
              <a:spcAft>
                <a:spcPct val="0"/>
              </a:spcAft>
              <a:defRPr sz="2000">
                <a:solidFill>
                  <a:schemeClr val="tx1"/>
                </a:solidFill>
                <a:latin typeface="Vianta" pitchFamily="66" charset="0"/>
              </a:defRPr>
            </a:lvl6pPr>
            <a:lvl7pPr marL="2971800" indent="-228600" eaLnBrk="0" fontAlgn="base" hangingPunct="0">
              <a:spcBef>
                <a:spcPct val="0"/>
              </a:spcBef>
              <a:spcAft>
                <a:spcPct val="0"/>
              </a:spcAft>
              <a:defRPr sz="2000">
                <a:solidFill>
                  <a:schemeClr val="tx1"/>
                </a:solidFill>
                <a:latin typeface="Vianta" pitchFamily="66" charset="0"/>
              </a:defRPr>
            </a:lvl7pPr>
            <a:lvl8pPr marL="3429000" indent="-228600" eaLnBrk="0" fontAlgn="base" hangingPunct="0">
              <a:spcBef>
                <a:spcPct val="0"/>
              </a:spcBef>
              <a:spcAft>
                <a:spcPct val="0"/>
              </a:spcAft>
              <a:defRPr sz="2000">
                <a:solidFill>
                  <a:schemeClr val="tx1"/>
                </a:solidFill>
                <a:latin typeface="Vianta" pitchFamily="66" charset="0"/>
              </a:defRPr>
            </a:lvl8pPr>
            <a:lvl9pPr marL="3886200" indent="-228600" eaLnBrk="0" fontAlgn="base" hangingPunct="0">
              <a:spcBef>
                <a:spcPct val="0"/>
              </a:spcBef>
              <a:spcAft>
                <a:spcPct val="0"/>
              </a:spcAft>
              <a:defRPr sz="2000">
                <a:solidFill>
                  <a:schemeClr val="tx1"/>
                </a:solidFill>
                <a:latin typeface="Vianta" pitchFamily="66" charset="0"/>
              </a:defRPr>
            </a:lvl9pPr>
          </a:lstStyle>
          <a:p>
            <a:pPr eaLnBrk="1" hangingPunct="1"/>
            <a:r>
              <a:rPr lang="fr-FR" sz="1600"/>
              <a:t>Curseur de saisie (point d’insertion clignotant)</a:t>
            </a:r>
          </a:p>
        </p:txBody>
      </p:sp>
      <p:sp>
        <p:nvSpPr>
          <p:cNvPr id="8200" name="AutoShape 9"/>
          <p:cNvSpPr>
            <a:spLocks/>
          </p:cNvSpPr>
          <p:nvPr/>
        </p:nvSpPr>
        <p:spPr bwMode="auto">
          <a:xfrm>
            <a:off x="8256588" y="4292600"/>
            <a:ext cx="1554162" cy="590550"/>
          </a:xfrm>
          <a:prstGeom prst="borderCallout2">
            <a:avLst>
              <a:gd name="adj1" fmla="val 41667"/>
              <a:gd name="adj2" fmla="val 104903"/>
              <a:gd name="adj3" fmla="val 41667"/>
              <a:gd name="adj4" fmla="val 125940"/>
              <a:gd name="adj5" fmla="val -298380"/>
              <a:gd name="adj6" fmla="val 147384"/>
            </a:avLst>
          </a:prstGeom>
          <a:solidFill>
            <a:srgbClr val="FFFFFF"/>
          </a:solidFill>
          <a:ln w="9525">
            <a:solidFill>
              <a:srgbClr val="000000"/>
            </a:solidFill>
            <a:miter lim="800000"/>
            <a:headEnd/>
            <a:tailEnd/>
          </a:ln>
        </p:spPr>
        <p:txBody>
          <a:bodyPr>
            <a:spAutoFit/>
          </a:bodyPr>
          <a:lstStyle>
            <a:lvl1pPr>
              <a:defRPr sz="2000">
                <a:solidFill>
                  <a:schemeClr val="tx1"/>
                </a:solidFill>
                <a:latin typeface="Vianta" pitchFamily="66" charset="0"/>
              </a:defRPr>
            </a:lvl1pPr>
            <a:lvl2pPr marL="742950" indent="-285750">
              <a:defRPr sz="2000">
                <a:solidFill>
                  <a:schemeClr val="tx1"/>
                </a:solidFill>
                <a:latin typeface="Vianta" pitchFamily="66" charset="0"/>
              </a:defRPr>
            </a:lvl2pPr>
            <a:lvl3pPr marL="1143000" indent="-228600">
              <a:defRPr sz="2000">
                <a:solidFill>
                  <a:schemeClr val="tx1"/>
                </a:solidFill>
                <a:latin typeface="Vianta" pitchFamily="66" charset="0"/>
              </a:defRPr>
            </a:lvl3pPr>
            <a:lvl4pPr marL="1600200" indent="-228600">
              <a:defRPr sz="2000">
                <a:solidFill>
                  <a:schemeClr val="tx1"/>
                </a:solidFill>
                <a:latin typeface="Vianta" pitchFamily="66" charset="0"/>
              </a:defRPr>
            </a:lvl4pPr>
            <a:lvl5pPr marL="2057400" indent="-228600">
              <a:defRPr sz="2000">
                <a:solidFill>
                  <a:schemeClr val="tx1"/>
                </a:solidFill>
                <a:latin typeface="Vianta" pitchFamily="66" charset="0"/>
              </a:defRPr>
            </a:lvl5pPr>
            <a:lvl6pPr marL="2514600" indent="-228600" eaLnBrk="0" fontAlgn="base" hangingPunct="0">
              <a:spcBef>
                <a:spcPct val="0"/>
              </a:spcBef>
              <a:spcAft>
                <a:spcPct val="0"/>
              </a:spcAft>
              <a:defRPr sz="2000">
                <a:solidFill>
                  <a:schemeClr val="tx1"/>
                </a:solidFill>
                <a:latin typeface="Vianta" pitchFamily="66" charset="0"/>
              </a:defRPr>
            </a:lvl6pPr>
            <a:lvl7pPr marL="2971800" indent="-228600" eaLnBrk="0" fontAlgn="base" hangingPunct="0">
              <a:spcBef>
                <a:spcPct val="0"/>
              </a:spcBef>
              <a:spcAft>
                <a:spcPct val="0"/>
              </a:spcAft>
              <a:defRPr sz="2000">
                <a:solidFill>
                  <a:schemeClr val="tx1"/>
                </a:solidFill>
                <a:latin typeface="Vianta" pitchFamily="66" charset="0"/>
              </a:defRPr>
            </a:lvl7pPr>
            <a:lvl8pPr marL="3429000" indent="-228600" eaLnBrk="0" fontAlgn="base" hangingPunct="0">
              <a:spcBef>
                <a:spcPct val="0"/>
              </a:spcBef>
              <a:spcAft>
                <a:spcPct val="0"/>
              </a:spcAft>
              <a:defRPr sz="2000">
                <a:solidFill>
                  <a:schemeClr val="tx1"/>
                </a:solidFill>
                <a:latin typeface="Vianta" pitchFamily="66" charset="0"/>
              </a:defRPr>
            </a:lvl8pPr>
            <a:lvl9pPr marL="3886200" indent="-228600" eaLnBrk="0" fontAlgn="base" hangingPunct="0">
              <a:spcBef>
                <a:spcPct val="0"/>
              </a:spcBef>
              <a:spcAft>
                <a:spcPct val="0"/>
              </a:spcAft>
              <a:defRPr sz="2000">
                <a:solidFill>
                  <a:schemeClr val="tx1"/>
                </a:solidFill>
                <a:latin typeface="Vianta" pitchFamily="66" charset="0"/>
              </a:defRPr>
            </a:lvl9pPr>
          </a:lstStyle>
          <a:p>
            <a:pPr eaLnBrk="1" hangingPunct="1"/>
            <a:r>
              <a:rPr lang="fr-FR" sz="1600"/>
              <a:t>Barre de défilement</a:t>
            </a:r>
          </a:p>
        </p:txBody>
      </p:sp>
      <p:sp>
        <p:nvSpPr>
          <p:cNvPr id="8201" name="AutoShape 10"/>
          <p:cNvSpPr>
            <a:spLocks/>
          </p:cNvSpPr>
          <p:nvPr/>
        </p:nvSpPr>
        <p:spPr bwMode="auto">
          <a:xfrm>
            <a:off x="1919288" y="4005263"/>
            <a:ext cx="1098550" cy="590550"/>
          </a:xfrm>
          <a:prstGeom prst="borderCallout2">
            <a:avLst>
              <a:gd name="adj1" fmla="val 41667"/>
              <a:gd name="adj2" fmla="val -6944"/>
              <a:gd name="adj3" fmla="val 41667"/>
              <a:gd name="adj4" fmla="val -15972"/>
              <a:gd name="adj5" fmla="val -187731"/>
              <a:gd name="adj6" fmla="val -25176"/>
            </a:avLst>
          </a:prstGeom>
          <a:solidFill>
            <a:srgbClr val="FFFFFF"/>
          </a:solidFill>
          <a:ln w="9525">
            <a:solidFill>
              <a:srgbClr val="000000"/>
            </a:solidFill>
            <a:miter lim="800000"/>
            <a:headEnd/>
            <a:tailEnd/>
          </a:ln>
        </p:spPr>
        <p:txBody>
          <a:bodyPr>
            <a:spAutoFit/>
          </a:bodyPr>
          <a:lstStyle>
            <a:lvl1pPr>
              <a:defRPr sz="2000">
                <a:solidFill>
                  <a:schemeClr val="tx1"/>
                </a:solidFill>
                <a:latin typeface="Vianta" pitchFamily="66" charset="0"/>
              </a:defRPr>
            </a:lvl1pPr>
            <a:lvl2pPr marL="742950" indent="-285750">
              <a:defRPr sz="2000">
                <a:solidFill>
                  <a:schemeClr val="tx1"/>
                </a:solidFill>
                <a:latin typeface="Vianta" pitchFamily="66" charset="0"/>
              </a:defRPr>
            </a:lvl2pPr>
            <a:lvl3pPr marL="1143000" indent="-228600">
              <a:defRPr sz="2000">
                <a:solidFill>
                  <a:schemeClr val="tx1"/>
                </a:solidFill>
                <a:latin typeface="Vianta" pitchFamily="66" charset="0"/>
              </a:defRPr>
            </a:lvl3pPr>
            <a:lvl4pPr marL="1600200" indent="-228600">
              <a:defRPr sz="2000">
                <a:solidFill>
                  <a:schemeClr val="tx1"/>
                </a:solidFill>
                <a:latin typeface="Vianta" pitchFamily="66" charset="0"/>
              </a:defRPr>
            </a:lvl4pPr>
            <a:lvl5pPr marL="2057400" indent="-228600">
              <a:defRPr sz="2000">
                <a:solidFill>
                  <a:schemeClr val="tx1"/>
                </a:solidFill>
                <a:latin typeface="Vianta" pitchFamily="66" charset="0"/>
              </a:defRPr>
            </a:lvl5pPr>
            <a:lvl6pPr marL="2514600" indent="-228600" eaLnBrk="0" fontAlgn="base" hangingPunct="0">
              <a:spcBef>
                <a:spcPct val="0"/>
              </a:spcBef>
              <a:spcAft>
                <a:spcPct val="0"/>
              </a:spcAft>
              <a:defRPr sz="2000">
                <a:solidFill>
                  <a:schemeClr val="tx1"/>
                </a:solidFill>
                <a:latin typeface="Vianta" pitchFamily="66" charset="0"/>
              </a:defRPr>
            </a:lvl6pPr>
            <a:lvl7pPr marL="2971800" indent="-228600" eaLnBrk="0" fontAlgn="base" hangingPunct="0">
              <a:spcBef>
                <a:spcPct val="0"/>
              </a:spcBef>
              <a:spcAft>
                <a:spcPct val="0"/>
              </a:spcAft>
              <a:defRPr sz="2000">
                <a:solidFill>
                  <a:schemeClr val="tx1"/>
                </a:solidFill>
                <a:latin typeface="Vianta" pitchFamily="66" charset="0"/>
              </a:defRPr>
            </a:lvl7pPr>
            <a:lvl8pPr marL="3429000" indent="-228600" eaLnBrk="0" fontAlgn="base" hangingPunct="0">
              <a:spcBef>
                <a:spcPct val="0"/>
              </a:spcBef>
              <a:spcAft>
                <a:spcPct val="0"/>
              </a:spcAft>
              <a:defRPr sz="2000">
                <a:solidFill>
                  <a:schemeClr val="tx1"/>
                </a:solidFill>
                <a:latin typeface="Vianta" pitchFamily="66" charset="0"/>
              </a:defRPr>
            </a:lvl8pPr>
            <a:lvl9pPr marL="3886200" indent="-228600" eaLnBrk="0" fontAlgn="base" hangingPunct="0">
              <a:spcBef>
                <a:spcPct val="0"/>
              </a:spcBef>
              <a:spcAft>
                <a:spcPct val="0"/>
              </a:spcAft>
              <a:defRPr sz="2000">
                <a:solidFill>
                  <a:schemeClr val="tx1"/>
                </a:solidFill>
                <a:latin typeface="Vianta" pitchFamily="66" charset="0"/>
              </a:defRPr>
            </a:lvl9pPr>
          </a:lstStyle>
          <a:p>
            <a:pPr eaLnBrk="1" hangingPunct="1"/>
            <a:r>
              <a:rPr lang="fr-FR" sz="1600"/>
              <a:t>Règle verticale</a:t>
            </a:r>
          </a:p>
        </p:txBody>
      </p:sp>
      <p:sp>
        <p:nvSpPr>
          <p:cNvPr id="8202" name="AutoShape 11"/>
          <p:cNvSpPr>
            <a:spLocks/>
          </p:cNvSpPr>
          <p:nvPr/>
        </p:nvSpPr>
        <p:spPr bwMode="auto">
          <a:xfrm>
            <a:off x="6096001" y="4868863"/>
            <a:ext cx="1554163" cy="590550"/>
          </a:xfrm>
          <a:prstGeom prst="borderCallout2">
            <a:avLst>
              <a:gd name="adj1" fmla="val 41667"/>
              <a:gd name="adj2" fmla="val 104903"/>
              <a:gd name="adj3" fmla="val 41667"/>
              <a:gd name="adj4" fmla="val 108417"/>
              <a:gd name="adj5" fmla="val 210880"/>
              <a:gd name="adj6" fmla="val 112009"/>
            </a:avLst>
          </a:prstGeom>
          <a:solidFill>
            <a:srgbClr val="FFFFFF"/>
          </a:solidFill>
          <a:ln w="9525">
            <a:solidFill>
              <a:srgbClr val="000000"/>
            </a:solidFill>
            <a:miter lim="800000"/>
            <a:headEnd/>
            <a:tailEnd/>
          </a:ln>
        </p:spPr>
        <p:txBody>
          <a:bodyPr>
            <a:spAutoFit/>
          </a:bodyPr>
          <a:lstStyle>
            <a:lvl1pPr>
              <a:defRPr sz="2000">
                <a:solidFill>
                  <a:schemeClr val="tx1"/>
                </a:solidFill>
                <a:latin typeface="Vianta" pitchFamily="66" charset="0"/>
              </a:defRPr>
            </a:lvl1pPr>
            <a:lvl2pPr marL="742950" indent="-285750">
              <a:defRPr sz="2000">
                <a:solidFill>
                  <a:schemeClr val="tx1"/>
                </a:solidFill>
                <a:latin typeface="Vianta" pitchFamily="66" charset="0"/>
              </a:defRPr>
            </a:lvl2pPr>
            <a:lvl3pPr marL="1143000" indent="-228600">
              <a:defRPr sz="2000">
                <a:solidFill>
                  <a:schemeClr val="tx1"/>
                </a:solidFill>
                <a:latin typeface="Vianta" pitchFamily="66" charset="0"/>
              </a:defRPr>
            </a:lvl3pPr>
            <a:lvl4pPr marL="1600200" indent="-228600">
              <a:defRPr sz="2000">
                <a:solidFill>
                  <a:schemeClr val="tx1"/>
                </a:solidFill>
                <a:latin typeface="Vianta" pitchFamily="66" charset="0"/>
              </a:defRPr>
            </a:lvl4pPr>
            <a:lvl5pPr marL="2057400" indent="-228600">
              <a:defRPr sz="2000">
                <a:solidFill>
                  <a:schemeClr val="tx1"/>
                </a:solidFill>
                <a:latin typeface="Vianta" pitchFamily="66" charset="0"/>
              </a:defRPr>
            </a:lvl5pPr>
            <a:lvl6pPr marL="2514600" indent="-228600" eaLnBrk="0" fontAlgn="base" hangingPunct="0">
              <a:spcBef>
                <a:spcPct val="0"/>
              </a:spcBef>
              <a:spcAft>
                <a:spcPct val="0"/>
              </a:spcAft>
              <a:defRPr sz="2000">
                <a:solidFill>
                  <a:schemeClr val="tx1"/>
                </a:solidFill>
                <a:latin typeface="Vianta" pitchFamily="66" charset="0"/>
              </a:defRPr>
            </a:lvl6pPr>
            <a:lvl7pPr marL="2971800" indent="-228600" eaLnBrk="0" fontAlgn="base" hangingPunct="0">
              <a:spcBef>
                <a:spcPct val="0"/>
              </a:spcBef>
              <a:spcAft>
                <a:spcPct val="0"/>
              </a:spcAft>
              <a:defRPr sz="2000">
                <a:solidFill>
                  <a:schemeClr val="tx1"/>
                </a:solidFill>
                <a:latin typeface="Vianta" pitchFamily="66" charset="0"/>
              </a:defRPr>
            </a:lvl7pPr>
            <a:lvl8pPr marL="3429000" indent="-228600" eaLnBrk="0" fontAlgn="base" hangingPunct="0">
              <a:spcBef>
                <a:spcPct val="0"/>
              </a:spcBef>
              <a:spcAft>
                <a:spcPct val="0"/>
              </a:spcAft>
              <a:defRPr sz="2000">
                <a:solidFill>
                  <a:schemeClr val="tx1"/>
                </a:solidFill>
                <a:latin typeface="Vianta" pitchFamily="66" charset="0"/>
              </a:defRPr>
            </a:lvl8pPr>
            <a:lvl9pPr marL="3886200" indent="-228600" eaLnBrk="0" fontAlgn="base" hangingPunct="0">
              <a:spcBef>
                <a:spcPct val="0"/>
              </a:spcBef>
              <a:spcAft>
                <a:spcPct val="0"/>
              </a:spcAft>
              <a:defRPr sz="2000">
                <a:solidFill>
                  <a:schemeClr val="tx1"/>
                </a:solidFill>
                <a:latin typeface="Vianta" pitchFamily="66" charset="0"/>
              </a:defRPr>
            </a:lvl9pPr>
          </a:lstStyle>
          <a:p>
            <a:pPr eaLnBrk="1" hangingPunct="1"/>
            <a:r>
              <a:rPr lang="fr-FR" sz="1600"/>
              <a:t>Barre de défilement</a:t>
            </a:r>
          </a:p>
        </p:txBody>
      </p:sp>
      <p:sp>
        <p:nvSpPr>
          <p:cNvPr id="8203" name="AutoShape 12"/>
          <p:cNvSpPr>
            <a:spLocks/>
          </p:cNvSpPr>
          <p:nvPr/>
        </p:nvSpPr>
        <p:spPr bwMode="auto">
          <a:xfrm>
            <a:off x="4079876" y="5013326"/>
            <a:ext cx="1439863" cy="346075"/>
          </a:xfrm>
          <a:prstGeom prst="borderCallout2">
            <a:avLst>
              <a:gd name="adj1" fmla="val 41667"/>
              <a:gd name="adj2" fmla="val -8773"/>
              <a:gd name="adj3" fmla="val 162384"/>
              <a:gd name="adj4" fmla="val -114884"/>
              <a:gd name="adj5" fmla="val 362037"/>
              <a:gd name="adj6" fmla="val -156870"/>
            </a:avLst>
          </a:prstGeom>
          <a:solidFill>
            <a:srgbClr val="FFFFFF"/>
          </a:solidFill>
          <a:ln w="9525">
            <a:solidFill>
              <a:srgbClr val="000000"/>
            </a:solidFill>
            <a:miter lim="800000"/>
            <a:headEnd/>
            <a:tailEnd/>
          </a:ln>
        </p:spPr>
        <p:txBody>
          <a:bodyPr>
            <a:spAutoFit/>
          </a:bodyPr>
          <a:lstStyle>
            <a:lvl1pPr>
              <a:defRPr sz="2000">
                <a:solidFill>
                  <a:schemeClr val="tx1"/>
                </a:solidFill>
                <a:latin typeface="Vianta" pitchFamily="66" charset="0"/>
              </a:defRPr>
            </a:lvl1pPr>
            <a:lvl2pPr marL="742950" indent="-285750">
              <a:defRPr sz="2000">
                <a:solidFill>
                  <a:schemeClr val="tx1"/>
                </a:solidFill>
                <a:latin typeface="Vianta" pitchFamily="66" charset="0"/>
              </a:defRPr>
            </a:lvl2pPr>
            <a:lvl3pPr marL="1143000" indent="-228600">
              <a:defRPr sz="2000">
                <a:solidFill>
                  <a:schemeClr val="tx1"/>
                </a:solidFill>
                <a:latin typeface="Vianta" pitchFamily="66" charset="0"/>
              </a:defRPr>
            </a:lvl3pPr>
            <a:lvl4pPr marL="1600200" indent="-228600">
              <a:defRPr sz="2000">
                <a:solidFill>
                  <a:schemeClr val="tx1"/>
                </a:solidFill>
                <a:latin typeface="Vianta" pitchFamily="66" charset="0"/>
              </a:defRPr>
            </a:lvl4pPr>
            <a:lvl5pPr marL="2057400" indent="-228600">
              <a:defRPr sz="2000">
                <a:solidFill>
                  <a:schemeClr val="tx1"/>
                </a:solidFill>
                <a:latin typeface="Vianta" pitchFamily="66" charset="0"/>
              </a:defRPr>
            </a:lvl5pPr>
            <a:lvl6pPr marL="2514600" indent="-228600" eaLnBrk="0" fontAlgn="base" hangingPunct="0">
              <a:spcBef>
                <a:spcPct val="0"/>
              </a:spcBef>
              <a:spcAft>
                <a:spcPct val="0"/>
              </a:spcAft>
              <a:defRPr sz="2000">
                <a:solidFill>
                  <a:schemeClr val="tx1"/>
                </a:solidFill>
                <a:latin typeface="Vianta" pitchFamily="66" charset="0"/>
              </a:defRPr>
            </a:lvl6pPr>
            <a:lvl7pPr marL="2971800" indent="-228600" eaLnBrk="0" fontAlgn="base" hangingPunct="0">
              <a:spcBef>
                <a:spcPct val="0"/>
              </a:spcBef>
              <a:spcAft>
                <a:spcPct val="0"/>
              </a:spcAft>
              <a:defRPr sz="2000">
                <a:solidFill>
                  <a:schemeClr val="tx1"/>
                </a:solidFill>
                <a:latin typeface="Vianta" pitchFamily="66" charset="0"/>
              </a:defRPr>
            </a:lvl7pPr>
            <a:lvl8pPr marL="3429000" indent="-228600" eaLnBrk="0" fontAlgn="base" hangingPunct="0">
              <a:spcBef>
                <a:spcPct val="0"/>
              </a:spcBef>
              <a:spcAft>
                <a:spcPct val="0"/>
              </a:spcAft>
              <a:defRPr sz="2000">
                <a:solidFill>
                  <a:schemeClr val="tx1"/>
                </a:solidFill>
                <a:latin typeface="Vianta" pitchFamily="66" charset="0"/>
              </a:defRPr>
            </a:lvl8pPr>
            <a:lvl9pPr marL="3886200" indent="-228600" eaLnBrk="0" fontAlgn="base" hangingPunct="0">
              <a:spcBef>
                <a:spcPct val="0"/>
              </a:spcBef>
              <a:spcAft>
                <a:spcPct val="0"/>
              </a:spcAft>
              <a:defRPr sz="2000">
                <a:solidFill>
                  <a:schemeClr val="tx1"/>
                </a:solidFill>
                <a:latin typeface="Vianta" pitchFamily="66" charset="0"/>
              </a:defRPr>
            </a:lvl9pPr>
          </a:lstStyle>
          <a:p>
            <a:pPr eaLnBrk="1" hangingPunct="1"/>
            <a:r>
              <a:rPr lang="fr-FR" sz="1600"/>
              <a:t>Barre d’état</a:t>
            </a:r>
          </a:p>
        </p:txBody>
      </p:sp>
    </p:spTree>
    <p:extLst>
      <p:ext uri="{BB962C8B-B14F-4D97-AF65-F5344CB8AC3E}">
        <p14:creationId xmlns:p14="http://schemas.microsoft.com/office/powerpoint/2010/main" val="3793923371"/>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pPr>
              <a:defRPr/>
            </a:pPr>
            <a:fld id="{53DA3F5F-A218-4064-9AF7-7F1639064489}" type="slidenum">
              <a:rPr lang="fr-FR"/>
              <a:pPr>
                <a:defRPr/>
              </a:pPr>
              <a:t>89</a:t>
            </a:fld>
            <a:r>
              <a:rPr lang="fr-FR"/>
              <a:t>/56</a:t>
            </a:r>
          </a:p>
        </p:txBody>
      </p:sp>
      <p:sp>
        <p:nvSpPr>
          <p:cNvPr id="9219" name="Rectangle 2"/>
          <p:cNvSpPr>
            <a:spLocks noGrp="1" noChangeArrowheads="1"/>
          </p:cNvSpPr>
          <p:nvPr>
            <p:ph type="title"/>
          </p:nvPr>
        </p:nvSpPr>
        <p:spPr>
          <a:xfrm>
            <a:off x="838200" y="-227303"/>
            <a:ext cx="10515600" cy="1325563"/>
          </a:xfrm>
        </p:spPr>
        <p:txBody>
          <a:bodyPr/>
          <a:lstStyle/>
          <a:p>
            <a:pPr eaLnBrk="1" hangingPunct="1"/>
            <a:r>
              <a:rPr lang="fr-FR" dirty="0" smtClean="0"/>
              <a:t>Tout çà ?</a:t>
            </a:r>
          </a:p>
        </p:txBody>
      </p:sp>
      <p:sp>
        <p:nvSpPr>
          <p:cNvPr id="9220" name="Rectangle 3"/>
          <p:cNvSpPr>
            <a:spLocks noGrp="1" noChangeArrowheads="1"/>
          </p:cNvSpPr>
          <p:nvPr>
            <p:ph type="body" idx="1"/>
          </p:nvPr>
        </p:nvSpPr>
        <p:spPr>
          <a:xfrm>
            <a:off x="1524000" y="1052514"/>
            <a:ext cx="9144000" cy="5805487"/>
          </a:xfrm>
        </p:spPr>
        <p:txBody>
          <a:bodyPr/>
          <a:lstStyle/>
          <a:p>
            <a:pPr eaLnBrk="1" hangingPunct="1">
              <a:lnSpc>
                <a:spcPct val="80000"/>
              </a:lnSpc>
            </a:pPr>
            <a:r>
              <a:rPr lang="fr-FR"/>
              <a:t> Oui, MS Word est une « usine à gaz ». Mais néanmoins relativement conviviale. </a:t>
            </a:r>
          </a:p>
          <a:p>
            <a:pPr eaLnBrk="1" hangingPunct="1">
              <a:lnSpc>
                <a:spcPct val="80000"/>
              </a:lnSpc>
            </a:pPr>
            <a:r>
              <a:rPr lang="fr-FR"/>
              <a:t>Le Traitement de textes Word est lancé. Il s’ouvre en principe sur une page blanche, baptisée par défaut dans la barre de titre : « Document1 » </a:t>
            </a:r>
          </a:p>
          <a:p>
            <a:pPr eaLnBrk="1" hangingPunct="1">
              <a:lnSpc>
                <a:spcPct val="80000"/>
              </a:lnSpc>
            </a:pPr>
            <a:r>
              <a:rPr lang="fr-FR"/>
              <a:t> Nous trouvons </a:t>
            </a:r>
          </a:p>
          <a:p>
            <a:pPr lvl="1" eaLnBrk="1" hangingPunct="1">
              <a:lnSpc>
                <a:spcPct val="80000"/>
              </a:lnSpc>
            </a:pPr>
            <a:r>
              <a:rPr lang="fr-FR"/>
              <a:t> des menus et des boîtes à outils que l’on peut modifier</a:t>
            </a:r>
          </a:p>
          <a:p>
            <a:pPr lvl="1" eaLnBrk="1" hangingPunct="1">
              <a:lnSpc>
                <a:spcPct val="80000"/>
              </a:lnSpc>
            </a:pPr>
            <a:r>
              <a:rPr lang="fr-FR"/>
              <a:t> La première page du document</a:t>
            </a:r>
          </a:p>
          <a:p>
            <a:pPr lvl="1" eaLnBrk="1" hangingPunct="1">
              <a:lnSpc>
                <a:spcPct val="80000"/>
              </a:lnSpc>
            </a:pPr>
            <a:r>
              <a:rPr lang="fr-FR"/>
              <a:t> une règle sur le côté</a:t>
            </a:r>
          </a:p>
          <a:p>
            <a:pPr lvl="1" eaLnBrk="1" hangingPunct="1">
              <a:lnSpc>
                <a:spcPct val="80000"/>
              </a:lnSpc>
            </a:pPr>
            <a:r>
              <a:rPr lang="fr-FR"/>
              <a:t> des informations sur le documents et la saisie en bas</a:t>
            </a:r>
          </a:p>
          <a:p>
            <a:pPr eaLnBrk="1" hangingPunct="1">
              <a:lnSpc>
                <a:spcPct val="80000"/>
              </a:lnSpc>
            </a:pPr>
            <a:r>
              <a:rPr lang="fr-FR"/>
              <a:t> Des menus et des boîtes à outils peuvent apparaître en cours de travail. Cette affichage peut être réglés suivant vos besoins dans les options du menu « affichage »</a:t>
            </a:r>
          </a:p>
          <a:p>
            <a:pPr eaLnBrk="1" hangingPunct="1">
              <a:lnSpc>
                <a:spcPct val="80000"/>
              </a:lnSpc>
            </a:pPr>
            <a:r>
              <a:rPr lang="fr-FR"/>
              <a:t> Détaillons quelques boîtes importantes</a:t>
            </a:r>
          </a:p>
        </p:txBody>
      </p:sp>
    </p:spTree>
    <p:extLst>
      <p:ext uri="{BB962C8B-B14F-4D97-AF65-F5344CB8AC3E}">
        <p14:creationId xmlns:p14="http://schemas.microsoft.com/office/powerpoint/2010/main" val="358354246"/>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5F332739-F41D-4D18-9C9E-D66929E3F051}" type="slidenum">
              <a:rPr lang="fr-FR"/>
              <a:pPr>
                <a:defRPr/>
              </a:pPr>
              <a:t>90</a:t>
            </a:fld>
            <a:r>
              <a:rPr lang="fr-FR"/>
              <a:t>/56</a:t>
            </a:r>
          </a:p>
        </p:txBody>
      </p:sp>
      <p:sp>
        <p:nvSpPr>
          <p:cNvPr id="10243" name="Rectangle 2"/>
          <p:cNvSpPr>
            <a:spLocks noGrp="1" noChangeArrowheads="1"/>
          </p:cNvSpPr>
          <p:nvPr>
            <p:ph type="title"/>
          </p:nvPr>
        </p:nvSpPr>
        <p:spPr>
          <a:xfrm>
            <a:off x="838200" y="210577"/>
            <a:ext cx="10515600" cy="1325563"/>
          </a:xfrm>
        </p:spPr>
        <p:txBody>
          <a:bodyPr/>
          <a:lstStyle/>
          <a:p>
            <a:pPr eaLnBrk="1" hangingPunct="1"/>
            <a:r>
              <a:rPr lang="fr-FR" dirty="0" smtClean="0"/>
              <a:t>Boîte « standard »</a:t>
            </a:r>
          </a:p>
        </p:txBody>
      </p:sp>
      <p:sp>
        <p:nvSpPr>
          <p:cNvPr id="10244" name="Rectangle 3"/>
          <p:cNvSpPr>
            <a:spLocks noGrp="1" noChangeArrowheads="1"/>
          </p:cNvSpPr>
          <p:nvPr>
            <p:ph type="body" idx="1"/>
          </p:nvPr>
        </p:nvSpPr>
        <p:spPr>
          <a:xfrm>
            <a:off x="1524000" y="2276475"/>
            <a:ext cx="9144000" cy="4114800"/>
          </a:xfrm>
        </p:spPr>
        <p:txBody>
          <a:bodyPr/>
          <a:lstStyle/>
          <a:p>
            <a:pPr eaLnBrk="1" hangingPunct="1">
              <a:lnSpc>
                <a:spcPct val="90000"/>
              </a:lnSpc>
            </a:pPr>
            <a:r>
              <a:rPr lang="fr-FR" sz="2400"/>
              <a:t> Elle permet de faire les manipulations fondamentales du/des documents :</a:t>
            </a:r>
          </a:p>
          <a:p>
            <a:pPr lvl="1" eaLnBrk="1" hangingPunct="1">
              <a:lnSpc>
                <a:spcPct val="90000"/>
              </a:lnSpc>
            </a:pPr>
            <a:r>
              <a:rPr lang="fr-FR" sz="2000"/>
              <a:t> Nouveau documents, Ouvrir un document, sauvegarder un document etc.</a:t>
            </a:r>
          </a:p>
          <a:p>
            <a:pPr lvl="1" eaLnBrk="1" hangingPunct="1">
              <a:lnSpc>
                <a:spcPct val="90000"/>
              </a:lnSpc>
            </a:pPr>
            <a:r>
              <a:rPr lang="fr-FR" sz="2000"/>
              <a:t> Imprimer, rechercher</a:t>
            </a:r>
          </a:p>
          <a:p>
            <a:pPr lvl="1" eaLnBrk="1" hangingPunct="1">
              <a:lnSpc>
                <a:spcPct val="90000"/>
              </a:lnSpc>
            </a:pPr>
            <a:r>
              <a:rPr lang="fr-FR" sz="2000"/>
              <a:t> Orthographe</a:t>
            </a:r>
          </a:p>
          <a:p>
            <a:pPr lvl="1" eaLnBrk="1" hangingPunct="1">
              <a:lnSpc>
                <a:spcPct val="90000"/>
              </a:lnSpc>
            </a:pPr>
            <a:r>
              <a:rPr lang="fr-FR" sz="2000"/>
              <a:t> Copier/couper/coller</a:t>
            </a:r>
          </a:p>
          <a:p>
            <a:pPr lvl="1" eaLnBrk="1" hangingPunct="1">
              <a:lnSpc>
                <a:spcPct val="90000"/>
              </a:lnSpc>
            </a:pPr>
            <a:r>
              <a:rPr lang="fr-FR" sz="2000"/>
              <a:t> Annuler/recommencer</a:t>
            </a:r>
          </a:p>
          <a:p>
            <a:pPr lvl="1" eaLnBrk="1" hangingPunct="1">
              <a:lnSpc>
                <a:spcPct val="90000"/>
              </a:lnSpc>
            </a:pPr>
            <a:r>
              <a:rPr lang="fr-FR" sz="2000"/>
              <a:t> Url/option d’un tableau/ insérer un tableau/ nombre de colonnes</a:t>
            </a:r>
          </a:p>
          <a:p>
            <a:pPr lvl="1" eaLnBrk="1" hangingPunct="1">
              <a:lnSpc>
                <a:spcPct val="90000"/>
              </a:lnSpc>
            </a:pPr>
            <a:r>
              <a:rPr lang="fr-FR" sz="2000"/>
              <a:t> Explorateur du document/ affichage données « cachées »</a:t>
            </a:r>
          </a:p>
          <a:p>
            <a:pPr lvl="1" eaLnBrk="1" hangingPunct="1">
              <a:lnSpc>
                <a:spcPct val="90000"/>
              </a:lnSpc>
            </a:pPr>
            <a:r>
              <a:rPr lang="fr-FR" sz="2000"/>
              <a:t> Zoom et aide</a:t>
            </a:r>
          </a:p>
          <a:p>
            <a:pPr eaLnBrk="1" hangingPunct="1">
              <a:lnSpc>
                <a:spcPct val="90000"/>
              </a:lnSpc>
            </a:pPr>
            <a:r>
              <a:rPr lang="fr-FR" sz="2400"/>
              <a:t> Mettez votre souris sur les boutons pour connaître ce qu’ils font</a:t>
            </a:r>
          </a:p>
        </p:txBody>
      </p:sp>
      <p:pic>
        <p:nvPicPr>
          <p:cNvPr id="1024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1" y="1508125"/>
            <a:ext cx="8893175"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91504838"/>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E88E4B80-6BCD-4EAD-96E4-850E7CD0A0EA}" type="slidenum">
              <a:rPr lang="fr-FR"/>
              <a:pPr>
                <a:defRPr/>
              </a:pPr>
              <a:t>91</a:t>
            </a:fld>
            <a:r>
              <a:rPr lang="fr-FR"/>
              <a:t>/56</a:t>
            </a:r>
          </a:p>
        </p:txBody>
      </p:sp>
      <p:sp>
        <p:nvSpPr>
          <p:cNvPr id="11267" name="Rectangle 2"/>
          <p:cNvSpPr>
            <a:spLocks noGrp="1" noChangeArrowheads="1"/>
          </p:cNvSpPr>
          <p:nvPr>
            <p:ph type="title"/>
          </p:nvPr>
        </p:nvSpPr>
        <p:spPr>
          <a:xfrm>
            <a:off x="838200" y="236335"/>
            <a:ext cx="10515600" cy="1325563"/>
          </a:xfrm>
        </p:spPr>
        <p:txBody>
          <a:bodyPr/>
          <a:lstStyle/>
          <a:p>
            <a:pPr eaLnBrk="1" hangingPunct="1"/>
            <a:r>
              <a:rPr lang="fr-FR" dirty="0" smtClean="0"/>
              <a:t>Boîte « mise en forme »</a:t>
            </a:r>
          </a:p>
        </p:txBody>
      </p:sp>
      <p:sp>
        <p:nvSpPr>
          <p:cNvPr id="11268" name="Rectangle 3"/>
          <p:cNvSpPr>
            <a:spLocks noGrp="1" noChangeArrowheads="1"/>
          </p:cNvSpPr>
          <p:nvPr>
            <p:ph type="body" idx="1"/>
          </p:nvPr>
        </p:nvSpPr>
        <p:spPr>
          <a:xfrm>
            <a:off x="1524000" y="1981200"/>
            <a:ext cx="9144000" cy="4114800"/>
          </a:xfrm>
        </p:spPr>
        <p:txBody>
          <a:bodyPr/>
          <a:lstStyle/>
          <a:p>
            <a:pPr eaLnBrk="1" hangingPunct="1">
              <a:lnSpc>
                <a:spcPct val="80000"/>
              </a:lnSpc>
            </a:pPr>
            <a:r>
              <a:rPr lang="fr-FR"/>
              <a:t> Elle permet de choisir la mise en forme de base du texte</a:t>
            </a:r>
          </a:p>
          <a:p>
            <a:pPr eaLnBrk="1" hangingPunct="1">
              <a:lnSpc>
                <a:spcPct val="80000"/>
              </a:lnSpc>
            </a:pPr>
            <a:r>
              <a:rPr lang="fr-FR"/>
              <a:t> Pour des mises en forme plus subtiles, il faudra accéder au menus</a:t>
            </a:r>
          </a:p>
          <a:p>
            <a:pPr eaLnBrk="1" hangingPunct="1">
              <a:lnSpc>
                <a:spcPct val="80000"/>
              </a:lnSpc>
            </a:pPr>
            <a:r>
              <a:rPr lang="fr-FR"/>
              <a:t> Elle contient :</a:t>
            </a:r>
          </a:p>
          <a:p>
            <a:pPr lvl="1" eaLnBrk="1" hangingPunct="1">
              <a:lnSpc>
                <a:spcPct val="80000"/>
              </a:lnSpc>
            </a:pPr>
            <a:r>
              <a:rPr lang="fr-FR"/>
              <a:t> format du texte/ police d’écriture/ taille du texte</a:t>
            </a:r>
          </a:p>
          <a:p>
            <a:pPr lvl="1" eaLnBrk="1" hangingPunct="1">
              <a:lnSpc>
                <a:spcPct val="80000"/>
              </a:lnSpc>
            </a:pPr>
            <a:r>
              <a:rPr lang="fr-FR"/>
              <a:t> Gras/Italique/Souligné</a:t>
            </a:r>
          </a:p>
          <a:p>
            <a:pPr lvl="1" eaLnBrk="1" hangingPunct="1">
              <a:lnSpc>
                <a:spcPct val="80000"/>
              </a:lnSpc>
            </a:pPr>
            <a:r>
              <a:rPr lang="fr-FR"/>
              <a:t> Normal/Centré/Gauche/Aligné</a:t>
            </a:r>
          </a:p>
          <a:p>
            <a:pPr lvl="1" eaLnBrk="1" hangingPunct="1">
              <a:lnSpc>
                <a:spcPct val="80000"/>
              </a:lnSpc>
            </a:pPr>
            <a:r>
              <a:rPr lang="fr-FR"/>
              <a:t> Interligne</a:t>
            </a:r>
          </a:p>
          <a:p>
            <a:pPr lvl="1" eaLnBrk="1" hangingPunct="1">
              <a:lnSpc>
                <a:spcPct val="80000"/>
              </a:lnSpc>
            </a:pPr>
            <a:r>
              <a:rPr lang="fr-FR"/>
              <a:t> Numéros et puces</a:t>
            </a:r>
          </a:p>
          <a:p>
            <a:pPr lvl="1" eaLnBrk="1" hangingPunct="1">
              <a:lnSpc>
                <a:spcPct val="80000"/>
              </a:lnSpc>
            </a:pPr>
            <a:r>
              <a:rPr lang="fr-FR"/>
              <a:t> bordure, surligneur, couleur d’écriture</a:t>
            </a:r>
          </a:p>
        </p:txBody>
      </p:sp>
      <p:pic>
        <p:nvPicPr>
          <p:cNvPr id="1126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412875"/>
            <a:ext cx="9144000" cy="28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21300944"/>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pPr>
              <a:defRPr/>
            </a:pPr>
            <a:fld id="{CCC6762A-CFE4-465B-B3C8-6E7E294AE1B8}" type="slidenum">
              <a:rPr lang="fr-FR"/>
              <a:pPr>
                <a:defRPr/>
              </a:pPr>
              <a:t>92</a:t>
            </a:fld>
            <a:r>
              <a:rPr lang="fr-FR"/>
              <a:t>/56</a:t>
            </a:r>
          </a:p>
        </p:txBody>
      </p:sp>
      <p:sp>
        <p:nvSpPr>
          <p:cNvPr id="12291" name="Rectangle 4"/>
          <p:cNvSpPr>
            <a:spLocks noGrp="1" noChangeArrowheads="1"/>
          </p:cNvSpPr>
          <p:nvPr>
            <p:ph type="ctrTitle"/>
          </p:nvPr>
        </p:nvSpPr>
        <p:spPr>
          <a:xfrm>
            <a:off x="2209800" y="2130426"/>
            <a:ext cx="7772400" cy="1470025"/>
          </a:xfrm>
        </p:spPr>
        <p:txBody>
          <a:bodyPr anchor="ctr"/>
          <a:lstStyle/>
          <a:p>
            <a:pPr eaLnBrk="1" hangingPunct="1"/>
            <a:r>
              <a:rPr lang="fr-FR" sz="5400"/>
              <a:t>Première utilisation</a:t>
            </a:r>
          </a:p>
        </p:txBody>
      </p:sp>
    </p:spTree>
    <p:extLst>
      <p:ext uri="{BB962C8B-B14F-4D97-AF65-F5344CB8AC3E}">
        <p14:creationId xmlns:p14="http://schemas.microsoft.com/office/powerpoint/2010/main" val="2946027757"/>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5"/>
          <p:cNvSpPr>
            <a:spLocks noGrp="1"/>
          </p:cNvSpPr>
          <p:nvPr>
            <p:ph type="sldNum" sz="quarter" idx="12"/>
          </p:nvPr>
        </p:nvSpPr>
        <p:spPr/>
        <p:txBody>
          <a:bodyPr/>
          <a:lstStyle/>
          <a:p>
            <a:pPr>
              <a:defRPr/>
            </a:pPr>
            <a:fld id="{6D4606EF-63AF-4C64-9FEB-BE70B3638309}" type="slidenum">
              <a:rPr lang="fr-FR"/>
              <a:pPr>
                <a:defRPr/>
              </a:pPr>
              <a:t>93</a:t>
            </a:fld>
            <a:r>
              <a:rPr lang="fr-FR"/>
              <a:t>/56</a:t>
            </a:r>
          </a:p>
        </p:txBody>
      </p:sp>
      <p:sp>
        <p:nvSpPr>
          <p:cNvPr id="13315" name="Rectangle 2"/>
          <p:cNvSpPr>
            <a:spLocks noGrp="1" noChangeArrowheads="1"/>
          </p:cNvSpPr>
          <p:nvPr>
            <p:ph type="title"/>
          </p:nvPr>
        </p:nvSpPr>
        <p:spPr>
          <a:xfrm>
            <a:off x="838200" y="-356091"/>
            <a:ext cx="10515600" cy="1325563"/>
          </a:xfrm>
        </p:spPr>
        <p:txBody>
          <a:bodyPr/>
          <a:lstStyle/>
          <a:p>
            <a:pPr eaLnBrk="1" hangingPunct="1"/>
            <a:r>
              <a:rPr lang="fr-FR" dirty="0" smtClean="0"/>
              <a:t>Saisir du texte</a:t>
            </a:r>
          </a:p>
        </p:txBody>
      </p:sp>
      <p:sp>
        <p:nvSpPr>
          <p:cNvPr id="13316" name="Rectangle 3"/>
          <p:cNvSpPr>
            <a:spLocks noGrp="1" noChangeArrowheads="1"/>
          </p:cNvSpPr>
          <p:nvPr>
            <p:ph type="body" idx="1"/>
          </p:nvPr>
        </p:nvSpPr>
        <p:spPr>
          <a:xfrm>
            <a:off x="1524000" y="981076"/>
            <a:ext cx="9144000" cy="5114925"/>
          </a:xfrm>
        </p:spPr>
        <p:txBody>
          <a:bodyPr/>
          <a:lstStyle/>
          <a:p>
            <a:pPr eaLnBrk="1" hangingPunct="1"/>
            <a:r>
              <a:rPr lang="fr-FR" smtClean="0"/>
              <a:t>La saisie de texte s’effectue à partir du curseur de saisie</a:t>
            </a:r>
          </a:p>
          <a:p>
            <a:pPr eaLnBrk="1" hangingPunct="1"/>
            <a:endParaRPr lang="fr-FR" smtClean="0"/>
          </a:p>
          <a:p>
            <a:pPr eaLnBrk="1" hangingPunct="1"/>
            <a:endParaRPr lang="fr-FR" smtClean="0"/>
          </a:p>
          <a:p>
            <a:pPr eaLnBrk="1" hangingPunct="1"/>
            <a:endParaRPr lang="fr-FR" smtClean="0"/>
          </a:p>
          <a:p>
            <a:pPr eaLnBrk="1" hangingPunct="1"/>
            <a:endParaRPr lang="fr-FR" smtClean="0"/>
          </a:p>
          <a:p>
            <a:pPr eaLnBrk="1" hangingPunct="1"/>
            <a:r>
              <a:rPr lang="fr-FR" smtClean="0"/>
              <a:t> Ou bien (avec ¶ qui désigne la fin d’un paragraphe)</a:t>
            </a:r>
          </a:p>
        </p:txBody>
      </p:sp>
      <p:pic>
        <p:nvPicPr>
          <p:cNvPr id="1331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5051" y="1700213"/>
            <a:ext cx="3863975" cy="2595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3976" y="5033964"/>
            <a:ext cx="5121275" cy="182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9" name="Line 6"/>
          <p:cNvSpPr>
            <a:spLocks noChangeShapeType="1"/>
          </p:cNvSpPr>
          <p:nvPr/>
        </p:nvSpPr>
        <p:spPr bwMode="auto">
          <a:xfrm>
            <a:off x="2711450" y="2708276"/>
            <a:ext cx="2736850" cy="1008063"/>
          </a:xfrm>
          <a:prstGeom prst="line">
            <a:avLst/>
          </a:prstGeom>
          <a:noFill/>
          <a:ln w="508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20" name="Line 7"/>
          <p:cNvSpPr>
            <a:spLocks noChangeShapeType="1"/>
          </p:cNvSpPr>
          <p:nvPr/>
        </p:nvSpPr>
        <p:spPr bwMode="auto">
          <a:xfrm>
            <a:off x="2640014" y="5300664"/>
            <a:ext cx="3455987" cy="1330325"/>
          </a:xfrm>
          <a:prstGeom prst="line">
            <a:avLst/>
          </a:prstGeom>
          <a:noFill/>
          <a:ln w="508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005149018"/>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8F52101B-88A2-4F1A-AD0B-96FCE54FD942}" type="slidenum">
              <a:rPr lang="fr-FR"/>
              <a:pPr>
                <a:defRPr/>
              </a:pPr>
              <a:t>94</a:t>
            </a:fld>
            <a:r>
              <a:rPr lang="fr-FR"/>
              <a:t>/56</a:t>
            </a:r>
          </a:p>
        </p:txBody>
      </p:sp>
      <p:sp>
        <p:nvSpPr>
          <p:cNvPr id="14339" name="Rectangle 2"/>
          <p:cNvSpPr>
            <a:spLocks noGrp="1" noChangeArrowheads="1"/>
          </p:cNvSpPr>
          <p:nvPr>
            <p:ph type="title"/>
          </p:nvPr>
        </p:nvSpPr>
        <p:spPr/>
        <p:txBody>
          <a:bodyPr/>
          <a:lstStyle/>
          <a:p>
            <a:pPr eaLnBrk="1" hangingPunct="1"/>
            <a:r>
              <a:rPr lang="fr-FR" smtClean="0"/>
              <a:t>Exercice 1</a:t>
            </a:r>
          </a:p>
        </p:txBody>
      </p:sp>
      <p:sp>
        <p:nvSpPr>
          <p:cNvPr id="14340" name="Rectangle 3"/>
          <p:cNvSpPr>
            <a:spLocks noGrp="1" noChangeArrowheads="1"/>
          </p:cNvSpPr>
          <p:nvPr>
            <p:ph type="body" idx="1"/>
          </p:nvPr>
        </p:nvSpPr>
        <p:spPr>
          <a:xfrm>
            <a:off x="1524000" y="1981200"/>
            <a:ext cx="9144000" cy="4114800"/>
          </a:xfrm>
        </p:spPr>
        <p:txBody>
          <a:bodyPr/>
          <a:lstStyle/>
          <a:p>
            <a:pPr eaLnBrk="1" hangingPunct="1"/>
            <a:r>
              <a:rPr lang="fr-FR" smtClean="0"/>
              <a:t> Saisissez le texte ci dessus :</a:t>
            </a:r>
          </a:p>
        </p:txBody>
      </p:sp>
      <p:sp>
        <p:nvSpPr>
          <p:cNvPr id="14341" name="Rectangle 4"/>
          <p:cNvSpPr>
            <a:spLocks noChangeArrowheads="1"/>
          </p:cNvSpPr>
          <p:nvPr/>
        </p:nvSpPr>
        <p:spPr bwMode="auto">
          <a:xfrm>
            <a:off x="1524000" y="3276601"/>
            <a:ext cx="8891588"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Vianta" pitchFamily="66" charset="0"/>
              </a:defRPr>
            </a:lvl1pPr>
            <a:lvl2pPr marL="742950" indent="-285750">
              <a:defRPr sz="2000">
                <a:solidFill>
                  <a:schemeClr val="tx1"/>
                </a:solidFill>
                <a:latin typeface="Vianta" pitchFamily="66" charset="0"/>
              </a:defRPr>
            </a:lvl2pPr>
            <a:lvl3pPr marL="1143000" indent="-228600">
              <a:defRPr sz="2000">
                <a:solidFill>
                  <a:schemeClr val="tx1"/>
                </a:solidFill>
                <a:latin typeface="Vianta" pitchFamily="66" charset="0"/>
              </a:defRPr>
            </a:lvl3pPr>
            <a:lvl4pPr marL="1600200" indent="-228600">
              <a:defRPr sz="2000">
                <a:solidFill>
                  <a:schemeClr val="tx1"/>
                </a:solidFill>
                <a:latin typeface="Vianta" pitchFamily="66" charset="0"/>
              </a:defRPr>
            </a:lvl4pPr>
            <a:lvl5pPr marL="2057400" indent="-228600">
              <a:defRPr sz="2000">
                <a:solidFill>
                  <a:schemeClr val="tx1"/>
                </a:solidFill>
                <a:latin typeface="Vianta" pitchFamily="66" charset="0"/>
              </a:defRPr>
            </a:lvl5pPr>
            <a:lvl6pPr marL="2514600" indent="-228600" eaLnBrk="0" fontAlgn="base" hangingPunct="0">
              <a:spcBef>
                <a:spcPct val="0"/>
              </a:spcBef>
              <a:spcAft>
                <a:spcPct val="0"/>
              </a:spcAft>
              <a:defRPr sz="2000">
                <a:solidFill>
                  <a:schemeClr val="tx1"/>
                </a:solidFill>
                <a:latin typeface="Vianta" pitchFamily="66" charset="0"/>
              </a:defRPr>
            </a:lvl6pPr>
            <a:lvl7pPr marL="2971800" indent="-228600" eaLnBrk="0" fontAlgn="base" hangingPunct="0">
              <a:spcBef>
                <a:spcPct val="0"/>
              </a:spcBef>
              <a:spcAft>
                <a:spcPct val="0"/>
              </a:spcAft>
              <a:defRPr sz="2000">
                <a:solidFill>
                  <a:schemeClr val="tx1"/>
                </a:solidFill>
                <a:latin typeface="Vianta" pitchFamily="66" charset="0"/>
              </a:defRPr>
            </a:lvl7pPr>
            <a:lvl8pPr marL="3429000" indent="-228600" eaLnBrk="0" fontAlgn="base" hangingPunct="0">
              <a:spcBef>
                <a:spcPct val="0"/>
              </a:spcBef>
              <a:spcAft>
                <a:spcPct val="0"/>
              </a:spcAft>
              <a:defRPr sz="2000">
                <a:solidFill>
                  <a:schemeClr val="tx1"/>
                </a:solidFill>
                <a:latin typeface="Vianta" pitchFamily="66" charset="0"/>
              </a:defRPr>
            </a:lvl8pPr>
            <a:lvl9pPr marL="3886200" indent="-228600" eaLnBrk="0" fontAlgn="base" hangingPunct="0">
              <a:spcBef>
                <a:spcPct val="0"/>
              </a:spcBef>
              <a:spcAft>
                <a:spcPct val="0"/>
              </a:spcAft>
              <a:defRPr sz="2000">
                <a:solidFill>
                  <a:schemeClr val="tx1"/>
                </a:solidFill>
                <a:latin typeface="Vianta" pitchFamily="66" charset="0"/>
              </a:defRPr>
            </a:lvl9pPr>
          </a:lstStyle>
          <a:p>
            <a:pPr eaLnBrk="1" hangingPunct="1"/>
            <a:r>
              <a:rPr lang="fr-FR">
                <a:latin typeface="Times New Roman" panose="02020603050405020304" pitchFamily="18" charset="0"/>
              </a:rPr>
              <a:t>Bonjour à tous ! Ceci est votre premier exercice.</a:t>
            </a:r>
          </a:p>
          <a:p>
            <a:pPr eaLnBrk="1" hangingPunct="1"/>
            <a:endParaRPr lang="fr-FR">
              <a:latin typeface="Times New Roman" panose="02020603050405020304" pitchFamily="18" charset="0"/>
            </a:endParaRPr>
          </a:p>
          <a:p>
            <a:pPr eaLnBrk="1" hangingPunct="1"/>
            <a:r>
              <a:rPr lang="fr-FR">
                <a:latin typeface="Times New Roman" panose="02020603050405020304" pitchFamily="18" charset="0"/>
              </a:rPr>
              <a:t>Objet : Tapez sur 9 puis sur ç et à et è ; avez-vous réussi ?</a:t>
            </a:r>
          </a:p>
          <a:p>
            <a:pPr eaLnBrk="1" hangingPunct="1"/>
            <a:endParaRPr lang="fr-FR">
              <a:latin typeface="Times New Roman" panose="02020603050405020304" pitchFamily="18" charset="0"/>
            </a:endParaRPr>
          </a:p>
          <a:p>
            <a:pPr eaLnBrk="1" hangingPunct="1"/>
            <a:r>
              <a:rPr lang="fr-FR">
                <a:latin typeface="Times New Roman" panose="02020603050405020304" pitchFamily="18" charset="0"/>
              </a:rPr>
              <a:t>Destinataires : Maintenant, voici une phrase plus longue que vous devez taper entièrement (et finir d’avoir tous les accents comme pour pêcher et Maëstricht). </a:t>
            </a:r>
          </a:p>
        </p:txBody>
      </p:sp>
    </p:spTree>
    <p:extLst>
      <p:ext uri="{BB962C8B-B14F-4D97-AF65-F5344CB8AC3E}">
        <p14:creationId xmlns:p14="http://schemas.microsoft.com/office/powerpoint/2010/main" val="237287073"/>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pPr>
              <a:defRPr/>
            </a:pPr>
            <a:fld id="{25F76A87-1F67-469A-B8EA-89962788A93A}" type="slidenum">
              <a:rPr lang="fr-FR"/>
              <a:pPr>
                <a:defRPr/>
              </a:pPr>
              <a:t>95</a:t>
            </a:fld>
            <a:r>
              <a:rPr lang="fr-FR"/>
              <a:t>/56</a:t>
            </a:r>
          </a:p>
        </p:txBody>
      </p:sp>
      <p:sp>
        <p:nvSpPr>
          <p:cNvPr id="15363" name="Rectangle 2"/>
          <p:cNvSpPr>
            <a:spLocks noGrp="1" noChangeArrowheads="1"/>
          </p:cNvSpPr>
          <p:nvPr>
            <p:ph type="title"/>
          </p:nvPr>
        </p:nvSpPr>
        <p:spPr/>
        <p:txBody>
          <a:bodyPr/>
          <a:lstStyle/>
          <a:p>
            <a:pPr eaLnBrk="1" hangingPunct="1"/>
            <a:r>
              <a:rPr lang="fr-FR" smtClean="0"/>
              <a:t>Remarques</a:t>
            </a:r>
          </a:p>
        </p:txBody>
      </p:sp>
      <p:sp>
        <p:nvSpPr>
          <p:cNvPr id="15364" name="Rectangle 3"/>
          <p:cNvSpPr>
            <a:spLocks noGrp="1" noChangeArrowheads="1"/>
          </p:cNvSpPr>
          <p:nvPr>
            <p:ph type="body" idx="1"/>
          </p:nvPr>
        </p:nvSpPr>
        <p:spPr>
          <a:xfrm>
            <a:off x="1524000" y="1981200"/>
            <a:ext cx="9144000" cy="4114800"/>
          </a:xfrm>
        </p:spPr>
        <p:txBody>
          <a:bodyPr/>
          <a:lstStyle/>
          <a:p>
            <a:pPr eaLnBrk="1" hangingPunct="1">
              <a:lnSpc>
                <a:spcPct val="90000"/>
              </a:lnSpc>
            </a:pPr>
            <a:r>
              <a:rPr lang="fr-FR" sz="2400"/>
              <a:t> Pour effacer un caractère à gauche du curseur de saisie il faut appuyer sur la touche </a:t>
            </a:r>
            <a:r>
              <a:rPr lang="fr-FR" sz="2400">
                <a:sym typeface="Wingdings 3" panose="05040102010807070707" pitchFamily="18" charset="2"/>
              </a:rPr>
              <a:t></a:t>
            </a:r>
            <a:endParaRPr lang="fr-FR" sz="2400"/>
          </a:p>
          <a:p>
            <a:pPr eaLnBrk="1" hangingPunct="1">
              <a:lnSpc>
                <a:spcPct val="90000"/>
              </a:lnSpc>
            </a:pPr>
            <a:r>
              <a:rPr lang="fr-FR" sz="2400"/>
              <a:t> Pour effacer un caractère à droite du curseur de saisie il faut appuyer sur la touche </a:t>
            </a:r>
            <a:r>
              <a:rPr lang="fr-FR" sz="2400">
                <a:sym typeface="Wingdings 3" panose="05040102010807070707" pitchFamily="18" charset="2"/>
              </a:rPr>
              <a:t>« Suppr »</a:t>
            </a:r>
          </a:p>
          <a:p>
            <a:pPr eaLnBrk="1" hangingPunct="1">
              <a:lnSpc>
                <a:spcPct val="90000"/>
              </a:lnSpc>
            </a:pPr>
            <a:r>
              <a:rPr lang="fr-FR" sz="2400">
                <a:sym typeface="Wingdings 3" panose="05040102010807070707" pitchFamily="18" charset="2"/>
              </a:rPr>
              <a:t> A la saisie de la longue phrase, vous avez du remarquerer que Word revient à la ligne automatiquement lorsque le texte arrive à la droite de la feuille (c’est à dire ici à la position 16 cm sur la règle). </a:t>
            </a:r>
          </a:p>
          <a:p>
            <a:pPr eaLnBrk="1" hangingPunct="1">
              <a:lnSpc>
                <a:spcPct val="90000"/>
              </a:lnSpc>
            </a:pPr>
            <a:r>
              <a:rPr lang="fr-FR" sz="2400">
                <a:sym typeface="Wingdings 3" panose="05040102010807070707" pitchFamily="18" charset="2"/>
              </a:rPr>
              <a:t>Bien sur ce retour à la ligne dépend de la taille des caractères, de la police, des marges, … Il est important de distinguer le retour à la ligne automatique et celui provoqué par la touche « Entrée » </a:t>
            </a:r>
          </a:p>
        </p:txBody>
      </p:sp>
    </p:spTree>
    <p:extLst>
      <p:ext uri="{BB962C8B-B14F-4D97-AF65-F5344CB8AC3E}">
        <p14:creationId xmlns:p14="http://schemas.microsoft.com/office/powerpoint/2010/main" val="4056689855"/>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pPr>
              <a:defRPr/>
            </a:pPr>
            <a:fld id="{FBD31DE9-A2FF-48D7-BA2B-D0C2351BEFB0}" type="slidenum">
              <a:rPr lang="fr-FR"/>
              <a:pPr>
                <a:defRPr/>
              </a:pPr>
              <a:t>96</a:t>
            </a:fld>
            <a:r>
              <a:rPr lang="fr-FR"/>
              <a:t>/56</a:t>
            </a:r>
          </a:p>
        </p:txBody>
      </p:sp>
      <p:sp>
        <p:nvSpPr>
          <p:cNvPr id="16387" name="Rectangle 2"/>
          <p:cNvSpPr>
            <a:spLocks noGrp="1" noChangeArrowheads="1"/>
          </p:cNvSpPr>
          <p:nvPr>
            <p:ph type="title"/>
          </p:nvPr>
        </p:nvSpPr>
        <p:spPr>
          <a:xfrm>
            <a:off x="838200" y="-150031"/>
            <a:ext cx="10515600" cy="1325563"/>
          </a:xfrm>
        </p:spPr>
        <p:txBody>
          <a:bodyPr/>
          <a:lstStyle/>
          <a:p>
            <a:pPr eaLnBrk="1" hangingPunct="1"/>
            <a:r>
              <a:rPr lang="fr-FR" dirty="0" smtClean="0"/>
              <a:t>Caractères invisibles (1)</a:t>
            </a:r>
          </a:p>
        </p:txBody>
      </p:sp>
      <p:sp>
        <p:nvSpPr>
          <p:cNvPr id="16388" name="Rectangle 3"/>
          <p:cNvSpPr>
            <a:spLocks noGrp="1" noChangeArrowheads="1"/>
          </p:cNvSpPr>
          <p:nvPr>
            <p:ph type="body" idx="1"/>
          </p:nvPr>
        </p:nvSpPr>
        <p:spPr>
          <a:xfrm>
            <a:off x="1524000" y="1052514"/>
            <a:ext cx="9144000" cy="5805487"/>
          </a:xfrm>
        </p:spPr>
        <p:txBody>
          <a:bodyPr/>
          <a:lstStyle/>
          <a:p>
            <a:pPr eaLnBrk="1" hangingPunct="1"/>
            <a:r>
              <a:rPr lang="fr-FR" smtClean="0"/>
              <a:t> En Word, certain caractère ne sont pas visibles. En voici quelques un :</a:t>
            </a:r>
          </a:p>
          <a:p>
            <a:pPr lvl="1" eaLnBrk="1" hangingPunct="1"/>
            <a:r>
              <a:rPr lang="fr-FR" smtClean="0"/>
              <a:t> Espace est symbolisé par «•»</a:t>
            </a:r>
          </a:p>
          <a:p>
            <a:pPr lvl="1" eaLnBrk="1" hangingPunct="1"/>
            <a:r>
              <a:rPr lang="fr-FR" smtClean="0"/>
              <a:t> Lors de la saisie de « Objet : », vous avez remarqué l’apparition du symbole « ». Il indique un espace insécable (obtenu aussi par </a:t>
            </a:r>
            <a:r>
              <a:rPr lang="fr-FR" b="1" smtClean="0"/>
              <a:t>CTRL+MAJ</a:t>
            </a:r>
            <a:r>
              <a:rPr lang="fr-FR" b="1" smtClean="0">
                <a:sym typeface="Wingdings" panose="05000000000000000000" pitchFamily="2" charset="2"/>
              </a:rPr>
              <a:t></a:t>
            </a:r>
            <a:r>
              <a:rPr lang="fr-FR" b="1" smtClean="0"/>
              <a:t>+ESPACE</a:t>
            </a:r>
            <a:r>
              <a:rPr lang="fr-FR" smtClean="0"/>
              <a:t>)  </a:t>
            </a:r>
          </a:p>
          <a:p>
            <a:pPr lvl="1" eaLnBrk="1" hangingPunct="1"/>
            <a:r>
              <a:rPr lang="fr-FR" smtClean="0"/>
              <a:t> Tout paragraphe se termine par une fin de paragraphe ¶ lors l’appui sur la touche « Entrée » </a:t>
            </a:r>
          </a:p>
          <a:p>
            <a:pPr eaLnBrk="1" hangingPunct="1"/>
            <a:r>
              <a:rPr lang="fr-FR" smtClean="0"/>
              <a:t> Vous pouvez (ou non) demander l’affichage de ces caractère en cliquant sur </a:t>
            </a:r>
          </a:p>
        </p:txBody>
      </p:sp>
      <p:pic>
        <p:nvPicPr>
          <p:cNvPr id="1638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5624514"/>
            <a:ext cx="4572000" cy="1233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390" name="Line 5"/>
          <p:cNvSpPr>
            <a:spLocks noChangeShapeType="1"/>
          </p:cNvSpPr>
          <p:nvPr/>
        </p:nvSpPr>
        <p:spPr bwMode="auto">
          <a:xfrm flipV="1">
            <a:off x="3216275" y="6165851"/>
            <a:ext cx="4967288" cy="142875"/>
          </a:xfrm>
          <a:prstGeom prst="line">
            <a:avLst/>
          </a:prstGeom>
          <a:noFill/>
          <a:ln w="508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221442785"/>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2524D62D-D1F9-4DB6-B9C2-8AE4DBF9DFF1}" type="slidenum">
              <a:rPr lang="fr-FR"/>
              <a:pPr>
                <a:defRPr/>
              </a:pPr>
              <a:t>97</a:t>
            </a:fld>
            <a:r>
              <a:rPr lang="fr-FR"/>
              <a:t>/56</a:t>
            </a:r>
          </a:p>
        </p:txBody>
      </p:sp>
      <p:sp>
        <p:nvSpPr>
          <p:cNvPr id="17411" name="Rectangle 2"/>
          <p:cNvSpPr>
            <a:spLocks noGrp="1" noChangeArrowheads="1"/>
          </p:cNvSpPr>
          <p:nvPr>
            <p:ph type="title"/>
          </p:nvPr>
        </p:nvSpPr>
        <p:spPr/>
        <p:txBody>
          <a:bodyPr/>
          <a:lstStyle/>
          <a:p>
            <a:pPr eaLnBrk="1" hangingPunct="1"/>
            <a:r>
              <a:rPr lang="fr-FR" smtClean="0"/>
              <a:t>Mode « refrappe » (1)</a:t>
            </a:r>
          </a:p>
        </p:txBody>
      </p:sp>
      <p:sp>
        <p:nvSpPr>
          <p:cNvPr id="17412" name="Rectangle 3"/>
          <p:cNvSpPr>
            <a:spLocks noGrp="1" noChangeArrowheads="1"/>
          </p:cNvSpPr>
          <p:nvPr>
            <p:ph type="body" idx="1"/>
          </p:nvPr>
        </p:nvSpPr>
        <p:spPr>
          <a:xfrm>
            <a:off x="1524000" y="1981200"/>
            <a:ext cx="9144000" cy="4114800"/>
          </a:xfrm>
        </p:spPr>
        <p:txBody>
          <a:bodyPr/>
          <a:lstStyle/>
          <a:p>
            <a:pPr eaLnBrk="1" hangingPunct="1">
              <a:lnSpc>
                <a:spcPct val="80000"/>
              </a:lnSpc>
            </a:pPr>
            <a:r>
              <a:rPr lang="fr-FR"/>
              <a:t> En général, lorsque vous placez le point d'insertion dans le texte et commencez à taper, Word libère de la place pour les nouveaux caractères en déplaçant les caractères existants vers la droite. </a:t>
            </a:r>
          </a:p>
          <a:p>
            <a:pPr eaLnBrk="1" hangingPunct="1">
              <a:lnSpc>
                <a:spcPct val="80000"/>
              </a:lnSpc>
            </a:pPr>
            <a:r>
              <a:rPr lang="fr-FR"/>
              <a:t>Toutefois, en utilisant la touche « INS » ou le mode Refrappe, vous pouvez indiquer à Word de remplacer ou de "refrapper" les caractères existants par ceux que vous tapez.</a:t>
            </a:r>
          </a:p>
          <a:p>
            <a:pPr eaLnBrk="1" hangingPunct="1">
              <a:lnSpc>
                <a:spcPct val="80000"/>
              </a:lnSpc>
            </a:pPr>
            <a:r>
              <a:rPr lang="fr-FR"/>
              <a:t> Pour activer provisoirement le mode Refrappe :</a:t>
            </a:r>
          </a:p>
          <a:p>
            <a:pPr lvl="1" eaLnBrk="1" hangingPunct="1">
              <a:lnSpc>
                <a:spcPct val="80000"/>
              </a:lnSpc>
            </a:pPr>
            <a:r>
              <a:rPr lang="fr-FR"/>
              <a:t> Appuyez sur la touche « Inser » du clavier </a:t>
            </a:r>
          </a:p>
          <a:p>
            <a:pPr lvl="1" eaLnBrk="1" hangingPunct="1">
              <a:lnSpc>
                <a:spcPct val="80000"/>
              </a:lnSpc>
            </a:pPr>
            <a:r>
              <a:rPr lang="fr-FR"/>
              <a:t> Lorsque le mode Refrappe est actif, les lettres "RFP" apparaissent sur la barre d'état </a:t>
            </a:r>
          </a:p>
        </p:txBody>
      </p:sp>
      <p:pic>
        <p:nvPicPr>
          <p:cNvPr id="17413" name="Picture 4"/>
          <p:cNvPicPr>
            <a:picLocks noChangeAspect="1" noChangeArrowheads="1"/>
          </p:cNvPicPr>
          <p:nvPr/>
        </p:nvPicPr>
        <p:blipFill>
          <a:blip r:embed="rId2">
            <a:extLst>
              <a:ext uri="{28A0092B-C50C-407E-A947-70E740481C1C}">
                <a14:useLocalDpi xmlns:a14="http://schemas.microsoft.com/office/drawing/2010/main" val="0"/>
              </a:ext>
            </a:extLst>
          </a:blip>
          <a:srcRect t="96352" r="41466"/>
          <a:stretch>
            <a:fillRect/>
          </a:stretch>
        </p:blipFill>
        <p:spPr bwMode="auto">
          <a:xfrm>
            <a:off x="1524000" y="6092826"/>
            <a:ext cx="91440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05245272"/>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pPr>
              <a:defRPr/>
            </a:pPr>
            <a:fld id="{6D22EED7-BE81-4DC5-AAEA-57322732E6A5}" type="slidenum">
              <a:rPr lang="fr-FR"/>
              <a:pPr>
                <a:defRPr/>
              </a:pPr>
              <a:t>98</a:t>
            </a:fld>
            <a:r>
              <a:rPr lang="fr-FR"/>
              <a:t>/56</a:t>
            </a:r>
          </a:p>
        </p:txBody>
      </p:sp>
      <p:sp>
        <p:nvSpPr>
          <p:cNvPr id="18435" name="Rectangle 2"/>
          <p:cNvSpPr>
            <a:spLocks noGrp="1" noChangeArrowheads="1"/>
          </p:cNvSpPr>
          <p:nvPr>
            <p:ph type="title"/>
          </p:nvPr>
        </p:nvSpPr>
        <p:spPr>
          <a:xfrm>
            <a:off x="838200" y="-227303"/>
            <a:ext cx="10515600" cy="1325563"/>
          </a:xfrm>
        </p:spPr>
        <p:txBody>
          <a:bodyPr/>
          <a:lstStyle/>
          <a:p>
            <a:pPr eaLnBrk="1" hangingPunct="1"/>
            <a:r>
              <a:rPr lang="fr-FR" dirty="0" smtClean="0"/>
              <a:t>Mode « Refrappe » (2)</a:t>
            </a:r>
          </a:p>
        </p:txBody>
      </p:sp>
      <p:sp>
        <p:nvSpPr>
          <p:cNvPr id="18436" name="Rectangle 3"/>
          <p:cNvSpPr>
            <a:spLocks noGrp="1" noChangeArrowheads="1"/>
          </p:cNvSpPr>
          <p:nvPr>
            <p:ph type="body" idx="1"/>
          </p:nvPr>
        </p:nvSpPr>
        <p:spPr>
          <a:xfrm>
            <a:off x="1524000" y="908051"/>
            <a:ext cx="9144000" cy="3578225"/>
          </a:xfrm>
        </p:spPr>
        <p:txBody>
          <a:bodyPr/>
          <a:lstStyle/>
          <a:p>
            <a:pPr lvl="1" eaLnBrk="1" hangingPunct="1"/>
            <a:r>
              <a:rPr lang="fr-FR"/>
              <a:t> Pour rétablir les paramètres par défaut du mode Refrappe, appuyez à nouveau sur INSER. Les lettres "RFP" disparaissent sur la barre d’état.</a:t>
            </a:r>
          </a:p>
          <a:p>
            <a:pPr lvl="1" eaLnBrk="1" hangingPunct="1"/>
            <a:endParaRPr lang="fr-FR"/>
          </a:p>
          <a:p>
            <a:pPr eaLnBrk="1" hangingPunct="1"/>
            <a:r>
              <a:rPr lang="fr-FR"/>
              <a:t> Cette procédure ne fonctionne que si vous n'avez pas coché l’option touche INS pour édition coller dans les options de Word (onglet Edition). En effet, cette fonction enregistre le contenu du Presse-papiers </a:t>
            </a:r>
          </a:p>
        </p:txBody>
      </p:sp>
      <p:pic>
        <p:nvPicPr>
          <p:cNvPr id="18437" name="Picture 4"/>
          <p:cNvPicPr>
            <a:picLocks noChangeAspect="1" noChangeArrowheads="1"/>
          </p:cNvPicPr>
          <p:nvPr/>
        </p:nvPicPr>
        <p:blipFill>
          <a:blip r:embed="rId2">
            <a:extLst>
              <a:ext uri="{28A0092B-C50C-407E-A947-70E740481C1C}">
                <a14:useLocalDpi xmlns:a14="http://schemas.microsoft.com/office/drawing/2010/main" val="0"/>
              </a:ext>
            </a:extLst>
          </a:blip>
          <a:srcRect t="96227" r="41466"/>
          <a:stretch>
            <a:fillRect/>
          </a:stretch>
        </p:blipFill>
        <p:spPr bwMode="auto">
          <a:xfrm>
            <a:off x="1524000" y="2133601"/>
            <a:ext cx="9144000"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1" y="3881438"/>
            <a:ext cx="3744913" cy="297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83275412"/>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pPr>
              <a:defRPr/>
            </a:pPr>
            <a:fld id="{3A6EB616-3318-4F73-946A-B7510A5F46ED}" type="slidenum">
              <a:rPr lang="fr-FR"/>
              <a:pPr>
                <a:defRPr/>
              </a:pPr>
              <a:t>99</a:t>
            </a:fld>
            <a:r>
              <a:rPr lang="fr-FR"/>
              <a:t>/56</a:t>
            </a:r>
          </a:p>
        </p:txBody>
      </p:sp>
      <p:sp>
        <p:nvSpPr>
          <p:cNvPr id="19459" name="Rectangle 2"/>
          <p:cNvSpPr>
            <a:spLocks noGrp="1" noChangeArrowheads="1"/>
          </p:cNvSpPr>
          <p:nvPr>
            <p:ph type="title"/>
          </p:nvPr>
        </p:nvSpPr>
        <p:spPr>
          <a:xfrm>
            <a:off x="838200" y="-394728"/>
            <a:ext cx="10515600" cy="1325563"/>
          </a:xfrm>
        </p:spPr>
        <p:txBody>
          <a:bodyPr/>
          <a:lstStyle/>
          <a:p>
            <a:pPr eaLnBrk="1" hangingPunct="1"/>
            <a:r>
              <a:rPr lang="fr-FR" dirty="0" smtClean="0"/>
              <a:t>Ouverture d’un document (1)</a:t>
            </a:r>
          </a:p>
        </p:txBody>
      </p:sp>
      <p:sp>
        <p:nvSpPr>
          <p:cNvPr id="19460" name="Rectangle 3"/>
          <p:cNvSpPr>
            <a:spLocks noGrp="1" noChangeArrowheads="1"/>
          </p:cNvSpPr>
          <p:nvPr>
            <p:ph type="body" idx="1"/>
          </p:nvPr>
        </p:nvSpPr>
        <p:spPr>
          <a:xfrm>
            <a:off x="1524001" y="1219200"/>
            <a:ext cx="5508625" cy="4114800"/>
          </a:xfrm>
        </p:spPr>
        <p:txBody>
          <a:bodyPr/>
          <a:lstStyle/>
          <a:p>
            <a:pPr eaLnBrk="1" hangingPunct="1">
              <a:lnSpc>
                <a:spcPct val="80000"/>
              </a:lnSpc>
            </a:pPr>
            <a:r>
              <a:rPr lang="fr-FR" sz="2400"/>
              <a:t> Si vous désirez ouvrir un document récent, Word mémorise les 9 derniers fichiers utilisés (valeur réglable dans les options / onglet général). </a:t>
            </a:r>
          </a:p>
          <a:p>
            <a:pPr eaLnBrk="1" hangingPunct="1">
              <a:lnSpc>
                <a:spcPct val="80000"/>
              </a:lnSpc>
            </a:pPr>
            <a:r>
              <a:rPr lang="fr-FR" sz="2400"/>
              <a:t>Activez le menu Fichier, puis cliquez le document à ouvrir. Vérifiez que le disque sur lequel est stocké ce document est encore disponible (cas souvent des disquettes ou lecteurs réseau).</a:t>
            </a:r>
          </a:p>
          <a:p>
            <a:pPr eaLnBrk="1" hangingPunct="1">
              <a:lnSpc>
                <a:spcPct val="80000"/>
              </a:lnSpc>
            </a:pPr>
            <a:r>
              <a:rPr lang="fr-FR" sz="2400"/>
              <a:t> Sinon, Activez le menu Fichier, puis l’option « Ouvrir » ou cliquez sur le bouton </a:t>
            </a:r>
          </a:p>
        </p:txBody>
      </p:sp>
      <p:pic>
        <p:nvPicPr>
          <p:cNvPr id="19461"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7550" y="981076"/>
            <a:ext cx="3600450" cy="587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2"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6275" y="4797425"/>
            <a:ext cx="1150938"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11879289"/>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EBE4C6C2-8D7C-43A3-A840-F8256A30DA35}" type="slidenum">
              <a:rPr lang="fr-FR"/>
              <a:pPr>
                <a:defRPr/>
              </a:pPr>
              <a:t>100</a:t>
            </a:fld>
            <a:r>
              <a:rPr lang="fr-FR"/>
              <a:t>/56</a:t>
            </a:r>
          </a:p>
        </p:txBody>
      </p:sp>
      <p:sp>
        <p:nvSpPr>
          <p:cNvPr id="20483" name="Rectangle 2"/>
          <p:cNvSpPr>
            <a:spLocks noGrp="1" noChangeArrowheads="1"/>
          </p:cNvSpPr>
          <p:nvPr>
            <p:ph type="title"/>
          </p:nvPr>
        </p:nvSpPr>
        <p:spPr>
          <a:xfrm>
            <a:off x="838200" y="-137156"/>
            <a:ext cx="10515600" cy="1325563"/>
          </a:xfrm>
        </p:spPr>
        <p:txBody>
          <a:bodyPr/>
          <a:lstStyle/>
          <a:p>
            <a:pPr eaLnBrk="1" hangingPunct="1"/>
            <a:r>
              <a:rPr lang="fr-FR" dirty="0" smtClean="0"/>
              <a:t>Ouverture d’un document (2)</a:t>
            </a:r>
          </a:p>
        </p:txBody>
      </p:sp>
      <p:sp>
        <p:nvSpPr>
          <p:cNvPr id="20484" name="Rectangle 3"/>
          <p:cNvSpPr>
            <a:spLocks noGrp="1" noChangeArrowheads="1"/>
          </p:cNvSpPr>
          <p:nvPr>
            <p:ph type="body" idx="1"/>
          </p:nvPr>
        </p:nvSpPr>
        <p:spPr>
          <a:xfrm>
            <a:off x="1524000" y="981076"/>
            <a:ext cx="9144000" cy="5876925"/>
          </a:xfrm>
        </p:spPr>
        <p:txBody>
          <a:bodyPr/>
          <a:lstStyle/>
          <a:p>
            <a:pPr eaLnBrk="1" hangingPunct="1"/>
            <a:r>
              <a:rPr lang="fr-FR" smtClean="0"/>
              <a:t> Vous obtenez une fenêtre du genre :</a:t>
            </a:r>
          </a:p>
          <a:p>
            <a:pPr eaLnBrk="1" hangingPunct="1"/>
            <a:endParaRPr lang="fr-FR" smtClean="0"/>
          </a:p>
          <a:p>
            <a:pPr eaLnBrk="1" hangingPunct="1"/>
            <a:endParaRPr lang="fr-FR" smtClean="0"/>
          </a:p>
          <a:p>
            <a:pPr eaLnBrk="1" hangingPunct="1"/>
            <a:endParaRPr lang="fr-FR" smtClean="0"/>
          </a:p>
          <a:p>
            <a:pPr eaLnBrk="1" hangingPunct="1"/>
            <a:endParaRPr lang="fr-FR" smtClean="0"/>
          </a:p>
          <a:p>
            <a:pPr eaLnBrk="1" hangingPunct="1"/>
            <a:endParaRPr lang="fr-FR" smtClean="0"/>
          </a:p>
          <a:p>
            <a:pPr eaLnBrk="1" hangingPunct="1"/>
            <a:endParaRPr lang="fr-FR" smtClean="0"/>
          </a:p>
          <a:p>
            <a:pPr eaLnBrk="1" hangingPunct="1"/>
            <a:endParaRPr lang="fr-FR" smtClean="0"/>
          </a:p>
          <a:p>
            <a:pPr eaLnBrk="1" hangingPunct="1"/>
            <a:r>
              <a:rPr lang="fr-FR" smtClean="0"/>
              <a:t> Cliquez le fichier choisi et validez par le bouton « Ouvrir ».</a:t>
            </a:r>
          </a:p>
        </p:txBody>
      </p:sp>
      <p:pic>
        <p:nvPicPr>
          <p:cNvPr id="2048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4151" y="1557338"/>
            <a:ext cx="6742113" cy="3765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70479680"/>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A0863DAE-E1E5-4774-A218-6CCB51FBB266}" type="slidenum">
              <a:rPr lang="fr-FR"/>
              <a:pPr>
                <a:defRPr/>
              </a:pPr>
              <a:t>101</a:t>
            </a:fld>
            <a:r>
              <a:rPr lang="fr-FR"/>
              <a:t>/56</a:t>
            </a:r>
          </a:p>
        </p:txBody>
      </p:sp>
      <p:sp>
        <p:nvSpPr>
          <p:cNvPr id="21507" name="Rectangle 2"/>
          <p:cNvSpPr>
            <a:spLocks noGrp="1" noChangeArrowheads="1"/>
          </p:cNvSpPr>
          <p:nvPr>
            <p:ph type="title"/>
          </p:nvPr>
        </p:nvSpPr>
        <p:spPr>
          <a:xfrm>
            <a:off x="838200" y="-356091"/>
            <a:ext cx="10515600" cy="1325563"/>
          </a:xfrm>
        </p:spPr>
        <p:txBody>
          <a:bodyPr/>
          <a:lstStyle/>
          <a:p>
            <a:pPr eaLnBrk="1" hangingPunct="1"/>
            <a:r>
              <a:rPr lang="fr-FR" dirty="0" smtClean="0"/>
              <a:t>Ouverture d’un document (3)</a:t>
            </a:r>
          </a:p>
        </p:txBody>
      </p:sp>
      <p:sp>
        <p:nvSpPr>
          <p:cNvPr id="21508" name="Rectangle 3"/>
          <p:cNvSpPr>
            <a:spLocks noGrp="1" noChangeArrowheads="1"/>
          </p:cNvSpPr>
          <p:nvPr>
            <p:ph type="body" idx="1"/>
          </p:nvPr>
        </p:nvSpPr>
        <p:spPr>
          <a:xfrm>
            <a:off x="1524000" y="981076"/>
            <a:ext cx="9144000" cy="5876925"/>
          </a:xfrm>
        </p:spPr>
        <p:txBody>
          <a:bodyPr>
            <a:normAutofit lnSpcReduction="10000"/>
          </a:bodyPr>
          <a:lstStyle/>
          <a:p>
            <a:pPr eaLnBrk="1" hangingPunct="1">
              <a:lnSpc>
                <a:spcPct val="90000"/>
              </a:lnSpc>
            </a:pPr>
            <a:r>
              <a:rPr lang="fr-FR"/>
              <a:t> Si le fichier n’est pas dans le dossier (répertoire), utilisez le menu « Regarder dans » et choisissez le dossier, disque souhaitez</a:t>
            </a:r>
          </a:p>
          <a:p>
            <a:pPr eaLnBrk="1" hangingPunct="1">
              <a:lnSpc>
                <a:spcPct val="90000"/>
              </a:lnSpc>
            </a:pPr>
            <a:endParaRPr lang="fr-FR"/>
          </a:p>
          <a:p>
            <a:pPr eaLnBrk="1" hangingPunct="1">
              <a:lnSpc>
                <a:spcPct val="90000"/>
              </a:lnSpc>
            </a:pPr>
            <a:endParaRPr lang="fr-FR"/>
          </a:p>
          <a:p>
            <a:pPr eaLnBrk="1" hangingPunct="1">
              <a:lnSpc>
                <a:spcPct val="90000"/>
              </a:lnSpc>
            </a:pPr>
            <a:endParaRPr lang="fr-FR"/>
          </a:p>
          <a:p>
            <a:pPr eaLnBrk="1" hangingPunct="1">
              <a:lnSpc>
                <a:spcPct val="90000"/>
              </a:lnSpc>
            </a:pPr>
            <a:endParaRPr lang="fr-FR"/>
          </a:p>
          <a:p>
            <a:pPr eaLnBrk="1" hangingPunct="1">
              <a:lnSpc>
                <a:spcPct val="90000"/>
              </a:lnSpc>
            </a:pPr>
            <a:endParaRPr lang="fr-FR"/>
          </a:p>
          <a:p>
            <a:pPr eaLnBrk="1" hangingPunct="1">
              <a:lnSpc>
                <a:spcPct val="90000"/>
              </a:lnSpc>
            </a:pPr>
            <a:endParaRPr lang="fr-FR"/>
          </a:p>
          <a:p>
            <a:pPr eaLnBrk="1" hangingPunct="1">
              <a:lnSpc>
                <a:spcPct val="90000"/>
              </a:lnSpc>
            </a:pPr>
            <a:r>
              <a:rPr lang="fr-FR"/>
              <a:t> Positionnez vous dans le dossier souhaité en effectuant des double-clics sur les différents dossiers. </a:t>
            </a:r>
          </a:p>
          <a:p>
            <a:pPr eaLnBrk="1" hangingPunct="1">
              <a:lnSpc>
                <a:spcPct val="90000"/>
              </a:lnSpc>
            </a:pPr>
            <a:r>
              <a:rPr lang="fr-FR"/>
              <a:t> Sélectionnez enfin le document souhaité, puis cliquez sur le bouton « Ouvrir » (ou double-clic sur le nom du fichier).</a:t>
            </a:r>
          </a:p>
        </p:txBody>
      </p:sp>
      <p:pic>
        <p:nvPicPr>
          <p:cNvPr id="2150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8075" y="1844676"/>
            <a:ext cx="5761038" cy="3205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56910783"/>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pPr>
              <a:defRPr/>
            </a:pPr>
            <a:fld id="{CDFD727E-F49B-4C4A-981D-9CBE85BDF660}" type="slidenum">
              <a:rPr lang="fr-FR"/>
              <a:pPr>
                <a:defRPr/>
              </a:pPr>
              <a:t>102</a:t>
            </a:fld>
            <a:r>
              <a:rPr lang="fr-FR"/>
              <a:t>/56</a:t>
            </a:r>
          </a:p>
        </p:txBody>
      </p:sp>
      <p:sp>
        <p:nvSpPr>
          <p:cNvPr id="22531" name="Rectangle 2"/>
          <p:cNvSpPr>
            <a:spLocks noGrp="1" noChangeArrowheads="1"/>
          </p:cNvSpPr>
          <p:nvPr>
            <p:ph type="title"/>
          </p:nvPr>
        </p:nvSpPr>
        <p:spPr>
          <a:xfrm>
            <a:off x="838200" y="-98515"/>
            <a:ext cx="10515600" cy="1325563"/>
          </a:xfrm>
        </p:spPr>
        <p:txBody>
          <a:bodyPr/>
          <a:lstStyle/>
          <a:p>
            <a:pPr eaLnBrk="1" hangingPunct="1"/>
            <a:r>
              <a:rPr lang="fr-FR" dirty="0" smtClean="0"/>
              <a:t>Enregistrer un document (1)</a:t>
            </a:r>
          </a:p>
        </p:txBody>
      </p:sp>
      <p:sp>
        <p:nvSpPr>
          <p:cNvPr id="22532" name="Rectangle 3"/>
          <p:cNvSpPr>
            <a:spLocks noGrp="1" noChangeArrowheads="1"/>
          </p:cNvSpPr>
          <p:nvPr>
            <p:ph type="body" idx="1"/>
          </p:nvPr>
        </p:nvSpPr>
        <p:spPr>
          <a:xfrm>
            <a:off x="1524001" y="1052514"/>
            <a:ext cx="5508625" cy="5043487"/>
          </a:xfrm>
        </p:spPr>
        <p:txBody>
          <a:bodyPr/>
          <a:lstStyle/>
          <a:p>
            <a:pPr eaLnBrk="1" hangingPunct="1"/>
            <a:r>
              <a:rPr lang="fr-FR"/>
              <a:t> Tout texte saisi, stocké en mémoire RAM (volatile) de l’ordinateur, doit être enregistré sur un support de mémoire secondaire (conservant les données quand l’ordinateur est éteint comme le disque dure, une clés USB etc.)</a:t>
            </a:r>
          </a:p>
          <a:p>
            <a:pPr eaLnBrk="1" hangingPunct="1"/>
            <a:r>
              <a:rPr lang="fr-FR"/>
              <a:t> Activez le menu « Fichier », puis cliquez sur « Enregistrer » </a:t>
            </a:r>
          </a:p>
          <a:p>
            <a:pPr eaLnBrk="1" hangingPunct="1"/>
            <a:r>
              <a:rPr lang="fr-FR"/>
              <a:t> ou sur le bouton </a:t>
            </a:r>
          </a:p>
        </p:txBody>
      </p:sp>
      <p:pic>
        <p:nvPicPr>
          <p:cNvPr id="2253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46938" y="981075"/>
            <a:ext cx="3421062" cy="446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7576" y="5661026"/>
            <a:ext cx="1152525" cy="1084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04017626"/>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5"/>
          <p:cNvSpPr>
            <a:spLocks noGrp="1"/>
          </p:cNvSpPr>
          <p:nvPr>
            <p:ph type="sldNum" sz="quarter" idx="12"/>
          </p:nvPr>
        </p:nvSpPr>
        <p:spPr/>
        <p:txBody>
          <a:bodyPr/>
          <a:lstStyle/>
          <a:p>
            <a:pPr>
              <a:defRPr/>
            </a:pPr>
            <a:fld id="{BDECC0A4-C663-45A5-A181-F2CA84E84647}" type="slidenum">
              <a:rPr lang="fr-FR"/>
              <a:pPr>
                <a:defRPr/>
              </a:pPr>
              <a:t>103</a:t>
            </a:fld>
            <a:r>
              <a:rPr lang="fr-FR"/>
              <a:t>/56</a:t>
            </a:r>
          </a:p>
        </p:txBody>
      </p:sp>
      <p:sp>
        <p:nvSpPr>
          <p:cNvPr id="23555" name="Rectangle 2"/>
          <p:cNvSpPr>
            <a:spLocks noGrp="1" noChangeArrowheads="1"/>
          </p:cNvSpPr>
          <p:nvPr>
            <p:ph type="title"/>
          </p:nvPr>
        </p:nvSpPr>
        <p:spPr>
          <a:xfrm>
            <a:off x="838200" y="-98515"/>
            <a:ext cx="10515600" cy="1325563"/>
          </a:xfrm>
        </p:spPr>
        <p:txBody>
          <a:bodyPr/>
          <a:lstStyle/>
          <a:p>
            <a:pPr eaLnBrk="1" hangingPunct="1"/>
            <a:r>
              <a:rPr lang="fr-FR" dirty="0" smtClean="0"/>
              <a:t>Enregistrer un document (2)</a:t>
            </a:r>
          </a:p>
        </p:txBody>
      </p:sp>
      <p:sp>
        <p:nvSpPr>
          <p:cNvPr id="23556" name="Rectangle 3"/>
          <p:cNvSpPr>
            <a:spLocks noGrp="1" noChangeArrowheads="1"/>
          </p:cNvSpPr>
          <p:nvPr>
            <p:ph type="body" idx="1"/>
          </p:nvPr>
        </p:nvSpPr>
        <p:spPr>
          <a:xfrm>
            <a:off x="1524000" y="1052514"/>
            <a:ext cx="9144000" cy="5805487"/>
          </a:xfrm>
        </p:spPr>
        <p:txBody>
          <a:bodyPr>
            <a:normAutofit fontScale="92500" lnSpcReduction="10000"/>
          </a:bodyPr>
          <a:lstStyle/>
          <a:p>
            <a:pPr eaLnBrk="1" hangingPunct="1">
              <a:lnSpc>
                <a:spcPct val="90000"/>
              </a:lnSpc>
            </a:pPr>
            <a:r>
              <a:rPr lang="fr-FR" sz="2400"/>
              <a:t> Si vous avez déjà enregistrer votre document, seule la progression de l’enregistrement est affichée</a:t>
            </a:r>
          </a:p>
          <a:p>
            <a:pPr eaLnBrk="1" hangingPunct="1">
              <a:lnSpc>
                <a:spcPct val="90000"/>
              </a:lnSpc>
            </a:pPr>
            <a:r>
              <a:rPr lang="fr-FR" sz="2400"/>
              <a:t> Si c’est le premier enregistrement, une fenêtre de ce genre apparaîtra :</a:t>
            </a:r>
          </a:p>
          <a:p>
            <a:pPr eaLnBrk="1" hangingPunct="1">
              <a:lnSpc>
                <a:spcPct val="90000"/>
              </a:lnSpc>
            </a:pPr>
            <a:endParaRPr lang="fr-FR" sz="2400"/>
          </a:p>
          <a:p>
            <a:pPr eaLnBrk="1" hangingPunct="1">
              <a:lnSpc>
                <a:spcPct val="90000"/>
              </a:lnSpc>
            </a:pPr>
            <a:endParaRPr lang="fr-FR" sz="2400"/>
          </a:p>
          <a:p>
            <a:pPr eaLnBrk="1" hangingPunct="1">
              <a:lnSpc>
                <a:spcPct val="90000"/>
              </a:lnSpc>
            </a:pPr>
            <a:endParaRPr lang="fr-FR" sz="2400"/>
          </a:p>
          <a:p>
            <a:pPr eaLnBrk="1" hangingPunct="1">
              <a:lnSpc>
                <a:spcPct val="90000"/>
              </a:lnSpc>
            </a:pPr>
            <a:endParaRPr lang="fr-FR" sz="2400"/>
          </a:p>
          <a:p>
            <a:pPr eaLnBrk="1" hangingPunct="1">
              <a:lnSpc>
                <a:spcPct val="90000"/>
              </a:lnSpc>
            </a:pPr>
            <a:endParaRPr lang="fr-FR" sz="2400"/>
          </a:p>
          <a:p>
            <a:pPr eaLnBrk="1" hangingPunct="1">
              <a:lnSpc>
                <a:spcPct val="90000"/>
              </a:lnSpc>
              <a:buFontTx/>
              <a:buNone/>
            </a:pPr>
            <a:endParaRPr lang="fr-FR" sz="2400"/>
          </a:p>
          <a:p>
            <a:pPr eaLnBrk="1" hangingPunct="1">
              <a:lnSpc>
                <a:spcPct val="90000"/>
              </a:lnSpc>
              <a:buFontTx/>
              <a:buNone/>
            </a:pPr>
            <a:endParaRPr lang="fr-FR" sz="2400"/>
          </a:p>
          <a:p>
            <a:pPr eaLnBrk="1" hangingPunct="1">
              <a:lnSpc>
                <a:spcPct val="90000"/>
              </a:lnSpc>
              <a:buFontTx/>
              <a:buNone/>
            </a:pPr>
            <a:endParaRPr lang="fr-FR" sz="2400"/>
          </a:p>
          <a:p>
            <a:pPr eaLnBrk="1" hangingPunct="1">
              <a:lnSpc>
                <a:spcPct val="90000"/>
              </a:lnSpc>
              <a:buFontTx/>
              <a:buNone/>
            </a:pPr>
            <a:endParaRPr lang="fr-FR" sz="2400"/>
          </a:p>
          <a:p>
            <a:pPr lvl="1" eaLnBrk="1" hangingPunct="1">
              <a:lnSpc>
                <a:spcPct val="90000"/>
              </a:lnSpc>
            </a:pPr>
            <a:r>
              <a:rPr lang="fr-FR" sz="2000"/>
              <a:t> Remarquez dans la zone </a:t>
            </a:r>
            <a:r>
              <a:rPr lang="fr-FR" sz="2000" u="sng"/>
              <a:t>Nom de fichier</a:t>
            </a:r>
            <a:r>
              <a:rPr lang="fr-FR" sz="2000"/>
              <a:t> l’affichage du début du texte saisi.</a:t>
            </a:r>
          </a:p>
          <a:p>
            <a:pPr lvl="1" eaLnBrk="1" hangingPunct="1">
              <a:lnSpc>
                <a:spcPct val="90000"/>
              </a:lnSpc>
            </a:pPr>
            <a:r>
              <a:rPr lang="fr-FR" sz="2000"/>
              <a:t> Par défaut Word enregistre les documents dans le dossier précédemment utilisé avec Word</a:t>
            </a:r>
          </a:p>
        </p:txBody>
      </p:sp>
      <p:pic>
        <p:nvPicPr>
          <p:cNvPr id="2355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251" y="2205038"/>
            <a:ext cx="6480175" cy="360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558" name="Line 5"/>
          <p:cNvSpPr>
            <a:spLocks noChangeShapeType="1"/>
          </p:cNvSpPr>
          <p:nvPr/>
        </p:nvSpPr>
        <p:spPr bwMode="auto">
          <a:xfrm flipH="1" flipV="1">
            <a:off x="4583113" y="5516564"/>
            <a:ext cx="792162" cy="433387"/>
          </a:xfrm>
          <a:prstGeom prst="line">
            <a:avLst/>
          </a:prstGeom>
          <a:noFill/>
          <a:ln w="508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3559" name="Line 6"/>
          <p:cNvSpPr>
            <a:spLocks noChangeShapeType="1"/>
          </p:cNvSpPr>
          <p:nvPr/>
        </p:nvSpPr>
        <p:spPr bwMode="auto">
          <a:xfrm flipH="1" flipV="1">
            <a:off x="4727576" y="2636838"/>
            <a:ext cx="3097213" cy="3600450"/>
          </a:xfrm>
          <a:prstGeom prst="line">
            <a:avLst/>
          </a:prstGeom>
          <a:noFill/>
          <a:ln w="508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7527686"/>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pPr>
              <a:defRPr/>
            </a:pPr>
            <a:fld id="{3C5EFE13-F016-4703-8E6F-54C1EC25C042}" type="slidenum">
              <a:rPr lang="fr-FR"/>
              <a:pPr>
                <a:defRPr/>
              </a:pPr>
              <a:t>104</a:t>
            </a:fld>
            <a:r>
              <a:rPr lang="fr-FR"/>
              <a:t>/56</a:t>
            </a:r>
          </a:p>
        </p:txBody>
      </p:sp>
      <p:sp>
        <p:nvSpPr>
          <p:cNvPr id="24579" name="Rectangle 2"/>
          <p:cNvSpPr>
            <a:spLocks noGrp="1" noChangeArrowheads="1"/>
          </p:cNvSpPr>
          <p:nvPr>
            <p:ph type="title"/>
          </p:nvPr>
        </p:nvSpPr>
        <p:spPr>
          <a:xfrm>
            <a:off x="838200" y="-381849"/>
            <a:ext cx="10515600" cy="1325563"/>
          </a:xfrm>
        </p:spPr>
        <p:txBody>
          <a:bodyPr/>
          <a:lstStyle/>
          <a:p>
            <a:pPr eaLnBrk="1" hangingPunct="1"/>
            <a:r>
              <a:rPr lang="fr-FR" dirty="0" smtClean="0"/>
              <a:t>Enregistrer un document (2)</a:t>
            </a:r>
          </a:p>
        </p:txBody>
      </p:sp>
      <p:sp>
        <p:nvSpPr>
          <p:cNvPr id="24580" name="Rectangle 3"/>
          <p:cNvSpPr>
            <a:spLocks noGrp="1" noChangeArrowheads="1"/>
          </p:cNvSpPr>
          <p:nvPr>
            <p:ph type="body" idx="1"/>
          </p:nvPr>
        </p:nvSpPr>
        <p:spPr>
          <a:xfrm>
            <a:off x="1524000" y="1196976"/>
            <a:ext cx="9144000" cy="5661025"/>
          </a:xfrm>
        </p:spPr>
        <p:txBody>
          <a:bodyPr/>
          <a:lstStyle/>
          <a:p>
            <a:pPr eaLnBrk="1" hangingPunct="1"/>
            <a:r>
              <a:rPr lang="fr-FR"/>
              <a:t> Saisissez le nom de fichier désiré dans la zone « Nom de fichier » puis validez en cliquant sur le bouton « Enregistrer »</a:t>
            </a:r>
          </a:p>
          <a:p>
            <a:pPr eaLnBrk="1" hangingPunct="1"/>
            <a:r>
              <a:rPr lang="fr-FR"/>
              <a:t> Notez que le nom du document apparaît sur la barre de titre de Word </a:t>
            </a:r>
          </a:p>
          <a:p>
            <a:pPr eaLnBrk="1" hangingPunct="1"/>
            <a:r>
              <a:rPr lang="fr-FR"/>
              <a:t>Une nouvelle enregistrement, enregistrera le document sous le même nom et au même endroit détruisant de fait l’ancien fichier. Il est conseiller de réaliser des enregistrements régulièrement pendant la réalisation d’un document Word.</a:t>
            </a:r>
          </a:p>
          <a:p>
            <a:pPr eaLnBrk="1" hangingPunct="1"/>
            <a:r>
              <a:rPr lang="fr-FR"/>
              <a:t>  Mais il est aussi possible de re-enregistrer un document sous un autre nom ou dans un autre dossier ou dans un autre disque (clés USB pour travailler à la maison)</a:t>
            </a:r>
          </a:p>
        </p:txBody>
      </p:sp>
    </p:spTree>
    <p:extLst>
      <p:ext uri="{BB962C8B-B14F-4D97-AF65-F5344CB8AC3E}">
        <p14:creationId xmlns:p14="http://schemas.microsoft.com/office/powerpoint/2010/main" val="1501123352"/>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4DB88D24-659A-4BAF-80D2-BEA870121E4D}" type="slidenum">
              <a:rPr lang="fr-FR"/>
              <a:pPr>
                <a:defRPr/>
              </a:pPr>
              <a:t>105</a:t>
            </a:fld>
            <a:r>
              <a:rPr lang="fr-FR"/>
              <a:t>/56</a:t>
            </a:r>
          </a:p>
        </p:txBody>
      </p:sp>
      <p:sp>
        <p:nvSpPr>
          <p:cNvPr id="25603" name="Rectangle 2"/>
          <p:cNvSpPr>
            <a:spLocks noGrp="1" noChangeArrowheads="1"/>
          </p:cNvSpPr>
          <p:nvPr>
            <p:ph type="title"/>
          </p:nvPr>
        </p:nvSpPr>
        <p:spPr>
          <a:xfrm>
            <a:off x="838200" y="17392"/>
            <a:ext cx="10515600" cy="1325563"/>
          </a:xfrm>
        </p:spPr>
        <p:txBody>
          <a:bodyPr/>
          <a:lstStyle/>
          <a:p>
            <a:pPr eaLnBrk="1" hangingPunct="1"/>
            <a:r>
              <a:rPr lang="fr-FR" dirty="0" smtClean="0"/>
              <a:t>Enregistrer un document (3)</a:t>
            </a:r>
          </a:p>
        </p:txBody>
      </p:sp>
      <p:sp>
        <p:nvSpPr>
          <p:cNvPr id="25604" name="Rectangle 3"/>
          <p:cNvSpPr>
            <a:spLocks noGrp="1" noChangeArrowheads="1"/>
          </p:cNvSpPr>
          <p:nvPr>
            <p:ph type="body" idx="1"/>
          </p:nvPr>
        </p:nvSpPr>
        <p:spPr>
          <a:xfrm>
            <a:off x="1524000" y="1219200"/>
            <a:ext cx="9144000" cy="2057400"/>
          </a:xfrm>
        </p:spPr>
        <p:txBody>
          <a:bodyPr/>
          <a:lstStyle/>
          <a:p>
            <a:pPr eaLnBrk="1" hangingPunct="1">
              <a:lnSpc>
                <a:spcPct val="80000"/>
              </a:lnSpc>
            </a:pPr>
            <a:r>
              <a:rPr lang="fr-FR"/>
              <a:t> Activez le menu « Fichier », puis cliquez l’option « Enregistrer sous ». Vous aurez une fenêtre du même genre que précédemment</a:t>
            </a:r>
          </a:p>
          <a:p>
            <a:pPr eaLnBrk="1" hangingPunct="1">
              <a:lnSpc>
                <a:spcPct val="80000"/>
              </a:lnSpc>
            </a:pPr>
            <a:r>
              <a:rPr lang="fr-FR"/>
              <a:t> Choisissez un autre emplacement ; modifiez le nom de fichier et enfin validez par le bouton « Enregistrer »</a:t>
            </a:r>
          </a:p>
        </p:txBody>
      </p:sp>
      <p:pic>
        <p:nvPicPr>
          <p:cNvPr id="2560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16364" y="3111500"/>
            <a:ext cx="6751637" cy="3746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63883403"/>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ABF6D9F2-BD65-4693-8C2D-E6C4653A7E66}" type="slidenum">
              <a:rPr lang="fr-FR"/>
              <a:pPr>
                <a:defRPr/>
              </a:pPr>
              <a:t>106</a:t>
            </a:fld>
            <a:r>
              <a:rPr lang="fr-FR"/>
              <a:t>/56</a:t>
            </a:r>
          </a:p>
        </p:txBody>
      </p:sp>
      <p:sp>
        <p:nvSpPr>
          <p:cNvPr id="26627" name="Rectangle 2"/>
          <p:cNvSpPr>
            <a:spLocks noGrp="1" noChangeArrowheads="1"/>
          </p:cNvSpPr>
          <p:nvPr>
            <p:ph type="title"/>
          </p:nvPr>
        </p:nvSpPr>
        <p:spPr>
          <a:xfrm>
            <a:off x="838200" y="-188667"/>
            <a:ext cx="10515600" cy="1325563"/>
          </a:xfrm>
        </p:spPr>
        <p:txBody>
          <a:bodyPr/>
          <a:lstStyle/>
          <a:p>
            <a:pPr eaLnBrk="1" hangingPunct="1"/>
            <a:r>
              <a:rPr lang="fr-FR" dirty="0" smtClean="0"/>
              <a:t>Enregistrer un document (4)</a:t>
            </a:r>
          </a:p>
        </p:txBody>
      </p:sp>
      <p:sp>
        <p:nvSpPr>
          <p:cNvPr id="26628" name="Rectangle 3"/>
          <p:cNvSpPr>
            <a:spLocks noGrp="1" noChangeArrowheads="1"/>
          </p:cNvSpPr>
          <p:nvPr>
            <p:ph type="body" idx="1"/>
          </p:nvPr>
        </p:nvSpPr>
        <p:spPr>
          <a:xfrm>
            <a:off x="1524000" y="1052513"/>
            <a:ext cx="9144000" cy="4114800"/>
          </a:xfrm>
        </p:spPr>
        <p:txBody>
          <a:bodyPr/>
          <a:lstStyle/>
          <a:p>
            <a:pPr eaLnBrk="1" hangingPunct="1"/>
            <a:r>
              <a:rPr lang="fr-FR" smtClean="0"/>
              <a:t> Notez qu’en activant le menu « Enregistrer dans », vous avez la possibilité de visualiser le chemin parcourus mais aussi de changer de dossier </a:t>
            </a:r>
          </a:p>
          <a:p>
            <a:pPr eaLnBrk="1" hangingPunct="1"/>
            <a:r>
              <a:rPr lang="fr-FR" smtClean="0"/>
              <a:t> Vous pouvez aussi changer le « type de fichier » et donc enregistrer votre document sous un autre format que celui par défaut de Word (doc). Vous avez par exemple: texte brute (txt), page web (html), XML, RTF (Rich Text Format, obsolète)</a:t>
            </a:r>
          </a:p>
          <a:p>
            <a:pPr eaLnBrk="1" hangingPunct="1"/>
            <a:endParaRPr lang="fr-FR" smtClean="0"/>
          </a:p>
        </p:txBody>
      </p:sp>
      <p:pic>
        <p:nvPicPr>
          <p:cNvPr id="2662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2889" y="5276850"/>
            <a:ext cx="5932487" cy="158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0943375"/>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pPr>
              <a:defRPr/>
            </a:pPr>
            <a:fld id="{848FB79D-BC20-4ED5-B479-FBFCAFEA8CD1}" type="slidenum">
              <a:rPr lang="fr-FR"/>
              <a:pPr>
                <a:defRPr/>
              </a:pPr>
              <a:t>107</a:t>
            </a:fld>
            <a:r>
              <a:rPr lang="fr-FR"/>
              <a:t>/56</a:t>
            </a:r>
          </a:p>
        </p:txBody>
      </p:sp>
      <p:sp>
        <p:nvSpPr>
          <p:cNvPr id="27651" name="Rectangle 2"/>
          <p:cNvSpPr>
            <a:spLocks noGrp="1" noChangeArrowheads="1"/>
          </p:cNvSpPr>
          <p:nvPr>
            <p:ph type="title"/>
          </p:nvPr>
        </p:nvSpPr>
        <p:spPr>
          <a:xfrm>
            <a:off x="838200" y="4513"/>
            <a:ext cx="10515600" cy="1325563"/>
          </a:xfrm>
        </p:spPr>
        <p:txBody>
          <a:bodyPr/>
          <a:lstStyle/>
          <a:p>
            <a:pPr eaLnBrk="1" hangingPunct="1"/>
            <a:r>
              <a:rPr lang="fr-FR" dirty="0" smtClean="0"/>
              <a:t>Fermeture d’un document</a:t>
            </a:r>
          </a:p>
        </p:txBody>
      </p:sp>
      <p:sp>
        <p:nvSpPr>
          <p:cNvPr id="27652" name="Rectangle 3"/>
          <p:cNvSpPr>
            <a:spLocks noGrp="1" noChangeArrowheads="1"/>
          </p:cNvSpPr>
          <p:nvPr>
            <p:ph type="body" idx="1"/>
          </p:nvPr>
        </p:nvSpPr>
        <p:spPr>
          <a:xfrm>
            <a:off x="1524000" y="981076"/>
            <a:ext cx="9144000" cy="5876925"/>
          </a:xfrm>
        </p:spPr>
        <p:txBody>
          <a:bodyPr/>
          <a:lstStyle/>
          <a:p>
            <a:pPr eaLnBrk="1" hangingPunct="1">
              <a:lnSpc>
                <a:spcPct val="90000"/>
              </a:lnSpc>
            </a:pPr>
            <a:r>
              <a:rPr lang="fr-FR" sz="2400"/>
              <a:t> Fermer un document : activez le menu « Fichier », puis l’option « Fermer ». Le message suivant peut apparaître si aucun enregistrement n’a été effectué depuis la dernière modification </a:t>
            </a:r>
          </a:p>
          <a:p>
            <a:pPr eaLnBrk="1" hangingPunct="1">
              <a:lnSpc>
                <a:spcPct val="90000"/>
              </a:lnSpc>
            </a:pPr>
            <a:endParaRPr lang="fr-FR" sz="2400"/>
          </a:p>
          <a:p>
            <a:pPr eaLnBrk="1" hangingPunct="1">
              <a:lnSpc>
                <a:spcPct val="90000"/>
              </a:lnSpc>
            </a:pPr>
            <a:endParaRPr lang="fr-FR" sz="2400"/>
          </a:p>
          <a:p>
            <a:pPr eaLnBrk="1" hangingPunct="1">
              <a:lnSpc>
                <a:spcPct val="90000"/>
              </a:lnSpc>
            </a:pPr>
            <a:endParaRPr lang="fr-FR" sz="2400"/>
          </a:p>
          <a:p>
            <a:pPr eaLnBrk="1" hangingPunct="1">
              <a:lnSpc>
                <a:spcPct val="90000"/>
              </a:lnSpc>
            </a:pPr>
            <a:r>
              <a:rPr lang="fr-FR" sz="2400"/>
              <a:t> Quitter Word : Comme toutes applications Windows, activez le menu « Fichier », puis l’option « Quitter ». Vous pouvez aussi utiliser le bouton de fermeture de fenêtre mais attention  ! Dans le coin supérieur droit de la fenêtre de Word vous avez  :</a:t>
            </a:r>
          </a:p>
          <a:p>
            <a:pPr eaLnBrk="1" hangingPunct="1">
              <a:lnSpc>
                <a:spcPct val="90000"/>
              </a:lnSpc>
            </a:pPr>
            <a:endParaRPr lang="fr-FR" sz="2400"/>
          </a:p>
          <a:p>
            <a:pPr eaLnBrk="1" hangingPunct="1">
              <a:lnSpc>
                <a:spcPct val="90000"/>
              </a:lnSpc>
              <a:buFontTx/>
              <a:buNone/>
            </a:pPr>
            <a:endParaRPr lang="fr-FR" sz="2400"/>
          </a:p>
          <a:p>
            <a:pPr lvl="1" eaLnBrk="1" hangingPunct="1">
              <a:lnSpc>
                <a:spcPct val="90000"/>
              </a:lnSpc>
            </a:pPr>
            <a:r>
              <a:rPr lang="fr-FR" sz="2000"/>
              <a:t> Les boutons de dessus correspondent à l’application Word (ils sont sur la barre de titre de Word). </a:t>
            </a:r>
          </a:p>
          <a:p>
            <a:pPr lvl="1" eaLnBrk="1" hangingPunct="1">
              <a:lnSpc>
                <a:spcPct val="90000"/>
              </a:lnSpc>
            </a:pPr>
            <a:r>
              <a:rPr lang="fr-FR" sz="2000"/>
              <a:t> Les boutons de dessous correspondent à la fenêtre du document en cours </a:t>
            </a:r>
          </a:p>
        </p:txBody>
      </p:sp>
      <p:pic>
        <p:nvPicPr>
          <p:cNvPr id="2765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7938" y="2060576"/>
            <a:ext cx="3911600" cy="1033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65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1250" y="4724400"/>
            <a:ext cx="2349500" cy="642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58638775"/>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pPr>
              <a:defRPr/>
            </a:pPr>
            <a:fld id="{1DF06592-C321-4A6A-B273-5C2A5BF26C38}" type="slidenum">
              <a:rPr lang="fr-FR"/>
              <a:pPr>
                <a:defRPr/>
              </a:pPr>
              <a:t>108</a:t>
            </a:fld>
            <a:r>
              <a:rPr lang="fr-FR"/>
              <a:t>/56</a:t>
            </a:r>
          </a:p>
        </p:txBody>
      </p:sp>
      <p:sp>
        <p:nvSpPr>
          <p:cNvPr id="28675" name="Rectangle 4"/>
          <p:cNvSpPr>
            <a:spLocks noGrp="1" noChangeArrowheads="1"/>
          </p:cNvSpPr>
          <p:nvPr>
            <p:ph type="ctrTitle"/>
          </p:nvPr>
        </p:nvSpPr>
        <p:spPr>
          <a:xfrm>
            <a:off x="2209800" y="2130426"/>
            <a:ext cx="7772400" cy="1470025"/>
          </a:xfrm>
        </p:spPr>
        <p:txBody>
          <a:bodyPr anchor="ctr"/>
          <a:lstStyle/>
          <a:p>
            <a:pPr eaLnBrk="1" hangingPunct="1"/>
            <a:r>
              <a:rPr lang="fr-FR" sz="5400"/>
              <a:t>Manipulation de texte</a:t>
            </a:r>
          </a:p>
        </p:txBody>
      </p:sp>
    </p:spTree>
    <p:extLst>
      <p:ext uri="{BB962C8B-B14F-4D97-AF65-F5344CB8AC3E}">
        <p14:creationId xmlns:p14="http://schemas.microsoft.com/office/powerpoint/2010/main" val="1394421443"/>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6D808E89-2031-47E8-A7C9-F0659A8B5211}" type="slidenum">
              <a:rPr lang="fr-FR"/>
              <a:pPr>
                <a:defRPr/>
              </a:pPr>
              <a:t>109</a:t>
            </a:fld>
            <a:r>
              <a:rPr lang="fr-FR"/>
              <a:t>/56</a:t>
            </a:r>
          </a:p>
        </p:txBody>
      </p:sp>
      <p:sp>
        <p:nvSpPr>
          <p:cNvPr id="29699" name="Rectangle 2"/>
          <p:cNvSpPr>
            <a:spLocks noGrp="1" noChangeArrowheads="1"/>
          </p:cNvSpPr>
          <p:nvPr>
            <p:ph type="title"/>
          </p:nvPr>
        </p:nvSpPr>
        <p:spPr/>
        <p:txBody>
          <a:bodyPr/>
          <a:lstStyle/>
          <a:p>
            <a:pPr eaLnBrk="1" hangingPunct="1"/>
            <a:r>
              <a:rPr lang="fr-FR" smtClean="0"/>
              <a:t>Imprimer un document (1)</a:t>
            </a:r>
          </a:p>
        </p:txBody>
      </p:sp>
      <p:sp>
        <p:nvSpPr>
          <p:cNvPr id="29700" name="Rectangle 3"/>
          <p:cNvSpPr>
            <a:spLocks noGrp="1" noChangeArrowheads="1"/>
          </p:cNvSpPr>
          <p:nvPr>
            <p:ph type="body" idx="1"/>
          </p:nvPr>
        </p:nvSpPr>
        <p:spPr>
          <a:xfrm>
            <a:off x="1524000" y="1412876"/>
            <a:ext cx="9144000" cy="4691063"/>
          </a:xfrm>
        </p:spPr>
        <p:txBody>
          <a:bodyPr/>
          <a:lstStyle/>
          <a:p>
            <a:pPr eaLnBrk="1" hangingPunct="1">
              <a:lnSpc>
                <a:spcPct val="90000"/>
              </a:lnSpc>
            </a:pPr>
            <a:r>
              <a:rPr lang="fr-FR" smtClean="0"/>
              <a:t> Aperçu avant impression :</a:t>
            </a:r>
          </a:p>
          <a:p>
            <a:pPr lvl="1" eaLnBrk="1" hangingPunct="1">
              <a:lnSpc>
                <a:spcPct val="90000"/>
              </a:lnSpc>
            </a:pPr>
            <a:r>
              <a:rPr lang="fr-FR" smtClean="0"/>
              <a:t> Faites toujours un aperçu avant impression avant d’imprimer. Ceci à pour but de vérifier votre mise en page avant de « gaspiller » du temps (l’impression) et du papier.</a:t>
            </a:r>
          </a:p>
          <a:p>
            <a:pPr lvl="1" eaLnBrk="1" hangingPunct="1">
              <a:lnSpc>
                <a:spcPct val="90000"/>
              </a:lnSpc>
            </a:pPr>
            <a:r>
              <a:rPr lang="fr-FR" smtClean="0"/>
              <a:t> Activez le menu Fichier, puis option Aperçu avant impression ou cliquez sur le bouton</a:t>
            </a:r>
          </a:p>
          <a:p>
            <a:pPr lvl="1" eaLnBrk="1" hangingPunct="1">
              <a:lnSpc>
                <a:spcPct val="90000"/>
              </a:lnSpc>
            </a:pPr>
            <a:r>
              <a:rPr lang="fr-FR" smtClean="0"/>
              <a:t> Vérifiez la mise en forme de votre document </a:t>
            </a:r>
          </a:p>
          <a:p>
            <a:pPr lvl="1" eaLnBrk="1" hangingPunct="1">
              <a:lnSpc>
                <a:spcPct val="90000"/>
              </a:lnSpc>
            </a:pPr>
            <a:r>
              <a:rPr lang="fr-FR" smtClean="0"/>
              <a:t> Pour revenir au document, cliquez sur le bouton  « fermer » ou sur la touche « </a:t>
            </a:r>
            <a:r>
              <a:rPr lang="en-US" smtClean="0">
                <a:cs typeface="Times New Roman" panose="02020603050405020304" pitchFamily="18" charset="0"/>
              </a:rPr>
              <a:t>É</a:t>
            </a:r>
            <a:r>
              <a:rPr lang="fr-FR" smtClean="0"/>
              <a:t>chap » </a:t>
            </a:r>
          </a:p>
        </p:txBody>
      </p:sp>
      <p:pic>
        <p:nvPicPr>
          <p:cNvPr id="29701"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09113" y="4868863"/>
            <a:ext cx="684212"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72865181"/>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5"/>
          <p:cNvSpPr>
            <a:spLocks noGrp="1"/>
          </p:cNvSpPr>
          <p:nvPr>
            <p:ph type="sldNum" sz="quarter" idx="12"/>
          </p:nvPr>
        </p:nvSpPr>
        <p:spPr/>
        <p:txBody>
          <a:bodyPr/>
          <a:lstStyle/>
          <a:p>
            <a:pPr>
              <a:defRPr/>
            </a:pPr>
            <a:fld id="{E4B4B174-859F-431E-9EB2-7A629AEFEA7A}" type="slidenum">
              <a:rPr lang="fr-FR"/>
              <a:pPr>
                <a:defRPr/>
              </a:pPr>
              <a:t>110</a:t>
            </a:fld>
            <a:r>
              <a:rPr lang="fr-FR"/>
              <a:t>/56</a:t>
            </a:r>
          </a:p>
        </p:txBody>
      </p:sp>
      <p:sp>
        <p:nvSpPr>
          <p:cNvPr id="30723" name="Rectangle 2"/>
          <p:cNvSpPr>
            <a:spLocks noGrp="1" noChangeArrowheads="1"/>
          </p:cNvSpPr>
          <p:nvPr>
            <p:ph type="title"/>
          </p:nvPr>
        </p:nvSpPr>
        <p:spPr>
          <a:xfrm>
            <a:off x="838200" y="-201546"/>
            <a:ext cx="10515600" cy="1325563"/>
          </a:xfrm>
        </p:spPr>
        <p:txBody>
          <a:bodyPr/>
          <a:lstStyle/>
          <a:p>
            <a:pPr eaLnBrk="1" hangingPunct="1"/>
            <a:r>
              <a:rPr lang="fr-FR" dirty="0" smtClean="0"/>
              <a:t>Imprimer un document (2)</a:t>
            </a:r>
          </a:p>
        </p:txBody>
      </p:sp>
      <p:sp>
        <p:nvSpPr>
          <p:cNvPr id="30724" name="Rectangle 3"/>
          <p:cNvSpPr>
            <a:spLocks noGrp="1" noChangeArrowheads="1"/>
          </p:cNvSpPr>
          <p:nvPr>
            <p:ph type="body" idx="1"/>
          </p:nvPr>
        </p:nvSpPr>
        <p:spPr>
          <a:xfrm>
            <a:off x="1524000" y="2492375"/>
            <a:ext cx="9144000" cy="1873250"/>
          </a:xfrm>
        </p:spPr>
        <p:txBody>
          <a:bodyPr/>
          <a:lstStyle/>
          <a:p>
            <a:pPr eaLnBrk="1" hangingPunct="1">
              <a:lnSpc>
                <a:spcPct val="90000"/>
              </a:lnSpc>
            </a:pPr>
            <a:r>
              <a:rPr lang="fr-FR"/>
              <a:t> Après être revenu au document (non obligatoire), activez le menu Fichier, puis l’option Imprimer…</a:t>
            </a:r>
          </a:p>
          <a:p>
            <a:pPr eaLnBrk="1" hangingPunct="1">
              <a:lnSpc>
                <a:spcPct val="90000"/>
              </a:lnSpc>
            </a:pPr>
            <a:r>
              <a:rPr lang="fr-FR"/>
              <a:t> On trouve alors le choix de l’imprimante et ses options ainsi que le choix des pages à imprimer</a:t>
            </a:r>
          </a:p>
        </p:txBody>
      </p:sp>
      <p:pic>
        <p:nvPicPr>
          <p:cNvPr id="3072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052513"/>
            <a:ext cx="9144000" cy="77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6" name="Rectangle 5"/>
          <p:cNvSpPr>
            <a:spLocks noChangeArrowheads="1"/>
          </p:cNvSpPr>
          <p:nvPr/>
        </p:nvSpPr>
        <p:spPr bwMode="auto">
          <a:xfrm>
            <a:off x="1703388" y="2058958"/>
            <a:ext cx="619753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Vianta" pitchFamily="66" charset="0"/>
              </a:defRPr>
            </a:lvl1pPr>
            <a:lvl2pPr marL="742950" indent="-285750">
              <a:defRPr sz="2000">
                <a:solidFill>
                  <a:schemeClr val="tx1"/>
                </a:solidFill>
                <a:latin typeface="Vianta" pitchFamily="66" charset="0"/>
              </a:defRPr>
            </a:lvl2pPr>
            <a:lvl3pPr marL="1143000" indent="-228600">
              <a:defRPr sz="2000">
                <a:solidFill>
                  <a:schemeClr val="tx1"/>
                </a:solidFill>
                <a:latin typeface="Vianta" pitchFamily="66" charset="0"/>
              </a:defRPr>
            </a:lvl3pPr>
            <a:lvl4pPr marL="1600200" indent="-228600">
              <a:defRPr sz="2000">
                <a:solidFill>
                  <a:schemeClr val="tx1"/>
                </a:solidFill>
                <a:latin typeface="Vianta" pitchFamily="66" charset="0"/>
              </a:defRPr>
            </a:lvl4pPr>
            <a:lvl5pPr marL="2057400" indent="-228600">
              <a:defRPr sz="2000">
                <a:solidFill>
                  <a:schemeClr val="tx1"/>
                </a:solidFill>
                <a:latin typeface="Vianta" pitchFamily="66" charset="0"/>
              </a:defRPr>
            </a:lvl5pPr>
            <a:lvl6pPr marL="2514600" indent="-228600" eaLnBrk="0" fontAlgn="base" hangingPunct="0">
              <a:spcBef>
                <a:spcPct val="0"/>
              </a:spcBef>
              <a:spcAft>
                <a:spcPct val="0"/>
              </a:spcAft>
              <a:defRPr sz="2000">
                <a:solidFill>
                  <a:schemeClr val="tx1"/>
                </a:solidFill>
                <a:latin typeface="Vianta" pitchFamily="66" charset="0"/>
              </a:defRPr>
            </a:lvl6pPr>
            <a:lvl7pPr marL="2971800" indent="-228600" eaLnBrk="0" fontAlgn="base" hangingPunct="0">
              <a:spcBef>
                <a:spcPct val="0"/>
              </a:spcBef>
              <a:spcAft>
                <a:spcPct val="0"/>
              </a:spcAft>
              <a:defRPr sz="2000">
                <a:solidFill>
                  <a:schemeClr val="tx1"/>
                </a:solidFill>
                <a:latin typeface="Vianta" pitchFamily="66" charset="0"/>
              </a:defRPr>
            </a:lvl7pPr>
            <a:lvl8pPr marL="3429000" indent="-228600" eaLnBrk="0" fontAlgn="base" hangingPunct="0">
              <a:spcBef>
                <a:spcPct val="0"/>
              </a:spcBef>
              <a:spcAft>
                <a:spcPct val="0"/>
              </a:spcAft>
              <a:defRPr sz="2000">
                <a:solidFill>
                  <a:schemeClr val="tx1"/>
                </a:solidFill>
                <a:latin typeface="Vianta" pitchFamily="66" charset="0"/>
              </a:defRPr>
            </a:lvl8pPr>
            <a:lvl9pPr marL="3886200" indent="-228600" eaLnBrk="0" fontAlgn="base" hangingPunct="0">
              <a:spcBef>
                <a:spcPct val="0"/>
              </a:spcBef>
              <a:spcAft>
                <a:spcPct val="0"/>
              </a:spcAft>
              <a:defRPr sz="2000">
                <a:solidFill>
                  <a:schemeClr val="tx1"/>
                </a:solidFill>
                <a:latin typeface="Vianta" pitchFamily="66" charset="0"/>
              </a:defRPr>
            </a:lvl9pPr>
          </a:lstStyle>
          <a:p>
            <a:pPr eaLnBrk="1" hangingPunct="1"/>
            <a:r>
              <a:rPr lang="fr-FR"/>
              <a:t>Choix du nombre de pages affichées dans l’aperçu </a:t>
            </a:r>
          </a:p>
        </p:txBody>
      </p:sp>
      <p:sp>
        <p:nvSpPr>
          <p:cNvPr id="30727" name="Line 6"/>
          <p:cNvSpPr>
            <a:spLocks noChangeShapeType="1"/>
          </p:cNvSpPr>
          <p:nvPr/>
        </p:nvSpPr>
        <p:spPr bwMode="auto">
          <a:xfrm flipV="1">
            <a:off x="3000376" y="1484314"/>
            <a:ext cx="1008063" cy="649287"/>
          </a:xfrm>
          <a:prstGeom prst="line">
            <a:avLst/>
          </a:prstGeom>
          <a:noFill/>
          <a:ln w="508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30728" name="Line 7"/>
          <p:cNvSpPr>
            <a:spLocks noChangeShapeType="1"/>
          </p:cNvSpPr>
          <p:nvPr/>
        </p:nvSpPr>
        <p:spPr bwMode="auto">
          <a:xfrm flipH="1" flipV="1">
            <a:off x="5159376" y="1476376"/>
            <a:ext cx="2881313" cy="657225"/>
          </a:xfrm>
          <a:prstGeom prst="line">
            <a:avLst/>
          </a:prstGeom>
          <a:noFill/>
          <a:ln w="508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30729" name="Rectangle 8"/>
          <p:cNvSpPr>
            <a:spLocks noChangeArrowheads="1"/>
          </p:cNvSpPr>
          <p:nvPr/>
        </p:nvSpPr>
        <p:spPr bwMode="auto">
          <a:xfrm>
            <a:off x="7967664" y="2060576"/>
            <a:ext cx="9032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Vianta" pitchFamily="66" charset="0"/>
              </a:defRPr>
            </a:lvl1pPr>
            <a:lvl2pPr marL="742950" indent="-285750">
              <a:defRPr sz="2000">
                <a:solidFill>
                  <a:schemeClr val="tx1"/>
                </a:solidFill>
                <a:latin typeface="Vianta" pitchFamily="66" charset="0"/>
              </a:defRPr>
            </a:lvl2pPr>
            <a:lvl3pPr marL="1143000" indent="-228600">
              <a:defRPr sz="2000">
                <a:solidFill>
                  <a:schemeClr val="tx1"/>
                </a:solidFill>
                <a:latin typeface="Vianta" pitchFamily="66" charset="0"/>
              </a:defRPr>
            </a:lvl3pPr>
            <a:lvl4pPr marL="1600200" indent="-228600">
              <a:defRPr sz="2000">
                <a:solidFill>
                  <a:schemeClr val="tx1"/>
                </a:solidFill>
                <a:latin typeface="Vianta" pitchFamily="66" charset="0"/>
              </a:defRPr>
            </a:lvl4pPr>
            <a:lvl5pPr marL="2057400" indent="-228600">
              <a:defRPr sz="2000">
                <a:solidFill>
                  <a:schemeClr val="tx1"/>
                </a:solidFill>
                <a:latin typeface="Vianta" pitchFamily="66" charset="0"/>
              </a:defRPr>
            </a:lvl5pPr>
            <a:lvl6pPr marL="2514600" indent="-228600" eaLnBrk="0" fontAlgn="base" hangingPunct="0">
              <a:spcBef>
                <a:spcPct val="0"/>
              </a:spcBef>
              <a:spcAft>
                <a:spcPct val="0"/>
              </a:spcAft>
              <a:defRPr sz="2000">
                <a:solidFill>
                  <a:schemeClr val="tx1"/>
                </a:solidFill>
                <a:latin typeface="Vianta" pitchFamily="66" charset="0"/>
              </a:defRPr>
            </a:lvl6pPr>
            <a:lvl7pPr marL="2971800" indent="-228600" eaLnBrk="0" fontAlgn="base" hangingPunct="0">
              <a:spcBef>
                <a:spcPct val="0"/>
              </a:spcBef>
              <a:spcAft>
                <a:spcPct val="0"/>
              </a:spcAft>
              <a:defRPr sz="2000">
                <a:solidFill>
                  <a:schemeClr val="tx1"/>
                </a:solidFill>
                <a:latin typeface="Vianta" pitchFamily="66" charset="0"/>
              </a:defRPr>
            </a:lvl7pPr>
            <a:lvl8pPr marL="3429000" indent="-228600" eaLnBrk="0" fontAlgn="base" hangingPunct="0">
              <a:spcBef>
                <a:spcPct val="0"/>
              </a:spcBef>
              <a:spcAft>
                <a:spcPct val="0"/>
              </a:spcAft>
              <a:defRPr sz="2000">
                <a:solidFill>
                  <a:schemeClr val="tx1"/>
                </a:solidFill>
                <a:latin typeface="Vianta" pitchFamily="66" charset="0"/>
              </a:defRPr>
            </a:lvl8pPr>
            <a:lvl9pPr marL="3886200" indent="-228600" eaLnBrk="0" fontAlgn="base" hangingPunct="0">
              <a:spcBef>
                <a:spcPct val="0"/>
              </a:spcBef>
              <a:spcAft>
                <a:spcPct val="0"/>
              </a:spcAft>
              <a:defRPr sz="2000">
                <a:solidFill>
                  <a:schemeClr val="tx1"/>
                </a:solidFill>
                <a:latin typeface="Vianta" pitchFamily="66" charset="0"/>
              </a:defRPr>
            </a:lvl9pPr>
          </a:lstStyle>
          <a:p>
            <a:pPr eaLnBrk="1" hangingPunct="1"/>
            <a:r>
              <a:rPr lang="fr-FR"/>
              <a:t>Zoom </a:t>
            </a:r>
          </a:p>
        </p:txBody>
      </p:sp>
      <p:sp>
        <p:nvSpPr>
          <p:cNvPr id="30730" name="Rectangle 9"/>
          <p:cNvSpPr>
            <a:spLocks noChangeArrowheads="1"/>
          </p:cNvSpPr>
          <p:nvPr/>
        </p:nvSpPr>
        <p:spPr bwMode="auto">
          <a:xfrm>
            <a:off x="9070975" y="2058958"/>
            <a:ext cx="161614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Vianta" pitchFamily="66" charset="0"/>
              </a:defRPr>
            </a:lvl1pPr>
            <a:lvl2pPr marL="742950" indent="-285750">
              <a:defRPr sz="2000">
                <a:solidFill>
                  <a:schemeClr val="tx1"/>
                </a:solidFill>
                <a:latin typeface="Vianta" pitchFamily="66" charset="0"/>
              </a:defRPr>
            </a:lvl2pPr>
            <a:lvl3pPr marL="1143000" indent="-228600">
              <a:defRPr sz="2000">
                <a:solidFill>
                  <a:schemeClr val="tx1"/>
                </a:solidFill>
                <a:latin typeface="Vianta" pitchFamily="66" charset="0"/>
              </a:defRPr>
            </a:lvl3pPr>
            <a:lvl4pPr marL="1600200" indent="-228600">
              <a:defRPr sz="2000">
                <a:solidFill>
                  <a:schemeClr val="tx1"/>
                </a:solidFill>
                <a:latin typeface="Vianta" pitchFamily="66" charset="0"/>
              </a:defRPr>
            </a:lvl4pPr>
            <a:lvl5pPr marL="2057400" indent="-228600">
              <a:defRPr sz="2000">
                <a:solidFill>
                  <a:schemeClr val="tx1"/>
                </a:solidFill>
                <a:latin typeface="Vianta" pitchFamily="66" charset="0"/>
              </a:defRPr>
            </a:lvl5pPr>
            <a:lvl6pPr marL="2514600" indent="-228600" eaLnBrk="0" fontAlgn="base" hangingPunct="0">
              <a:spcBef>
                <a:spcPct val="0"/>
              </a:spcBef>
              <a:spcAft>
                <a:spcPct val="0"/>
              </a:spcAft>
              <a:defRPr sz="2000">
                <a:solidFill>
                  <a:schemeClr val="tx1"/>
                </a:solidFill>
                <a:latin typeface="Vianta" pitchFamily="66" charset="0"/>
              </a:defRPr>
            </a:lvl6pPr>
            <a:lvl7pPr marL="2971800" indent="-228600" eaLnBrk="0" fontAlgn="base" hangingPunct="0">
              <a:spcBef>
                <a:spcPct val="0"/>
              </a:spcBef>
              <a:spcAft>
                <a:spcPct val="0"/>
              </a:spcAft>
              <a:defRPr sz="2000">
                <a:solidFill>
                  <a:schemeClr val="tx1"/>
                </a:solidFill>
                <a:latin typeface="Vianta" pitchFamily="66" charset="0"/>
              </a:defRPr>
            </a:lvl7pPr>
            <a:lvl8pPr marL="3429000" indent="-228600" eaLnBrk="0" fontAlgn="base" hangingPunct="0">
              <a:spcBef>
                <a:spcPct val="0"/>
              </a:spcBef>
              <a:spcAft>
                <a:spcPct val="0"/>
              </a:spcAft>
              <a:defRPr sz="2000">
                <a:solidFill>
                  <a:schemeClr val="tx1"/>
                </a:solidFill>
                <a:latin typeface="Vianta" pitchFamily="66" charset="0"/>
              </a:defRPr>
            </a:lvl8pPr>
            <a:lvl9pPr marL="3886200" indent="-228600" eaLnBrk="0" fontAlgn="base" hangingPunct="0">
              <a:spcBef>
                <a:spcPct val="0"/>
              </a:spcBef>
              <a:spcAft>
                <a:spcPct val="0"/>
              </a:spcAft>
              <a:defRPr sz="2000">
                <a:solidFill>
                  <a:schemeClr val="tx1"/>
                </a:solidFill>
                <a:latin typeface="Vianta" pitchFamily="66" charset="0"/>
              </a:defRPr>
            </a:lvl9pPr>
          </a:lstStyle>
          <a:p>
            <a:pPr eaLnBrk="1" hangingPunct="1"/>
            <a:r>
              <a:rPr lang="fr-FR"/>
              <a:t>Pleine écran</a:t>
            </a:r>
          </a:p>
        </p:txBody>
      </p:sp>
      <p:sp>
        <p:nvSpPr>
          <p:cNvPr id="30731" name="Line 10"/>
          <p:cNvSpPr>
            <a:spLocks noChangeShapeType="1"/>
          </p:cNvSpPr>
          <p:nvPr/>
        </p:nvSpPr>
        <p:spPr bwMode="auto">
          <a:xfrm flipH="1" flipV="1">
            <a:off x="8832851" y="1628776"/>
            <a:ext cx="792163" cy="504825"/>
          </a:xfrm>
          <a:prstGeom prst="line">
            <a:avLst/>
          </a:prstGeom>
          <a:noFill/>
          <a:ln w="508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pic>
        <p:nvPicPr>
          <p:cNvPr id="30732"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3500" y="4191000"/>
            <a:ext cx="444500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07382127"/>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23B17FC8-CB6A-4317-A3AF-831C804A8622}" type="slidenum">
              <a:rPr lang="fr-FR"/>
              <a:pPr>
                <a:defRPr/>
              </a:pPr>
              <a:t>111</a:t>
            </a:fld>
            <a:r>
              <a:rPr lang="fr-FR"/>
              <a:t>/56</a:t>
            </a:r>
          </a:p>
        </p:txBody>
      </p:sp>
      <p:sp>
        <p:nvSpPr>
          <p:cNvPr id="31747" name="Rectangle 2"/>
          <p:cNvSpPr>
            <a:spLocks noGrp="1" noChangeArrowheads="1"/>
          </p:cNvSpPr>
          <p:nvPr>
            <p:ph type="title"/>
          </p:nvPr>
        </p:nvSpPr>
        <p:spPr/>
        <p:txBody>
          <a:bodyPr/>
          <a:lstStyle/>
          <a:p>
            <a:pPr eaLnBrk="1" hangingPunct="1"/>
            <a:r>
              <a:rPr lang="fr-FR" smtClean="0"/>
              <a:t>Copier, coller (1)</a:t>
            </a:r>
          </a:p>
        </p:txBody>
      </p:sp>
      <p:sp>
        <p:nvSpPr>
          <p:cNvPr id="31748" name="Rectangle 3"/>
          <p:cNvSpPr>
            <a:spLocks noGrp="1" noChangeArrowheads="1"/>
          </p:cNvSpPr>
          <p:nvPr>
            <p:ph type="body" idx="1"/>
          </p:nvPr>
        </p:nvSpPr>
        <p:spPr>
          <a:xfrm>
            <a:off x="1524000" y="1981200"/>
            <a:ext cx="9144000" cy="4114800"/>
          </a:xfrm>
        </p:spPr>
        <p:txBody>
          <a:bodyPr/>
          <a:lstStyle/>
          <a:p>
            <a:pPr eaLnBrk="1" hangingPunct="1"/>
            <a:r>
              <a:rPr lang="fr-FR"/>
              <a:t> Word permet de recopier et déplacer du texte sans avoir à le retaper. Ceci fonctionne également sur les images, tableaux, caractères spéciaux, etc..</a:t>
            </a:r>
          </a:p>
          <a:p>
            <a:pPr eaLnBrk="1" hangingPunct="1"/>
            <a:r>
              <a:rPr lang="fr-FR"/>
              <a:t> Vous pouvez réaliser les manipulations par plusieurs méthodes : </a:t>
            </a:r>
          </a:p>
          <a:p>
            <a:pPr lvl="1" eaLnBrk="1" hangingPunct="1"/>
            <a:r>
              <a:rPr lang="fr-FR"/>
              <a:t> menu</a:t>
            </a:r>
          </a:p>
          <a:p>
            <a:pPr lvl="1" eaLnBrk="1" hangingPunct="1"/>
            <a:r>
              <a:rPr lang="fr-FR"/>
              <a:t> barre d’outils</a:t>
            </a:r>
          </a:p>
          <a:p>
            <a:pPr lvl="1" eaLnBrk="1" hangingPunct="1"/>
            <a:r>
              <a:rPr lang="fr-FR"/>
              <a:t> souris</a:t>
            </a:r>
          </a:p>
          <a:p>
            <a:pPr lvl="1" eaLnBrk="1" hangingPunct="1"/>
            <a:r>
              <a:rPr lang="fr-FR"/>
              <a:t> raccourcis clavier </a:t>
            </a:r>
          </a:p>
        </p:txBody>
      </p:sp>
      <p:pic>
        <p:nvPicPr>
          <p:cNvPr id="3174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3838" y="4365625"/>
            <a:ext cx="3651250" cy="852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61024731"/>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pPr>
              <a:defRPr/>
            </a:pPr>
            <a:fld id="{32EC7506-5587-48E4-9873-91E70D19B6E4}" type="slidenum">
              <a:rPr lang="fr-FR"/>
              <a:pPr>
                <a:defRPr/>
              </a:pPr>
              <a:t>112</a:t>
            </a:fld>
            <a:r>
              <a:rPr lang="fr-FR"/>
              <a:t>/56</a:t>
            </a:r>
          </a:p>
        </p:txBody>
      </p:sp>
      <p:sp>
        <p:nvSpPr>
          <p:cNvPr id="32771" name="Rectangle 2"/>
          <p:cNvSpPr>
            <a:spLocks noGrp="1" noChangeArrowheads="1"/>
          </p:cNvSpPr>
          <p:nvPr>
            <p:ph type="title"/>
          </p:nvPr>
        </p:nvSpPr>
        <p:spPr>
          <a:xfrm>
            <a:off x="838200" y="-150031"/>
            <a:ext cx="10515600" cy="1325563"/>
          </a:xfrm>
        </p:spPr>
        <p:txBody>
          <a:bodyPr/>
          <a:lstStyle/>
          <a:p>
            <a:pPr eaLnBrk="1" hangingPunct="1"/>
            <a:r>
              <a:rPr lang="fr-FR" dirty="0" smtClean="0"/>
              <a:t>Copier, coller (2)</a:t>
            </a:r>
          </a:p>
        </p:txBody>
      </p:sp>
      <p:sp>
        <p:nvSpPr>
          <p:cNvPr id="32772" name="Rectangle 3"/>
          <p:cNvSpPr>
            <a:spLocks noGrp="1" noChangeArrowheads="1"/>
          </p:cNvSpPr>
          <p:nvPr>
            <p:ph type="body" idx="1"/>
          </p:nvPr>
        </p:nvSpPr>
        <p:spPr>
          <a:xfrm>
            <a:off x="1524000" y="1052514"/>
            <a:ext cx="9144000" cy="5043487"/>
          </a:xfrm>
        </p:spPr>
        <p:txBody>
          <a:bodyPr/>
          <a:lstStyle/>
          <a:p>
            <a:pPr eaLnBrk="1" hangingPunct="1">
              <a:lnSpc>
                <a:spcPct val="80000"/>
              </a:lnSpc>
            </a:pPr>
            <a:r>
              <a:rPr lang="fr-FR"/>
              <a:t> Manipulation par le menu</a:t>
            </a:r>
          </a:p>
          <a:p>
            <a:pPr lvl="1" eaLnBrk="1" hangingPunct="1">
              <a:lnSpc>
                <a:spcPct val="80000"/>
              </a:lnSpc>
            </a:pPr>
            <a:r>
              <a:rPr lang="fr-FR"/>
              <a:t> Sélectionnez le texte à copier (avec la souris ou au clavier)</a:t>
            </a:r>
          </a:p>
          <a:p>
            <a:pPr lvl="1" eaLnBrk="1" hangingPunct="1">
              <a:lnSpc>
                <a:spcPct val="80000"/>
              </a:lnSpc>
            </a:pPr>
            <a:r>
              <a:rPr lang="fr-FR"/>
              <a:t> Activez le menu Édition, puis l’option Copier.</a:t>
            </a:r>
          </a:p>
          <a:p>
            <a:pPr lvl="1" eaLnBrk="1" hangingPunct="1">
              <a:lnSpc>
                <a:spcPct val="80000"/>
              </a:lnSpc>
            </a:pPr>
            <a:r>
              <a:rPr lang="fr-FR"/>
              <a:t> Positionnez le curseur de saisie à l'endroit où vous désirez mettre la copie du texte.</a:t>
            </a:r>
          </a:p>
          <a:p>
            <a:pPr lvl="1" eaLnBrk="1" hangingPunct="1">
              <a:lnSpc>
                <a:spcPct val="80000"/>
              </a:lnSpc>
            </a:pPr>
            <a:r>
              <a:rPr lang="fr-FR"/>
              <a:t> Activez le menu Édition, puis l’option Coller </a:t>
            </a:r>
          </a:p>
          <a:p>
            <a:pPr eaLnBrk="1" hangingPunct="1">
              <a:lnSpc>
                <a:spcPct val="80000"/>
              </a:lnSpc>
              <a:buFontTx/>
              <a:buNone/>
            </a:pPr>
            <a:r>
              <a:rPr lang="fr-FR"/>
              <a:t> </a:t>
            </a:r>
          </a:p>
          <a:p>
            <a:pPr eaLnBrk="1" hangingPunct="1">
              <a:lnSpc>
                <a:spcPct val="80000"/>
              </a:lnSpc>
            </a:pPr>
            <a:r>
              <a:rPr lang="fr-FR"/>
              <a:t> Manipulation par la barre d’outils</a:t>
            </a:r>
          </a:p>
          <a:p>
            <a:pPr lvl="1" eaLnBrk="1" hangingPunct="1">
              <a:lnSpc>
                <a:spcPct val="80000"/>
              </a:lnSpc>
            </a:pPr>
            <a:r>
              <a:rPr lang="fr-FR"/>
              <a:t> Sélectionnez le texte à copier</a:t>
            </a:r>
          </a:p>
          <a:p>
            <a:pPr lvl="1" eaLnBrk="1" hangingPunct="1">
              <a:lnSpc>
                <a:spcPct val="80000"/>
              </a:lnSpc>
            </a:pPr>
            <a:r>
              <a:rPr lang="fr-FR"/>
              <a:t> Cliquez sur le bouton </a:t>
            </a:r>
          </a:p>
          <a:p>
            <a:pPr lvl="1" eaLnBrk="1" hangingPunct="1">
              <a:lnSpc>
                <a:spcPct val="80000"/>
              </a:lnSpc>
            </a:pPr>
            <a:r>
              <a:rPr lang="fr-FR"/>
              <a:t> Positionnez le curseur de saisie à l'endroit où vous désirez mettre la copie du texte.</a:t>
            </a:r>
          </a:p>
          <a:p>
            <a:pPr lvl="1" eaLnBrk="1" hangingPunct="1">
              <a:lnSpc>
                <a:spcPct val="80000"/>
              </a:lnSpc>
            </a:pPr>
            <a:r>
              <a:rPr lang="fr-FR"/>
              <a:t> Cliquez sur le bouton </a:t>
            </a:r>
          </a:p>
        </p:txBody>
      </p:sp>
      <p:pic>
        <p:nvPicPr>
          <p:cNvPr id="3277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0825" y="4168775"/>
            <a:ext cx="719138" cy="62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77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5276" y="5445125"/>
            <a:ext cx="720725" cy="66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52132501"/>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0F353755-7CC8-4501-AA72-1E69DF279C5B}" type="slidenum">
              <a:rPr lang="fr-FR"/>
              <a:pPr>
                <a:defRPr/>
              </a:pPr>
              <a:t>113</a:t>
            </a:fld>
            <a:r>
              <a:rPr lang="fr-FR"/>
              <a:t>/56</a:t>
            </a:r>
          </a:p>
        </p:txBody>
      </p:sp>
      <p:sp>
        <p:nvSpPr>
          <p:cNvPr id="33795" name="Rectangle 2"/>
          <p:cNvSpPr>
            <a:spLocks noGrp="1" noChangeArrowheads="1"/>
          </p:cNvSpPr>
          <p:nvPr>
            <p:ph type="title"/>
          </p:nvPr>
        </p:nvSpPr>
        <p:spPr>
          <a:xfrm>
            <a:off x="838200" y="-124277"/>
            <a:ext cx="10515600" cy="1325563"/>
          </a:xfrm>
        </p:spPr>
        <p:txBody>
          <a:bodyPr/>
          <a:lstStyle/>
          <a:p>
            <a:pPr eaLnBrk="1" hangingPunct="1"/>
            <a:r>
              <a:rPr lang="fr-FR" dirty="0" smtClean="0"/>
              <a:t>Copier, coller (3)</a:t>
            </a:r>
          </a:p>
        </p:txBody>
      </p:sp>
      <p:sp>
        <p:nvSpPr>
          <p:cNvPr id="33796" name="Rectangle 3"/>
          <p:cNvSpPr>
            <a:spLocks noGrp="1" noChangeArrowheads="1"/>
          </p:cNvSpPr>
          <p:nvPr>
            <p:ph type="body" idx="1"/>
          </p:nvPr>
        </p:nvSpPr>
        <p:spPr>
          <a:xfrm>
            <a:off x="1524000" y="1052514"/>
            <a:ext cx="9144000" cy="5805487"/>
          </a:xfrm>
        </p:spPr>
        <p:txBody>
          <a:bodyPr/>
          <a:lstStyle/>
          <a:p>
            <a:pPr eaLnBrk="1" hangingPunct="1"/>
            <a:r>
              <a:rPr lang="fr-FR" smtClean="0"/>
              <a:t> Manipulation par la souris 1 : en cliquant sur le bouton droit de la souris, on accède à un menu permettant de copier-couper-coller des objets</a:t>
            </a:r>
          </a:p>
          <a:p>
            <a:pPr eaLnBrk="1" hangingPunct="1"/>
            <a:r>
              <a:rPr lang="fr-FR" smtClean="0"/>
              <a:t> Manipulation par la souris 2 : </a:t>
            </a:r>
          </a:p>
          <a:p>
            <a:pPr lvl="1" eaLnBrk="1" hangingPunct="1"/>
            <a:r>
              <a:rPr lang="fr-FR" smtClean="0"/>
              <a:t> Cliquez en maintenant le bouton gauche de la souris appuyé sur le texte à sélectionner</a:t>
            </a:r>
          </a:p>
          <a:p>
            <a:pPr lvl="1" eaLnBrk="1" hangingPunct="1"/>
            <a:r>
              <a:rPr lang="fr-FR" smtClean="0"/>
              <a:t> Remarquez le changement du pointeur souris </a:t>
            </a:r>
          </a:p>
        </p:txBody>
      </p:sp>
      <p:pic>
        <p:nvPicPr>
          <p:cNvPr id="33797" name="Picture 4"/>
          <p:cNvPicPr>
            <a:picLocks noChangeAspect="1" noChangeArrowheads="1"/>
          </p:cNvPicPr>
          <p:nvPr/>
        </p:nvPicPr>
        <p:blipFill>
          <a:blip r:embed="rId2">
            <a:extLst>
              <a:ext uri="{28A0092B-C50C-407E-A947-70E740481C1C}">
                <a14:useLocalDpi xmlns:a14="http://schemas.microsoft.com/office/drawing/2010/main" val="0"/>
              </a:ext>
            </a:extLst>
          </a:blip>
          <a:srcRect t="16103" r="53427" b="45773"/>
          <a:stretch>
            <a:fillRect/>
          </a:stretch>
        </p:blipFill>
        <p:spPr bwMode="auto">
          <a:xfrm>
            <a:off x="5016500" y="4652963"/>
            <a:ext cx="3671888" cy="2220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4318092"/>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E6692C15-539C-474D-9514-94AC2E803A6A}" type="slidenum">
              <a:rPr lang="fr-FR"/>
              <a:pPr>
                <a:defRPr/>
              </a:pPr>
              <a:t>114</a:t>
            </a:fld>
            <a:r>
              <a:rPr lang="fr-FR"/>
              <a:t>/56</a:t>
            </a:r>
          </a:p>
        </p:txBody>
      </p:sp>
      <p:sp>
        <p:nvSpPr>
          <p:cNvPr id="34819" name="Rectangle 2"/>
          <p:cNvSpPr>
            <a:spLocks noGrp="1" noChangeArrowheads="1"/>
          </p:cNvSpPr>
          <p:nvPr>
            <p:ph type="title"/>
          </p:nvPr>
        </p:nvSpPr>
        <p:spPr>
          <a:xfrm>
            <a:off x="838200" y="-291701"/>
            <a:ext cx="10515600" cy="1325563"/>
          </a:xfrm>
        </p:spPr>
        <p:txBody>
          <a:bodyPr/>
          <a:lstStyle/>
          <a:p>
            <a:pPr eaLnBrk="1" hangingPunct="1"/>
            <a:r>
              <a:rPr lang="fr-FR" dirty="0" smtClean="0"/>
              <a:t>Copier, coller (4)</a:t>
            </a:r>
          </a:p>
        </p:txBody>
      </p:sp>
      <p:sp>
        <p:nvSpPr>
          <p:cNvPr id="34820" name="Rectangle 3"/>
          <p:cNvSpPr>
            <a:spLocks noGrp="1" noChangeArrowheads="1"/>
          </p:cNvSpPr>
          <p:nvPr>
            <p:ph type="body" idx="1"/>
          </p:nvPr>
        </p:nvSpPr>
        <p:spPr>
          <a:xfrm>
            <a:off x="1524000" y="1052514"/>
            <a:ext cx="9144000" cy="5805487"/>
          </a:xfrm>
        </p:spPr>
        <p:txBody>
          <a:bodyPr/>
          <a:lstStyle/>
          <a:p>
            <a:pPr lvl="1" eaLnBrk="1" hangingPunct="1">
              <a:lnSpc>
                <a:spcPct val="90000"/>
              </a:lnSpc>
            </a:pPr>
            <a:r>
              <a:rPr lang="fr-FR" smtClean="0"/>
              <a:t> Appuyez simultanément sur la touche « Ctrl » du clavier. Utilisez vos deux mains.</a:t>
            </a:r>
          </a:p>
          <a:p>
            <a:pPr lvl="1" eaLnBrk="1" hangingPunct="1">
              <a:lnSpc>
                <a:spcPct val="90000"/>
              </a:lnSpc>
            </a:pPr>
            <a:r>
              <a:rPr lang="fr-FR" smtClean="0"/>
              <a:t> Un signe « + » apparaît au niveau du pointeur souris. Ce + signifie la copie. Ne lâchez surtout pas la touche « Ctrl » du clavier.</a:t>
            </a:r>
          </a:p>
          <a:p>
            <a:pPr lvl="1" eaLnBrk="1" hangingPunct="1">
              <a:lnSpc>
                <a:spcPct val="90000"/>
              </a:lnSpc>
            </a:pPr>
            <a:endParaRPr lang="fr-FR" smtClean="0"/>
          </a:p>
          <a:p>
            <a:pPr lvl="1" eaLnBrk="1" hangingPunct="1">
              <a:lnSpc>
                <a:spcPct val="90000"/>
              </a:lnSpc>
            </a:pPr>
            <a:endParaRPr lang="fr-FR" smtClean="0"/>
          </a:p>
          <a:p>
            <a:pPr lvl="1" eaLnBrk="1" hangingPunct="1">
              <a:lnSpc>
                <a:spcPct val="90000"/>
              </a:lnSpc>
            </a:pPr>
            <a:endParaRPr lang="fr-FR" smtClean="0"/>
          </a:p>
          <a:p>
            <a:pPr lvl="1" eaLnBrk="1" hangingPunct="1">
              <a:lnSpc>
                <a:spcPct val="90000"/>
              </a:lnSpc>
              <a:buFontTx/>
              <a:buNone/>
            </a:pPr>
            <a:endParaRPr lang="fr-FR" smtClean="0"/>
          </a:p>
          <a:p>
            <a:pPr lvl="1" eaLnBrk="1" hangingPunct="1">
              <a:lnSpc>
                <a:spcPct val="90000"/>
              </a:lnSpc>
            </a:pPr>
            <a:endParaRPr lang="fr-FR" smtClean="0"/>
          </a:p>
          <a:p>
            <a:pPr lvl="1" eaLnBrk="1" hangingPunct="1">
              <a:lnSpc>
                <a:spcPct val="90000"/>
              </a:lnSpc>
            </a:pPr>
            <a:r>
              <a:rPr lang="fr-FR" smtClean="0"/>
              <a:t>  Déplacez le pointeur souris à l’emplacement où la copie du texte sélectionné doit apparaître. Ne lâchez surtout pas « Ctrl » du clavier.</a:t>
            </a:r>
          </a:p>
        </p:txBody>
      </p:sp>
      <p:pic>
        <p:nvPicPr>
          <p:cNvPr id="34821" name="Picture 4"/>
          <p:cNvPicPr>
            <a:picLocks noChangeAspect="1" noChangeArrowheads="1"/>
          </p:cNvPicPr>
          <p:nvPr/>
        </p:nvPicPr>
        <p:blipFill>
          <a:blip r:embed="rId2">
            <a:extLst>
              <a:ext uri="{28A0092B-C50C-407E-A947-70E740481C1C}">
                <a14:useLocalDpi xmlns:a14="http://schemas.microsoft.com/office/drawing/2010/main" val="0"/>
              </a:ext>
            </a:extLst>
          </a:blip>
          <a:srcRect t="15924" r="60905" b="46132"/>
          <a:stretch>
            <a:fillRect/>
          </a:stretch>
        </p:blipFill>
        <p:spPr bwMode="auto">
          <a:xfrm>
            <a:off x="5448300" y="2781300"/>
            <a:ext cx="3887788" cy="278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07413027"/>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5"/>
          <p:cNvSpPr>
            <a:spLocks noGrp="1"/>
          </p:cNvSpPr>
          <p:nvPr>
            <p:ph type="sldNum" sz="quarter" idx="12"/>
          </p:nvPr>
        </p:nvSpPr>
        <p:spPr/>
        <p:txBody>
          <a:bodyPr/>
          <a:lstStyle/>
          <a:p>
            <a:pPr>
              <a:defRPr/>
            </a:pPr>
            <a:fld id="{B00B5270-7762-4BDE-9EAE-91D27529A061}" type="slidenum">
              <a:rPr lang="fr-FR"/>
              <a:pPr>
                <a:defRPr/>
              </a:pPr>
              <a:t>115</a:t>
            </a:fld>
            <a:r>
              <a:rPr lang="fr-FR"/>
              <a:t>/56</a:t>
            </a:r>
          </a:p>
        </p:txBody>
      </p:sp>
      <p:sp>
        <p:nvSpPr>
          <p:cNvPr id="35843" name="Rectangle 2"/>
          <p:cNvSpPr>
            <a:spLocks noGrp="1" noChangeArrowheads="1"/>
          </p:cNvSpPr>
          <p:nvPr>
            <p:ph type="title"/>
          </p:nvPr>
        </p:nvSpPr>
        <p:spPr>
          <a:xfrm>
            <a:off x="838200" y="-227303"/>
            <a:ext cx="10515600" cy="1325563"/>
          </a:xfrm>
        </p:spPr>
        <p:txBody>
          <a:bodyPr/>
          <a:lstStyle/>
          <a:p>
            <a:pPr eaLnBrk="1" hangingPunct="1"/>
            <a:r>
              <a:rPr lang="fr-FR" dirty="0" smtClean="0"/>
              <a:t>Copier, coller (5)</a:t>
            </a:r>
          </a:p>
        </p:txBody>
      </p:sp>
      <p:sp>
        <p:nvSpPr>
          <p:cNvPr id="35844" name="Rectangle 3"/>
          <p:cNvSpPr>
            <a:spLocks noGrp="1" noChangeArrowheads="1"/>
          </p:cNvSpPr>
          <p:nvPr>
            <p:ph type="body" idx="1"/>
          </p:nvPr>
        </p:nvSpPr>
        <p:spPr>
          <a:xfrm>
            <a:off x="1200151" y="4508500"/>
            <a:ext cx="5903913" cy="1657350"/>
          </a:xfrm>
        </p:spPr>
        <p:txBody>
          <a:bodyPr/>
          <a:lstStyle/>
          <a:p>
            <a:pPr lvl="1" eaLnBrk="1" hangingPunct="1"/>
            <a:r>
              <a:rPr lang="fr-FR" smtClean="0"/>
              <a:t> Lâchez « Ctrl » du clavier. Le texte est copié.</a:t>
            </a:r>
          </a:p>
        </p:txBody>
      </p:sp>
      <p:pic>
        <p:nvPicPr>
          <p:cNvPr id="35845" name="Picture 4"/>
          <p:cNvPicPr>
            <a:picLocks noChangeAspect="1" noChangeArrowheads="1"/>
          </p:cNvPicPr>
          <p:nvPr/>
        </p:nvPicPr>
        <p:blipFill>
          <a:blip r:embed="rId2">
            <a:extLst>
              <a:ext uri="{28A0092B-C50C-407E-A947-70E740481C1C}">
                <a14:useLocalDpi xmlns:a14="http://schemas.microsoft.com/office/drawing/2010/main" val="0"/>
              </a:ext>
            </a:extLst>
          </a:blip>
          <a:srcRect t="16255" r="60905" b="45451"/>
          <a:stretch>
            <a:fillRect/>
          </a:stretch>
        </p:blipFill>
        <p:spPr bwMode="auto">
          <a:xfrm>
            <a:off x="1524000" y="1125539"/>
            <a:ext cx="3779838" cy="271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6" name="Picture 5"/>
          <p:cNvPicPr>
            <a:picLocks noChangeAspect="1" noChangeArrowheads="1"/>
          </p:cNvPicPr>
          <p:nvPr/>
        </p:nvPicPr>
        <p:blipFill>
          <a:blip r:embed="rId3">
            <a:extLst>
              <a:ext uri="{28A0092B-C50C-407E-A947-70E740481C1C}">
                <a14:useLocalDpi xmlns:a14="http://schemas.microsoft.com/office/drawing/2010/main" val="0"/>
              </a:ext>
            </a:extLst>
          </a:blip>
          <a:srcRect t="16255" r="62407" b="41455"/>
          <a:stretch>
            <a:fillRect/>
          </a:stretch>
        </p:blipFill>
        <p:spPr bwMode="auto">
          <a:xfrm>
            <a:off x="7175500" y="3917950"/>
            <a:ext cx="3492500" cy="294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7" name="Rectangle 7"/>
          <p:cNvSpPr>
            <a:spLocks noChangeArrowheads="1"/>
          </p:cNvSpPr>
          <p:nvPr/>
        </p:nvSpPr>
        <p:spPr bwMode="auto">
          <a:xfrm>
            <a:off x="4943476" y="1412875"/>
            <a:ext cx="5724525" cy="2808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a:spcBef>
                <a:spcPct val="20000"/>
              </a:spcBef>
              <a:buBlip>
                <a:blip r:embed="rId4"/>
              </a:buBlip>
              <a:defRPr sz="3200">
                <a:solidFill>
                  <a:schemeClr val="tx1"/>
                </a:solidFill>
                <a:latin typeface="Times New Roman" panose="02020603050405020304" pitchFamily="18" charset="0"/>
              </a:defRPr>
            </a:lvl1pPr>
            <a:lvl2pPr marL="742950" indent="-285750" algn="just">
              <a:spcBef>
                <a:spcPct val="20000"/>
              </a:spcBef>
              <a:buBlip>
                <a:blip r:embed="rId5"/>
              </a:buBlip>
              <a:defRPr sz="2800">
                <a:solidFill>
                  <a:schemeClr val="tx1"/>
                </a:solidFill>
                <a:latin typeface="Times New Roman" panose="02020603050405020304" pitchFamily="18" charset="0"/>
              </a:defRPr>
            </a:lvl2pPr>
            <a:lvl3pPr marL="1143000" indent="-228600" algn="just">
              <a:spcBef>
                <a:spcPct val="20000"/>
              </a:spcBef>
              <a:buBlip>
                <a:blip r:embed="rId6"/>
              </a:buBlip>
              <a:defRPr sz="2400">
                <a:solidFill>
                  <a:schemeClr val="tx1"/>
                </a:solidFill>
                <a:latin typeface="Times New Roman" panose="02020603050405020304" pitchFamily="18" charset="0"/>
              </a:defRPr>
            </a:lvl3pPr>
            <a:lvl4pPr marL="1600200" indent="-228600" algn="just">
              <a:spcBef>
                <a:spcPct val="20000"/>
              </a:spcBef>
              <a:buChar char="–"/>
              <a:defRPr sz="2000">
                <a:solidFill>
                  <a:schemeClr val="tx1"/>
                </a:solidFill>
                <a:latin typeface="Times New Roman" panose="02020603050405020304" pitchFamily="18" charset="0"/>
              </a:defRPr>
            </a:lvl4pPr>
            <a:lvl5pPr marL="2057400" indent="-228600" algn="just">
              <a:spcBef>
                <a:spcPct val="20000"/>
              </a:spcBef>
              <a:buChar char="»"/>
              <a:defRPr sz="2000">
                <a:solidFill>
                  <a:schemeClr val="tx1"/>
                </a:solidFill>
                <a:latin typeface="Times New Roman" panose="02020603050405020304" pitchFamily="18" charset="0"/>
              </a:defRPr>
            </a:lvl5pPr>
            <a:lvl6pPr marL="2514600" indent="-228600" algn="just"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just"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just"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just"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1" eaLnBrk="1" hangingPunct="1"/>
            <a:r>
              <a:rPr lang="fr-FR"/>
              <a:t> Lâchez le bouton gauche de la souris mais pas « Ctrl » du clavier. Le + doit toujours apparaître lorsque vous lâchez le bouton gauche de la souris.</a:t>
            </a:r>
          </a:p>
        </p:txBody>
      </p:sp>
    </p:spTree>
    <p:extLst>
      <p:ext uri="{BB962C8B-B14F-4D97-AF65-F5344CB8AC3E}">
        <p14:creationId xmlns:p14="http://schemas.microsoft.com/office/powerpoint/2010/main" val="2849273486"/>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pPr>
              <a:defRPr/>
            </a:pPr>
            <a:fld id="{A4B91F6E-4449-45B1-BAD5-016281F40987}" type="slidenum">
              <a:rPr lang="fr-FR"/>
              <a:pPr>
                <a:defRPr/>
              </a:pPr>
              <a:t>116</a:t>
            </a:fld>
            <a:r>
              <a:rPr lang="fr-FR"/>
              <a:t>/56</a:t>
            </a:r>
          </a:p>
        </p:txBody>
      </p:sp>
      <p:sp>
        <p:nvSpPr>
          <p:cNvPr id="36867" name="Rectangle 2"/>
          <p:cNvSpPr>
            <a:spLocks noGrp="1" noChangeArrowheads="1"/>
          </p:cNvSpPr>
          <p:nvPr>
            <p:ph type="title"/>
          </p:nvPr>
        </p:nvSpPr>
        <p:spPr/>
        <p:txBody>
          <a:bodyPr/>
          <a:lstStyle/>
          <a:p>
            <a:pPr eaLnBrk="1" hangingPunct="1"/>
            <a:r>
              <a:rPr lang="fr-FR" smtClean="0"/>
              <a:t>Copier, coller (6)</a:t>
            </a:r>
          </a:p>
        </p:txBody>
      </p:sp>
      <p:sp>
        <p:nvSpPr>
          <p:cNvPr id="36868" name="Rectangle 3"/>
          <p:cNvSpPr>
            <a:spLocks noGrp="1" noChangeArrowheads="1"/>
          </p:cNvSpPr>
          <p:nvPr>
            <p:ph type="body" idx="1"/>
          </p:nvPr>
        </p:nvSpPr>
        <p:spPr>
          <a:xfrm>
            <a:off x="1524000" y="1628775"/>
            <a:ext cx="9144000" cy="4114800"/>
          </a:xfrm>
        </p:spPr>
        <p:txBody>
          <a:bodyPr/>
          <a:lstStyle/>
          <a:p>
            <a:pPr eaLnBrk="1" hangingPunct="1"/>
            <a:r>
              <a:rPr lang="fr-FR" smtClean="0"/>
              <a:t> Manipulation par le clavier :</a:t>
            </a:r>
          </a:p>
          <a:p>
            <a:pPr lvl="1" eaLnBrk="1" hangingPunct="1"/>
            <a:r>
              <a:rPr lang="fr-FR" smtClean="0"/>
              <a:t> Sélectionnez le texte à copier </a:t>
            </a:r>
          </a:p>
          <a:p>
            <a:pPr lvl="1" eaLnBrk="1" hangingPunct="1"/>
            <a:r>
              <a:rPr lang="fr-FR" smtClean="0"/>
              <a:t> Appuyez simultanément sur la touche « Ctrl » du clavier et la touche  « C » (Ctrl+C)</a:t>
            </a:r>
          </a:p>
          <a:p>
            <a:pPr lvl="1" eaLnBrk="1" hangingPunct="1"/>
            <a:r>
              <a:rPr lang="fr-FR" smtClean="0"/>
              <a:t> Positionnez le curseur de saisie à l'endroit où vous désirez mettre la copie du texte.</a:t>
            </a:r>
          </a:p>
          <a:p>
            <a:pPr lvl="1" eaLnBrk="1" hangingPunct="1"/>
            <a:r>
              <a:rPr lang="fr-FR" smtClean="0"/>
              <a:t> Appuyez simultanément sur la touche « Ctrl » du clavier et la touche « V »  (Ctrl+V)</a:t>
            </a:r>
          </a:p>
        </p:txBody>
      </p:sp>
    </p:spTree>
    <p:extLst>
      <p:ext uri="{BB962C8B-B14F-4D97-AF65-F5344CB8AC3E}">
        <p14:creationId xmlns:p14="http://schemas.microsoft.com/office/powerpoint/2010/main" val="1508460501"/>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pPr>
              <a:defRPr/>
            </a:pPr>
            <a:fld id="{21540E17-C2B6-4F87-8C14-2CC66E9F0C0E}" type="slidenum">
              <a:rPr lang="fr-FR"/>
              <a:pPr>
                <a:defRPr/>
              </a:pPr>
              <a:t>117</a:t>
            </a:fld>
            <a:r>
              <a:rPr lang="fr-FR"/>
              <a:t>/56</a:t>
            </a:r>
          </a:p>
        </p:txBody>
      </p:sp>
      <p:sp>
        <p:nvSpPr>
          <p:cNvPr id="37891" name="Rectangle 2"/>
          <p:cNvSpPr>
            <a:spLocks noGrp="1" noChangeArrowheads="1"/>
          </p:cNvSpPr>
          <p:nvPr>
            <p:ph type="title"/>
          </p:nvPr>
        </p:nvSpPr>
        <p:spPr>
          <a:xfrm>
            <a:off x="838200" y="-98515"/>
            <a:ext cx="10515600" cy="1325563"/>
          </a:xfrm>
        </p:spPr>
        <p:txBody>
          <a:bodyPr/>
          <a:lstStyle/>
          <a:p>
            <a:pPr eaLnBrk="1" hangingPunct="1"/>
            <a:r>
              <a:rPr lang="fr-FR" dirty="0" smtClean="0"/>
              <a:t>Déplacement de texte (1)</a:t>
            </a:r>
          </a:p>
        </p:txBody>
      </p:sp>
      <p:sp>
        <p:nvSpPr>
          <p:cNvPr id="37892" name="Rectangle 3"/>
          <p:cNvSpPr>
            <a:spLocks noGrp="1" noChangeArrowheads="1"/>
          </p:cNvSpPr>
          <p:nvPr>
            <p:ph type="body" idx="1"/>
          </p:nvPr>
        </p:nvSpPr>
        <p:spPr>
          <a:xfrm>
            <a:off x="1524000" y="1052514"/>
            <a:ext cx="9144000" cy="5805487"/>
          </a:xfrm>
        </p:spPr>
        <p:txBody>
          <a:bodyPr/>
          <a:lstStyle/>
          <a:p>
            <a:pPr eaLnBrk="1" hangingPunct="1">
              <a:lnSpc>
                <a:spcPct val="90000"/>
              </a:lnSpc>
            </a:pPr>
            <a:r>
              <a:rPr lang="fr-FR" smtClean="0"/>
              <a:t> Manipulation par le menu :</a:t>
            </a:r>
          </a:p>
          <a:p>
            <a:pPr lvl="1" eaLnBrk="1" hangingPunct="1">
              <a:lnSpc>
                <a:spcPct val="90000"/>
              </a:lnSpc>
            </a:pPr>
            <a:r>
              <a:rPr lang="fr-FR" smtClean="0"/>
              <a:t> Sélectionnez le texte à déplacer </a:t>
            </a:r>
          </a:p>
          <a:p>
            <a:pPr lvl="1" eaLnBrk="1" hangingPunct="1">
              <a:lnSpc>
                <a:spcPct val="90000"/>
              </a:lnSpc>
            </a:pPr>
            <a:r>
              <a:rPr lang="fr-FR" smtClean="0"/>
              <a:t> Activez le menu Édition, puis l’option Couper.</a:t>
            </a:r>
          </a:p>
          <a:p>
            <a:pPr lvl="1" eaLnBrk="1" hangingPunct="1">
              <a:lnSpc>
                <a:spcPct val="90000"/>
              </a:lnSpc>
            </a:pPr>
            <a:r>
              <a:rPr lang="fr-FR" smtClean="0"/>
              <a:t> Positionnez le curseur de saisie à l'endroit où vous désirez mettre le texte.</a:t>
            </a:r>
          </a:p>
          <a:p>
            <a:pPr lvl="1" eaLnBrk="1" hangingPunct="1">
              <a:lnSpc>
                <a:spcPct val="90000"/>
              </a:lnSpc>
            </a:pPr>
            <a:r>
              <a:rPr lang="fr-FR" smtClean="0"/>
              <a:t> Activez le menu Édition, puis l’option Coller.</a:t>
            </a:r>
          </a:p>
          <a:p>
            <a:pPr eaLnBrk="1" hangingPunct="1">
              <a:lnSpc>
                <a:spcPct val="90000"/>
              </a:lnSpc>
            </a:pPr>
            <a:r>
              <a:rPr lang="fr-FR" smtClean="0"/>
              <a:t> Manipulation par la barre d’outils :</a:t>
            </a:r>
          </a:p>
          <a:p>
            <a:pPr lvl="1" eaLnBrk="1" hangingPunct="1">
              <a:lnSpc>
                <a:spcPct val="90000"/>
              </a:lnSpc>
            </a:pPr>
            <a:r>
              <a:rPr lang="fr-FR" smtClean="0"/>
              <a:t> Sélectionnez le texte à déplacer</a:t>
            </a:r>
          </a:p>
          <a:p>
            <a:pPr lvl="1" eaLnBrk="1" hangingPunct="1">
              <a:lnSpc>
                <a:spcPct val="90000"/>
              </a:lnSpc>
            </a:pPr>
            <a:r>
              <a:rPr lang="fr-FR" smtClean="0"/>
              <a:t> Cliquez sur le bouton</a:t>
            </a:r>
          </a:p>
          <a:p>
            <a:pPr lvl="1" eaLnBrk="1" hangingPunct="1">
              <a:lnSpc>
                <a:spcPct val="90000"/>
              </a:lnSpc>
            </a:pPr>
            <a:r>
              <a:rPr lang="fr-FR" smtClean="0"/>
              <a:t> Positionnez le curseur de saisie à l'endroit où vous désirez mettre le texte.</a:t>
            </a:r>
          </a:p>
          <a:p>
            <a:pPr lvl="1" eaLnBrk="1" hangingPunct="1">
              <a:lnSpc>
                <a:spcPct val="90000"/>
              </a:lnSpc>
            </a:pPr>
            <a:r>
              <a:rPr lang="fr-FR" smtClean="0"/>
              <a:t> Cliquez sur le bouton </a:t>
            </a:r>
          </a:p>
        </p:txBody>
      </p:sp>
      <p:pic>
        <p:nvPicPr>
          <p:cNvPr id="3789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6726" y="6021388"/>
            <a:ext cx="720725" cy="66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89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0326" y="4541838"/>
            <a:ext cx="720725" cy="69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70553547"/>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pPr>
              <a:defRPr/>
            </a:pPr>
            <a:fld id="{5A224CE9-7E24-40D0-9FC1-CB42AB56BE6C}" type="slidenum">
              <a:rPr lang="fr-FR"/>
              <a:pPr>
                <a:defRPr/>
              </a:pPr>
              <a:t>118</a:t>
            </a:fld>
            <a:r>
              <a:rPr lang="fr-FR"/>
              <a:t>/56</a:t>
            </a:r>
          </a:p>
        </p:txBody>
      </p:sp>
      <p:sp>
        <p:nvSpPr>
          <p:cNvPr id="38915" name="Rectangle 2"/>
          <p:cNvSpPr>
            <a:spLocks noGrp="1" noChangeArrowheads="1"/>
          </p:cNvSpPr>
          <p:nvPr>
            <p:ph type="title"/>
          </p:nvPr>
        </p:nvSpPr>
        <p:spPr/>
        <p:txBody>
          <a:bodyPr/>
          <a:lstStyle/>
          <a:p>
            <a:pPr eaLnBrk="1" hangingPunct="1"/>
            <a:r>
              <a:rPr lang="fr-FR" smtClean="0"/>
              <a:t>Déplacement de texte (2)</a:t>
            </a:r>
          </a:p>
        </p:txBody>
      </p:sp>
      <p:sp>
        <p:nvSpPr>
          <p:cNvPr id="38916" name="Rectangle 3"/>
          <p:cNvSpPr>
            <a:spLocks noGrp="1" noChangeArrowheads="1"/>
          </p:cNvSpPr>
          <p:nvPr>
            <p:ph type="body" idx="1"/>
          </p:nvPr>
        </p:nvSpPr>
        <p:spPr>
          <a:xfrm>
            <a:off x="1524000" y="1412876"/>
            <a:ext cx="5651500" cy="5084763"/>
          </a:xfrm>
        </p:spPr>
        <p:txBody>
          <a:bodyPr/>
          <a:lstStyle/>
          <a:p>
            <a:pPr eaLnBrk="1" hangingPunct="1"/>
            <a:r>
              <a:rPr lang="fr-FR" smtClean="0"/>
              <a:t> Manipulation par la souris :</a:t>
            </a:r>
          </a:p>
          <a:p>
            <a:pPr lvl="1" eaLnBrk="1" hangingPunct="1"/>
            <a:r>
              <a:rPr lang="fr-FR" smtClean="0"/>
              <a:t> Cliquez en maintenant le bouton gauche de la souris appuyé sur le texte à sélectionner</a:t>
            </a:r>
          </a:p>
          <a:p>
            <a:pPr lvl="1" eaLnBrk="1" hangingPunct="1"/>
            <a:r>
              <a:rPr lang="fr-FR" smtClean="0"/>
              <a:t> Déplacez le pointeur souris au nouvel emplacement du texte sélectionné </a:t>
            </a:r>
          </a:p>
          <a:p>
            <a:pPr lvl="1" eaLnBrk="1" hangingPunct="1"/>
            <a:r>
              <a:rPr lang="fr-FR" smtClean="0"/>
              <a:t> Lâchez le bouton gauche de la souris ; le texte est déplacé </a:t>
            </a:r>
          </a:p>
        </p:txBody>
      </p:sp>
      <p:pic>
        <p:nvPicPr>
          <p:cNvPr id="38917" name="Picture 4"/>
          <p:cNvPicPr>
            <a:picLocks noChangeAspect="1" noChangeArrowheads="1"/>
          </p:cNvPicPr>
          <p:nvPr/>
        </p:nvPicPr>
        <p:blipFill>
          <a:blip r:embed="rId2">
            <a:extLst>
              <a:ext uri="{28A0092B-C50C-407E-A947-70E740481C1C}">
                <a14:useLocalDpi xmlns:a14="http://schemas.microsoft.com/office/drawing/2010/main" val="0"/>
              </a:ext>
            </a:extLst>
          </a:blip>
          <a:srcRect t="16362" r="60905" b="41589"/>
          <a:stretch>
            <a:fillRect/>
          </a:stretch>
        </p:blipFill>
        <p:spPr bwMode="auto">
          <a:xfrm>
            <a:off x="7391400" y="1052514"/>
            <a:ext cx="3276600" cy="263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8" name="Picture 5"/>
          <p:cNvPicPr>
            <a:picLocks noChangeAspect="1" noChangeArrowheads="1"/>
          </p:cNvPicPr>
          <p:nvPr/>
        </p:nvPicPr>
        <p:blipFill>
          <a:blip r:embed="rId3">
            <a:extLst>
              <a:ext uri="{28A0092B-C50C-407E-A947-70E740481C1C}">
                <a14:useLocalDpi xmlns:a14="http://schemas.microsoft.com/office/drawing/2010/main" val="0"/>
              </a:ext>
            </a:extLst>
          </a:blip>
          <a:srcRect t="16255" r="60028" b="43480"/>
          <a:stretch>
            <a:fillRect/>
          </a:stretch>
        </p:blipFill>
        <p:spPr bwMode="auto">
          <a:xfrm>
            <a:off x="7319964" y="3933826"/>
            <a:ext cx="3348037" cy="260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95790338"/>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12A0718C-7AA4-48E8-9BE5-5E31D74213A2}" type="slidenum">
              <a:rPr lang="fr-FR"/>
              <a:pPr>
                <a:defRPr/>
              </a:pPr>
              <a:t>119</a:t>
            </a:fld>
            <a:r>
              <a:rPr lang="fr-FR"/>
              <a:t>/56</a:t>
            </a:r>
          </a:p>
        </p:txBody>
      </p:sp>
      <p:sp>
        <p:nvSpPr>
          <p:cNvPr id="39939" name="Rectangle 2"/>
          <p:cNvSpPr>
            <a:spLocks noGrp="1" noChangeArrowheads="1"/>
          </p:cNvSpPr>
          <p:nvPr>
            <p:ph type="title"/>
          </p:nvPr>
        </p:nvSpPr>
        <p:spPr>
          <a:xfrm>
            <a:off x="838200" y="17392"/>
            <a:ext cx="10515600" cy="1325563"/>
          </a:xfrm>
        </p:spPr>
        <p:txBody>
          <a:bodyPr/>
          <a:lstStyle/>
          <a:p>
            <a:pPr eaLnBrk="1" hangingPunct="1"/>
            <a:r>
              <a:rPr lang="fr-FR" dirty="0" smtClean="0"/>
              <a:t>Déplacement de texte (3)</a:t>
            </a:r>
          </a:p>
        </p:txBody>
      </p:sp>
      <p:sp>
        <p:nvSpPr>
          <p:cNvPr id="39940" name="Rectangle 3"/>
          <p:cNvSpPr>
            <a:spLocks noGrp="1" noChangeArrowheads="1"/>
          </p:cNvSpPr>
          <p:nvPr>
            <p:ph type="body" idx="1"/>
          </p:nvPr>
        </p:nvSpPr>
        <p:spPr>
          <a:xfrm>
            <a:off x="1524000" y="1125538"/>
            <a:ext cx="9144000" cy="5040312"/>
          </a:xfrm>
        </p:spPr>
        <p:txBody>
          <a:bodyPr/>
          <a:lstStyle/>
          <a:p>
            <a:pPr eaLnBrk="1" hangingPunct="1"/>
            <a:r>
              <a:rPr lang="fr-FR" smtClean="0"/>
              <a:t> Manipulation par le clavier :</a:t>
            </a:r>
          </a:p>
          <a:p>
            <a:pPr lvl="1" eaLnBrk="1" hangingPunct="1"/>
            <a:r>
              <a:rPr lang="fr-FR" smtClean="0"/>
              <a:t> Sélectionnez le texte à copier </a:t>
            </a:r>
          </a:p>
          <a:p>
            <a:pPr lvl="1" eaLnBrk="1" hangingPunct="1"/>
            <a:r>
              <a:rPr lang="fr-FR" smtClean="0"/>
              <a:t> Appuyez simultanément sur la touche « Ctrl » du clavier et la touche  « X » (Ctrl+X)</a:t>
            </a:r>
          </a:p>
          <a:p>
            <a:pPr lvl="1" eaLnBrk="1" hangingPunct="1"/>
            <a:r>
              <a:rPr lang="fr-FR" smtClean="0"/>
              <a:t> Positionnez le curseur de saisie à l'endroit où vous désirez mettre le texte.</a:t>
            </a:r>
          </a:p>
          <a:p>
            <a:pPr lvl="1" eaLnBrk="1" hangingPunct="1"/>
            <a:r>
              <a:rPr lang="fr-FR" smtClean="0"/>
              <a:t> Appuyez simultanément sur la touche « Ctrl » du clavier et la touche « V »  (Ctrl+V)</a:t>
            </a:r>
          </a:p>
          <a:p>
            <a:pPr eaLnBrk="1" hangingPunct="1"/>
            <a:r>
              <a:rPr lang="fr-FR" smtClean="0"/>
              <a:t> Astuce : ce bouton permet de répéter une action comme un copier-coller…</a:t>
            </a:r>
          </a:p>
        </p:txBody>
      </p:sp>
      <p:pic>
        <p:nvPicPr>
          <p:cNvPr id="39941"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43701" y="5734051"/>
            <a:ext cx="936625" cy="93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92781700"/>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pPr>
              <a:defRPr/>
            </a:pPr>
            <a:fld id="{D16D2C8D-EA55-4AC8-A701-2896C8AA77F9}" type="slidenum">
              <a:rPr lang="fr-FR"/>
              <a:pPr>
                <a:defRPr/>
              </a:pPr>
              <a:t>120</a:t>
            </a:fld>
            <a:r>
              <a:rPr lang="fr-FR"/>
              <a:t>/56</a:t>
            </a:r>
          </a:p>
        </p:txBody>
      </p:sp>
      <p:sp>
        <p:nvSpPr>
          <p:cNvPr id="40963" name="Rectangle 2"/>
          <p:cNvSpPr>
            <a:spLocks noGrp="1" noChangeArrowheads="1"/>
          </p:cNvSpPr>
          <p:nvPr>
            <p:ph type="title"/>
          </p:nvPr>
        </p:nvSpPr>
        <p:spPr/>
        <p:txBody>
          <a:bodyPr/>
          <a:lstStyle/>
          <a:p>
            <a:pPr eaLnBrk="1" hangingPunct="1"/>
            <a:r>
              <a:rPr lang="fr-FR" smtClean="0"/>
              <a:t>Et pour le reste ?</a:t>
            </a:r>
          </a:p>
        </p:txBody>
      </p:sp>
      <p:sp>
        <p:nvSpPr>
          <p:cNvPr id="40964" name="Rectangle 3"/>
          <p:cNvSpPr>
            <a:spLocks noGrp="1" noChangeArrowheads="1"/>
          </p:cNvSpPr>
          <p:nvPr>
            <p:ph type="body" idx="1"/>
          </p:nvPr>
        </p:nvSpPr>
        <p:spPr>
          <a:xfrm>
            <a:off x="1524000" y="1981200"/>
            <a:ext cx="9144000" cy="4114800"/>
          </a:xfrm>
        </p:spPr>
        <p:txBody>
          <a:bodyPr/>
          <a:lstStyle/>
          <a:p>
            <a:pPr eaLnBrk="1" hangingPunct="1"/>
            <a:r>
              <a:rPr lang="fr-FR"/>
              <a:t> On peut effectuez les mêmes manipulations que pour le texte </a:t>
            </a:r>
          </a:p>
          <a:p>
            <a:pPr eaLnBrk="1" hangingPunct="1"/>
            <a:r>
              <a:rPr lang="fr-FR"/>
              <a:t> Pour sélectionner une image ou un objet, effectuez un clic simple dessus</a:t>
            </a:r>
          </a:p>
          <a:p>
            <a:pPr eaLnBrk="1" hangingPunct="1"/>
            <a:r>
              <a:rPr lang="fr-FR"/>
              <a:t> Les carrés noirs indiquent que l’objet est sélectionné</a:t>
            </a:r>
          </a:p>
          <a:p>
            <a:pPr eaLnBrk="1" hangingPunct="1"/>
            <a:r>
              <a:rPr lang="fr-FR"/>
              <a:t> On peut sélectionner plusieurs éléments (texte, images, objets etc.) avec les touches « Shift » (la touche avec la flèche vers le haut) et « Ctrl »</a:t>
            </a:r>
          </a:p>
        </p:txBody>
      </p:sp>
    </p:spTree>
    <p:extLst>
      <p:ext uri="{BB962C8B-B14F-4D97-AF65-F5344CB8AC3E}">
        <p14:creationId xmlns:p14="http://schemas.microsoft.com/office/powerpoint/2010/main" val="1620659156"/>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pPr>
              <a:defRPr/>
            </a:pPr>
            <a:fld id="{B81AA31D-A10E-4BD2-9D75-5D3F99E7F903}" type="slidenum">
              <a:rPr lang="fr-FR"/>
              <a:pPr>
                <a:defRPr/>
              </a:pPr>
              <a:t>121</a:t>
            </a:fld>
            <a:r>
              <a:rPr lang="fr-FR"/>
              <a:t>/56</a:t>
            </a:r>
          </a:p>
        </p:txBody>
      </p:sp>
      <p:sp>
        <p:nvSpPr>
          <p:cNvPr id="41987" name="Rectangle 2"/>
          <p:cNvSpPr>
            <a:spLocks noGrp="1" noChangeArrowheads="1"/>
          </p:cNvSpPr>
          <p:nvPr>
            <p:ph type="title"/>
          </p:nvPr>
        </p:nvSpPr>
        <p:spPr>
          <a:xfrm>
            <a:off x="838200" y="-227303"/>
            <a:ext cx="10515600" cy="1325563"/>
          </a:xfrm>
        </p:spPr>
        <p:txBody>
          <a:bodyPr/>
          <a:lstStyle/>
          <a:p>
            <a:pPr eaLnBrk="1" hangingPunct="1"/>
            <a:r>
              <a:rPr lang="fr-FR" sz="4800" dirty="0"/>
              <a:t>Correction orthographique (1)</a:t>
            </a:r>
          </a:p>
        </p:txBody>
      </p:sp>
      <p:sp>
        <p:nvSpPr>
          <p:cNvPr id="41988" name="Rectangle 3"/>
          <p:cNvSpPr>
            <a:spLocks noGrp="1" noChangeArrowheads="1"/>
          </p:cNvSpPr>
          <p:nvPr>
            <p:ph type="body" idx="1"/>
          </p:nvPr>
        </p:nvSpPr>
        <p:spPr>
          <a:xfrm>
            <a:off x="1524000" y="1219200"/>
            <a:ext cx="9144000" cy="5638800"/>
          </a:xfrm>
        </p:spPr>
        <p:txBody>
          <a:bodyPr/>
          <a:lstStyle/>
          <a:p>
            <a:pPr eaLnBrk="1" hangingPunct="1">
              <a:lnSpc>
                <a:spcPct val="90000"/>
              </a:lnSpc>
            </a:pPr>
            <a:r>
              <a:rPr lang="fr-FR" sz="2400"/>
              <a:t> Activez le menu Outils, puis l’option Grammaire et orthographe… </a:t>
            </a:r>
          </a:p>
          <a:p>
            <a:pPr eaLnBrk="1" hangingPunct="1">
              <a:lnSpc>
                <a:spcPct val="90000"/>
              </a:lnSpc>
            </a:pPr>
            <a:r>
              <a:rPr lang="fr-FR" sz="2400"/>
              <a:t> Utilisez cette commande pour lancer la vérification d'orthographique et grammaticale dans le document actif, y compris dans les en-têtes, les pieds de page, les notes de bas de page et les annotations. </a:t>
            </a:r>
          </a:p>
          <a:p>
            <a:pPr eaLnBrk="1" hangingPunct="1">
              <a:lnSpc>
                <a:spcPct val="90000"/>
              </a:lnSpc>
            </a:pPr>
            <a:r>
              <a:rPr lang="fr-FR" sz="2400"/>
              <a:t>Lorsque Word rencontre un mot qui ne se trouve pas dans les dictionnaires ouverts, une boîte de dialogue s'affiche et vous aide à corriger l'orthographe.</a:t>
            </a:r>
          </a:p>
          <a:p>
            <a:pPr eaLnBrk="1" hangingPunct="1">
              <a:lnSpc>
                <a:spcPct val="90000"/>
              </a:lnSpc>
            </a:pPr>
            <a:r>
              <a:rPr lang="fr-FR" sz="2400"/>
              <a:t>Word vérifie le texte caché et les résultats de champ uniquement s'ils apparaissent à l'écran lorsque vous lancez la vérification d'orthographe.</a:t>
            </a:r>
            <a:endParaRPr lang="fr-FR" sz="2400" b="1"/>
          </a:p>
          <a:p>
            <a:pPr lvl="1" eaLnBrk="1" hangingPunct="1">
              <a:lnSpc>
                <a:spcPct val="90000"/>
              </a:lnSpc>
            </a:pPr>
            <a:r>
              <a:rPr lang="fr-FR" sz="2000"/>
              <a:t>Pour limiter la vérification d'orthographe, vous pouvez sélectionner un seul mot ou une partie du document avant de lancer la commande de vérification d'orthographe.</a:t>
            </a:r>
          </a:p>
          <a:p>
            <a:pPr lvl="1" eaLnBrk="1" hangingPunct="1">
              <a:lnSpc>
                <a:spcPct val="90000"/>
              </a:lnSpc>
            </a:pPr>
            <a:r>
              <a:rPr lang="fr-FR" sz="2000"/>
              <a:t> Pour effectuer des corrections manuelles, vous pouvez basculer vers le document alors que la boîte de dialogue Grammaire et Orthographe est à l'écran.</a:t>
            </a:r>
          </a:p>
        </p:txBody>
      </p:sp>
    </p:spTree>
    <p:extLst>
      <p:ext uri="{BB962C8B-B14F-4D97-AF65-F5344CB8AC3E}">
        <p14:creationId xmlns:p14="http://schemas.microsoft.com/office/powerpoint/2010/main" val="1610840712"/>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pPr>
              <a:defRPr/>
            </a:pPr>
            <a:fld id="{AAB32C3F-D6C8-4F63-AA0A-DA7B7CAEB6DD}" type="slidenum">
              <a:rPr lang="fr-FR"/>
              <a:pPr>
                <a:defRPr/>
              </a:pPr>
              <a:t>122</a:t>
            </a:fld>
            <a:r>
              <a:rPr lang="fr-FR"/>
              <a:t>/56</a:t>
            </a:r>
          </a:p>
        </p:txBody>
      </p:sp>
      <p:sp>
        <p:nvSpPr>
          <p:cNvPr id="43011" name="Rectangle 2"/>
          <p:cNvSpPr>
            <a:spLocks noGrp="1" noChangeArrowheads="1"/>
          </p:cNvSpPr>
          <p:nvPr>
            <p:ph type="title"/>
          </p:nvPr>
        </p:nvSpPr>
        <p:spPr>
          <a:xfrm>
            <a:off x="838200" y="-34121"/>
            <a:ext cx="10515600" cy="1325563"/>
          </a:xfrm>
        </p:spPr>
        <p:txBody>
          <a:bodyPr/>
          <a:lstStyle/>
          <a:p>
            <a:pPr eaLnBrk="1" hangingPunct="1"/>
            <a:r>
              <a:rPr lang="fr-FR" sz="4800" dirty="0"/>
              <a:t>Correction orthographique (2)</a:t>
            </a:r>
          </a:p>
        </p:txBody>
      </p:sp>
      <p:sp>
        <p:nvSpPr>
          <p:cNvPr id="43012" name="Rectangle 3"/>
          <p:cNvSpPr>
            <a:spLocks noGrp="1" noChangeArrowheads="1"/>
          </p:cNvSpPr>
          <p:nvPr>
            <p:ph type="body" idx="1"/>
          </p:nvPr>
        </p:nvSpPr>
        <p:spPr>
          <a:xfrm>
            <a:off x="1524000" y="1196976"/>
            <a:ext cx="9144000" cy="5661025"/>
          </a:xfrm>
        </p:spPr>
        <p:txBody>
          <a:bodyPr/>
          <a:lstStyle/>
          <a:p>
            <a:pPr eaLnBrk="1" hangingPunct="1">
              <a:lnSpc>
                <a:spcPct val="90000"/>
              </a:lnSpc>
            </a:pPr>
            <a:r>
              <a:rPr lang="fr-FR"/>
              <a:t> Astuce : Word souligne dans votre texte les mots non reconnu. Pour les corriger, placer votre curseur de souris dessus puis clique droit et sélectionner le bon mot. On peut aussi utiliser la touche « F7 » </a:t>
            </a:r>
          </a:p>
          <a:p>
            <a:pPr eaLnBrk="1" hangingPunct="1">
              <a:lnSpc>
                <a:spcPct val="90000"/>
              </a:lnSpc>
            </a:pPr>
            <a:r>
              <a:rPr lang="fr-FR"/>
              <a:t> On peut choisir la langue de son choix (celles installées) dans le menu Outils, puis l’option Langue</a:t>
            </a:r>
          </a:p>
          <a:p>
            <a:pPr eaLnBrk="1" hangingPunct="1">
              <a:lnSpc>
                <a:spcPct val="90000"/>
              </a:lnSpc>
            </a:pPr>
            <a:r>
              <a:rPr lang="fr-FR"/>
              <a:t> On y trouve aussi un « dictionnaire des synonyme</a:t>
            </a:r>
          </a:p>
          <a:p>
            <a:pPr lvl="1" eaLnBrk="1" hangingPunct="1">
              <a:lnSpc>
                <a:spcPct val="90000"/>
              </a:lnSpc>
            </a:pPr>
            <a:r>
              <a:rPr lang="fr-FR"/>
              <a:t> Astuce : pour l’activer, placez votre curseur sur un mot et taper la touche « Shift+F7 »</a:t>
            </a:r>
          </a:p>
          <a:p>
            <a:pPr eaLnBrk="1" hangingPunct="1">
              <a:lnSpc>
                <a:spcPct val="90000"/>
              </a:lnSpc>
            </a:pPr>
            <a:r>
              <a:rPr lang="fr-FR"/>
              <a:t> On y trouve aussi un outils pour la traduction d’un mot (ou d’une phrase) d’une langue vers une autre langue. Attention, le traducteur de Word n’est pas très fiable. Utiliser d’autres outils (souvent payant…)</a:t>
            </a:r>
          </a:p>
        </p:txBody>
      </p:sp>
    </p:spTree>
    <p:extLst>
      <p:ext uri="{BB962C8B-B14F-4D97-AF65-F5344CB8AC3E}">
        <p14:creationId xmlns:p14="http://schemas.microsoft.com/office/powerpoint/2010/main" val="567354514"/>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pPr>
              <a:defRPr/>
            </a:pPr>
            <a:fld id="{A2AE2BE0-C0C0-413B-89C5-A8C1EC519047}" type="slidenum">
              <a:rPr lang="fr-FR"/>
              <a:pPr>
                <a:defRPr/>
              </a:pPr>
              <a:t>123</a:t>
            </a:fld>
            <a:r>
              <a:rPr lang="fr-FR"/>
              <a:t>/56</a:t>
            </a:r>
          </a:p>
        </p:txBody>
      </p:sp>
      <p:sp>
        <p:nvSpPr>
          <p:cNvPr id="44035" name="Rectangle 2"/>
          <p:cNvSpPr>
            <a:spLocks noGrp="1" noChangeArrowheads="1"/>
          </p:cNvSpPr>
          <p:nvPr>
            <p:ph type="title"/>
          </p:nvPr>
        </p:nvSpPr>
        <p:spPr>
          <a:xfrm>
            <a:off x="838200" y="159061"/>
            <a:ext cx="10515600" cy="1325563"/>
          </a:xfrm>
        </p:spPr>
        <p:txBody>
          <a:bodyPr/>
          <a:lstStyle/>
          <a:p>
            <a:pPr eaLnBrk="1" hangingPunct="1"/>
            <a:r>
              <a:rPr lang="fr-FR" dirty="0" smtClean="0"/>
              <a:t>Raccourcies clavier</a:t>
            </a:r>
          </a:p>
        </p:txBody>
      </p:sp>
      <p:sp>
        <p:nvSpPr>
          <p:cNvPr id="44036" name="Rectangle 3"/>
          <p:cNvSpPr>
            <a:spLocks noGrp="1" noChangeArrowheads="1"/>
          </p:cNvSpPr>
          <p:nvPr>
            <p:ph type="body" idx="1"/>
          </p:nvPr>
        </p:nvSpPr>
        <p:spPr>
          <a:xfrm>
            <a:off x="1524000" y="1196976"/>
            <a:ext cx="9144000" cy="5661025"/>
          </a:xfrm>
        </p:spPr>
        <p:txBody>
          <a:bodyPr/>
          <a:lstStyle/>
          <a:p>
            <a:pPr eaLnBrk="1" hangingPunct="1"/>
            <a:r>
              <a:rPr lang="fr-FR"/>
              <a:t> IL existe en Word pleins de raccourcies claviers (que l’on peut modifier, ajouter et supprimer via le menu Outils puis option Options)</a:t>
            </a:r>
          </a:p>
          <a:p>
            <a:pPr eaLnBrk="1" hangingPunct="1"/>
            <a:r>
              <a:rPr lang="fr-FR"/>
              <a:t> Ces raccourcies sont très pratiques car évite de devoir prendre la souris (on va plus vite au clavier)</a:t>
            </a:r>
          </a:p>
          <a:p>
            <a:pPr eaLnBrk="1" hangingPunct="1"/>
            <a:r>
              <a:rPr lang="fr-FR"/>
              <a:t> En voici quelques uns :</a:t>
            </a:r>
          </a:p>
          <a:p>
            <a:pPr lvl="1" eaLnBrk="1" hangingPunct="1"/>
            <a:r>
              <a:rPr lang="fr-FR"/>
              <a:t> Ctrl-S  </a:t>
            </a:r>
            <a:r>
              <a:rPr lang="fr-FR">
                <a:sym typeface="Wingdings" panose="05000000000000000000" pitchFamily="2" charset="2"/>
              </a:rPr>
              <a:t> sauvegarde du document</a:t>
            </a:r>
          </a:p>
          <a:p>
            <a:pPr lvl="1" eaLnBrk="1" hangingPunct="1"/>
            <a:r>
              <a:rPr lang="fr-FR">
                <a:sym typeface="Wingdings" panose="05000000000000000000" pitchFamily="2" charset="2"/>
              </a:rPr>
              <a:t> Ctrl-O  ouverture d’un document</a:t>
            </a:r>
          </a:p>
          <a:p>
            <a:pPr lvl="1" eaLnBrk="1" hangingPunct="1"/>
            <a:r>
              <a:rPr lang="fr-FR"/>
              <a:t> Ctrl-N </a:t>
            </a:r>
            <a:r>
              <a:rPr lang="fr-FR">
                <a:sym typeface="Wingdings" panose="05000000000000000000" pitchFamily="2" charset="2"/>
              </a:rPr>
              <a:t> nouveau document</a:t>
            </a:r>
          </a:p>
          <a:p>
            <a:pPr lvl="1" eaLnBrk="1" hangingPunct="1"/>
            <a:r>
              <a:rPr lang="fr-FR"/>
              <a:t> Ctrl-Y </a:t>
            </a:r>
            <a:r>
              <a:rPr lang="fr-FR">
                <a:sym typeface="Wingdings" panose="05000000000000000000" pitchFamily="2" charset="2"/>
              </a:rPr>
              <a:t> répéter l’action</a:t>
            </a:r>
          </a:p>
          <a:p>
            <a:pPr lvl="1" eaLnBrk="1" hangingPunct="1"/>
            <a:r>
              <a:rPr lang="fr-FR">
                <a:sym typeface="Wingdings" panose="05000000000000000000" pitchFamily="2" charset="2"/>
              </a:rPr>
              <a:t> Ctrl-P   imprimer</a:t>
            </a:r>
          </a:p>
          <a:p>
            <a:pPr lvl="1" eaLnBrk="1" hangingPunct="1"/>
            <a:r>
              <a:rPr lang="fr-FR"/>
              <a:t> Ctrl-A </a:t>
            </a:r>
            <a:r>
              <a:rPr lang="fr-FR">
                <a:sym typeface="Wingdings" panose="05000000000000000000" pitchFamily="2" charset="2"/>
              </a:rPr>
              <a:t> sélectionner tout le document</a:t>
            </a:r>
            <a:endParaRPr lang="fr-FR"/>
          </a:p>
        </p:txBody>
      </p:sp>
    </p:spTree>
    <p:extLst>
      <p:ext uri="{BB962C8B-B14F-4D97-AF65-F5344CB8AC3E}">
        <p14:creationId xmlns:p14="http://schemas.microsoft.com/office/powerpoint/2010/main" val="228768444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3897</Words>
  <Application>Microsoft Office PowerPoint</Application>
  <PresentationFormat>Widescreen</PresentationFormat>
  <Paragraphs>835</Paragraphs>
  <Slides>123</Slides>
  <Notes>45</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2</vt:i4>
      </vt:variant>
      <vt:variant>
        <vt:lpstr>Slide Titles</vt:lpstr>
      </vt:variant>
      <vt:variant>
        <vt:i4>123</vt:i4>
      </vt:variant>
    </vt:vector>
  </HeadingPairs>
  <TitlesOfParts>
    <vt:vector size="137" baseType="lpstr">
      <vt:lpstr>Arial</vt:lpstr>
      <vt:lpstr>Arial Narrow</vt:lpstr>
      <vt:lpstr>Calibri</vt:lpstr>
      <vt:lpstr>Calibri Light</vt:lpstr>
      <vt:lpstr>Cambria</vt:lpstr>
      <vt:lpstr>Courier New</vt:lpstr>
      <vt:lpstr>Symbol</vt:lpstr>
      <vt:lpstr>Times New Roman</vt:lpstr>
      <vt:lpstr>Vianta</vt:lpstr>
      <vt:lpstr>Wingdings</vt:lpstr>
      <vt:lpstr>Wingdings 3</vt:lpstr>
      <vt:lpstr>Office Theme</vt:lpstr>
      <vt:lpstr>MS_ClipArt_Gallery.2</vt:lpstr>
      <vt:lpstr>Bitmap Image</vt:lpstr>
      <vt:lpstr>PowerPoint Presentation</vt:lpstr>
      <vt:lpstr>Définition d’un ordinateur </vt:lpstr>
      <vt:lpstr>    Micro-ordinateur  </vt:lpstr>
      <vt:lpstr>PowerPoint Presentation</vt:lpstr>
      <vt:lpstr>PowerPoint Presentation</vt:lpstr>
      <vt:lpstr>PowerPoint Presentation</vt:lpstr>
      <vt:lpstr>Fonctionnement de l’ordinateur </vt:lpstr>
      <vt:lpstr>Les composantes de l’ordinateur</vt:lpstr>
      <vt:lpstr>L’unité central</vt:lpstr>
      <vt:lpstr>PowerPoint Presentation</vt:lpstr>
      <vt:lpstr>PowerPoint Presentation</vt:lpstr>
      <vt:lpstr>PowerPoint Presentation</vt:lpstr>
      <vt:lpstr>PowerPoint Presentation</vt:lpstr>
      <vt:lpstr>Le microprocesseur            </vt:lpstr>
      <vt:lpstr>La mémoire cache</vt:lpstr>
      <vt:lpstr>La mémoire vive ou mémoire centrale RAM</vt:lpstr>
      <vt:lpstr>La mémoire morte ROM</vt:lpstr>
      <vt:lpstr>PowerPoint Presentation</vt:lpstr>
      <vt:lpstr>PowerPoint Presentation</vt:lpstr>
      <vt:lpstr>PowerPoint Presentation</vt:lpstr>
      <vt:lpstr>PowerPoint Presentation</vt:lpstr>
      <vt:lpstr>Le disque dur </vt:lpstr>
      <vt:lpstr>PowerPoint Presentation</vt:lpstr>
      <vt:lpstr>Le lecteur disquette</vt:lpstr>
      <vt:lpstr>PowerPoint Presentation</vt:lpstr>
      <vt:lpstr>Le lecteur CD</vt:lpstr>
      <vt:lpstr>PowerPoint Presentation</vt:lpstr>
      <vt:lpstr>PowerPoint Presentation</vt:lpstr>
      <vt:lpstr>Ecran ou moniteur</vt:lpstr>
      <vt:lpstr>Le clavier</vt:lpstr>
      <vt:lpstr>La souris</vt:lpstr>
      <vt:lpstr>La représentation des données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Présentation</vt:lpstr>
      <vt:lpstr>Lancement</vt:lpstr>
      <vt:lpstr>Page d’accueil</vt:lpstr>
      <vt:lpstr>Tout çà ?</vt:lpstr>
      <vt:lpstr>Boîte « standard »</vt:lpstr>
      <vt:lpstr>Boîte « mise en forme »</vt:lpstr>
      <vt:lpstr>Première utilisation</vt:lpstr>
      <vt:lpstr>Saisir du texte</vt:lpstr>
      <vt:lpstr>Exercice 1</vt:lpstr>
      <vt:lpstr>Remarques</vt:lpstr>
      <vt:lpstr>Caractères invisibles (1)</vt:lpstr>
      <vt:lpstr>Mode « refrappe » (1)</vt:lpstr>
      <vt:lpstr>Mode « Refrappe » (2)</vt:lpstr>
      <vt:lpstr>Ouverture d’un document (1)</vt:lpstr>
      <vt:lpstr>Ouverture d’un document (2)</vt:lpstr>
      <vt:lpstr>Ouverture d’un document (3)</vt:lpstr>
      <vt:lpstr>Enregistrer un document (1)</vt:lpstr>
      <vt:lpstr>Enregistrer un document (2)</vt:lpstr>
      <vt:lpstr>Enregistrer un document (2)</vt:lpstr>
      <vt:lpstr>Enregistrer un document (3)</vt:lpstr>
      <vt:lpstr>Enregistrer un document (4)</vt:lpstr>
      <vt:lpstr>Fermeture d’un document</vt:lpstr>
      <vt:lpstr>Manipulation de texte</vt:lpstr>
      <vt:lpstr>Imprimer un document (1)</vt:lpstr>
      <vt:lpstr>Imprimer un document (2)</vt:lpstr>
      <vt:lpstr>Copier, coller (1)</vt:lpstr>
      <vt:lpstr>Copier, coller (2)</vt:lpstr>
      <vt:lpstr>Copier, coller (3)</vt:lpstr>
      <vt:lpstr>Copier, coller (4)</vt:lpstr>
      <vt:lpstr>Copier, coller (5)</vt:lpstr>
      <vt:lpstr>Copier, coller (6)</vt:lpstr>
      <vt:lpstr>Déplacement de texte (1)</vt:lpstr>
      <vt:lpstr>Déplacement de texte (2)</vt:lpstr>
      <vt:lpstr>Déplacement de texte (3)</vt:lpstr>
      <vt:lpstr>Et pour le reste ?</vt:lpstr>
      <vt:lpstr>Correction orthographique (1)</vt:lpstr>
      <vt:lpstr>Correction orthographique (2)</vt:lpstr>
      <vt:lpstr>Raccourcies clavier</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Beracham</dc:creator>
  <cp:lastModifiedBy>Beracham</cp:lastModifiedBy>
  <cp:revision>4</cp:revision>
  <dcterms:created xsi:type="dcterms:W3CDTF">2022-05-21T06:33:44Z</dcterms:created>
  <dcterms:modified xsi:type="dcterms:W3CDTF">2022-05-22T19:40:53Z</dcterms:modified>
</cp:coreProperties>
</file>