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4" r:id="rId48"/>
    <p:sldId id="303"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3" r:id="rId67"/>
    <p:sldId id="324" r:id="rId68"/>
    <p:sldId id="325" r:id="rId69"/>
    <p:sldId id="326" r:id="rId70"/>
    <p:sldId id="327" r:id="rId71"/>
    <p:sldId id="328" r:id="rId72"/>
    <p:sldId id="329" r:id="rId73"/>
    <p:sldId id="330" r:id="rId74"/>
    <p:sldId id="331" r:id="rId75"/>
    <p:sldId id="332" r:id="rId76"/>
    <p:sldId id="333" r:id="rId77"/>
    <p:sldId id="334" r:id="rId78"/>
    <p:sldId id="335" r:id="rId79"/>
    <p:sldId id="336" r:id="rId80"/>
    <p:sldId id="337" r:id="rId81"/>
    <p:sldId id="338" r:id="rId82"/>
    <p:sldId id="339" r:id="rId83"/>
    <p:sldId id="340" r:id="rId84"/>
    <p:sldId id="341" r:id="rId85"/>
    <p:sldId id="342" r:id="rId86"/>
    <p:sldId id="343" r:id="rId87"/>
    <p:sldId id="344" r:id="rId88"/>
    <p:sldId id="345" r:id="rId89"/>
    <p:sldId id="346" r:id="rId90"/>
    <p:sldId id="347" r:id="rId91"/>
    <p:sldId id="348" r:id="rId92"/>
    <p:sldId id="349" r:id="rId93"/>
    <p:sldId id="350" r:id="rId94"/>
    <p:sldId id="355" r:id="rId95"/>
    <p:sldId id="352" r:id="rId96"/>
    <p:sldId id="353" r:id="rId97"/>
    <p:sldId id="354" r:id="rId98"/>
    <p:sldId id="356" r:id="rId99"/>
    <p:sldId id="357" r:id="rId100"/>
    <p:sldId id="358" r:id="rId101"/>
    <p:sldId id="359" r:id="rId102"/>
    <p:sldId id="360" r:id="rId103"/>
    <p:sldId id="361" r:id="rId104"/>
    <p:sldId id="362" r:id="rId105"/>
    <p:sldId id="363" r:id="rId106"/>
    <p:sldId id="364" r:id="rId107"/>
    <p:sldId id="365" r:id="rId108"/>
    <p:sldId id="366" r:id="rId109"/>
    <p:sldId id="367" r:id="rId110"/>
    <p:sldId id="368" r:id="rId111"/>
    <p:sldId id="369" r:id="rId112"/>
    <p:sldId id="370" r:id="rId113"/>
    <p:sldId id="371" r:id="rId114"/>
    <p:sldId id="372" r:id="rId115"/>
    <p:sldId id="373" r:id="rId116"/>
    <p:sldId id="374" r:id="rId117"/>
    <p:sldId id="375" r:id="rId118"/>
    <p:sldId id="376" r:id="rId119"/>
    <p:sldId id="377" r:id="rId120"/>
    <p:sldId id="378" r:id="rId121"/>
    <p:sldId id="379" r:id="rId122"/>
    <p:sldId id="380" r:id="rId123"/>
    <p:sldId id="381" r:id="rId124"/>
    <p:sldId id="382" r:id="rId125"/>
    <p:sldId id="383" r:id="rId126"/>
    <p:sldId id="384" r:id="rId127"/>
    <p:sldId id="385" r:id="rId128"/>
    <p:sldId id="386" r:id="rId129"/>
    <p:sldId id="387" r:id="rId130"/>
    <p:sldId id="388" r:id="rId131"/>
    <p:sldId id="389" r:id="rId132"/>
    <p:sldId id="391" r:id="rId133"/>
    <p:sldId id="390" r:id="rId134"/>
    <p:sldId id="392" r:id="rId135"/>
    <p:sldId id="393" r:id="rId136"/>
    <p:sldId id="394" r:id="rId137"/>
    <p:sldId id="396" r:id="rId138"/>
    <p:sldId id="398" r:id="rId139"/>
    <p:sldId id="399" r:id="rId140"/>
    <p:sldId id="400" r:id="rId141"/>
    <p:sldId id="401" r:id="rId142"/>
    <p:sldId id="402" r:id="rId143"/>
    <p:sldId id="403" r:id="rId144"/>
    <p:sldId id="405" r:id="rId145"/>
    <p:sldId id="406" r:id="rId146"/>
    <p:sldId id="407" r:id="rId147"/>
    <p:sldId id="408" r:id="rId148"/>
    <p:sldId id="411" r:id="rId149"/>
    <p:sldId id="409" r:id="rId150"/>
    <p:sldId id="410" r:id="rId151"/>
    <p:sldId id="412" r:id="rId152"/>
    <p:sldId id="413" r:id="rId153"/>
    <p:sldId id="415" r:id="rId154"/>
    <p:sldId id="414" r:id="rId155"/>
    <p:sldId id="416" r:id="rId156"/>
    <p:sldId id="417" r:id="rId157"/>
    <p:sldId id="418" r:id="rId158"/>
    <p:sldId id="419" r:id="rId159"/>
    <p:sldId id="420" r:id="rId160"/>
    <p:sldId id="421" r:id="rId161"/>
    <p:sldId id="422" r:id="rId162"/>
    <p:sldId id="423" r:id="rId163"/>
    <p:sldId id="424" r:id="rId164"/>
    <p:sldId id="425" r:id="rId165"/>
    <p:sldId id="426" r:id="rId166"/>
    <p:sldId id="427" r:id="rId167"/>
    <p:sldId id="428" r:id="rId168"/>
    <p:sldId id="429" r:id="rId169"/>
    <p:sldId id="430" r:id="rId170"/>
    <p:sldId id="431" r:id="rId171"/>
    <p:sldId id="432" r:id="rId172"/>
    <p:sldId id="433" r:id="rId173"/>
    <p:sldId id="434" r:id="rId174"/>
    <p:sldId id="435" r:id="rId175"/>
    <p:sldId id="436" r:id="rId176"/>
    <p:sldId id="437" r:id="rId177"/>
    <p:sldId id="438" r:id="rId178"/>
    <p:sldId id="439" r:id="rId179"/>
    <p:sldId id="440" r:id="rId180"/>
    <p:sldId id="441" r:id="rId181"/>
    <p:sldId id="442" r:id="rId182"/>
    <p:sldId id="443" r:id="rId183"/>
    <p:sldId id="444" r:id="rId184"/>
    <p:sldId id="445" r:id="rId185"/>
    <p:sldId id="446" r:id="rId186"/>
    <p:sldId id="447" r:id="rId187"/>
    <p:sldId id="448" r:id="rId188"/>
    <p:sldId id="449" r:id="rId189"/>
    <p:sldId id="450" r:id="rId190"/>
    <p:sldId id="451" r:id="rId191"/>
    <p:sldId id="452" r:id="rId192"/>
    <p:sldId id="453" r:id="rId193"/>
    <p:sldId id="454" r:id="rId194"/>
    <p:sldId id="455" r:id="rId195"/>
    <p:sldId id="456" r:id="rId196"/>
    <p:sldId id="457" r:id="rId197"/>
    <p:sldId id="458" r:id="rId198"/>
    <p:sldId id="459" r:id="rId199"/>
    <p:sldId id="460" r:id="rId200"/>
    <p:sldId id="461" r:id="rId201"/>
    <p:sldId id="462" r:id="rId202"/>
    <p:sldId id="463" r:id="rId203"/>
    <p:sldId id="464" r:id="rId204"/>
    <p:sldId id="465" r:id="rId205"/>
    <p:sldId id="466" r:id="rId206"/>
    <p:sldId id="467" r:id="rId207"/>
    <p:sldId id="468" r:id="rId208"/>
    <p:sldId id="469" r:id="rId209"/>
    <p:sldId id="470" r:id="rId210"/>
    <p:sldId id="471" r:id="rId211"/>
    <p:sldId id="472" r:id="rId212"/>
    <p:sldId id="473" r:id="rId213"/>
    <p:sldId id="474" r:id="rId214"/>
    <p:sldId id="475" r:id="rId215"/>
    <p:sldId id="476" r:id="rId216"/>
    <p:sldId id="477" r:id="rId217"/>
    <p:sldId id="478" r:id="rId218"/>
    <p:sldId id="479" r:id="rId219"/>
    <p:sldId id="480" r:id="rId220"/>
    <p:sldId id="481" r:id="rId221"/>
    <p:sldId id="482" r:id="rId222"/>
    <p:sldId id="483" r:id="rId223"/>
    <p:sldId id="484" r:id="rId224"/>
    <p:sldId id="485" r:id="rId225"/>
    <p:sldId id="486" r:id="rId226"/>
    <p:sldId id="487" r:id="rId227"/>
    <p:sldId id="488" r:id="rId228"/>
    <p:sldId id="489" r:id="rId229"/>
    <p:sldId id="490" r:id="rId230"/>
    <p:sldId id="491" r:id="rId231"/>
    <p:sldId id="492" r:id="rId232"/>
    <p:sldId id="493" r:id="rId233"/>
    <p:sldId id="494" r:id="rId234"/>
    <p:sldId id="495" r:id="rId235"/>
    <p:sldId id="496" r:id="rId236"/>
    <p:sldId id="497" r:id="rId237"/>
    <p:sldId id="498" r:id="rId238"/>
    <p:sldId id="499" r:id="rId239"/>
    <p:sldId id="500" r:id="rId240"/>
    <p:sldId id="501" r:id="rId241"/>
    <p:sldId id="502" r:id="rId242"/>
    <p:sldId id="503" r:id="rId243"/>
    <p:sldId id="504" r:id="rId244"/>
    <p:sldId id="505" r:id="rId245"/>
    <p:sldId id="506" r:id="rId246"/>
    <p:sldId id="507" r:id="rId247"/>
    <p:sldId id="508" r:id="rId248"/>
    <p:sldId id="509" r:id="rId249"/>
    <p:sldId id="511" r:id="rId250"/>
    <p:sldId id="510" r:id="rId251"/>
    <p:sldId id="512" r:id="rId252"/>
    <p:sldId id="513" r:id="rId253"/>
    <p:sldId id="514" r:id="rId254"/>
    <p:sldId id="515" r:id="rId255"/>
    <p:sldId id="516" r:id="rId256"/>
    <p:sldId id="517" r:id="rId257"/>
    <p:sldId id="518" r:id="rId258"/>
    <p:sldId id="519" r:id="rId259"/>
    <p:sldId id="520" r:id="rId260"/>
    <p:sldId id="521" r:id="rId261"/>
    <p:sldId id="522" r:id="rId262"/>
    <p:sldId id="524" r:id="rId263"/>
    <p:sldId id="523" r:id="rId264"/>
    <p:sldId id="525" r:id="rId265"/>
    <p:sldId id="526" r:id="rId266"/>
    <p:sldId id="527" r:id="rId267"/>
    <p:sldId id="528" r:id="rId268"/>
    <p:sldId id="529" r:id="rId269"/>
    <p:sldId id="530" r:id="rId270"/>
    <p:sldId id="531" r:id="rId271"/>
    <p:sldId id="532" r:id="rId272"/>
    <p:sldId id="533" r:id="rId273"/>
    <p:sldId id="534" r:id="rId274"/>
    <p:sldId id="535" r:id="rId275"/>
    <p:sldId id="536" r:id="rId276"/>
    <p:sldId id="537" r:id="rId277"/>
    <p:sldId id="538" r:id="rId278"/>
    <p:sldId id="540" r:id="rId279"/>
    <p:sldId id="539" r:id="rId280"/>
    <p:sldId id="541" r:id="rId281"/>
    <p:sldId id="542" r:id="rId282"/>
    <p:sldId id="543" r:id="rId283"/>
    <p:sldId id="544" r:id="rId284"/>
    <p:sldId id="545" r:id="rId285"/>
    <p:sldId id="546" r:id="rId286"/>
    <p:sldId id="547" r:id="rId287"/>
    <p:sldId id="548" r:id="rId288"/>
    <p:sldId id="549" r:id="rId289"/>
    <p:sldId id="550" r:id="rId290"/>
    <p:sldId id="551" r:id="rId291"/>
    <p:sldId id="552" r:id="rId292"/>
    <p:sldId id="553" r:id="rId293"/>
    <p:sldId id="554" r:id="rId294"/>
    <p:sldId id="555" r:id="rId295"/>
    <p:sldId id="556" r:id="rId296"/>
    <p:sldId id="557" r:id="rId297"/>
    <p:sldId id="558" r:id="rId298"/>
    <p:sldId id="559" r:id="rId299"/>
    <p:sldId id="560" r:id="rId300"/>
    <p:sldId id="561" r:id="rId301"/>
    <p:sldId id="562" r:id="rId302"/>
    <p:sldId id="563" r:id="rId303"/>
    <p:sldId id="564" r:id="rId304"/>
    <p:sldId id="565" r:id="rId305"/>
    <p:sldId id="566" r:id="rId306"/>
    <p:sldId id="567" r:id="rId307"/>
    <p:sldId id="568" r:id="rId308"/>
    <p:sldId id="569" r:id="rId309"/>
    <p:sldId id="570" r:id="rId310"/>
    <p:sldId id="571" r:id="rId311"/>
    <p:sldId id="572" r:id="rId312"/>
    <p:sldId id="574" r:id="rId313"/>
    <p:sldId id="573" r:id="rId314"/>
    <p:sldId id="575" r:id="rId315"/>
    <p:sldId id="576" r:id="rId316"/>
    <p:sldId id="577" r:id="rId317"/>
    <p:sldId id="578" r:id="rId318"/>
    <p:sldId id="579" r:id="rId319"/>
    <p:sldId id="581" r:id="rId320"/>
    <p:sldId id="580" r:id="rId321"/>
    <p:sldId id="582" r:id="rId322"/>
    <p:sldId id="583" r:id="rId323"/>
    <p:sldId id="584" r:id="rId324"/>
    <p:sldId id="585" r:id="rId325"/>
    <p:sldId id="586" r:id="rId326"/>
    <p:sldId id="587" r:id="rId327"/>
    <p:sldId id="588" r:id="rId328"/>
    <p:sldId id="589" r:id="rId329"/>
    <p:sldId id="590" r:id="rId330"/>
    <p:sldId id="591" r:id="rId331"/>
    <p:sldId id="592" r:id="rId332"/>
    <p:sldId id="593" r:id="rId333"/>
    <p:sldId id="594" r:id="rId334"/>
    <p:sldId id="595" r:id="rId335"/>
    <p:sldId id="596" r:id="rId336"/>
    <p:sldId id="597" r:id="rId337"/>
    <p:sldId id="598" r:id="rId338"/>
    <p:sldId id="599" r:id="rId339"/>
    <p:sldId id="600" r:id="rId340"/>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46" d="100"/>
          <a:sy n="46" d="100"/>
        </p:scale>
        <p:origin x="-1206"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99" Type="http://schemas.openxmlformats.org/officeDocument/2006/relationships/slide" Target="slides/slide298.xml"/><Relationship Id="rId303" Type="http://schemas.openxmlformats.org/officeDocument/2006/relationships/slide" Target="slides/slide302.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324" Type="http://schemas.openxmlformats.org/officeDocument/2006/relationships/slide" Target="slides/slide323.xml"/><Relationship Id="rId345" Type="http://schemas.openxmlformats.org/officeDocument/2006/relationships/tableStyles" Target="tableStyles.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268" Type="http://schemas.openxmlformats.org/officeDocument/2006/relationships/slide" Target="slides/slide267.xml"/><Relationship Id="rId289" Type="http://schemas.openxmlformats.org/officeDocument/2006/relationships/slide" Target="slides/slide288.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314" Type="http://schemas.openxmlformats.org/officeDocument/2006/relationships/slide" Target="slides/slide313.xml"/><Relationship Id="rId335" Type="http://schemas.openxmlformats.org/officeDocument/2006/relationships/slide" Target="slides/slide334.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58" Type="http://schemas.openxmlformats.org/officeDocument/2006/relationships/slide" Target="slides/slide257.xml"/><Relationship Id="rId279" Type="http://schemas.openxmlformats.org/officeDocument/2006/relationships/slide" Target="slides/slide278.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290" Type="http://schemas.openxmlformats.org/officeDocument/2006/relationships/slide" Target="slides/slide289.xml"/><Relationship Id="rId304" Type="http://schemas.openxmlformats.org/officeDocument/2006/relationships/slide" Target="slides/slide303.xml"/><Relationship Id="rId325" Type="http://schemas.openxmlformats.org/officeDocument/2006/relationships/slide" Target="slides/slide324.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269" Type="http://schemas.openxmlformats.org/officeDocument/2006/relationships/slide" Target="slides/slide268.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280" Type="http://schemas.openxmlformats.org/officeDocument/2006/relationships/slide" Target="slides/slide279.xml"/><Relationship Id="rId315" Type="http://schemas.openxmlformats.org/officeDocument/2006/relationships/slide" Target="slides/slide314.xml"/><Relationship Id="rId336" Type="http://schemas.openxmlformats.org/officeDocument/2006/relationships/slide" Target="slides/slide335.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291" Type="http://schemas.openxmlformats.org/officeDocument/2006/relationships/slide" Target="slides/slide290.xml"/><Relationship Id="rId305" Type="http://schemas.openxmlformats.org/officeDocument/2006/relationships/slide" Target="slides/slide304.xml"/><Relationship Id="rId326" Type="http://schemas.openxmlformats.org/officeDocument/2006/relationships/slide" Target="slides/slide325.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281" Type="http://schemas.openxmlformats.org/officeDocument/2006/relationships/slide" Target="slides/slide280.xml"/><Relationship Id="rId316" Type="http://schemas.openxmlformats.org/officeDocument/2006/relationships/slide" Target="slides/slide315.xml"/><Relationship Id="rId337" Type="http://schemas.openxmlformats.org/officeDocument/2006/relationships/slide" Target="slides/slide336.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slide" Target="slides/slide270.xml"/><Relationship Id="rId292" Type="http://schemas.openxmlformats.org/officeDocument/2006/relationships/slide" Target="slides/slide291.xml"/><Relationship Id="rId306" Type="http://schemas.openxmlformats.org/officeDocument/2006/relationships/slide" Target="slides/slide305.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327" Type="http://schemas.openxmlformats.org/officeDocument/2006/relationships/slide" Target="slides/slide326.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317" Type="http://schemas.openxmlformats.org/officeDocument/2006/relationships/slide" Target="slides/slide316.xml"/><Relationship Id="rId338" Type="http://schemas.openxmlformats.org/officeDocument/2006/relationships/slide" Target="slides/slide337.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72" Type="http://schemas.openxmlformats.org/officeDocument/2006/relationships/slide" Target="slides/slide271.xml"/><Relationship Id="rId293" Type="http://schemas.openxmlformats.org/officeDocument/2006/relationships/slide" Target="slides/slide292.xml"/><Relationship Id="rId302" Type="http://schemas.openxmlformats.org/officeDocument/2006/relationships/slide" Target="slides/slide301.xml"/><Relationship Id="rId307" Type="http://schemas.openxmlformats.org/officeDocument/2006/relationships/slide" Target="slides/slide306.xml"/><Relationship Id="rId323" Type="http://schemas.openxmlformats.org/officeDocument/2006/relationships/slide" Target="slides/slide322.xml"/><Relationship Id="rId328" Type="http://schemas.openxmlformats.org/officeDocument/2006/relationships/slide" Target="slides/slide327.xml"/><Relationship Id="rId344"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241" Type="http://schemas.openxmlformats.org/officeDocument/2006/relationships/slide" Target="slides/slide240.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slide" Target="slides/slide287.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262" Type="http://schemas.openxmlformats.org/officeDocument/2006/relationships/slide" Target="slides/slide261.xml"/><Relationship Id="rId283" Type="http://schemas.openxmlformats.org/officeDocument/2006/relationships/slide" Target="slides/slide282.xml"/><Relationship Id="rId313" Type="http://schemas.openxmlformats.org/officeDocument/2006/relationships/slide" Target="slides/slide312.xml"/><Relationship Id="rId318" Type="http://schemas.openxmlformats.org/officeDocument/2006/relationships/slide" Target="slides/slide317.xml"/><Relationship Id="rId339" Type="http://schemas.openxmlformats.org/officeDocument/2006/relationships/slide" Target="slides/slide338.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334" Type="http://schemas.openxmlformats.org/officeDocument/2006/relationships/slide" Target="slides/slide333.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294" Type="http://schemas.openxmlformats.org/officeDocument/2006/relationships/slide" Target="slides/slide293.xml"/><Relationship Id="rId308" Type="http://schemas.openxmlformats.org/officeDocument/2006/relationships/slide" Target="slides/slide307.xml"/><Relationship Id="rId329" Type="http://schemas.openxmlformats.org/officeDocument/2006/relationships/slide" Target="slides/slide328.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340" Type="http://schemas.openxmlformats.org/officeDocument/2006/relationships/slide" Target="slides/slide339.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19" Type="http://schemas.openxmlformats.org/officeDocument/2006/relationships/slide" Target="slides/slide318.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330" Type="http://schemas.openxmlformats.org/officeDocument/2006/relationships/slide" Target="slides/slide329.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95" Type="http://schemas.openxmlformats.org/officeDocument/2006/relationships/slide" Target="slides/slide294.xml"/><Relationship Id="rId309" Type="http://schemas.openxmlformats.org/officeDocument/2006/relationships/slide" Target="slides/slide308.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320" Type="http://schemas.openxmlformats.org/officeDocument/2006/relationships/slide" Target="slides/slide319.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341" Type="http://schemas.openxmlformats.org/officeDocument/2006/relationships/notesMaster" Target="notesMasters/notesMaster1.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310" Type="http://schemas.openxmlformats.org/officeDocument/2006/relationships/slide" Target="slides/slide309.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331" Type="http://schemas.openxmlformats.org/officeDocument/2006/relationships/slide" Target="slides/slide330.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296" Type="http://schemas.openxmlformats.org/officeDocument/2006/relationships/slide" Target="slides/slide295.xml"/><Relationship Id="rId300" Type="http://schemas.openxmlformats.org/officeDocument/2006/relationships/slide" Target="slides/slide299.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321" Type="http://schemas.openxmlformats.org/officeDocument/2006/relationships/slide" Target="slides/slide320.xml"/><Relationship Id="rId342" Type="http://schemas.openxmlformats.org/officeDocument/2006/relationships/presProps" Target="presProps.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slide" Target="slides/slide285.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311" Type="http://schemas.openxmlformats.org/officeDocument/2006/relationships/slide" Target="slides/slide310.xml"/><Relationship Id="rId332" Type="http://schemas.openxmlformats.org/officeDocument/2006/relationships/slide" Target="slides/slide331.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297" Type="http://schemas.openxmlformats.org/officeDocument/2006/relationships/slide" Target="slides/slide296.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301" Type="http://schemas.openxmlformats.org/officeDocument/2006/relationships/slide" Target="slides/slide300.xml"/><Relationship Id="rId322" Type="http://schemas.openxmlformats.org/officeDocument/2006/relationships/slide" Target="slides/slide321.xml"/><Relationship Id="rId343"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slide" Target="slides/slide286.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312" Type="http://schemas.openxmlformats.org/officeDocument/2006/relationships/slide" Target="slides/slide311.xml"/><Relationship Id="rId333" Type="http://schemas.openxmlformats.org/officeDocument/2006/relationships/slide" Target="slides/slide332.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298" Type="http://schemas.openxmlformats.org/officeDocument/2006/relationships/slide" Target="slides/slide29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A8194C-03FA-441D-B821-A158B5E3A485}" type="datetimeFigureOut">
              <a:rPr lang="fr-FR" smtClean="0"/>
              <a:t>13/12/2019</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8714779-2F43-4FC5-B442-ACDE4C0F42AC}" type="slidenum">
              <a:rPr lang="fr-FR" smtClean="0"/>
              <a:t>‹N°›</a:t>
            </a:fld>
            <a:endParaRPr lang="fr-FR"/>
          </a:p>
        </p:txBody>
      </p:sp>
    </p:spTree>
    <p:extLst>
      <p:ext uri="{BB962C8B-B14F-4D97-AF65-F5344CB8AC3E}">
        <p14:creationId xmlns:p14="http://schemas.microsoft.com/office/powerpoint/2010/main" val="15226865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58714779-2F43-4FC5-B442-ACDE4C0F42AC}" type="slidenum">
              <a:rPr lang="fr-FR" smtClean="0"/>
              <a:t>144</a:t>
            </a:fld>
            <a:endParaRPr lang="fr-FR"/>
          </a:p>
        </p:txBody>
      </p:sp>
    </p:spTree>
    <p:extLst>
      <p:ext uri="{BB962C8B-B14F-4D97-AF65-F5344CB8AC3E}">
        <p14:creationId xmlns:p14="http://schemas.microsoft.com/office/powerpoint/2010/main" val="39061274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58714779-2F43-4FC5-B442-ACDE4C0F42AC}" type="slidenum">
              <a:rPr lang="fr-FR" smtClean="0"/>
              <a:t>178</a:t>
            </a:fld>
            <a:endParaRPr lang="fr-FR"/>
          </a:p>
        </p:txBody>
      </p:sp>
    </p:spTree>
    <p:extLst>
      <p:ext uri="{BB962C8B-B14F-4D97-AF65-F5344CB8AC3E}">
        <p14:creationId xmlns:p14="http://schemas.microsoft.com/office/powerpoint/2010/main" val="35371378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58714779-2F43-4FC5-B442-ACDE4C0F42AC}" type="slidenum">
              <a:rPr lang="fr-FR" smtClean="0"/>
              <a:t>239</a:t>
            </a:fld>
            <a:endParaRPr lang="fr-FR"/>
          </a:p>
        </p:txBody>
      </p:sp>
    </p:spTree>
    <p:extLst>
      <p:ext uri="{BB962C8B-B14F-4D97-AF65-F5344CB8AC3E}">
        <p14:creationId xmlns:p14="http://schemas.microsoft.com/office/powerpoint/2010/main" val="33491676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10"/>
          </p:nvPr>
        </p:nvSpPr>
        <p:spPr/>
        <p:txBody>
          <a:bodyPr/>
          <a:lstStyle/>
          <a:p>
            <a:fld id="{58714779-2F43-4FC5-B442-ACDE4C0F42AC}" type="slidenum">
              <a:rPr lang="fr-FR" smtClean="0"/>
              <a:t>262</a:t>
            </a:fld>
            <a:endParaRPr lang="fr-FR"/>
          </a:p>
        </p:txBody>
      </p:sp>
    </p:spTree>
    <p:extLst>
      <p:ext uri="{BB962C8B-B14F-4D97-AF65-F5344CB8AC3E}">
        <p14:creationId xmlns:p14="http://schemas.microsoft.com/office/powerpoint/2010/main" val="4224619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smtClean="0"/>
              <a:t>Modifiez le style du titre</a:t>
            </a:r>
            <a:endParaRPr lang="fr-F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Modifiez le style des sous-titres du masque</a:t>
            </a:r>
            <a:endParaRPr lang="fr-FR"/>
          </a:p>
        </p:txBody>
      </p:sp>
      <p:sp>
        <p:nvSpPr>
          <p:cNvPr id="4" name="Espace réservé de la date 3"/>
          <p:cNvSpPr>
            <a:spLocks noGrp="1"/>
          </p:cNvSpPr>
          <p:nvPr>
            <p:ph type="dt" sz="half" idx="10"/>
          </p:nvPr>
        </p:nvSpPr>
        <p:spPr/>
        <p:txBody>
          <a:bodyPr/>
          <a:lstStyle/>
          <a:p>
            <a:fld id="{2A83AB42-F078-431C-A4E1-EB0444DD2D2A}" type="datetimeFigureOut">
              <a:rPr lang="fr-FR" smtClean="0"/>
              <a:t>13/12/2019</a:t>
            </a:fld>
            <a:endParaRPr lang="fr-FR" dirty="0"/>
          </a:p>
        </p:txBody>
      </p:sp>
      <p:sp>
        <p:nvSpPr>
          <p:cNvPr id="5" name="Espace réservé du pied de page 4"/>
          <p:cNvSpPr>
            <a:spLocks noGrp="1"/>
          </p:cNvSpPr>
          <p:nvPr>
            <p:ph type="ftr" sz="quarter" idx="11"/>
          </p:nvPr>
        </p:nvSpPr>
        <p:spPr/>
        <p:txBody>
          <a:bodyPr/>
          <a:lstStyle/>
          <a:p>
            <a:endParaRPr lang="fr-FR" dirty="0"/>
          </a:p>
        </p:txBody>
      </p:sp>
      <p:sp>
        <p:nvSpPr>
          <p:cNvPr id="6" name="Espace réservé du numéro de diapositive 5"/>
          <p:cNvSpPr>
            <a:spLocks noGrp="1"/>
          </p:cNvSpPr>
          <p:nvPr>
            <p:ph type="sldNum" sz="quarter" idx="12"/>
          </p:nvPr>
        </p:nvSpPr>
        <p:spPr/>
        <p:txBody>
          <a:bodyPr/>
          <a:lstStyle/>
          <a:p>
            <a:fld id="{46C1EFCC-CE10-4CC0-89CF-52700FD1D0AD}" type="slidenum">
              <a:rPr lang="fr-FR" smtClean="0"/>
              <a:t>‹N°›</a:t>
            </a:fld>
            <a:endParaRPr lang="fr-FR" dirty="0"/>
          </a:p>
        </p:txBody>
      </p:sp>
    </p:spTree>
    <p:extLst>
      <p:ext uri="{BB962C8B-B14F-4D97-AF65-F5344CB8AC3E}">
        <p14:creationId xmlns:p14="http://schemas.microsoft.com/office/powerpoint/2010/main" val="35610504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2A83AB42-F078-431C-A4E1-EB0444DD2D2A}" type="datetimeFigureOut">
              <a:rPr lang="fr-FR" smtClean="0"/>
              <a:t>13/12/2019</a:t>
            </a:fld>
            <a:endParaRPr lang="fr-FR" dirty="0"/>
          </a:p>
        </p:txBody>
      </p:sp>
      <p:sp>
        <p:nvSpPr>
          <p:cNvPr id="5" name="Espace réservé du pied de page 4"/>
          <p:cNvSpPr>
            <a:spLocks noGrp="1"/>
          </p:cNvSpPr>
          <p:nvPr>
            <p:ph type="ftr" sz="quarter" idx="11"/>
          </p:nvPr>
        </p:nvSpPr>
        <p:spPr/>
        <p:txBody>
          <a:bodyPr/>
          <a:lstStyle/>
          <a:p>
            <a:endParaRPr lang="fr-FR" dirty="0"/>
          </a:p>
        </p:txBody>
      </p:sp>
      <p:sp>
        <p:nvSpPr>
          <p:cNvPr id="6" name="Espace réservé du numéro de diapositive 5"/>
          <p:cNvSpPr>
            <a:spLocks noGrp="1"/>
          </p:cNvSpPr>
          <p:nvPr>
            <p:ph type="sldNum" sz="quarter" idx="12"/>
          </p:nvPr>
        </p:nvSpPr>
        <p:spPr/>
        <p:txBody>
          <a:bodyPr/>
          <a:lstStyle/>
          <a:p>
            <a:fld id="{46C1EFCC-CE10-4CC0-89CF-52700FD1D0AD}" type="slidenum">
              <a:rPr lang="fr-FR" smtClean="0"/>
              <a:t>‹N°›</a:t>
            </a:fld>
            <a:endParaRPr lang="fr-FR" dirty="0"/>
          </a:p>
        </p:txBody>
      </p:sp>
    </p:spTree>
    <p:extLst>
      <p:ext uri="{BB962C8B-B14F-4D97-AF65-F5344CB8AC3E}">
        <p14:creationId xmlns:p14="http://schemas.microsoft.com/office/powerpoint/2010/main" val="23883989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Modifiez le style du titre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Espace réservé de la date 3"/>
          <p:cNvSpPr>
            <a:spLocks noGrp="1"/>
          </p:cNvSpPr>
          <p:nvPr>
            <p:ph type="dt" sz="half" idx="10"/>
          </p:nvPr>
        </p:nvSpPr>
        <p:spPr/>
        <p:txBody>
          <a:bodyPr/>
          <a:lstStyle/>
          <a:p>
            <a:fld id="{2A83AB42-F078-431C-A4E1-EB0444DD2D2A}" type="datetimeFigureOut">
              <a:rPr lang="fr-FR" smtClean="0"/>
              <a:t>13/12/2019</a:t>
            </a:fld>
            <a:endParaRPr lang="fr-FR" dirty="0"/>
          </a:p>
        </p:txBody>
      </p:sp>
      <p:sp>
        <p:nvSpPr>
          <p:cNvPr id="5" name="Espace réservé du pied de page 4"/>
          <p:cNvSpPr>
            <a:spLocks noGrp="1"/>
          </p:cNvSpPr>
          <p:nvPr>
            <p:ph type="ftr" sz="quarter" idx="11"/>
          </p:nvPr>
        </p:nvSpPr>
        <p:spPr/>
        <p:txBody>
          <a:bodyPr/>
          <a:lstStyle/>
          <a:p>
            <a:endParaRPr lang="fr-FR" dirty="0"/>
          </a:p>
        </p:txBody>
      </p:sp>
      <p:sp>
        <p:nvSpPr>
          <p:cNvPr id="6" name="Espace réservé du numéro de diapositive 5"/>
          <p:cNvSpPr>
            <a:spLocks noGrp="1"/>
          </p:cNvSpPr>
          <p:nvPr>
            <p:ph type="sldNum" sz="quarter" idx="12"/>
          </p:nvPr>
        </p:nvSpPr>
        <p:spPr/>
        <p:txBody>
          <a:bodyPr/>
          <a:lstStyle/>
          <a:p>
            <a:fld id="{46C1EFCC-CE10-4CC0-89CF-52700FD1D0AD}" type="slidenum">
              <a:rPr lang="fr-FR" smtClean="0"/>
              <a:t>‹N°›</a:t>
            </a:fld>
            <a:endParaRPr lang="fr-FR" dirty="0"/>
          </a:p>
        </p:txBody>
      </p:sp>
    </p:spTree>
    <p:extLst>
      <p:ext uri="{BB962C8B-B14F-4D97-AF65-F5344CB8AC3E}">
        <p14:creationId xmlns:p14="http://schemas.microsoft.com/office/powerpoint/2010/main" val="2022794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2A83AB42-F078-431C-A4E1-EB0444DD2D2A}" type="datetimeFigureOut">
              <a:rPr lang="fr-FR" smtClean="0"/>
              <a:t>13/12/2019</a:t>
            </a:fld>
            <a:endParaRPr lang="fr-FR" dirty="0"/>
          </a:p>
        </p:txBody>
      </p:sp>
      <p:sp>
        <p:nvSpPr>
          <p:cNvPr id="6" name="Espace réservé du pied de page 5"/>
          <p:cNvSpPr>
            <a:spLocks noGrp="1"/>
          </p:cNvSpPr>
          <p:nvPr>
            <p:ph type="ftr" sz="quarter" idx="11"/>
          </p:nvPr>
        </p:nvSpPr>
        <p:spPr/>
        <p:txBody>
          <a:bodyPr/>
          <a:lstStyle/>
          <a:p>
            <a:endParaRPr lang="fr-FR" dirty="0"/>
          </a:p>
        </p:txBody>
      </p:sp>
      <p:sp>
        <p:nvSpPr>
          <p:cNvPr id="7" name="Espace réservé du numéro de diapositive 6"/>
          <p:cNvSpPr>
            <a:spLocks noGrp="1"/>
          </p:cNvSpPr>
          <p:nvPr>
            <p:ph type="sldNum" sz="quarter" idx="12"/>
          </p:nvPr>
        </p:nvSpPr>
        <p:spPr/>
        <p:txBody>
          <a:bodyPr/>
          <a:lstStyle/>
          <a:p>
            <a:fld id="{46C1EFCC-CE10-4CC0-89CF-52700FD1D0AD}" type="slidenum">
              <a:rPr lang="fr-FR" smtClean="0"/>
              <a:t>‹N°›</a:t>
            </a:fld>
            <a:endParaRPr lang="fr-FR" dirty="0"/>
          </a:p>
        </p:txBody>
      </p:sp>
    </p:spTree>
    <p:extLst>
      <p:ext uri="{BB962C8B-B14F-4D97-AF65-F5344CB8AC3E}">
        <p14:creationId xmlns:p14="http://schemas.microsoft.com/office/powerpoint/2010/main" val="1291247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smtClean="0"/>
              <a:t>Modifiez le style du titre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2A83AB42-F078-431C-A4E1-EB0444DD2D2A}" type="datetimeFigureOut">
              <a:rPr lang="fr-FR" smtClean="0"/>
              <a:t>13/12/2019</a:t>
            </a:fld>
            <a:endParaRPr lang="fr-FR" dirty="0"/>
          </a:p>
        </p:txBody>
      </p:sp>
      <p:sp>
        <p:nvSpPr>
          <p:cNvPr id="8" name="Espace réservé du pied de page 7"/>
          <p:cNvSpPr>
            <a:spLocks noGrp="1"/>
          </p:cNvSpPr>
          <p:nvPr>
            <p:ph type="ftr" sz="quarter" idx="11"/>
          </p:nvPr>
        </p:nvSpPr>
        <p:spPr/>
        <p:txBody>
          <a:bodyPr/>
          <a:lstStyle/>
          <a:p>
            <a:endParaRPr lang="fr-FR" dirty="0"/>
          </a:p>
        </p:txBody>
      </p:sp>
      <p:sp>
        <p:nvSpPr>
          <p:cNvPr id="9" name="Espace réservé du numéro de diapositive 8"/>
          <p:cNvSpPr>
            <a:spLocks noGrp="1"/>
          </p:cNvSpPr>
          <p:nvPr>
            <p:ph type="sldNum" sz="quarter" idx="12"/>
          </p:nvPr>
        </p:nvSpPr>
        <p:spPr/>
        <p:txBody>
          <a:bodyPr/>
          <a:lstStyle/>
          <a:p>
            <a:fld id="{46C1EFCC-CE10-4CC0-89CF-52700FD1D0AD}" type="slidenum">
              <a:rPr lang="fr-FR" smtClean="0"/>
              <a:t>‹N°›</a:t>
            </a:fld>
            <a:endParaRPr lang="fr-FR" dirty="0"/>
          </a:p>
        </p:txBody>
      </p:sp>
    </p:spTree>
    <p:extLst>
      <p:ext uri="{BB962C8B-B14F-4D97-AF65-F5344CB8AC3E}">
        <p14:creationId xmlns:p14="http://schemas.microsoft.com/office/powerpoint/2010/main" val="5498842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2A83AB42-F078-431C-A4E1-EB0444DD2D2A}" type="datetimeFigureOut">
              <a:rPr lang="fr-FR" smtClean="0"/>
              <a:t>13/12/2019</a:t>
            </a:fld>
            <a:endParaRPr lang="fr-FR" dirty="0"/>
          </a:p>
        </p:txBody>
      </p:sp>
      <p:sp>
        <p:nvSpPr>
          <p:cNvPr id="4" name="Espace réservé du pied de page 3"/>
          <p:cNvSpPr>
            <a:spLocks noGrp="1"/>
          </p:cNvSpPr>
          <p:nvPr>
            <p:ph type="ftr" sz="quarter" idx="11"/>
          </p:nvPr>
        </p:nvSpPr>
        <p:spPr/>
        <p:txBody>
          <a:bodyPr/>
          <a:lstStyle/>
          <a:p>
            <a:endParaRPr lang="fr-FR" dirty="0"/>
          </a:p>
        </p:txBody>
      </p:sp>
      <p:sp>
        <p:nvSpPr>
          <p:cNvPr id="5" name="Espace réservé du numéro de diapositive 4"/>
          <p:cNvSpPr>
            <a:spLocks noGrp="1"/>
          </p:cNvSpPr>
          <p:nvPr>
            <p:ph type="sldNum" sz="quarter" idx="12"/>
          </p:nvPr>
        </p:nvSpPr>
        <p:spPr/>
        <p:txBody>
          <a:bodyPr/>
          <a:lstStyle/>
          <a:p>
            <a:fld id="{46C1EFCC-CE10-4CC0-89CF-52700FD1D0AD}" type="slidenum">
              <a:rPr lang="fr-FR" smtClean="0"/>
              <a:t>‹N°›</a:t>
            </a:fld>
            <a:endParaRPr lang="fr-FR" dirty="0"/>
          </a:p>
        </p:txBody>
      </p:sp>
    </p:spTree>
    <p:extLst>
      <p:ext uri="{BB962C8B-B14F-4D97-AF65-F5344CB8AC3E}">
        <p14:creationId xmlns:p14="http://schemas.microsoft.com/office/powerpoint/2010/main" val="35150053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2A83AB42-F078-431C-A4E1-EB0444DD2D2A}" type="datetimeFigureOut">
              <a:rPr lang="fr-FR" smtClean="0"/>
              <a:t>13/12/2019</a:t>
            </a:fld>
            <a:endParaRPr lang="fr-FR" dirty="0"/>
          </a:p>
        </p:txBody>
      </p:sp>
      <p:sp>
        <p:nvSpPr>
          <p:cNvPr id="3" name="Espace réservé du pied de page 2"/>
          <p:cNvSpPr>
            <a:spLocks noGrp="1"/>
          </p:cNvSpPr>
          <p:nvPr>
            <p:ph type="ftr" sz="quarter" idx="11"/>
          </p:nvPr>
        </p:nvSpPr>
        <p:spPr/>
        <p:txBody>
          <a:bodyPr/>
          <a:lstStyle/>
          <a:p>
            <a:endParaRPr lang="fr-FR" dirty="0"/>
          </a:p>
        </p:txBody>
      </p:sp>
      <p:sp>
        <p:nvSpPr>
          <p:cNvPr id="4" name="Espace réservé du numéro de diapositive 3"/>
          <p:cNvSpPr>
            <a:spLocks noGrp="1"/>
          </p:cNvSpPr>
          <p:nvPr>
            <p:ph type="sldNum" sz="quarter" idx="12"/>
          </p:nvPr>
        </p:nvSpPr>
        <p:spPr/>
        <p:txBody>
          <a:bodyPr/>
          <a:lstStyle/>
          <a:p>
            <a:fld id="{46C1EFCC-CE10-4CC0-89CF-52700FD1D0AD}" type="slidenum">
              <a:rPr lang="fr-FR" smtClean="0"/>
              <a:t>‹N°›</a:t>
            </a:fld>
            <a:endParaRPr lang="fr-FR" dirty="0"/>
          </a:p>
        </p:txBody>
      </p:sp>
    </p:spTree>
    <p:extLst>
      <p:ext uri="{BB962C8B-B14F-4D97-AF65-F5344CB8AC3E}">
        <p14:creationId xmlns:p14="http://schemas.microsoft.com/office/powerpoint/2010/main" val="40684594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smtClean="0"/>
              <a:t>Modifiez le style du titre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2A83AB42-F078-431C-A4E1-EB0444DD2D2A}" type="datetimeFigureOut">
              <a:rPr lang="fr-FR" smtClean="0"/>
              <a:t>13/12/2019</a:t>
            </a:fld>
            <a:endParaRPr lang="fr-FR" dirty="0"/>
          </a:p>
        </p:txBody>
      </p:sp>
      <p:sp>
        <p:nvSpPr>
          <p:cNvPr id="6" name="Espace réservé du pied de page 5"/>
          <p:cNvSpPr>
            <a:spLocks noGrp="1"/>
          </p:cNvSpPr>
          <p:nvPr>
            <p:ph type="ftr" sz="quarter" idx="11"/>
          </p:nvPr>
        </p:nvSpPr>
        <p:spPr/>
        <p:txBody>
          <a:bodyPr/>
          <a:lstStyle/>
          <a:p>
            <a:endParaRPr lang="fr-FR" dirty="0"/>
          </a:p>
        </p:txBody>
      </p:sp>
      <p:sp>
        <p:nvSpPr>
          <p:cNvPr id="7" name="Espace réservé du numéro de diapositive 6"/>
          <p:cNvSpPr>
            <a:spLocks noGrp="1"/>
          </p:cNvSpPr>
          <p:nvPr>
            <p:ph type="sldNum" sz="quarter" idx="12"/>
          </p:nvPr>
        </p:nvSpPr>
        <p:spPr/>
        <p:txBody>
          <a:bodyPr/>
          <a:lstStyle/>
          <a:p>
            <a:fld id="{46C1EFCC-CE10-4CC0-89CF-52700FD1D0AD}" type="slidenum">
              <a:rPr lang="fr-FR" smtClean="0"/>
              <a:t>‹N°›</a:t>
            </a:fld>
            <a:endParaRPr lang="fr-FR" dirty="0"/>
          </a:p>
        </p:txBody>
      </p:sp>
    </p:spTree>
    <p:extLst>
      <p:ext uri="{BB962C8B-B14F-4D97-AF65-F5344CB8AC3E}">
        <p14:creationId xmlns:p14="http://schemas.microsoft.com/office/powerpoint/2010/main" val="4547214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smtClean="0"/>
              <a:t>Modifiez le style du titre</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dirty="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2A83AB42-F078-431C-A4E1-EB0444DD2D2A}" type="datetimeFigureOut">
              <a:rPr lang="fr-FR" smtClean="0"/>
              <a:t>13/12/2019</a:t>
            </a:fld>
            <a:endParaRPr lang="fr-FR" dirty="0"/>
          </a:p>
        </p:txBody>
      </p:sp>
      <p:sp>
        <p:nvSpPr>
          <p:cNvPr id="6" name="Espace réservé du pied de page 5"/>
          <p:cNvSpPr>
            <a:spLocks noGrp="1"/>
          </p:cNvSpPr>
          <p:nvPr>
            <p:ph type="ftr" sz="quarter" idx="11"/>
          </p:nvPr>
        </p:nvSpPr>
        <p:spPr/>
        <p:txBody>
          <a:bodyPr/>
          <a:lstStyle/>
          <a:p>
            <a:endParaRPr lang="fr-FR" dirty="0"/>
          </a:p>
        </p:txBody>
      </p:sp>
      <p:sp>
        <p:nvSpPr>
          <p:cNvPr id="7" name="Espace réservé du numéro de diapositive 6"/>
          <p:cNvSpPr>
            <a:spLocks noGrp="1"/>
          </p:cNvSpPr>
          <p:nvPr>
            <p:ph type="sldNum" sz="quarter" idx="12"/>
          </p:nvPr>
        </p:nvSpPr>
        <p:spPr/>
        <p:txBody>
          <a:bodyPr/>
          <a:lstStyle/>
          <a:p>
            <a:fld id="{46C1EFCC-CE10-4CC0-89CF-52700FD1D0AD}" type="slidenum">
              <a:rPr lang="fr-FR" smtClean="0"/>
              <a:t>‹N°›</a:t>
            </a:fld>
            <a:endParaRPr lang="fr-FR" dirty="0"/>
          </a:p>
        </p:txBody>
      </p:sp>
    </p:spTree>
    <p:extLst>
      <p:ext uri="{BB962C8B-B14F-4D97-AF65-F5344CB8AC3E}">
        <p14:creationId xmlns:p14="http://schemas.microsoft.com/office/powerpoint/2010/main" val="29767246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2A83AB42-F078-431C-A4E1-EB0444DD2D2A}" type="datetimeFigureOut">
              <a:rPr lang="fr-FR" smtClean="0"/>
              <a:t>13/12/2019</a:t>
            </a:fld>
            <a:endParaRPr lang="fr-FR" dirty="0"/>
          </a:p>
        </p:txBody>
      </p:sp>
      <p:sp>
        <p:nvSpPr>
          <p:cNvPr id="5" name="Espace réservé du pied de page 4"/>
          <p:cNvSpPr>
            <a:spLocks noGrp="1"/>
          </p:cNvSpPr>
          <p:nvPr>
            <p:ph type="ftr" sz="quarter" idx="11"/>
          </p:nvPr>
        </p:nvSpPr>
        <p:spPr/>
        <p:txBody>
          <a:bodyPr/>
          <a:lstStyle/>
          <a:p>
            <a:endParaRPr lang="fr-FR" dirty="0"/>
          </a:p>
        </p:txBody>
      </p:sp>
      <p:sp>
        <p:nvSpPr>
          <p:cNvPr id="6" name="Espace réservé du numéro de diapositive 5"/>
          <p:cNvSpPr>
            <a:spLocks noGrp="1"/>
          </p:cNvSpPr>
          <p:nvPr>
            <p:ph type="sldNum" sz="quarter" idx="12"/>
          </p:nvPr>
        </p:nvSpPr>
        <p:spPr/>
        <p:txBody>
          <a:bodyPr/>
          <a:lstStyle/>
          <a:p>
            <a:fld id="{46C1EFCC-CE10-4CC0-89CF-52700FD1D0AD}" type="slidenum">
              <a:rPr lang="fr-FR" smtClean="0"/>
              <a:t>‹N°›</a:t>
            </a:fld>
            <a:endParaRPr lang="fr-FR" dirty="0"/>
          </a:p>
        </p:txBody>
      </p:sp>
    </p:spTree>
    <p:extLst>
      <p:ext uri="{BB962C8B-B14F-4D97-AF65-F5344CB8AC3E}">
        <p14:creationId xmlns:p14="http://schemas.microsoft.com/office/powerpoint/2010/main" val="25681032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2A83AB42-F078-431C-A4E1-EB0444DD2D2A}" type="datetimeFigureOut">
              <a:rPr lang="fr-FR" smtClean="0"/>
              <a:t>13/12/2019</a:t>
            </a:fld>
            <a:endParaRPr lang="fr-FR" dirty="0"/>
          </a:p>
        </p:txBody>
      </p:sp>
      <p:sp>
        <p:nvSpPr>
          <p:cNvPr id="5" name="Espace réservé du pied de page 4"/>
          <p:cNvSpPr>
            <a:spLocks noGrp="1"/>
          </p:cNvSpPr>
          <p:nvPr>
            <p:ph type="ftr" sz="quarter" idx="11"/>
          </p:nvPr>
        </p:nvSpPr>
        <p:spPr/>
        <p:txBody>
          <a:bodyPr/>
          <a:lstStyle/>
          <a:p>
            <a:endParaRPr lang="fr-FR" dirty="0"/>
          </a:p>
        </p:txBody>
      </p:sp>
      <p:sp>
        <p:nvSpPr>
          <p:cNvPr id="6" name="Espace réservé du numéro de diapositive 5"/>
          <p:cNvSpPr>
            <a:spLocks noGrp="1"/>
          </p:cNvSpPr>
          <p:nvPr>
            <p:ph type="sldNum" sz="quarter" idx="12"/>
          </p:nvPr>
        </p:nvSpPr>
        <p:spPr/>
        <p:txBody>
          <a:bodyPr/>
          <a:lstStyle/>
          <a:p>
            <a:fld id="{46C1EFCC-CE10-4CC0-89CF-52700FD1D0AD}" type="slidenum">
              <a:rPr lang="fr-FR" smtClean="0"/>
              <a:t>‹N°›</a:t>
            </a:fld>
            <a:endParaRPr lang="fr-FR" dirty="0"/>
          </a:p>
        </p:txBody>
      </p:sp>
    </p:spTree>
    <p:extLst>
      <p:ext uri="{BB962C8B-B14F-4D97-AF65-F5344CB8AC3E}">
        <p14:creationId xmlns:p14="http://schemas.microsoft.com/office/powerpoint/2010/main" val="3914252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83AB42-F078-431C-A4E1-EB0444DD2D2A}" type="datetimeFigureOut">
              <a:rPr lang="fr-FR" smtClean="0"/>
              <a:t>13/12/2019</a:t>
            </a:fld>
            <a:endParaRPr lang="fr-FR" dirty="0"/>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dirty="0"/>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C1EFCC-CE10-4CC0-89CF-52700FD1D0AD}" type="slidenum">
              <a:rPr lang="fr-FR" smtClean="0"/>
              <a:t>‹N°›</a:t>
            </a:fld>
            <a:endParaRPr lang="fr-FR" dirty="0"/>
          </a:p>
        </p:txBody>
      </p:sp>
    </p:spTree>
    <p:extLst>
      <p:ext uri="{BB962C8B-B14F-4D97-AF65-F5344CB8AC3E}">
        <p14:creationId xmlns:p14="http://schemas.microsoft.com/office/powerpoint/2010/main" val="39256515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0.xml.rels><?xml version="1.0" encoding="UTF-8" standalone="yes"?>
<Relationships xmlns="http://schemas.openxmlformats.org/package/2006/relationships"><Relationship Id="rId3" Type="http://schemas.openxmlformats.org/officeDocument/2006/relationships/hyperlink" Target="http://www.normansblog/" TargetMode="External"/><Relationship Id="rId2" Type="http://schemas.openxmlformats.org/officeDocument/2006/relationships/hyperlink" Target="http://www.caniuse.com/" TargetMode="External"/><Relationship Id="rId1" Type="http://schemas.openxmlformats.org/officeDocument/2006/relationships/slideLayout" Target="../slideLayouts/slideLayout2.xml"/></Relationships>
</file>

<file path=ppt/slides/_rels/slide30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0.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9592" y="1052736"/>
            <a:ext cx="3096344" cy="3902200"/>
          </a:xfrm>
          <a:prstGeom prst="rect">
            <a:avLst/>
          </a:prstGeom>
        </p:spPr>
      </p:pic>
      <p:pic>
        <p:nvPicPr>
          <p:cNvPr id="5" name="Imag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732240" y="2151225"/>
            <a:ext cx="2160240" cy="2861951"/>
          </a:xfrm>
          <a:prstGeom prst="rect">
            <a:avLst/>
          </a:prstGeom>
        </p:spPr>
      </p:pic>
      <p:sp>
        <p:nvSpPr>
          <p:cNvPr id="2" name="Titre 1"/>
          <p:cNvSpPr>
            <a:spLocks noGrp="1"/>
          </p:cNvSpPr>
          <p:nvPr>
            <p:ph type="ctrTitle"/>
          </p:nvPr>
        </p:nvSpPr>
        <p:spPr>
          <a:xfrm>
            <a:off x="539552" y="2268823"/>
            <a:ext cx="7772400" cy="1470025"/>
          </a:xfrm>
        </p:spPr>
        <p:txBody>
          <a:bodyPr>
            <a:normAutofit/>
          </a:bodyPr>
          <a:lstStyle/>
          <a:p>
            <a:r>
              <a:rPr lang="fr-FR" sz="8800" dirty="0" smtClean="0">
                <a:effectLst>
                  <a:outerShdw blurRad="38100" dist="38100" dir="2700000" algn="tl">
                    <a:srgbClr val="000000">
                      <a:alpha val="43137"/>
                    </a:srgbClr>
                  </a:outerShdw>
                </a:effectLst>
                <a:latin typeface="Maiandra GD" pitchFamily="34" charset="0"/>
              </a:rPr>
              <a:t>HTML ET CSS</a:t>
            </a:r>
            <a:endParaRPr lang="fr-FR" sz="8800" dirty="0">
              <a:effectLst>
                <a:outerShdw blurRad="38100" dist="38100" dir="2700000" algn="tl">
                  <a:srgbClr val="000000">
                    <a:alpha val="43137"/>
                  </a:srgbClr>
                </a:outerShdw>
              </a:effectLst>
              <a:latin typeface="Maiandra GD" pitchFamily="34" charset="0"/>
            </a:endParaRPr>
          </a:p>
        </p:txBody>
      </p:sp>
      <p:sp>
        <p:nvSpPr>
          <p:cNvPr id="3" name="Sous-titre 2"/>
          <p:cNvSpPr>
            <a:spLocks noGrp="1"/>
          </p:cNvSpPr>
          <p:nvPr>
            <p:ph type="subTitle" idx="1"/>
          </p:nvPr>
        </p:nvSpPr>
        <p:spPr/>
        <p:txBody>
          <a:bodyPr>
            <a:normAutofit/>
          </a:bodyPr>
          <a:lstStyle/>
          <a:p>
            <a:r>
              <a:rPr lang="fr-FR" sz="5400" dirty="0" smtClean="0">
                <a:solidFill>
                  <a:schemeClr val="tx1"/>
                </a:solidFill>
                <a:effectLst>
                  <a:outerShdw blurRad="38100" dist="38100" dir="2700000" algn="tl">
                    <a:srgbClr val="000000">
                      <a:alpha val="43137"/>
                    </a:srgbClr>
                  </a:outerShdw>
                </a:effectLst>
              </a:rPr>
              <a:t>Cours et Travaux Pratiques.</a:t>
            </a:r>
            <a:endParaRPr lang="fr-FR" sz="5400"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82087266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4800" dirty="0" smtClean="0">
                <a:latin typeface="Maiandra GD" pitchFamily="34" charset="0"/>
              </a:rPr>
              <a:t>Introduction</a:t>
            </a:r>
            <a:endParaRPr lang="fr-FR" sz="4800" dirty="0">
              <a:latin typeface="Maiandra GD" pitchFamily="34" charset="0"/>
            </a:endParaRPr>
          </a:p>
        </p:txBody>
      </p:sp>
      <p:sp>
        <p:nvSpPr>
          <p:cNvPr id="3" name="Espace réservé du contenu 2"/>
          <p:cNvSpPr>
            <a:spLocks noGrp="1"/>
          </p:cNvSpPr>
          <p:nvPr>
            <p:ph idx="1"/>
          </p:nvPr>
        </p:nvSpPr>
        <p:spPr>
          <a:xfrm>
            <a:off x="457200" y="1600200"/>
            <a:ext cx="8229600" cy="4853136"/>
          </a:xfrm>
        </p:spPr>
        <p:txBody>
          <a:bodyPr/>
          <a:lstStyle/>
          <a:p>
            <a:pPr marL="0" indent="0" algn="just">
              <a:buNone/>
            </a:pPr>
            <a:r>
              <a:rPr lang="fr-FR" dirty="0">
                <a:latin typeface="Maiandra GD" pitchFamily="34" charset="0"/>
              </a:rPr>
              <a:t>Voilà plus de vingt ans que le Web existe ! Un âge respectable dans l'univers </a:t>
            </a:r>
            <a:r>
              <a:rPr lang="fr-FR" dirty="0" smtClean="0">
                <a:latin typeface="Maiandra GD" pitchFamily="34" charset="0"/>
              </a:rPr>
              <a:t>de l'informatique </a:t>
            </a:r>
            <a:r>
              <a:rPr lang="fr-FR" dirty="0">
                <a:latin typeface="Maiandra GD" pitchFamily="34" charset="0"/>
              </a:rPr>
              <a:t>: le début des années 1990 fait presque </a:t>
            </a:r>
            <a:r>
              <a:rPr lang="fr-FR" dirty="0" smtClean="0">
                <a:latin typeface="Maiandra GD" pitchFamily="34" charset="0"/>
              </a:rPr>
              <a:t>figure </a:t>
            </a:r>
            <a:r>
              <a:rPr lang="fr-FR" dirty="0">
                <a:latin typeface="Maiandra GD" pitchFamily="34" charset="0"/>
              </a:rPr>
              <a:t>d'Antiquité</a:t>
            </a:r>
            <a:r>
              <a:rPr lang="fr-FR" dirty="0" smtClean="0">
                <a:latin typeface="Maiandra GD" pitchFamily="34" charset="0"/>
              </a:rPr>
              <a:t>.</a:t>
            </a:r>
          </a:p>
          <a:p>
            <a:pPr marL="0" indent="0" algn="just">
              <a:buNone/>
            </a:pPr>
            <a:endParaRPr lang="fr-FR" sz="1000" dirty="0" smtClean="0">
              <a:latin typeface="Maiandra GD" pitchFamily="34" charset="0"/>
            </a:endParaRPr>
          </a:p>
          <a:p>
            <a:pPr marL="0" indent="0" algn="just">
              <a:buNone/>
            </a:pPr>
            <a:r>
              <a:rPr lang="fr-FR" dirty="0">
                <a:latin typeface="Maiandra GD" pitchFamily="34" charset="0"/>
              </a:rPr>
              <a:t>Le Web n'a pourtant jamais été autant utilisé qu'aujourd'hui : nous avons tous </a:t>
            </a:r>
            <a:r>
              <a:rPr lang="fr-FR" dirty="0" smtClean="0">
                <a:latin typeface="Maiandra GD" pitchFamily="34" charset="0"/>
              </a:rPr>
              <a:t>pris l'habitude </a:t>
            </a:r>
            <a:r>
              <a:rPr lang="fr-FR" dirty="0">
                <a:latin typeface="Maiandra GD" pitchFamily="34" charset="0"/>
              </a:rPr>
              <a:t>de naviguer sur des sites web, un peu comme si c'était une seconde nature.</a:t>
            </a:r>
            <a:endParaRPr lang="fr-FR" dirty="0" smtClean="0">
              <a:latin typeface="Maiandra GD" pitchFamily="34" charset="0"/>
            </a:endParaRPr>
          </a:p>
          <a:p>
            <a:pPr marL="0" indent="0" algn="just">
              <a:buNone/>
            </a:pPr>
            <a:endParaRPr lang="fr-FR" dirty="0">
              <a:latin typeface="Maiandra GD" pitchFamily="34" charset="0"/>
            </a:endParaRPr>
          </a:p>
        </p:txBody>
      </p:sp>
    </p:spTree>
    <p:extLst>
      <p:ext uri="{BB962C8B-B14F-4D97-AF65-F5344CB8AC3E}">
        <p14:creationId xmlns:p14="http://schemas.microsoft.com/office/powerpoint/2010/main" val="309979367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404664"/>
            <a:ext cx="8640960" cy="6192688"/>
          </a:xfrm>
        </p:spPr>
        <p:txBody>
          <a:bodyPr/>
          <a:lstStyle/>
          <a:p>
            <a:pPr marL="0" indent="0" algn="just">
              <a:buNone/>
            </a:pPr>
            <a:r>
              <a:rPr lang="fr-FR" dirty="0">
                <a:latin typeface="Maiandra GD" pitchFamily="34" charset="0"/>
              </a:rPr>
              <a:t>C'est même devenu notre activité principale sur un ordinateur, à tel point qu'on </a:t>
            </a:r>
            <a:r>
              <a:rPr lang="fr-FR" dirty="0" smtClean="0">
                <a:latin typeface="Maiandra GD" pitchFamily="34" charset="0"/>
              </a:rPr>
              <a:t>en vient </a:t>
            </a:r>
            <a:r>
              <a:rPr lang="fr-FR" dirty="0">
                <a:latin typeface="Maiandra GD" pitchFamily="34" charset="0"/>
              </a:rPr>
              <a:t>à oublier qui celui-ci peut aussi servir à autre chose qu'à naviguer </a:t>
            </a:r>
            <a:r>
              <a:rPr lang="fr-FR" dirty="0" smtClean="0">
                <a:latin typeface="Maiandra GD" pitchFamily="34" charset="0"/>
              </a:rPr>
              <a:t>sur </a:t>
            </a:r>
            <a:r>
              <a:rPr lang="fr-FR" dirty="0">
                <a:latin typeface="Maiandra GD" pitchFamily="34" charset="0"/>
              </a:rPr>
              <a:t>le </a:t>
            </a:r>
            <a:r>
              <a:rPr lang="fr-FR" dirty="0" smtClean="0">
                <a:latin typeface="Maiandra GD" pitchFamily="34" charset="0"/>
              </a:rPr>
              <a:t>Web.</a:t>
            </a:r>
          </a:p>
          <a:p>
            <a:pPr marL="0" indent="0" algn="just">
              <a:buNone/>
            </a:pPr>
            <a:endParaRPr lang="fr-FR" sz="2000" dirty="0" smtClean="0">
              <a:latin typeface="Maiandra GD" pitchFamily="34" charset="0"/>
            </a:endParaRPr>
          </a:p>
          <a:p>
            <a:pPr marL="0" indent="0" algn="just">
              <a:buNone/>
            </a:pPr>
            <a:r>
              <a:rPr lang="fr-FR" dirty="0">
                <a:latin typeface="Maiandra GD" pitchFamily="34" charset="0"/>
              </a:rPr>
              <a:t>Même quand nous ne sommes plus devant un ordinateur, nous avons pris </a:t>
            </a:r>
            <a:r>
              <a:rPr lang="fr-FR" dirty="0" smtClean="0">
                <a:latin typeface="Maiandra GD" pitchFamily="34" charset="0"/>
              </a:rPr>
              <a:t>l'habitude de </a:t>
            </a:r>
            <a:r>
              <a:rPr lang="fr-FR" dirty="0">
                <a:latin typeface="Maiandra GD" pitchFamily="34" charset="0"/>
              </a:rPr>
              <a:t>regarder compulsivement notre téléphone portable pour consulter les dernières nouvelles.</a:t>
            </a:r>
          </a:p>
          <a:p>
            <a:pPr marL="0" indent="0" algn="just">
              <a:buNone/>
            </a:pPr>
            <a:r>
              <a:rPr lang="fr-FR" dirty="0">
                <a:latin typeface="Maiandra GD" pitchFamily="34" charset="0"/>
              </a:rPr>
              <a:t>Bref, le Web nous poursuit partout.</a:t>
            </a:r>
          </a:p>
        </p:txBody>
      </p:sp>
    </p:spTree>
    <p:extLst>
      <p:ext uri="{BB962C8B-B14F-4D97-AF65-F5344CB8AC3E}">
        <p14:creationId xmlns:p14="http://schemas.microsoft.com/office/powerpoint/2010/main" val="10334799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404664"/>
            <a:ext cx="8568952" cy="6120680"/>
          </a:xfrm>
        </p:spPr>
        <p:txBody>
          <a:bodyPr>
            <a:normAutofit lnSpcReduction="10000"/>
          </a:bodyPr>
          <a:lstStyle/>
          <a:p>
            <a:pPr marL="0" indent="0" algn="just">
              <a:buNone/>
            </a:pPr>
            <a:r>
              <a:rPr lang="fr-FR" dirty="0">
                <a:latin typeface="Maiandra GD" pitchFamily="34" charset="0"/>
              </a:rPr>
              <a:t>Alors, vous vous dites :  Tiens, si je créais moi aussi mon site web ? Tout le </a:t>
            </a:r>
            <a:r>
              <a:rPr lang="fr-FR" dirty="0" smtClean="0">
                <a:latin typeface="Maiandra GD" pitchFamily="34" charset="0"/>
              </a:rPr>
              <a:t>monde le </a:t>
            </a:r>
            <a:r>
              <a:rPr lang="fr-FR" dirty="0">
                <a:latin typeface="Maiandra GD" pitchFamily="34" charset="0"/>
              </a:rPr>
              <a:t>fait, je dois en être capable moi aussi. . . . et vous avez parfaitement raison </a:t>
            </a:r>
            <a:r>
              <a:rPr lang="fr-FR" dirty="0" smtClean="0">
                <a:latin typeface="Maiandra GD" pitchFamily="34" charset="0"/>
              </a:rPr>
              <a:t>!</a:t>
            </a:r>
          </a:p>
          <a:p>
            <a:pPr marL="0" indent="0" algn="just">
              <a:buNone/>
            </a:pPr>
            <a:endParaRPr lang="fr-FR" sz="1700" dirty="0" smtClean="0">
              <a:latin typeface="Maiandra GD" pitchFamily="34" charset="0"/>
            </a:endParaRPr>
          </a:p>
          <a:p>
            <a:pPr marL="0" indent="0" algn="just">
              <a:buNone/>
            </a:pPr>
            <a:r>
              <a:rPr lang="fr-FR" dirty="0" smtClean="0">
                <a:latin typeface="Maiandra GD" pitchFamily="34" charset="0"/>
              </a:rPr>
              <a:t>Si le Web </a:t>
            </a:r>
            <a:r>
              <a:rPr lang="fr-FR" dirty="0">
                <a:latin typeface="Maiandra GD" pitchFamily="34" charset="0"/>
              </a:rPr>
              <a:t>s'est autant démocratisé, c'est aussi parce qu'il est facile de créer un site web</a:t>
            </a:r>
            <a:r>
              <a:rPr lang="fr-FR" dirty="0" smtClean="0">
                <a:latin typeface="Maiandra GD" pitchFamily="34" charset="0"/>
              </a:rPr>
              <a:t>.</a:t>
            </a:r>
          </a:p>
          <a:p>
            <a:pPr marL="0" indent="0" algn="just">
              <a:buNone/>
            </a:pPr>
            <a:endParaRPr lang="fr-FR" sz="1800" dirty="0">
              <a:latin typeface="Maiandra GD" pitchFamily="34" charset="0"/>
            </a:endParaRPr>
          </a:p>
          <a:p>
            <a:pPr marL="0" indent="0" algn="just">
              <a:buNone/>
            </a:pPr>
            <a:r>
              <a:rPr lang="fr-FR" dirty="0">
                <a:latin typeface="Maiandra GD" pitchFamily="34" charset="0"/>
              </a:rPr>
              <a:t>Mais attention, cela ne s'improvise pas : il faut de la méthode, de l'organisation </a:t>
            </a:r>
            <a:r>
              <a:rPr lang="fr-FR" dirty="0" smtClean="0">
                <a:latin typeface="Maiandra GD" pitchFamily="34" charset="0"/>
              </a:rPr>
              <a:t>et quelques </a:t>
            </a:r>
            <a:r>
              <a:rPr lang="fr-FR" dirty="0">
                <a:latin typeface="Maiandra GD" pitchFamily="34" charset="0"/>
              </a:rPr>
              <a:t>connaissances sur les langages du Web. Autant d'éléments que je </a:t>
            </a:r>
            <a:r>
              <a:rPr lang="fr-FR" dirty="0" smtClean="0">
                <a:latin typeface="Maiandra GD" pitchFamily="34" charset="0"/>
              </a:rPr>
              <a:t>souhaite vous </a:t>
            </a:r>
            <a:r>
              <a:rPr lang="fr-FR" dirty="0">
                <a:latin typeface="Maiandra GD" pitchFamily="34" charset="0"/>
              </a:rPr>
              <a:t>apporter à travers ce </a:t>
            </a:r>
            <a:r>
              <a:rPr lang="fr-FR" dirty="0" smtClean="0">
                <a:latin typeface="Maiandra GD" pitchFamily="34" charset="0"/>
              </a:rPr>
              <a:t>cours </a:t>
            </a:r>
            <a:r>
              <a:rPr lang="fr-FR" dirty="0">
                <a:latin typeface="Maiandra GD" pitchFamily="34" charset="0"/>
              </a:rPr>
              <a:t>!</a:t>
            </a:r>
          </a:p>
        </p:txBody>
      </p:sp>
    </p:spTree>
    <p:extLst>
      <p:ext uri="{BB962C8B-B14F-4D97-AF65-F5344CB8AC3E}">
        <p14:creationId xmlns:p14="http://schemas.microsoft.com/office/powerpoint/2010/main" val="25833058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620688"/>
            <a:ext cx="8229600" cy="5505475"/>
          </a:xfrm>
        </p:spPr>
        <p:txBody>
          <a:bodyPr/>
          <a:lstStyle/>
          <a:p>
            <a:pPr marL="0" indent="0" algn="just">
              <a:buNone/>
            </a:pPr>
            <a:r>
              <a:rPr lang="fr-FR" dirty="0">
                <a:latin typeface="Maiandra GD" pitchFamily="34" charset="0"/>
              </a:rPr>
              <a:t>Vous n'avez jamais entendu parler de HTML ni de CSS ? Pas grave : cet ouvrage </a:t>
            </a:r>
            <a:r>
              <a:rPr lang="fr-FR" dirty="0" smtClean="0">
                <a:latin typeface="Maiandra GD" pitchFamily="34" charset="0"/>
              </a:rPr>
              <a:t>est conçu </a:t>
            </a:r>
            <a:r>
              <a:rPr lang="fr-FR" dirty="0">
                <a:latin typeface="Maiandra GD" pitchFamily="34" charset="0"/>
              </a:rPr>
              <a:t>pour les débutants. </a:t>
            </a:r>
            <a:endParaRPr lang="fr-FR" dirty="0" smtClean="0">
              <a:latin typeface="Maiandra GD" pitchFamily="34" charset="0"/>
            </a:endParaRPr>
          </a:p>
          <a:p>
            <a:pPr marL="0" indent="0" algn="just">
              <a:buNone/>
            </a:pPr>
            <a:r>
              <a:rPr lang="fr-FR" dirty="0" smtClean="0">
                <a:latin typeface="Maiandra GD" pitchFamily="34" charset="0"/>
              </a:rPr>
              <a:t>Tout </a:t>
            </a:r>
            <a:r>
              <a:rPr lang="fr-FR" dirty="0">
                <a:latin typeface="Maiandra GD" pitchFamily="34" charset="0"/>
              </a:rPr>
              <a:t>ce que je vous demande c'est </a:t>
            </a:r>
            <a:r>
              <a:rPr lang="fr-FR" dirty="0" smtClean="0">
                <a:latin typeface="Maiandra GD" pitchFamily="34" charset="0"/>
              </a:rPr>
              <a:t>de </a:t>
            </a:r>
            <a:r>
              <a:rPr lang="fr-FR" dirty="0">
                <a:latin typeface="Maiandra GD" pitchFamily="34" charset="0"/>
              </a:rPr>
              <a:t>savoir allumer </a:t>
            </a:r>
            <a:r>
              <a:rPr lang="fr-FR" dirty="0" smtClean="0">
                <a:latin typeface="Maiandra GD" pitchFamily="34" charset="0"/>
              </a:rPr>
              <a:t>votre ordinateur </a:t>
            </a:r>
            <a:r>
              <a:rPr lang="fr-FR" dirty="0">
                <a:latin typeface="Maiandra GD" pitchFamily="34" charset="0"/>
              </a:rPr>
              <a:t>(et utiliser une souris et un clavier, tant qu'à faire). Pour le reste, </a:t>
            </a:r>
            <a:r>
              <a:rPr lang="fr-FR" dirty="0" smtClean="0">
                <a:latin typeface="Maiandra GD" pitchFamily="34" charset="0"/>
              </a:rPr>
              <a:t>laissez-moi vous </a:t>
            </a:r>
            <a:r>
              <a:rPr lang="fr-FR" dirty="0">
                <a:latin typeface="Maiandra GD" pitchFamily="34" charset="0"/>
              </a:rPr>
              <a:t>montrer tout simplement !</a:t>
            </a:r>
          </a:p>
        </p:txBody>
      </p:sp>
    </p:spTree>
    <p:extLst>
      <p:ext uri="{BB962C8B-B14F-4D97-AF65-F5344CB8AC3E}">
        <p14:creationId xmlns:p14="http://schemas.microsoft.com/office/powerpoint/2010/main" val="13642421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685800" y="1340768"/>
            <a:ext cx="7772400" cy="1470025"/>
          </a:xfrm>
        </p:spPr>
        <p:txBody>
          <a:bodyPr>
            <a:normAutofit/>
          </a:bodyPr>
          <a:lstStyle/>
          <a:p>
            <a:r>
              <a:rPr lang="fr-FR" sz="8000" dirty="0" smtClean="0">
                <a:effectLst>
                  <a:outerShdw blurRad="38100" dist="38100" dir="2700000" algn="tl">
                    <a:srgbClr val="000000">
                      <a:alpha val="43137"/>
                    </a:srgbClr>
                  </a:outerShdw>
                </a:effectLst>
                <a:latin typeface="Maiandra GD" pitchFamily="34" charset="0"/>
              </a:rPr>
              <a:t>HTML5 ET CSS3,</a:t>
            </a:r>
            <a:endParaRPr lang="fr-FR" sz="8000" dirty="0">
              <a:effectLst>
                <a:outerShdw blurRad="38100" dist="38100" dir="2700000" algn="tl">
                  <a:srgbClr val="000000">
                    <a:alpha val="43137"/>
                  </a:srgbClr>
                </a:outerShdw>
              </a:effectLst>
              <a:latin typeface="Maiandra GD" pitchFamily="34" charset="0"/>
            </a:endParaRPr>
          </a:p>
        </p:txBody>
      </p:sp>
      <p:sp>
        <p:nvSpPr>
          <p:cNvPr id="3" name="Sous-titre 2"/>
          <p:cNvSpPr>
            <a:spLocks noGrp="1"/>
          </p:cNvSpPr>
          <p:nvPr>
            <p:ph type="subTitle" idx="1"/>
          </p:nvPr>
        </p:nvSpPr>
        <p:spPr>
          <a:xfrm>
            <a:off x="1115616" y="3140968"/>
            <a:ext cx="6944816" cy="1752600"/>
          </a:xfrm>
        </p:spPr>
        <p:txBody>
          <a:bodyPr>
            <a:normAutofit/>
          </a:bodyPr>
          <a:lstStyle/>
          <a:p>
            <a:r>
              <a:rPr lang="fr-FR" sz="5400" dirty="0">
                <a:effectLst>
                  <a:outerShdw blurRad="38100" dist="38100" dir="2700000" algn="tl">
                    <a:srgbClr val="000000">
                      <a:alpha val="43137"/>
                    </a:srgbClr>
                  </a:outerShdw>
                </a:effectLst>
              </a:rPr>
              <a:t>ces incontournables </a:t>
            </a:r>
            <a:r>
              <a:rPr lang="fr-FR" sz="5400" dirty="0" smtClean="0">
                <a:effectLst>
                  <a:outerShdw blurRad="38100" dist="38100" dir="2700000" algn="tl">
                    <a:srgbClr val="000000">
                      <a:alpha val="43137"/>
                    </a:srgbClr>
                  </a:outerShdw>
                </a:effectLst>
              </a:rPr>
              <a:t>langages.</a:t>
            </a:r>
            <a:endParaRPr lang="fr-FR" sz="5400"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67396632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9512" y="260648"/>
            <a:ext cx="8712968" cy="6264696"/>
          </a:xfrm>
        </p:spPr>
        <p:txBody>
          <a:bodyPr>
            <a:normAutofit/>
          </a:bodyPr>
          <a:lstStyle/>
          <a:p>
            <a:pPr marL="0" indent="0" algn="just">
              <a:buNone/>
            </a:pPr>
            <a:r>
              <a:rPr lang="fr-FR" dirty="0">
                <a:latin typeface="Maiandra GD" pitchFamily="34" charset="0"/>
              </a:rPr>
              <a:t>Quoi que vous fassiez, vous ne pourrez pas les éviter : pour créer un site web, </a:t>
            </a:r>
            <a:r>
              <a:rPr lang="fr-FR" dirty="0" smtClean="0">
                <a:latin typeface="Maiandra GD" pitchFamily="34" charset="0"/>
              </a:rPr>
              <a:t>vous devez </a:t>
            </a:r>
            <a:r>
              <a:rPr lang="fr-FR" dirty="0">
                <a:latin typeface="Maiandra GD" pitchFamily="34" charset="0"/>
              </a:rPr>
              <a:t>apprendre à manier les langages HTML et CSS. Ils sont à la base de tous </a:t>
            </a:r>
            <a:r>
              <a:rPr lang="fr-FR" dirty="0" smtClean="0">
                <a:latin typeface="Maiandra GD" pitchFamily="34" charset="0"/>
              </a:rPr>
              <a:t>les sites </a:t>
            </a:r>
            <a:r>
              <a:rPr lang="fr-FR" dirty="0">
                <a:latin typeface="Maiandra GD" pitchFamily="34" charset="0"/>
              </a:rPr>
              <a:t>web, qui sont tous conçus de la même manière avec ces langages</a:t>
            </a:r>
            <a:r>
              <a:rPr lang="fr-FR" dirty="0" smtClean="0">
                <a:latin typeface="Maiandra GD" pitchFamily="34" charset="0"/>
              </a:rPr>
              <a:t>.</a:t>
            </a:r>
          </a:p>
          <a:p>
            <a:pPr marL="0" indent="0" algn="just">
              <a:buNone/>
            </a:pPr>
            <a:r>
              <a:rPr lang="fr-FR" dirty="0">
                <a:latin typeface="Maiandra GD" pitchFamily="34" charset="0"/>
              </a:rPr>
              <a:t>Les toutes dernières versions de ces langages (HTML5 et CSS3) nous </a:t>
            </a:r>
            <a:r>
              <a:rPr lang="fr-FR" dirty="0" smtClean="0">
                <a:latin typeface="Maiandra GD" pitchFamily="34" charset="0"/>
              </a:rPr>
              <a:t>offrent aujourd'hui des </a:t>
            </a:r>
            <a:r>
              <a:rPr lang="fr-FR" dirty="0">
                <a:latin typeface="Maiandra GD" pitchFamily="34" charset="0"/>
              </a:rPr>
              <a:t>possibilités étonnantes. Des </a:t>
            </a:r>
            <a:r>
              <a:rPr lang="fr-FR" dirty="0" smtClean="0">
                <a:latin typeface="Maiandra GD" pitchFamily="34" charset="0"/>
              </a:rPr>
              <a:t>effets </a:t>
            </a:r>
            <a:r>
              <a:rPr lang="fr-FR" dirty="0">
                <a:latin typeface="Maiandra GD" pitchFamily="34" charset="0"/>
              </a:rPr>
              <a:t>graphiques autrefois complexes à réaliser se </a:t>
            </a:r>
            <a:r>
              <a:rPr lang="fr-FR" dirty="0" smtClean="0">
                <a:latin typeface="Maiandra GD" pitchFamily="34" charset="0"/>
              </a:rPr>
              <a:t>créent désormais </a:t>
            </a:r>
            <a:r>
              <a:rPr lang="fr-FR" dirty="0">
                <a:latin typeface="Maiandra GD" pitchFamily="34" charset="0"/>
              </a:rPr>
              <a:t>via une simple ligne de code.</a:t>
            </a:r>
          </a:p>
        </p:txBody>
      </p:sp>
    </p:spTree>
    <p:extLst>
      <p:ext uri="{BB962C8B-B14F-4D97-AF65-F5344CB8AC3E}">
        <p14:creationId xmlns:p14="http://schemas.microsoft.com/office/powerpoint/2010/main" val="21364251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404664"/>
            <a:ext cx="8640960" cy="6120680"/>
          </a:xfrm>
        </p:spPr>
        <p:txBody>
          <a:bodyPr>
            <a:normAutofit/>
          </a:bodyPr>
          <a:lstStyle/>
          <a:p>
            <a:pPr marL="0" indent="0" algn="just">
              <a:buNone/>
            </a:pPr>
            <a:r>
              <a:rPr lang="fr-FR" dirty="0">
                <a:latin typeface="Maiandra GD" pitchFamily="34" charset="0"/>
              </a:rPr>
              <a:t>Les langages deviennent tellement </a:t>
            </a:r>
            <a:r>
              <a:rPr lang="fr-FR" dirty="0" smtClean="0">
                <a:latin typeface="Maiandra GD" pitchFamily="34" charset="0"/>
              </a:rPr>
              <a:t>puissants que </a:t>
            </a:r>
            <a:r>
              <a:rPr lang="fr-FR" dirty="0">
                <a:latin typeface="Maiandra GD" pitchFamily="34" charset="0"/>
              </a:rPr>
              <a:t>les experts sont déjà d'accord pour dire que demain tout se fera sur le Web. </a:t>
            </a:r>
            <a:r>
              <a:rPr lang="fr-FR" dirty="0" smtClean="0">
                <a:latin typeface="Maiandra GD" pitchFamily="34" charset="0"/>
              </a:rPr>
              <a:t>C'est d'ailleurs </a:t>
            </a:r>
            <a:r>
              <a:rPr lang="fr-FR" dirty="0">
                <a:latin typeface="Maiandra GD" pitchFamily="34" charset="0"/>
              </a:rPr>
              <a:t>déjà le cas quand on y pense : courses en ligne, déclaration d'impôts, </a:t>
            </a:r>
            <a:r>
              <a:rPr lang="fr-FR" dirty="0" smtClean="0">
                <a:latin typeface="Maiandra GD" pitchFamily="34" charset="0"/>
              </a:rPr>
              <a:t>lecture des </a:t>
            </a:r>
            <a:r>
              <a:rPr lang="fr-FR" dirty="0">
                <a:latin typeface="Maiandra GD" pitchFamily="34" charset="0"/>
              </a:rPr>
              <a:t>journaux. . </a:t>
            </a:r>
            <a:r>
              <a:rPr lang="fr-FR" dirty="0" smtClean="0">
                <a:latin typeface="Maiandra GD" pitchFamily="34" charset="0"/>
              </a:rPr>
              <a:t>.</a:t>
            </a:r>
          </a:p>
          <a:p>
            <a:pPr marL="0" indent="0" algn="just">
              <a:buNone/>
            </a:pPr>
            <a:endParaRPr lang="fr-FR" sz="1600" dirty="0" smtClean="0">
              <a:latin typeface="Maiandra GD" pitchFamily="34" charset="0"/>
            </a:endParaRPr>
          </a:p>
          <a:p>
            <a:pPr marL="0" indent="0" algn="just">
              <a:buNone/>
            </a:pPr>
            <a:r>
              <a:rPr lang="fr-FR" dirty="0">
                <a:latin typeface="Maiandra GD" pitchFamily="34" charset="0"/>
              </a:rPr>
              <a:t>Vous vous dites peut-être que vous n'êtes pas faits pour apprendre un langage informatique,</a:t>
            </a:r>
          </a:p>
          <a:p>
            <a:pPr marL="0" indent="0" algn="just">
              <a:buNone/>
            </a:pPr>
            <a:r>
              <a:rPr lang="fr-FR" dirty="0">
                <a:latin typeface="Maiandra GD" pitchFamily="34" charset="0"/>
              </a:rPr>
              <a:t>mais pas de panique : les langages HTML et CSS sont simples.</a:t>
            </a:r>
          </a:p>
        </p:txBody>
      </p:sp>
    </p:spTree>
    <p:extLst>
      <p:ext uri="{BB962C8B-B14F-4D97-AF65-F5344CB8AC3E}">
        <p14:creationId xmlns:p14="http://schemas.microsoft.com/office/powerpoint/2010/main" val="4465723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476672"/>
            <a:ext cx="8229600" cy="5649491"/>
          </a:xfrm>
        </p:spPr>
        <p:txBody>
          <a:bodyPr/>
          <a:lstStyle/>
          <a:p>
            <a:pPr marL="0" indent="0" algn="just">
              <a:buNone/>
            </a:pPr>
            <a:endParaRPr lang="fr-FR" dirty="0" smtClean="0">
              <a:latin typeface="Maiandra GD" pitchFamily="34" charset="0"/>
            </a:endParaRPr>
          </a:p>
          <a:p>
            <a:pPr marL="0" indent="0" algn="just">
              <a:buNone/>
            </a:pPr>
            <a:r>
              <a:rPr lang="fr-FR" dirty="0" smtClean="0">
                <a:latin typeface="Maiandra GD" pitchFamily="34" charset="0"/>
              </a:rPr>
              <a:t>Je </a:t>
            </a:r>
            <a:r>
              <a:rPr lang="fr-FR" dirty="0">
                <a:latin typeface="Maiandra GD" pitchFamily="34" charset="0"/>
              </a:rPr>
              <a:t>vois </a:t>
            </a:r>
            <a:r>
              <a:rPr lang="fr-FR" dirty="0" smtClean="0">
                <a:latin typeface="Maiandra GD" pitchFamily="34" charset="0"/>
              </a:rPr>
              <a:t>d'ailleurs régulièrement </a:t>
            </a:r>
            <a:r>
              <a:rPr lang="fr-FR" dirty="0">
                <a:latin typeface="Maiandra GD" pitchFamily="34" charset="0"/>
              </a:rPr>
              <a:t>des jeunes les apprendre dès l'âge de 10 ans, comme s'il s'agissait </a:t>
            </a:r>
            <a:r>
              <a:rPr lang="fr-FR" dirty="0" smtClean="0">
                <a:latin typeface="Maiandra GD" pitchFamily="34" charset="0"/>
              </a:rPr>
              <a:t>d'une simple </a:t>
            </a:r>
            <a:r>
              <a:rPr lang="fr-FR" dirty="0">
                <a:latin typeface="Maiandra GD" pitchFamily="34" charset="0"/>
              </a:rPr>
              <a:t>formalité. Ce n'est en fait </a:t>
            </a:r>
            <a:r>
              <a:rPr lang="fr-FR" dirty="0" smtClean="0">
                <a:latin typeface="Maiandra GD" pitchFamily="34" charset="0"/>
              </a:rPr>
              <a:t>pas </a:t>
            </a:r>
            <a:r>
              <a:rPr lang="fr-FR" dirty="0">
                <a:latin typeface="Maiandra GD" pitchFamily="34" charset="0"/>
              </a:rPr>
              <a:t>plus compliqué que la grammaire et la </a:t>
            </a:r>
            <a:r>
              <a:rPr lang="fr-FR" dirty="0" smtClean="0">
                <a:latin typeface="Maiandra GD" pitchFamily="34" charset="0"/>
              </a:rPr>
              <a:t>conjugaison, c'est </a:t>
            </a:r>
            <a:r>
              <a:rPr lang="fr-FR" dirty="0">
                <a:latin typeface="Maiandra GD" pitchFamily="34" charset="0"/>
              </a:rPr>
              <a:t>même parfois plus facile. ;-)</a:t>
            </a:r>
          </a:p>
        </p:txBody>
      </p:sp>
    </p:spTree>
    <p:extLst>
      <p:ext uri="{BB962C8B-B14F-4D97-AF65-F5344CB8AC3E}">
        <p14:creationId xmlns:p14="http://schemas.microsoft.com/office/powerpoint/2010/main" val="1077374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2090663"/>
          </a:xfrm>
        </p:spPr>
        <p:txBody>
          <a:bodyPr>
            <a:normAutofit/>
          </a:bodyPr>
          <a:lstStyle/>
          <a:p>
            <a:r>
              <a:rPr lang="fr-FR" sz="4800" dirty="0">
                <a:effectLst>
                  <a:outerShdw blurRad="38100" dist="38100" dir="2700000" algn="tl">
                    <a:srgbClr val="000000">
                      <a:alpha val="43137"/>
                    </a:srgbClr>
                  </a:outerShdw>
                </a:effectLst>
                <a:latin typeface="Maiandra GD" pitchFamily="34" charset="0"/>
              </a:rPr>
              <a:t>Qu'allez-vous apprendre en </a:t>
            </a:r>
            <a:r>
              <a:rPr lang="fr-FR" sz="4800" dirty="0" smtClean="0">
                <a:effectLst>
                  <a:outerShdw blurRad="38100" dist="38100" dir="2700000" algn="tl">
                    <a:srgbClr val="000000">
                      <a:alpha val="43137"/>
                    </a:srgbClr>
                  </a:outerShdw>
                </a:effectLst>
                <a:latin typeface="Maiandra GD" pitchFamily="34" charset="0"/>
              </a:rPr>
              <a:t>suivant cette formation </a:t>
            </a:r>
            <a:r>
              <a:rPr lang="fr-FR" sz="4800" dirty="0">
                <a:effectLst>
                  <a:outerShdw blurRad="38100" dist="38100" dir="2700000" algn="tl">
                    <a:srgbClr val="000000">
                      <a:alpha val="43137"/>
                    </a:srgbClr>
                  </a:outerShdw>
                </a:effectLst>
                <a:latin typeface="Maiandra GD" pitchFamily="34" charset="0"/>
              </a:rPr>
              <a:t>?</a:t>
            </a:r>
          </a:p>
        </p:txBody>
      </p:sp>
    </p:spTree>
    <p:extLst>
      <p:ext uri="{BB962C8B-B14F-4D97-AF65-F5344CB8AC3E}">
        <p14:creationId xmlns:p14="http://schemas.microsoft.com/office/powerpoint/2010/main" val="25252852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9512" y="260648"/>
            <a:ext cx="8712968" cy="6336704"/>
          </a:xfrm>
        </p:spPr>
        <p:txBody>
          <a:bodyPr>
            <a:normAutofit/>
          </a:bodyPr>
          <a:lstStyle/>
          <a:p>
            <a:pPr marL="0" indent="0" algn="just">
              <a:buNone/>
            </a:pPr>
            <a:r>
              <a:rPr lang="fr-FR" dirty="0">
                <a:latin typeface="Maiandra GD" pitchFamily="34" charset="0"/>
              </a:rPr>
              <a:t>Nous allons découvrir HTML et CSS de façon progressive au cours de </a:t>
            </a:r>
            <a:r>
              <a:rPr lang="fr-FR" dirty="0" smtClean="0">
                <a:latin typeface="Maiandra GD" pitchFamily="34" charset="0"/>
              </a:rPr>
              <a:t>cette formation, composé </a:t>
            </a:r>
            <a:r>
              <a:rPr lang="fr-FR" dirty="0">
                <a:latin typeface="Maiandra GD" pitchFamily="34" charset="0"/>
              </a:rPr>
              <a:t>des parties suivantes </a:t>
            </a:r>
            <a:r>
              <a:rPr lang="fr-FR" dirty="0" smtClean="0">
                <a:latin typeface="Maiandra GD" pitchFamily="34" charset="0"/>
              </a:rPr>
              <a:t>:</a:t>
            </a:r>
          </a:p>
          <a:p>
            <a:pPr marL="0" indent="0" algn="just">
              <a:buNone/>
            </a:pPr>
            <a:endParaRPr lang="fr-FR" sz="1400" dirty="0" smtClean="0">
              <a:latin typeface="Maiandra GD" pitchFamily="34" charset="0"/>
            </a:endParaRPr>
          </a:p>
          <a:p>
            <a:pPr marL="0" indent="0" algn="just">
              <a:buNone/>
            </a:pPr>
            <a:r>
              <a:rPr lang="fr-FR" dirty="0">
                <a:latin typeface="Maiandra GD" pitchFamily="34" charset="0"/>
              </a:rPr>
              <a:t>1. Les bases de HTML5 : nous commencerons par découvrir le langage HTML.</a:t>
            </a:r>
          </a:p>
          <a:p>
            <a:pPr marL="0" indent="0" algn="just">
              <a:buNone/>
            </a:pPr>
            <a:r>
              <a:rPr lang="fr-FR" dirty="0" smtClean="0">
                <a:latin typeface="Maiandra GD" pitchFamily="34" charset="0"/>
              </a:rPr>
              <a:t>Nous </a:t>
            </a:r>
            <a:r>
              <a:rPr lang="fr-FR" dirty="0">
                <a:latin typeface="Maiandra GD" pitchFamily="34" charset="0"/>
              </a:rPr>
              <a:t>partirons vraiment des bases : quels programmes dois-je installer ? </a:t>
            </a:r>
            <a:r>
              <a:rPr lang="fr-FR" dirty="0" smtClean="0">
                <a:latin typeface="Maiandra GD" pitchFamily="34" charset="0"/>
              </a:rPr>
              <a:t>Comment tester </a:t>
            </a:r>
            <a:r>
              <a:rPr lang="fr-FR" dirty="0">
                <a:latin typeface="Maiandra GD" pitchFamily="34" charset="0"/>
              </a:rPr>
              <a:t>le résultat de mon site ? Comment </a:t>
            </a:r>
            <a:r>
              <a:rPr lang="fr-FR" dirty="0" smtClean="0">
                <a:latin typeface="Maiandra GD" pitchFamily="34" charset="0"/>
              </a:rPr>
              <a:t>afficher </a:t>
            </a:r>
            <a:r>
              <a:rPr lang="fr-FR" dirty="0">
                <a:latin typeface="Maiandra GD" pitchFamily="34" charset="0"/>
              </a:rPr>
              <a:t>du texte, des images, et </a:t>
            </a:r>
            <a:r>
              <a:rPr lang="fr-FR" dirty="0" smtClean="0">
                <a:latin typeface="Maiandra GD" pitchFamily="34" charset="0"/>
              </a:rPr>
              <a:t>créer des </a:t>
            </a:r>
            <a:r>
              <a:rPr lang="fr-FR" dirty="0">
                <a:latin typeface="Maiandra GD" pitchFamily="34" charset="0"/>
              </a:rPr>
              <a:t>liens ? Nous verrons tout cela au cours de cette première partie très simple.</a:t>
            </a:r>
          </a:p>
        </p:txBody>
      </p:sp>
    </p:spTree>
    <p:extLst>
      <p:ext uri="{BB962C8B-B14F-4D97-AF65-F5344CB8AC3E}">
        <p14:creationId xmlns:p14="http://schemas.microsoft.com/office/powerpoint/2010/main" val="17678380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404664"/>
            <a:ext cx="8712968" cy="6048672"/>
          </a:xfrm>
        </p:spPr>
        <p:txBody>
          <a:bodyPr/>
          <a:lstStyle/>
          <a:p>
            <a:pPr marL="0" indent="0" algn="just">
              <a:buNone/>
            </a:pPr>
            <a:endParaRPr lang="fr-FR" dirty="0" smtClean="0">
              <a:latin typeface="Maiandra GD" pitchFamily="34" charset="0"/>
            </a:endParaRPr>
          </a:p>
          <a:p>
            <a:pPr marL="0" indent="0" algn="just">
              <a:buNone/>
            </a:pPr>
            <a:r>
              <a:rPr lang="fr-FR" dirty="0" smtClean="0">
                <a:latin typeface="Maiandra GD" pitchFamily="34" charset="0"/>
              </a:rPr>
              <a:t>2</a:t>
            </a:r>
            <a:r>
              <a:rPr lang="fr-FR" dirty="0">
                <a:latin typeface="Maiandra GD" pitchFamily="34" charset="0"/>
              </a:rPr>
              <a:t>. Les joies de la mise en forme avec CSS : nous introduirons ensuite le </a:t>
            </a:r>
            <a:r>
              <a:rPr lang="fr-FR" dirty="0" smtClean="0">
                <a:latin typeface="Maiandra GD" pitchFamily="34" charset="0"/>
              </a:rPr>
              <a:t>langage CSS</a:t>
            </a:r>
            <a:r>
              <a:rPr lang="fr-FR" dirty="0">
                <a:latin typeface="Maiandra GD" pitchFamily="34" charset="0"/>
              </a:rPr>
              <a:t>, qui permet de mettre en forme son site web. Nous apprendrons à </a:t>
            </a:r>
            <a:r>
              <a:rPr lang="fr-FR" dirty="0" smtClean="0">
                <a:latin typeface="Maiandra GD" pitchFamily="34" charset="0"/>
              </a:rPr>
              <a:t>choisir les </a:t>
            </a:r>
            <a:r>
              <a:rPr lang="fr-FR" dirty="0">
                <a:latin typeface="Maiandra GD" pitchFamily="34" charset="0"/>
              </a:rPr>
              <a:t>couleurs de notre site, à </a:t>
            </a:r>
            <a:r>
              <a:rPr lang="fr-FR" dirty="0" smtClean="0">
                <a:latin typeface="Maiandra GD" pitchFamily="34" charset="0"/>
              </a:rPr>
              <a:t>modifier </a:t>
            </a:r>
            <a:r>
              <a:rPr lang="fr-FR" dirty="0">
                <a:latin typeface="Maiandra GD" pitchFamily="34" charset="0"/>
              </a:rPr>
              <a:t>la taille du texte, la police. . . et même </a:t>
            </a:r>
            <a:r>
              <a:rPr lang="fr-FR" dirty="0" smtClean="0">
                <a:latin typeface="Maiandra GD" pitchFamily="34" charset="0"/>
              </a:rPr>
              <a:t>à jouer </a:t>
            </a:r>
            <a:r>
              <a:rPr lang="fr-FR" dirty="0">
                <a:latin typeface="Maiandra GD" pitchFamily="34" charset="0"/>
              </a:rPr>
              <a:t>avec les </a:t>
            </a:r>
            <a:r>
              <a:rPr lang="fr-FR" dirty="0" smtClean="0">
                <a:latin typeface="Maiandra GD" pitchFamily="34" charset="0"/>
              </a:rPr>
              <a:t>effets </a:t>
            </a:r>
            <a:r>
              <a:rPr lang="fr-FR" dirty="0">
                <a:latin typeface="Maiandra GD" pitchFamily="34" charset="0"/>
              </a:rPr>
              <a:t>de transparence, les ombres et les arrondis que nous </a:t>
            </a:r>
            <a:r>
              <a:rPr lang="fr-FR" dirty="0" smtClean="0">
                <a:latin typeface="Maiandra GD" pitchFamily="34" charset="0"/>
              </a:rPr>
              <a:t>offre aujourd'hui CSS3.</a:t>
            </a:r>
            <a:endParaRPr lang="fr-FR" dirty="0">
              <a:latin typeface="Maiandra GD" pitchFamily="34" charset="0"/>
            </a:endParaRPr>
          </a:p>
        </p:txBody>
      </p:sp>
    </p:spTree>
    <p:extLst>
      <p:ext uri="{BB962C8B-B14F-4D97-AF65-F5344CB8AC3E}">
        <p14:creationId xmlns:p14="http://schemas.microsoft.com/office/powerpoint/2010/main" val="33803674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332656"/>
            <a:ext cx="8640960" cy="6192688"/>
          </a:xfrm>
        </p:spPr>
        <p:txBody>
          <a:bodyPr/>
          <a:lstStyle/>
          <a:p>
            <a:pPr marL="0" indent="0" algn="just">
              <a:buNone/>
            </a:pPr>
            <a:endParaRPr lang="fr-FR" dirty="0" smtClean="0">
              <a:latin typeface="Maiandra GD" pitchFamily="34" charset="0"/>
            </a:endParaRPr>
          </a:p>
          <a:p>
            <a:pPr marL="0" indent="0" algn="just">
              <a:buNone/>
            </a:pPr>
            <a:r>
              <a:rPr lang="fr-FR" dirty="0" smtClean="0">
                <a:latin typeface="Maiandra GD" pitchFamily="34" charset="0"/>
              </a:rPr>
              <a:t>3</a:t>
            </a:r>
            <a:r>
              <a:rPr lang="fr-FR" dirty="0">
                <a:latin typeface="Maiandra GD" pitchFamily="34" charset="0"/>
              </a:rPr>
              <a:t>. Mise en page du site : nous passerons aux choses sérieuses en nous </a:t>
            </a:r>
            <a:r>
              <a:rPr lang="fr-FR" dirty="0" smtClean="0">
                <a:latin typeface="Maiandra GD" pitchFamily="34" charset="0"/>
              </a:rPr>
              <a:t>intéressant à </a:t>
            </a:r>
            <a:r>
              <a:rPr lang="fr-FR" dirty="0">
                <a:latin typeface="Maiandra GD" pitchFamily="34" charset="0"/>
              </a:rPr>
              <a:t>la mise en page de notre site. Dimensions, marges, positionnement au </a:t>
            </a:r>
            <a:r>
              <a:rPr lang="fr-FR" dirty="0" smtClean="0">
                <a:latin typeface="Maiandra GD" pitchFamily="34" charset="0"/>
              </a:rPr>
              <a:t>pixel près </a:t>
            </a:r>
            <a:r>
              <a:rPr lang="fr-FR" dirty="0">
                <a:latin typeface="Maiandra GD" pitchFamily="34" charset="0"/>
              </a:rPr>
              <a:t>: </a:t>
            </a:r>
            <a:r>
              <a:rPr lang="fr-FR" dirty="0" smtClean="0">
                <a:latin typeface="Maiandra GD" pitchFamily="34" charset="0"/>
              </a:rPr>
              <a:t>nous découvrirons </a:t>
            </a:r>
            <a:r>
              <a:rPr lang="fr-FR" dirty="0">
                <a:latin typeface="Maiandra GD" pitchFamily="34" charset="0"/>
              </a:rPr>
              <a:t>tout ce qu'il faut savoir. Nous terminerons cette </a:t>
            </a:r>
            <a:r>
              <a:rPr lang="fr-FR" dirty="0" smtClean="0">
                <a:latin typeface="Maiandra GD" pitchFamily="34" charset="0"/>
              </a:rPr>
              <a:t>partie en </a:t>
            </a:r>
            <a:r>
              <a:rPr lang="fr-FR" dirty="0">
                <a:latin typeface="Maiandra GD" pitchFamily="34" charset="0"/>
              </a:rPr>
              <a:t>apothéose avec la réalisation de A à Z de notre premier site web complet. </a:t>
            </a:r>
            <a:r>
              <a:rPr lang="fr-FR" dirty="0" smtClean="0">
                <a:latin typeface="Maiandra GD" pitchFamily="34" charset="0"/>
              </a:rPr>
              <a:t>Vous allez </a:t>
            </a:r>
            <a:r>
              <a:rPr lang="fr-FR" dirty="0">
                <a:latin typeface="Maiandra GD" pitchFamily="34" charset="0"/>
              </a:rPr>
              <a:t>être </a:t>
            </a:r>
            <a:r>
              <a:rPr lang="fr-FR" dirty="0" smtClean="0">
                <a:latin typeface="Maiandra GD" pitchFamily="34" charset="0"/>
              </a:rPr>
              <a:t>bluffés </a:t>
            </a:r>
            <a:r>
              <a:rPr lang="fr-FR" dirty="0">
                <a:latin typeface="Maiandra GD" pitchFamily="34" charset="0"/>
              </a:rPr>
              <a:t>par ce que vous êtes capables de faire !</a:t>
            </a:r>
          </a:p>
        </p:txBody>
      </p:sp>
    </p:spTree>
    <p:extLst>
      <p:ext uri="{BB962C8B-B14F-4D97-AF65-F5344CB8AC3E}">
        <p14:creationId xmlns:p14="http://schemas.microsoft.com/office/powerpoint/2010/main" val="5256449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404664"/>
            <a:ext cx="8229600" cy="5721499"/>
          </a:xfrm>
        </p:spPr>
        <p:txBody>
          <a:bodyPr/>
          <a:lstStyle/>
          <a:p>
            <a:pPr marL="0" indent="0" algn="just">
              <a:buNone/>
            </a:pPr>
            <a:r>
              <a:rPr lang="fr-FR" dirty="0">
                <a:latin typeface="Maiandra GD" pitchFamily="34" charset="0"/>
              </a:rPr>
              <a:t>4. Fonctionnalités évoluées : nous irons encore plus loin en découvrant des </a:t>
            </a:r>
            <a:r>
              <a:rPr lang="fr-FR" dirty="0" smtClean="0">
                <a:latin typeface="Maiandra GD" pitchFamily="34" charset="0"/>
              </a:rPr>
              <a:t>fonctionnalités </a:t>
            </a:r>
            <a:r>
              <a:rPr lang="fr-FR" dirty="0">
                <a:latin typeface="Maiandra GD" pitchFamily="34" charset="0"/>
              </a:rPr>
              <a:t>plus complexes de HTML et CSS. Nous passerons notamment en </a:t>
            </a:r>
            <a:r>
              <a:rPr lang="fr-FR" dirty="0" smtClean="0">
                <a:latin typeface="Maiandra GD" pitchFamily="34" charset="0"/>
              </a:rPr>
              <a:t>revue les </a:t>
            </a:r>
            <a:r>
              <a:rPr lang="fr-FR" dirty="0">
                <a:latin typeface="Maiandra GD" pitchFamily="34" charset="0"/>
              </a:rPr>
              <a:t>tableaux, </a:t>
            </a:r>
            <a:r>
              <a:rPr lang="fr-FR" dirty="0" smtClean="0">
                <a:latin typeface="Maiandra GD" pitchFamily="34" charset="0"/>
              </a:rPr>
              <a:t>les formulaires</a:t>
            </a:r>
            <a:r>
              <a:rPr lang="fr-FR" dirty="0">
                <a:latin typeface="Maiandra GD" pitchFamily="34" charset="0"/>
              </a:rPr>
              <a:t>, la gestion des vidéos. . . Et je vous ferai faire un </a:t>
            </a:r>
            <a:r>
              <a:rPr lang="fr-FR" dirty="0" smtClean="0">
                <a:latin typeface="Maiandra GD" pitchFamily="34" charset="0"/>
              </a:rPr>
              <a:t>petit tour </a:t>
            </a:r>
            <a:r>
              <a:rPr lang="fr-FR" dirty="0">
                <a:latin typeface="Maiandra GD" pitchFamily="34" charset="0"/>
              </a:rPr>
              <a:t>d'horizon de tout ce que vous pourrez encore découvrir pour satisfaire </a:t>
            </a:r>
            <a:r>
              <a:rPr lang="fr-FR" dirty="0" smtClean="0">
                <a:latin typeface="Maiandra GD" pitchFamily="34" charset="0"/>
              </a:rPr>
              <a:t>votre soif </a:t>
            </a:r>
            <a:r>
              <a:rPr lang="fr-FR" dirty="0">
                <a:latin typeface="Maiandra GD" pitchFamily="34" charset="0"/>
              </a:rPr>
              <a:t>de connaissances !</a:t>
            </a:r>
          </a:p>
        </p:txBody>
      </p:sp>
    </p:spTree>
    <p:extLst>
      <p:ext uri="{BB962C8B-B14F-4D97-AF65-F5344CB8AC3E}">
        <p14:creationId xmlns:p14="http://schemas.microsoft.com/office/powerpoint/2010/main" val="3540950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548680"/>
            <a:ext cx="8229600" cy="5577483"/>
          </a:xfrm>
        </p:spPr>
        <p:txBody>
          <a:bodyPr/>
          <a:lstStyle/>
          <a:p>
            <a:pPr marL="0" indent="0" algn="just">
              <a:buNone/>
            </a:pPr>
            <a:endParaRPr lang="fr-FR" dirty="0" smtClean="0">
              <a:latin typeface="Maiandra GD" pitchFamily="34" charset="0"/>
            </a:endParaRPr>
          </a:p>
          <a:p>
            <a:pPr marL="0" indent="0" algn="just">
              <a:buNone/>
            </a:pPr>
            <a:r>
              <a:rPr lang="fr-FR" dirty="0" smtClean="0">
                <a:latin typeface="Maiandra GD" pitchFamily="34" charset="0"/>
              </a:rPr>
              <a:t>À </a:t>
            </a:r>
            <a:r>
              <a:rPr lang="fr-FR" dirty="0">
                <a:latin typeface="Maiandra GD" pitchFamily="34" charset="0"/>
              </a:rPr>
              <a:t>la </a:t>
            </a:r>
            <a:r>
              <a:rPr lang="fr-FR" dirty="0" smtClean="0">
                <a:latin typeface="Maiandra GD" pitchFamily="34" charset="0"/>
              </a:rPr>
              <a:t>fin </a:t>
            </a:r>
            <a:r>
              <a:rPr lang="fr-FR" dirty="0">
                <a:latin typeface="Maiandra GD" pitchFamily="34" charset="0"/>
              </a:rPr>
              <a:t>de </a:t>
            </a:r>
            <a:r>
              <a:rPr lang="fr-FR" dirty="0" smtClean="0">
                <a:latin typeface="Maiandra GD" pitchFamily="34" charset="0"/>
              </a:rPr>
              <a:t>cette formation, </a:t>
            </a:r>
            <a:r>
              <a:rPr lang="fr-FR" dirty="0">
                <a:latin typeface="Maiandra GD" pitchFamily="34" charset="0"/>
              </a:rPr>
              <a:t>plusieurs annexes vous attendent pour compléter ce que </a:t>
            </a:r>
            <a:r>
              <a:rPr lang="fr-FR" dirty="0" smtClean="0">
                <a:latin typeface="Maiandra GD" pitchFamily="34" charset="0"/>
              </a:rPr>
              <a:t>vous avez </a:t>
            </a:r>
            <a:r>
              <a:rPr lang="fr-FR" dirty="0">
                <a:latin typeface="Maiandra GD" pitchFamily="34" charset="0"/>
              </a:rPr>
              <a:t>appris : vous verrez notamment comment procéder pour envoyer votre site sur </a:t>
            </a:r>
            <a:r>
              <a:rPr lang="fr-FR" dirty="0" smtClean="0">
                <a:latin typeface="Maiandra GD" pitchFamily="34" charset="0"/>
              </a:rPr>
              <a:t>le Web </a:t>
            </a:r>
            <a:r>
              <a:rPr lang="fr-FR" dirty="0">
                <a:latin typeface="Maiandra GD" pitchFamily="34" charset="0"/>
              </a:rPr>
              <a:t>!</a:t>
            </a:r>
          </a:p>
        </p:txBody>
      </p:sp>
    </p:spTree>
    <p:extLst>
      <p:ext uri="{BB962C8B-B14F-4D97-AF65-F5344CB8AC3E}">
        <p14:creationId xmlns:p14="http://schemas.microsoft.com/office/powerpoint/2010/main" val="381491429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395536" y="1772816"/>
            <a:ext cx="7772400" cy="1470025"/>
          </a:xfrm>
        </p:spPr>
        <p:txBody>
          <a:bodyPr>
            <a:normAutofit/>
          </a:bodyPr>
          <a:lstStyle/>
          <a:p>
            <a:r>
              <a:rPr lang="fr-FR" sz="8000" dirty="0" smtClean="0">
                <a:effectLst>
                  <a:outerShdw blurRad="38100" dist="38100" dir="2700000" algn="tl">
                    <a:srgbClr val="000000">
                      <a:alpha val="43137"/>
                    </a:srgbClr>
                  </a:outerShdw>
                </a:effectLst>
                <a:latin typeface="Maiandra GD" pitchFamily="34" charset="0"/>
              </a:rPr>
              <a:t>web</a:t>
            </a:r>
            <a:endParaRPr lang="fr-FR" sz="8000" dirty="0">
              <a:effectLst>
                <a:outerShdw blurRad="38100" dist="38100" dir="2700000" algn="tl">
                  <a:srgbClr val="000000">
                    <a:alpha val="43137"/>
                  </a:srgbClr>
                </a:outerShdw>
              </a:effectLst>
              <a:latin typeface="Maiandra GD" pitchFamily="34" charset="0"/>
            </a:endParaRPr>
          </a:p>
        </p:txBody>
      </p:sp>
      <p:sp>
        <p:nvSpPr>
          <p:cNvPr id="3" name="Sous-titre 2"/>
          <p:cNvSpPr>
            <a:spLocks noGrp="1"/>
          </p:cNvSpPr>
          <p:nvPr>
            <p:ph type="subTitle" idx="1"/>
          </p:nvPr>
        </p:nvSpPr>
        <p:spPr>
          <a:xfrm>
            <a:off x="755576" y="3068960"/>
            <a:ext cx="7232848" cy="1752600"/>
          </a:xfrm>
        </p:spPr>
        <p:txBody>
          <a:bodyPr>
            <a:noAutofit/>
          </a:bodyPr>
          <a:lstStyle/>
          <a:p>
            <a:endParaRPr lang="fr-FR" sz="3600" dirty="0" smtClean="0"/>
          </a:p>
          <a:p>
            <a:r>
              <a:rPr lang="fr-FR" sz="4400" dirty="0" smtClean="0">
                <a:solidFill>
                  <a:schemeClr val="tx1"/>
                </a:solidFill>
                <a:effectLst>
                  <a:outerShdw blurRad="38100" dist="38100" dir="2700000" algn="tl">
                    <a:srgbClr val="000000">
                      <a:alpha val="43137"/>
                    </a:srgbClr>
                  </a:outerShdw>
                </a:effectLst>
                <a:latin typeface="Maiandra GD" pitchFamily="34" charset="0"/>
              </a:rPr>
              <a:t>comment </a:t>
            </a:r>
            <a:r>
              <a:rPr lang="fr-FR" sz="4400" dirty="0">
                <a:solidFill>
                  <a:schemeClr val="tx1"/>
                </a:solidFill>
                <a:effectLst>
                  <a:outerShdw blurRad="38100" dist="38100" dir="2700000" algn="tl">
                    <a:srgbClr val="000000">
                      <a:alpha val="43137"/>
                    </a:srgbClr>
                  </a:outerShdw>
                </a:effectLst>
                <a:latin typeface="Maiandra GD" pitchFamily="34" charset="0"/>
              </a:rPr>
              <a:t>fonctionnent les sites web ?</a:t>
            </a:r>
          </a:p>
        </p:txBody>
      </p:sp>
    </p:spTree>
    <p:extLst>
      <p:ext uri="{BB962C8B-B14F-4D97-AF65-F5344CB8AC3E}">
        <p14:creationId xmlns:p14="http://schemas.microsoft.com/office/powerpoint/2010/main" val="74171627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effectLst>
                  <a:outerShdw blurRad="38100" dist="38100" dir="2700000" algn="tl">
                    <a:srgbClr val="000000">
                      <a:alpha val="43137"/>
                    </a:srgbClr>
                  </a:outerShdw>
                </a:effectLst>
                <a:latin typeface="Maiandra GD" pitchFamily="34" charset="0"/>
              </a:rPr>
              <a:t>Le fonctionnement des sites web</a:t>
            </a:r>
          </a:p>
        </p:txBody>
      </p:sp>
      <p:sp>
        <p:nvSpPr>
          <p:cNvPr id="3" name="Espace réservé du contenu 2"/>
          <p:cNvSpPr>
            <a:spLocks noGrp="1"/>
          </p:cNvSpPr>
          <p:nvPr>
            <p:ph idx="1"/>
          </p:nvPr>
        </p:nvSpPr>
        <p:spPr/>
        <p:txBody>
          <a:bodyPr/>
          <a:lstStyle/>
          <a:p>
            <a:pPr marL="0" indent="0" algn="ctr">
              <a:buNone/>
            </a:pPr>
            <a:r>
              <a:rPr lang="fr-FR" dirty="0" smtClean="0"/>
              <a:t>       </a:t>
            </a:r>
            <a:r>
              <a:rPr lang="fr-FR" dirty="0" smtClean="0">
                <a:effectLst>
                  <a:outerShdw blurRad="38100" dist="38100" dir="2700000" algn="tl">
                    <a:srgbClr val="000000">
                      <a:alpha val="43137"/>
                    </a:srgbClr>
                  </a:outerShdw>
                </a:effectLst>
                <a:latin typeface="Maiandra GD" pitchFamily="34" charset="0"/>
              </a:rPr>
              <a:t>Comment </a:t>
            </a:r>
            <a:r>
              <a:rPr lang="fr-FR" dirty="0">
                <a:effectLst>
                  <a:outerShdw blurRad="38100" dist="38100" dir="2700000" algn="tl">
                    <a:srgbClr val="000000">
                      <a:alpha val="43137"/>
                    </a:srgbClr>
                  </a:outerShdw>
                </a:effectLst>
                <a:latin typeface="Maiandra GD" pitchFamily="34" charset="0"/>
              </a:rPr>
              <a:t>fonctionnent les sites web </a:t>
            </a:r>
            <a:r>
              <a:rPr lang="fr-FR" dirty="0" smtClean="0">
                <a:effectLst>
                  <a:outerShdw blurRad="38100" dist="38100" dir="2700000" algn="tl">
                    <a:srgbClr val="000000">
                      <a:alpha val="43137"/>
                    </a:srgbClr>
                  </a:outerShdw>
                </a:effectLst>
                <a:latin typeface="Maiandra GD" pitchFamily="34" charset="0"/>
              </a:rPr>
              <a:t>?</a:t>
            </a:r>
          </a:p>
          <a:p>
            <a:pPr marL="0" indent="0" algn="just">
              <a:buNone/>
            </a:pPr>
            <a:endParaRPr lang="fr-FR" sz="1800" dirty="0" smtClean="0">
              <a:latin typeface="Maiandra GD" pitchFamily="34" charset="0"/>
            </a:endParaRPr>
          </a:p>
          <a:p>
            <a:pPr marL="0" indent="0" algn="just">
              <a:buNone/>
            </a:pPr>
            <a:r>
              <a:rPr lang="fr-FR" dirty="0" smtClean="0">
                <a:latin typeface="Maiandra GD" pitchFamily="34" charset="0"/>
              </a:rPr>
              <a:t>Je </a:t>
            </a:r>
            <a:r>
              <a:rPr lang="fr-FR" dirty="0">
                <a:latin typeface="Maiandra GD" pitchFamily="34" charset="0"/>
              </a:rPr>
              <a:t>suis certain que vous consultez des sites web tous les jours. </a:t>
            </a:r>
            <a:r>
              <a:rPr lang="fr-FR" dirty="0" smtClean="0">
                <a:latin typeface="Maiandra GD" pitchFamily="34" charset="0"/>
              </a:rPr>
              <a:t> Pour </a:t>
            </a:r>
            <a:r>
              <a:rPr lang="fr-FR" dirty="0">
                <a:latin typeface="Maiandra GD" pitchFamily="34" charset="0"/>
              </a:rPr>
              <a:t>cela, vous </a:t>
            </a:r>
            <a:r>
              <a:rPr lang="fr-FR" dirty="0" smtClean="0">
                <a:latin typeface="Maiandra GD" pitchFamily="34" charset="0"/>
              </a:rPr>
              <a:t>lancez</a:t>
            </a:r>
          </a:p>
          <a:p>
            <a:pPr marL="0" indent="0" algn="just">
              <a:buNone/>
            </a:pPr>
            <a:r>
              <a:rPr lang="fr-FR" dirty="0" smtClean="0">
                <a:latin typeface="Maiandra GD" pitchFamily="34" charset="0"/>
              </a:rPr>
              <a:t>un </a:t>
            </a:r>
            <a:r>
              <a:rPr lang="fr-FR" dirty="0">
                <a:latin typeface="Maiandra GD" pitchFamily="34" charset="0"/>
              </a:rPr>
              <a:t>programme appelé le navigateur web en cliquant sur l'une des icônes </a:t>
            </a:r>
            <a:r>
              <a:rPr lang="fr-FR" dirty="0" smtClean="0">
                <a:latin typeface="Maiandra GD" pitchFamily="34" charset="0"/>
              </a:rPr>
              <a:t>représentées.</a:t>
            </a:r>
            <a:endParaRPr lang="fr-FR" dirty="0">
              <a:latin typeface="Maiandra GD" pitchFamily="34" charset="0"/>
            </a:endParaRPr>
          </a:p>
          <a:p>
            <a:endParaRPr lang="fr-FR" dirty="0"/>
          </a:p>
          <a:p>
            <a:pPr marL="0" indent="0">
              <a:buNone/>
            </a:pPr>
            <a:endParaRPr lang="fr-FR" dirty="0" smtClean="0">
              <a:effectLst>
                <a:outerShdw blurRad="38100" dist="38100" dir="2700000" algn="tl">
                  <a:srgbClr val="000000">
                    <a:alpha val="43137"/>
                  </a:srgbClr>
                </a:outerShdw>
              </a:effectLst>
              <a:latin typeface="Maiandra GD" pitchFamily="34"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1556792"/>
            <a:ext cx="806202" cy="604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7704" y="4725144"/>
            <a:ext cx="5472608" cy="1584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907704" y="6300028"/>
            <a:ext cx="5753075" cy="400110"/>
          </a:xfrm>
          <a:prstGeom prst="rect">
            <a:avLst/>
          </a:prstGeom>
        </p:spPr>
        <p:txBody>
          <a:bodyPr wrap="square">
            <a:spAutoFit/>
          </a:bodyPr>
          <a:lstStyle/>
          <a:p>
            <a:r>
              <a:rPr lang="fr-FR" sz="2000" dirty="0">
                <a:effectLst>
                  <a:outerShdw blurRad="38100" dist="38100" dir="2700000" algn="tl">
                    <a:srgbClr val="000000">
                      <a:alpha val="43137"/>
                    </a:srgbClr>
                  </a:outerShdw>
                </a:effectLst>
                <a:latin typeface="Maiandra GD" pitchFamily="34" charset="0"/>
              </a:rPr>
              <a:t>Les icônes des navigateurs web les plus répandus</a:t>
            </a:r>
          </a:p>
        </p:txBody>
      </p:sp>
    </p:spTree>
    <p:extLst>
      <p:ext uri="{BB962C8B-B14F-4D97-AF65-F5344CB8AC3E}">
        <p14:creationId xmlns:p14="http://schemas.microsoft.com/office/powerpoint/2010/main" val="164789711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9512" y="260648"/>
            <a:ext cx="8712968" cy="6336704"/>
          </a:xfrm>
        </p:spPr>
        <p:txBody>
          <a:bodyPr/>
          <a:lstStyle/>
          <a:p>
            <a:pPr marL="0" indent="0" algn="just">
              <a:buNone/>
            </a:pPr>
            <a:r>
              <a:rPr lang="fr-FR" dirty="0">
                <a:latin typeface="Maiandra GD" pitchFamily="34" charset="0"/>
              </a:rPr>
              <a:t>Avec le navigateur, vous pouvez consulter n'importe quel site web. Voici par </a:t>
            </a:r>
            <a:r>
              <a:rPr lang="fr-FR" dirty="0" smtClean="0">
                <a:latin typeface="Maiandra GD" pitchFamily="34" charset="0"/>
              </a:rPr>
              <a:t>exemple un </a:t>
            </a:r>
            <a:r>
              <a:rPr lang="fr-FR" dirty="0">
                <a:latin typeface="Maiandra GD" pitchFamily="34" charset="0"/>
              </a:rPr>
              <a:t>navigateur </a:t>
            </a:r>
            <a:r>
              <a:rPr lang="fr-FR" dirty="0" smtClean="0">
                <a:latin typeface="Maiandra GD" pitchFamily="34" charset="0"/>
              </a:rPr>
              <a:t>affichant </a:t>
            </a:r>
            <a:r>
              <a:rPr lang="fr-FR" dirty="0">
                <a:latin typeface="Maiandra GD" pitchFamily="34" charset="0"/>
              </a:rPr>
              <a:t>le célèbre site web </a:t>
            </a:r>
            <a:r>
              <a:rPr lang="fr-FR" dirty="0" smtClean="0">
                <a:latin typeface="Maiandra GD" pitchFamily="34" charset="0"/>
              </a:rPr>
              <a:t>Wikipédia.</a:t>
            </a:r>
            <a:endParaRPr lang="fr-FR" dirty="0">
              <a:latin typeface="Maiandra GD" pitchFamily="34" charset="0"/>
            </a:endParaRPr>
          </a:p>
        </p:txBody>
      </p:sp>
    </p:spTree>
    <p:extLst>
      <p:ext uri="{BB962C8B-B14F-4D97-AF65-F5344CB8AC3E}">
        <p14:creationId xmlns:p14="http://schemas.microsoft.com/office/powerpoint/2010/main" val="415334433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332656"/>
            <a:ext cx="8568952" cy="5904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3419872" y="6372036"/>
            <a:ext cx="2520280" cy="369332"/>
          </a:xfrm>
          <a:prstGeom prst="rect">
            <a:avLst/>
          </a:prstGeom>
        </p:spPr>
        <p:txBody>
          <a:bodyPr wrap="square">
            <a:spAutoFit/>
          </a:bodyPr>
          <a:lstStyle/>
          <a:p>
            <a:r>
              <a:rPr lang="fr-FR" dirty="0">
                <a:effectLst>
                  <a:outerShdw blurRad="38100" dist="38100" dir="2700000" algn="tl">
                    <a:srgbClr val="000000">
                      <a:alpha val="43137"/>
                    </a:srgbClr>
                  </a:outerShdw>
                </a:effectLst>
                <a:latin typeface="Maiandra GD" pitchFamily="34" charset="0"/>
              </a:rPr>
              <a:t>Le site web Wikipédia</a:t>
            </a:r>
          </a:p>
        </p:txBody>
      </p:sp>
    </p:spTree>
    <p:extLst>
      <p:ext uri="{BB962C8B-B14F-4D97-AF65-F5344CB8AC3E}">
        <p14:creationId xmlns:p14="http://schemas.microsoft.com/office/powerpoint/2010/main" val="124972046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404664"/>
            <a:ext cx="8640960" cy="6120680"/>
          </a:xfrm>
        </p:spPr>
        <p:txBody>
          <a:bodyPr/>
          <a:lstStyle/>
          <a:p>
            <a:pPr marL="0" indent="0">
              <a:buNone/>
            </a:pPr>
            <a:r>
              <a:rPr lang="fr-FR" dirty="0">
                <a:latin typeface="Maiandra GD" pitchFamily="34" charset="0"/>
              </a:rPr>
              <a:t>Je suis sûr que vous avez l'habitude d'utiliser un navigateur web ! Aujourd'hui, </a:t>
            </a:r>
            <a:r>
              <a:rPr lang="fr-FR" dirty="0" smtClean="0">
                <a:latin typeface="Maiandra GD" pitchFamily="34" charset="0"/>
              </a:rPr>
              <a:t>tout le </a:t>
            </a:r>
            <a:r>
              <a:rPr lang="fr-FR" dirty="0">
                <a:latin typeface="Maiandra GD" pitchFamily="34" charset="0"/>
              </a:rPr>
              <a:t>monde sait aller sur le Web. . . mais qui sait vraiment comment le Web fonctionne </a:t>
            </a:r>
            <a:r>
              <a:rPr lang="fr-FR" dirty="0" smtClean="0">
                <a:latin typeface="Maiandra GD" pitchFamily="34" charset="0"/>
              </a:rPr>
              <a:t>?</a:t>
            </a:r>
          </a:p>
          <a:p>
            <a:pPr marL="0" indent="0">
              <a:buNone/>
            </a:pPr>
            <a:endParaRPr lang="fr-FR" dirty="0">
              <a:latin typeface="Maiandra GD" pitchFamily="34" charset="0"/>
            </a:endParaRPr>
          </a:p>
          <a:p>
            <a:pPr marL="0" indent="0">
              <a:buNone/>
            </a:pPr>
            <a:r>
              <a:rPr lang="fr-FR" dirty="0">
                <a:latin typeface="Maiandra GD" pitchFamily="34" charset="0"/>
              </a:rPr>
              <a:t>Comment créer des sites web comme celui-ci ?</a:t>
            </a:r>
          </a:p>
        </p:txBody>
      </p:sp>
    </p:spTree>
    <p:extLst>
      <p:ext uri="{BB962C8B-B14F-4D97-AF65-F5344CB8AC3E}">
        <p14:creationId xmlns:p14="http://schemas.microsoft.com/office/powerpoint/2010/main" val="146208940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9512" y="476672"/>
            <a:ext cx="8507288" cy="5976664"/>
          </a:xfrm>
        </p:spPr>
        <p:txBody>
          <a:bodyPr>
            <a:normAutofit/>
          </a:bodyPr>
          <a:lstStyle/>
          <a:p>
            <a:pPr marL="0" indent="0" algn="just">
              <a:buNone/>
            </a:pPr>
            <a:r>
              <a:rPr lang="fr-FR" dirty="0" smtClean="0">
                <a:latin typeface="Maiandra GD" pitchFamily="34" charset="0"/>
              </a:rPr>
              <a:t>      J‘ai </a:t>
            </a:r>
            <a:r>
              <a:rPr lang="fr-FR" dirty="0">
                <a:latin typeface="Maiandra GD" pitchFamily="34" charset="0"/>
              </a:rPr>
              <a:t>entendu parler de HTML, de CSS, est-ce que cela a un rapport avec </a:t>
            </a:r>
            <a:r>
              <a:rPr lang="fr-FR" dirty="0" smtClean="0">
                <a:latin typeface="Maiandra GD" pitchFamily="34" charset="0"/>
              </a:rPr>
              <a:t>le fonctionnement </a:t>
            </a:r>
            <a:r>
              <a:rPr lang="fr-FR" dirty="0">
                <a:latin typeface="Maiandra GD" pitchFamily="34" charset="0"/>
              </a:rPr>
              <a:t>des sites web </a:t>
            </a:r>
            <a:r>
              <a:rPr lang="fr-FR" dirty="0" smtClean="0">
                <a:latin typeface="Maiandra GD" pitchFamily="34" charset="0"/>
              </a:rPr>
              <a:t>?</a:t>
            </a:r>
          </a:p>
          <a:p>
            <a:pPr marL="0" indent="0" algn="just">
              <a:buNone/>
            </a:pPr>
            <a:endParaRPr lang="fr-FR" sz="1600" dirty="0" smtClean="0">
              <a:latin typeface="Maiandra GD" pitchFamily="34" charset="0"/>
            </a:endParaRPr>
          </a:p>
          <a:p>
            <a:pPr marL="0" indent="0" algn="just">
              <a:buNone/>
            </a:pPr>
            <a:r>
              <a:rPr lang="fr-FR" dirty="0">
                <a:latin typeface="Maiandra GD" pitchFamily="34" charset="0"/>
              </a:rPr>
              <a:t>Tout à fait ! Il s'agit de langages informatiques qui permettent de créer des </a:t>
            </a:r>
            <a:r>
              <a:rPr lang="fr-FR" dirty="0" smtClean="0">
                <a:latin typeface="Maiandra GD" pitchFamily="34" charset="0"/>
              </a:rPr>
              <a:t>sites web</a:t>
            </a:r>
            <a:r>
              <a:rPr lang="fr-FR" dirty="0">
                <a:latin typeface="Maiandra GD" pitchFamily="34" charset="0"/>
              </a:rPr>
              <a:t>. Tous les sites web sont basés sur ces langages, ils sont incontournables et </a:t>
            </a:r>
            <a:r>
              <a:rPr lang="fr-FR" dirty="0" smtClean="0">
                <a:latin typeface="Maiandra GD" pitchFamily="34" charset="0"/>
              </a:rPr>
              <a:t>universels aujourd'hui</a:t>
            </a:r>
            <a:r>
              <a:rPr lang="fr-FR" dirty="0">
                <a:latin typeface="Maiandra GD" pitchFamily="34" charset="0"/>
              </a:rPr>
              <a:t>. Ils sont à la base même du Web. Le langage HTML a été inventé par </a:t>
            </a:r>
            <a:r>
              <a:rPr lang="fr-FR" dirty="0" smtClean="0">
                <a:latin typeface="Maiandra GD" pitchFamily="34" charset="0"/>
              </a:rPr>
              <a:t>un certain </a:t>
            </a:r>
            <a:r>
              <a:rPr lang="fr-FR" dirty="0">
                <a:latin typeface="Maiandra GD" pitchFamily="34" charset="0"/>
              </a:rPr>
              <a:t>Tim Berners-Lee en 1991. . .</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433611"/>
            <a:ext cx="619125" cy="619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3017150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85192" y="332656"/>
            <a:ext cx="8507288" cy="5793507"/>
          </a:xfrm>
        </p:spPr>
        <p:txBody>
          <a:bodyPr/>
          <a:lstStyle/>
          <a:p>
            <a:pPr marL="0" indent="0" algn="just">
              <a:buNone/>
            </a:pPr>
            <a:endParaRPr lang="fr-FR" dirty="0" smtClean="0">
              <a:latin typeface="Maiandra GD" pitchFamily="34" charset="0"/>
            </a:endParaRPr>
          </a:p>
          <a:p>
            <a:pPr marL="0" indent="0" algn="just">
              <a:buNone/>
            </a:pPr>
            <a:r>
              <a:rPr lang="fr-FR" dirty="0" smtClean="0">
                <a:latin typeface="Maiandra GD" pitchFamily="34" charset="0"/>
              </a:rPr>
              <a:t>Tim </a:t>
            </a:r>
            <a:r>
              <a:rPr lang="fr-FR" dirty="0">
                <a:latin typeface="Maiandra GD" pitchFamily="34" charset="0"/>
              </a:rPr>
              <a:t>Berners-Lee suit encore aujourd'hui avec attention l'évolution du Web. Il a </a:t>
            </a:r>
            <a:r>
              <a:rPr lang="fr-FR" dirty="0" smtClean="0">
                <a:latin typeface="Maiandra GD" pitchFamily="34" charset="0"/>
              </a:rPr>
              <a:t>créé le </a:t>
            </a:r>
            <a:r>
              <a:rPr lang="fr-FR" dirty="0">
                <a:latin typeface="Maiandra GD" pitchFamily="34" charset="0"/>
              </a:rPr>
              <a:t>World Wide Web Consortium (W3C) qui dénit les nouvelles versions des </a:t>
            </a:r>
            <a:r>
              <a:rPr lang="fr-FR" dirty="0" smtClean="0">
                <a:latin typeface="Maiandra GD" pitchFamily="34" charset="0"/>
              </a:rPr>
              <a:t>langages liés </a:t>
            </a:r>
            <a:r>
              <a:rPr lang="fr-FR" dirty="0">
                <a:latin typeface="Maiandra GD" pitchFamily="34" charset="0"/>
              </a:rPr>
              <a:t>au Web. Il a par ailleurs créé plus récemment la World Wide Web </a:t>
            </a:r>
            <a:r>
              <a:rPr lang="fr-FR" dirty="0" smtClean="0">
                <a:latin typeface="Maiandra GD" pitchFamily="34" charset="0"/>
              </a:rPr>
              <a:t>Foundation qui analyse </a:t>
            </a:r>
            <a:r>
              <a:rPr lang="fr-FR" dirty="0">
                <a:latin typeface="Maiandra GD" pitchFamily="34" charset="0"/>
              </a:rPr>
              <a:t>et suit l'évolution du Web.</a:t>
            </a:r>
          </a:p>
          <a:p>
            <a:pPr marL="0" indent="0" algn="just">
              <a:buNone/>
            </a:pPr>
            <a:endParaRPr lang="fr-FR" dirty="0">
              <a:latin typeface="Maiandra GD" pitchFamily="34" charset="0"/>
            </a:endParaRPr>
          </a:p>
        </p:txBody>
      </p:sp>
    </p:spTree>
    <p:extLst>
      <p:ext uri="{BB962C8B-B14F-4D97-AF65-F5344CB8AC3E}">
        <p14:creationId xmlns:p14="http://schemas.microsoft.com/office/powerpoint/2010/main" val="129388433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548680"/>
            <a:ext cx="8229600" cy="5577483"/>
          </a:xfrm>
        </p:spPr>
        <p:txBody>
          <a:bodyPr/>
          <a:lstStyle/>
          <a:p>
            <a:pPr marL="0" indent="0" algn="just">
              <a:buNone/>
            </a:pPr>
            <a:r>
              <a:rPr lang="fr-FR" dirty="0">
                <a:latin typeface="Maiandra GD" pitchFamily="34" charset="0"/>
              </a:rPr>
              <a:t>De nombreuses personnes confondent (à tort) Internet et le Web. Il </a:t>
            </a:r>
            <a:r>
              <a:rPr lang="fr-FR" dirty="0" smtClean="0">
                <a:latin typeface="Maiandra GD" pitchFamily="34" charset="0"/>
              </a:rPr>
              <a:t>faut savoir </a:t>
            </a:r>
            <a:r>
              <a:rPr lang="fr-FR" dirty="0">
                <a:latin typeface="Maiandra GD" pitchFamily="34" charset="0"/>
              </a:rPr>
              <a:t>que le Web fait partie d'Internet. Internet est un grand ensemble </a:t>
            </a:r>
            <a:r>
              <a:rPr lang="fr-FR" dirty="0" smtClean="0">
                <a:latin typeface="Maiandra GD" pitchFamily="34" charset="0"/>
              </a:rPr>
              <a:t>qui comprend</a:t>
            </a:r>
            <a:r>
              <a:rPr lang="fr-FR" dirty="0">
                <a:latin typeface="Maiandra GD" pitchFamily="34" charset="0"/>
              </a:rPr>
              <a:t>, entre autres : le Web, les e-mails, la messagerie instantanée, etc.</a:t>
            </a:r>
          </a:p>
          <a:p>
            <a:pPr marL="0" indent="0" algn="just">
              <a:buNone/>
            </a:pPr>
            <a:r>
              <a:rPr lang="fr-FR" dirty="0">
                <a:latin typeface="Maiandra GD" pitchFamily="34" charset="0"/>
              </a:rPr>
              <a:t>Tim Berners-Lee n'est donc pas l'inventeur d'Internet, c'est  seulement </a:t>
            </a:r>
            <a:r>
              <a:rPr lang="fr-FR" dirty="0" smtClean="0">
                <a:latin typeface="Maiandra GD" pitchFamily="34" charset="0"/>
              </a:rPr>
              <a:t>l'inventeur </a:t>
            </a:r>
            <a:r>
              <a:rPr lang="fr-FR" dirty="0">
                <a:latin typeface="Maiandra GD" pitchFamily="34" charset="0"/>
              </a:rPr>
              <a:t>du Web</a:t>
            </a:r>
            <a:r>
              <a:rPr lang="fr-FR" dirty="0" smtClean="0">
                <a:latin typeface="Maiandra GD" pitchFamily="34" charset="0"/>
              </a:rPr>
              <a:t>.   </a:t>
            </a:r>
            <a:endParaRPr lang="fr-FR" dirty="0">
              <a:latin typeface="Maiandra GD" pitchFamily="34" charset="0"/>
            </a:endParaRPr>
          </a:p>
        </p:txBody>
      </p:sp>
    </p:spTree>
    <p:extLst>
      <p:ext uri="{BB962C8B-B14F-4D97-AF65-F5344CB8AC3E}">
        <p14:creationId xmlns:p14="http://schemas.microsoft.com/office/powerpoint/2010/main" val="259950664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476672"/>
            <a:ext cx="8712968" cy="5649491"/>
          </a:xfrm>
        </p:spPr>
        <p:txBody>
          <a:bodyPr/>
          <a:lstStyle/>
          <a:p>
            <a:pPr marL="0" indent="0" algn="just">
              <a:buNone/>
            </a:pPr>
            <a:endParaRPr lang="fr-FR" dirty="0" smtClean="0">
              <a:latin typeface="Maiandra GD" pitchFamily="34" charset="0"/>
            </a:endParaRPr>
          </a:p>
          <a:p>
            <a:pPr marL="0" indent="0" algn="just">
              <a:buNone/>
            </a:pPr>
            <a:endParaRPr lang="fr-FR" dirty="0">
              <a:latin typeface="Maiandra GD" pitchFamily="34" charset="0"/>
            </a:endParaRPr>
          </a:p>
          <a:p>
            <a:pPr marL="0" indent="0" algn="just">
              <a:buNone/>
            </a:pPr>
            <a:r>
              <a:rPr lang="fr-FR" dirty="0" smtClean="0">
                <a:latin typeface="Maiandra GD" pitchFamily="34" charset="0"/>
              </a:rPr>
              <a:t>De </a:t>
            </a:r>
            <a:r>
              <a:rPr lang="fr-FR" dirty="0">
                <a:latin typeface="Maiandra GD" pitchFamily="34" charset="0"/>
              </a:rPr>
              <a:t>nombreuses personnes confondent (à tort) Internet et le Web. Il </a:t>
            </a:r>
            <a:r>
              <a:rPr lang="fr-FR" dirty="0" smtClean="0">
                <a:latin typeface="Maiandra GD" pitchFamily="34" charset="0"/>
              </a:rPr>
              <a:t>faut savoir </a:t>
            </a:r>
            <a:r>
              <a:rPr lang="fr-FR" dirty="0">
                <a:latin typeface="Maiandra GD" pitchFamily="34" charset="0"/>
              </a:rPr>
              <a:t>que le Web fait partie d'Internet. Internet est un grand ensemble </a:t>
            </a:r>
            <a:r>
              <a:rPr lang="fr-FR" dirty="0" smtClean="0">
                <a:latin typeface="Maiandra GD" pitchFamily="34" charset="0"/>
              </a:rPr>
              <a:t>qui comprend</a:t>
            </a:r>
            <a:r>
              <a:rPr lang="fr-FR" dirty="0">
                <a:latin typeface="Maiandra GD" pitchFamily="34" charset="0"/>
              </a:rPr>
              <a:t>, entre autres : le Web, les e-mails, la messagerie instantanée, etc.</a:t>
            </a:r>
          </a:p>
          <a:p>
            <a:pPr marL="0" indent="0" algn="just">
              <a:buNone/>
            </a:pPr>
            <a:r>
              <a:rPr lang="fr-FR" dirty="0">
                <a:latin typeface="Maiandra GD" pitchFamily="34" charset="0"/>
              </a:rPr>
              <a:t>Tim Berners-Lee n'est donc pas l'inventeur d'Internet, c'est  seulement </a:t>
            </a:r>
            <a:r>
              <a:rPr lang="fr-FR" dirty="0" smtClean="0">
                <a:latin typeface="Maiandra GD" pitchFamily="34" charset="0"/>
              </a:rPr>
              <a:t>l'inventeur </a:t>
            </a:r>
            <a:r>
              <a:rPr lang="fr-FR" dirty="0">
                <a:latin typeface="Maiandra GD" pitchFamily="34" charset="0"/>
              </a:rPr>
              <a:t>du Web.</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3928" y="404664"/>
            <a:ext cx="1368152" cy="1224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0625992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404664"/>
            <a:ext cx="8640960" cy="6048672"/>
          </a:xfrm>
        </p:spPr>
        <p:txBody>
          <a:bodyPr>
            <a:normAutofit/>
          </a:bodyPr>
          <a:lstStyle/>
          <a:p>
            <a:pPr marL="0" indent="0" algn="just">
              <a:buNone/>
            </a:pPr>
            <a:r>
              <a:rPr lang="fr-FR" dirty="0">
                <a:latin typeface="Maiandra GD" pitchFamily="34" charset="0"/>
              </a:rPr>
              <a:t>Les langages HTML et CSS sont à la base du fonctionnement de tous les sites web.</a:t>
            </a:r>
          </a:p>
          <a:p>
            <a:pPr marL="0" indent="0" algn="just">
              <a:buNone/>
            </a:pPr>
            <a:r>
              <a:rPr lang="fr-FR" dirty="0">
                <a:latin typeface="Maiandra GD" pitchFamily="34" charset="0"/>
              </a:rPr>
              <a:t>Quand vous consultez un site avec votre navigateur, il faut savoir que, en coulisses, </a:t>
            </a:r>
            <a:r>
              <a:rPr lang="fr-FR" dirty="0" smtClean="0">
                <a:latin typeface="Maiandra GD" pitchFamily="34" charset="0"/>
              </a:rPr>
              <a:t>des rouages </a:t>
            </a:r>
            <a:r>
              <a:rPr lang="fr-FR" dirty="0">
                <a:latin typeface="Maiandra GD" pitchFamily="34" charset="0"/>
              </a:rPr>
              <a:t>s'activent pour permettre au site web de </a:t>
            </a:r>
            <a:r>
              <a:rPr lang="fr-FR" dirty="0" smtClean="0">
                <a:latin typeface="Maiandra GD" pitchFamily="34" charset="0"/>
              </a:rPr>
              <a:t>s'afficher</a:t>
            </a:r>
            <a:r>
              <a:rPr lang="fr-FR" dirty="0">
                <a:latin typeface="Maiandra GD" pitchFamily="34" charset="0"/>
              </a:rPr>
              <a:t>. L'ordinateur se base </a:t>
            </a:r>
            <a:r>
              <a:rPr lang="fr-FR" dirty="0" smtClean="0">
                <a:latin typeface="Maiandra GD" pitchFamily="34" charset="0"/>
              </a:rPr>
              <a:t>sur ce </a:t>
            </a:r>
            <a:r>
              <a:rPr lang="fr-FR" dirty="0">
                <a:latin typeface="Maiandra GD" pitchFamily="34" charset="0"/>
              </a:rPr>
              <a:t>qu'on lui a expliqué en HTML et CSS pour savoir ce qu'il doit </a:t>
            </a:r>
            <a:r>
              <a:rPr lang="fr-FR" dirty="0" smtClean="0">
                <a:latin typeface="Maiandra GD" pitchFamily="34" charset="0"/>
              </a:rPr>
              <a:t>afficher</a:t>
            </a:r>
            <a:r>
              <a:rPr lang="fr-FR" dirty="0">
                <a:latin typeface="Maiandra GD" pitchFamily="34" charset="0"/>
              </a:rPr>
              <a:t>, comme </a:t>
            </a:r>
            <a:r>
              <a:rPr lang="fr-FR" dirty="0" smtClean="0">
                <a:latin typeface="Maiandra GD" pitchFamily="34" charset="0"/>
              </a:rPr>
              <a:t>le montre </a:t>
            </a:r>
            <a:r>
              <a:rPr lang="fr-FR" dirty="0">
                <a:latin typeface="Maiandra GD" pitchFamily="34" charset="0"/>
              </a:rPr>
              <a:t>la </a:t>
            </a:r>
            <a:r>
              <a:rPr lang="fr-FR" dirty="0" smtClean="0">
                <a:latin typeface="Maiandra GD" pitchFamily="34" charset="0"/>
              </a:rPr>
              <a:t>figure ci-dessous.</a:t>
            </a:r>
            <a:endParaRPr lang="fr-FR" dirty="0">
              <a:latin typeface="Maiandra GD" pitchFamily="34" charset="0"/>
            </a:endParaRPr>
          </a:p>
        </p:txBody>
      </p:sp>
    </p:spTree>
    <p:extLst>
      <p:ext uri="{BB962C8B-B14F-4D97-AF65-F5344CB8AC3E}">
        <p14:creationId xmlns:p14="http://schemas.microsoft.com/office/powerpoint/2010/main" val="15707057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295275"/>
            <a:ext cx="8640960" cy="626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2806560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ce réservé du contenu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0040" y="-27384"/>
            <a:ext cx="8460432" cy="6624736"/>
          </a:xfrm>
        </p:spPr>
      </p:pic>
      <p:sp>
        <p:nvSpPr>
          <p:cNvPr id="5" name="Rectangle 4"/>
          <p:cNvSpPr/>
          <p:nvPr/>
        </p:nvSpPr>
        <p:spPr>
          <a:xfrm>
            <a:off x="4464496" y="6250086"/>
            <a:ext cx="4572000" cy="923330"/>
          </a:xfrm>
          <a:prstGeom prst="rect">
            <a:avLst/>
          </a:prstGeom>
        </p:spPr>
        <p:txBody>
          <a:bodyPr>
            <a:spAutoFit/>
          </a:bodyPr>
          <a:lstStyle/>
          <a:p>
            <a:endParaRPr lang="fr-FR" dirty="0" smtClean="0">
              <a:effectLst>
                <a:outerShdw blurRad="38100" dist="38100" dir="2700000" algn="tl">
                  <a:srgbClr val="000000">
                    <a:alpha val="43137"/>
                  </a:srgbClr>
                </a:outerShdw>
              </a:effectLst>
              <a:latin typeface="Maiandra GD" pitchFamily="34" charset="0"/>
            </a:endParaRPr>
          </a:p>
          <a:p>
            <a:r>
              <a:rPr lang="fr-FR" dirty="0" smtClean="0">
                <a:effectLst>
                  <a:outerShdw blurRad="38100" dist="38100" dir="2700000" algn="tl">
                    <a:srgbClr val="000000">
                      <a:alpha val="43137"/>
                    </a:srgbClr>
                  </a:outerShdw>
                </a:effectLst>
                <a:latin typeface="Maiandra GD" pitchFamily="34" charset="0"/>
              </a:rPr>
              <a:t>Du </a:t>
            </a:r>
            <a:r>
              <a:rPr lang="fr-FR" dirty="0">
                <a:effectLst>
                  <a:outerShdw blurRad="38100" dist="38100" dir="2700000" algn="tl">
                    <a:srgbClr val="000000">
                      <a:alpha val="43137"/>
                    </a:srgbClr>
                  </a:outerShdw>
                </a:effectLst>
                <a:latin typeface="Maiandra GD" pitchFamily="34" charset="0"/>
              </a:rPr>
              <a:t>HTML à l'écran</a:t>
            </a:r>
          </a:p>
          <a:p>
            <a:endParaRPr lang="fr-FR" dirty="0"/>
          </a:p>
        </p:txBody>
      </p:sp>
    </p:spTree>
    <p:extLst>
      <p:ext uri="{BB962C8B-B14F-4D97-AF65-F5344CB8AC3E}">
        <p14:creationId xmlns:p14="http://schemas.microsoft.com/office/powerpoint/2010/main" val="287839989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476672"/>
            <a:ext cx="8229600" cy="5649491"/>
          </a:xfrm>
        </p:spPr>
        <p:txBody>
          <a:bodyPr/>
          <a:lstStyle/>
          <a:p>
            <a:pPr marL="0" indent="0" algn="just">
              <a:buNone/>
            </a:pPr>
            <a:r>
              <a:rPr lang="fr-FR" dirty="0">
                <a:latin typeface="Maiandra GD" pitchFamily="34" charset="0"/>
              </a:rPr>
              <a:t>HTML et CSS sont deux  langues  qu'il faut savoir parler pour créer des sites web.</a:t>
            </a:r>
          </a:p>
          <a:p>
            <a:pPr marL="0" indent="0" algn="just">
              <a:buNone/>
            </a:pPr>
            <a:r>
              <a:rPr lang="fr-FR" dirty="0">
                <a:latin typeface="Maiandra GD" pitchFamily="34" charset="0"/>
              </a:rPr>
              <a:t>C'est le navigateur web qui fera la traduction entre ces langages informatiques et </a:t>
            </a:r>
            <a:r>
              <a:rPr lang="fr-FR" dirty="0" smtClean="0">
                <a:latin typeface="Maiandra GD" pitchFamily="34" charset="0"/>
              </a:rPr>
              <a:t>ce que </a:t>
            </a:r>
            <a:r>
              <a:rPr lang="fr-FR" dirty="0">
                <a:latin typeface="Maiandra GD" pitchFamily="34" charset="0"/>
              </a:rPr>
              <a:t>vous verrez </a:t>
            </a:r>
            <a:r>
              <a:rPr lang="fr-FR" dirty="0" smtClean="0">
                <a:latin typeface="Maiandra GD" pitchFamily="34" charset="0"/>
              </a:rPr>
              <a:t>s'afficher </a:t>
            </a:r>
            <a:r>
              <a:rPr lang="fr-FR" dirty="0">
                <a:latin typeface="Maiandra GD" pitchFamily="34" charset="0"/>
              </a:rPr>
              <a:t>à l'écran. Vous vous demandez sûrement pourquoi il </a:t>
            </a:r>
            <a:r>
              <a:rPr lang="fr-FR" dirty="0" smtClean="0">
                <a:latin typeface="Maiandra GD" pitchFamily="34" charset="0"/>
              </a:rPr>
              <a:t>faut connaître </a:t>
            </a:r>
            <a:r>
              <a:rPr lang="fr-FR" dirty="0">
                <a:latin typeface="Maiandra GD" pitchFamily="34" charset="0"/>
              </a:rPr>
              <a:t>deux langages pour créer des sites web ? Je vous réponds sans plus tarder !</a:t>
            </a:r>
          </a:p>
        </p:txBody>
      </p:sp>
    </p:spTree>
    <p:extLst>
      <p:ext uri="{BB962C8B-B14F-4D97-AF65-F5344CB8AC3E}">
        <p14:creationId xmlns:p14="http://schemas.microsoft.com/office/powerpoint/2010/main" val="207581558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effectLst>
                  <a:outerShdw blurRad="38100" dist="38100" dir="2700000" algn="tl">
                    <a:srgbClr val="000000">
                      <a:alpha val="43137"/>
                    </a:srgbClr>
                  </a:outerShdw>
                </a:effectLst>
                <a:latin typeface="Maiandra GD" pitchFamily="34" charset="0"/>
              </a:rPr>
              <a:t>HTML et CSS : deux langages pour créer un site web</a:t>
            </a:r>
          </a:p>
        </p:txBody>
      </p:sp>
      <p:sp>
        <p:nvSpPr>
          <p:cNvPr id="3" name="Espace réservé du contenu 2"/>
          <p:cNvSpPr>
            <a:spLocks noGrp="1"/>
          </p:cNvSpPr>
          <p:nvPr>
            <p:ph idx="1"/>
          </p:nvPr>
        </p:nvSpPr>
        <p:spPr>
          <a:xfrm>
            <a:off x="457200" y="1711349"/>
            <a:ext cx="8229600" cy="4525963"/>
          </a:xfrm>
        </p:spPr>
        <p:txBody>
          <a:bodyPr/>
          <a:lstStyle/>
          <a:p>
            <a:pPr marL="0" indent="0" algn="just">
              <a:buNone/>
            </a:pPr>
            <a:r>
              <a:rPr lang="fr-FR" dirty="0">
                <a:latin typeface="Maiandra GD" pitchFamily="34" charset="0"/>
              </a:rPr>
              <a:t>Pour créer un site web, on doit donner des instructions à l'ordinateur. Il ne </a:t>
            </a:r>
            <a:r>
              <a:rPr lang="fr-FR" dirty="0" smtClean="0">
                <a:latin typeface="Maiandra GD" pitchFamily="34" charset="0"/>
              </a:rPr>
              <a:t>suffit pas simplement </a:t>
            </a:r>
            <a:r>
              <a:rPr lang="fr-FR" dirty="0">
                <a:latin typeface="Maiandra GD" pitchFamily="34" charset="0"/>
              </a:rPr>
              <a:t>de taper le texte qui devra </a:t>
            </a:r>
            <a:r>
              <a:rPr lang="fr-FR" dirty="0" smtClean="0">
                <a:latin typeface="Maiandra GD" pitchFamily="34" charset="0"/>
              </a:rPr>
              <a:t>figurer </a:t>
            </a:r>
            <a:r>
              <a:rPr lang="fr-FR" dirty="0">
                <a:latin typeface="Maiandra GD" pitchFamily="34" charset="0"/>
              </a:rPr>
              <a:t>dans le site (comme on le ferait dans</a:t>
            </a:r>
          </a:p>
          <a:p>
            <a:pPr marL="0" indent="0" algn="just">
              <a:buNone/>
            </a:pPr>
            <a:r>
              <a:rPr lang="fr-FR" dirty="0">
                <a:latin typeface="Maiandra GD" pitchFamily="34" charset="0"/>
              </a:rPr>
              <a:t>un traitement de texte Word, par exemple), il faut aussi indiquer où placer ce </a:t>
            </a:r>
            <a:r>
              <a:rPr lang="fr-FR" dirty="0" smtClean="0">
                <a:latin typeface="Maiandra GD" pitchFamily="34" charset="0"/>
              </a:rPr>
              <a:t>texte, insérer </a:t>
            </a:r>
            <a:r>
              <a:rPr lang="fr-FR" dirty="0">
                <a:latin typeface="Maiandra GD" pitchFamily="34" charset="0"/>
              </a:rPr>
              <a:t>des images, faire des liens entre les pages, etc.</a:t>
            </a:r>
          </a:p>
        </p:txBody>
      </p:sp>
    </p:spTree>
    <p:extLst>
      <p:ext uri="{BB962C8B-B14F-4D97-AF65-F5344CB8AC3E}">
        <p14:creationId xmlns:p14="http://schemas.microsoft.com/office/powerpoint/2010/main" val="384204675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effectLst>
                  <a:outerShdw blurRad="38100" dist="38100" dir="2700000" algn="tl">
                    <a:srgbClr val="000000">
                      <a:alpha val="43137"/>
                    </a:srgbClr>
                  </a:outerShdw>
                </a:effectLst>
                <a:latin typeface="Maiandra GD" pitchFamily="34" charset="0"/>
              </a:rPr>
              <a:t>Les rôles de HTML et CSS</a:t>
            </a:r>
          </a:p>
        </p:txBody>
      </p:sp>
      <p:sp>
        <p:nvSpPr>
          <p:cNvPr id="3" name="Espace réservé du contenu 2"/>
          <p:cNvSpPr>
            <a:spLocks noGrp="1"/>
          </p:cNvSpPr>
          <p:nvPr>
            <p:ph idx="1"/>
          </p:nvPr>
        </p:nvSpPr>
        <p:spPr/>
        <p:txBody>
          <a:bodyPr/>
          <a:lstStyle/>
          <a:p>
            <a:pPr marL="0" indent="0" algn="just">
              <a:buNone/>
            </a:pPr>
            <a:r>
              <a:rPr lang="fr-FR" sz="3600" dirty="0">
                <a:latin typeface="Maiandra GD" pitchFamily="34" charset="0"/>
              </a:rPr>
              <a:t>Pour expliquer à l'ordinateur ce que vous voulez faire, il va falloir utiliser un </a:t>
            </a:r>
            <a:r>
              <a:rPr lang="fr-FR" sz="3600" dirty="0" smtClean="0">
                <a:latin typeface="Maiandra GD" pitchFamily="34" charset="0"/>
              </a:rPr>
              <a:t>langage qu'il comprend</a:t>
            </a:r>
            <a:r>
              <a:rPr lang="fr-FR" sz="3600" dirty="0">
                <a:latin typeface="Maiandra GD" pitchFamily="34" charset="0"/>
              </a:rPr>
              <a:t>. Et c'est là que les choses se corsent, parce qu'il va falloir </a:t>
            </a:r>
            <a:r>
              <a:rPr lang="fr-FR" sz="3600" dirty="0" smtClean="0">
                <a:latin typeface="Maiandra GD" pitchFamily="34" charset="0"/>
              </a:rPr>
              <a:t>apprendre deux </a:t>
            </a:r>
            <a:r>
              <a:rPr lang="fr-FR" sz="3600" dirty="0">
                <a:latin typeface="Maiandra GD" pitchFamily="34" charset="0"/>
              </a:rPr>
              <a:t>langages !</a:t>
            </a:r>
          </a:p>
          <a:p>
            <a:pPr marL="0" indent="0">
              <a:buNone/>
            </a:pPr>
            <a:endParaRPr lang="fr-FR" dirty="0"/>
          </a:p>
        </p:txBody>
      </p:sp>
    </p:spTree>
    <p:extLst>
      <p:ext uri="{BB962C8B-B14F-4D97-AF65-F5344CB8AC3E}">
        <p14:creationId xmlns:p14="http://schemas.microsoft.com/office/powerpoint/2010/main" val="89805493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188640"/>
            <a:ext cx="8435280" cy="6408712"/>
          </a:xfrm>
        </p:spPr>
        <p:txBody>
          <a:bodyPr>
            <a:normAutofit lnSpcReduction="10000"/>
          </a:bodyPr>
          <a:lstStyle/>
          <a:p>
            <a:pPr marL="0" indent="0">
              <a:buNone/>
            </a:pPr>
            <a:r>
              <a:rPr lang="fr-FR" dirty="0" smtClean="0">
                <a:latin typeface="Maiandra GD" pitchFamily="34" charset="0"/>
              </a:rPr>
              <a:t>        </a:t>
            </a:r>
            <a:r>
              <a:rPr lang="fr-FR" sz="3600" dirty="0" smtClean="0">
                <a:latin typeface="Maiandra GD" pitchFamily="34" charset="0"/>
              </a:rPr>
              <a:t>Pourquoi </a:t>
            </a:r>
            <a:r>
              <a:rPr lang="fr-FR" sz="3600" dirty="0">
                <a:latin typeface="Maiandra GD" pitchFamily="34" charset="0"/>
              </a:rPr>
              <a:t>avoir créé deux langages ? Un </a:t>
            </a:r>
            <a:r>
              <a:rPr lang="fr-FR" sz="3600" dirty="0" smtClean="0">
                <a:latin typeface="Maiandra GD" pitchFamily="34" charset="0"/>
              </a:rPr>
              <a:t>seul </a:t>
            </a:r>
            <a:r>
              <a:rPr lang="fr-FR" sz="3600" dirty="0">
                <a:latin typeface="Maiandra GD" pitchFamily="34" charset="0"/>
              </a:rPr>
              <a:t>aurait </a:t>
            </a:r>
            <a:r>
              <a:rPr lang="fr-FR" sz="3600" dirty="0" smtClean="0">
                <a:latin typeface="Maiandra GD" pitchFamily="34" charset="0"/>
              </a:rPr>
              <a:t>suffi, non ?</a:t>
            </a:r>
          </a:p>
          <a:p>
            <a:pPr marL="0" indent="0">
              <a:buNone/>
            </a:pPr>
            <a:endParaRPr lang="fr-FR" sz="2400" dirty="0" smtClean="0">
              <a:latin typeface="Maiandra GD" pitchFamily="34" charset="0"/>
            </a:endParaRPr>
          </a:p>
          <a:p>
            <a:pPr marL="0" indent="0" algn="just">
              <a:buNone/>
            </a:pPr>
            <a:r>
              <a:rPr lang="fr-FR" sz="3600" dirty="0" smtClean="0">
                <a:latin typeface="Maiandra GD" pitchFamily="34" charset="0"/>
              </a:rPr>
              <a:t>Vous </a:t>
            </a:r>
            <a:r>
              <a:rPr lang="fr-FR" sz="3600" dirty="0">
                <a:latin typeface="Maiandra GD" pitchFamily="34" charset="0"/>
              </a:rPr>
              <a:t>devez vous dire que manipuler deux langages va être deux fois plus complexe </a:t>
            </a:r>
            <a:r>
              <a:rPr lang="fr-FR" sz="3600" dirty="0" smtClean="0">
                <a:latin typeface="Maiandra GD" pitchFamily="34" charset="0"/>
              </a:rPr>
              <a:t>et deux </a:t>
            </a:r>
            <a:r>
              <a:rPr lang="fr-FR" sz="3600" dirty="0">
                <a:latin typeface="Maiandra GD" pitchFamily="34" charset="0"/>
              </a:rPr>
              <a:t>fois plus long à apprendre. . . mais ce n'est pas le cas ! Je vous rassure, s'il y </a:t>
            </a:r>
            <a:r>
              <a:rPr lang="fr-FR" sz="3600" dirty="0" smtClean="0">
                <a:latin typeface="Maiandra GD" pitchFamily="34" charset="0"/>
              </a:rPr>
              <a:t>a deux </a:t>
            </a:r>
            <a:r>
              <a:rPr lang="fr-FR" sz="3600" dirty="0">
                <a:latin typeface="Maiandra GD" pitchFamily="34" charset="0"/>
              </a:rPr>
              <a:t>langages c'est, au contraire, pour faciliter les choses. Nous allons avoir </a:t>
            </a:r>
            <a:r>
              <a:rPr lang="fr-FR" sz="3600" dirty="0" smtClean="0">
                <a:latin typeface="Maiandra GD" pitchFamily="34" charset="0"/>
              </a:rPr>
              <a:t>a faire à deux </a:t>
            </a:r>
            <a:r>
              <a:rPr lang="fr-FR" sz="3600" dirty="0">
                <a:latin typeface="Maiandra GD" pitchFamily="34" charset="0"/>
              </a:rPr>
              <a:t>langages qui se complètent car ils ont des rôles </a:t>
            </a:r>
            <a:r>
              <a:rPr lang="fr-FR" sz="3600" dirty="0" smtClean="0">
                <a:latin typeface="Maiandra GD" pitchFamily="34" charset="0"/>
              </a:rPr>
              <a:t>différents </a:t>
            </a:r>
            <a:r>
              <a:rPr lang="fr-FR" sz="3600" dirty="0">
                <a:latin typeface="Maiandra GD" pitchFamily="34" charset="0"/>
              </a:rPr>
              <a:t>:</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484" y="188640"/>
            <a:ext cx="806202" cy="6238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3624988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548680"/>
            <a:ext cx="8229600" cy="5577483"/>
          </a:xfrm>
        </p:spPr>
        <p:txBody>
          <a:bodyPr>
            <a:normAutofit/>
          </a:bodyPr>
          <a:lstStyle/>
          <a:p>
            <a:pPr marL="0" indent="0" algn="just">
              <a:buNone/>
            </a:pPr>
            <a:r>
              <a:rPr lang="fr-FR" dirty="0">
                <a:latin typeface="Maiandra GD" pitchFamily="34" charset="0"/>
              </a:rPr>
              <a:t>HTML (HyperText Markup Language) : il a fait son apparition dès 1991 lors </a:t>
            </a:r>
            <a:r>
              <a:rPr lang="fr-FR" dirty="0" smtClean="0">
                <a:latin typeface="Maiandra GD" pitchFamily="34" charset="0"/>
              </a:rPr>
              <a:t>du lancement </a:t>
            </a:r>
            <a:r>
              <a:rPr lang="fr-FR" dirty="0">
                <a:latin typeface="Maiandra GD" pitchFamily="34" charset="0"/>
              </a:rPr>
              <a:t>du Web. Son rôle est de gérer et organiser le contenu. C'est donc </a:t>
            </a:r>
            <a:r>
              <a:rPr lang="fr-FR" dirty="0" smtClean="0">
                <a:latin typeface="Maiandra GD" pitchFamily="34" charset="0"/>
              </a:rPr>
              <a:t>en HTML </a:t>
            </a:r>
            <a:r>
              <a:rPr lang="fr-FR" dirty="0">
                <a:latin typeface="Maiandra GD" pitchFamily="34" charset="0"/>
              </a:rPr>
              <a:t>que vous écrirez ce qui doit être </a:t>
            </a:r>
            <a:r>
              <a:rPr lang="fr-FR" dirty="0" smtClean="0">
                <a:latin typeface="Maiandra GD" pitchFamily="34" charset="0"/>
              </a:rPr>
              <a:t>affiché </a:t>
            </a:r>
            <a:r>
              <a:rPr lang="fr-FR" dirty="0">
                <a:latin typeface="Maiandra GD" pitchFamily="34" charset="0"/>
              </a:rPr>
              <a:t>sur la page : du texte, des liens, </a:t>
            </a:r>
            <a:r>
              <a:rPr lang="fr-FR" dirty="0" smtClean="0">
                <a:latin typeface="Maiandra GD" pitchFamily="34" charset="0"/>
              </a:rPr>
              <a:t>des images</a:t>
            </a:r>
            <a:r>
              <a:rPr lang="fr-FR" dirty="0">
                <a:latin typeface="Maiandra GD" pitchFamily="34" charset="0"/>
              </a:rPr>
              <a:t>. . . Vous direz par exemple :  Ceci est mon titre, ceci est mon menu, voici </a:t>
            </a:r>
            <a:r>
              <a:rPr lang="fr-FR" dirty="0" smtClean="0">
                <a:latin typeface="Maiandra GD" pitchFamily="34" charset="0"/>
              </a:rPr>
              <a:t>le texte </a:t>
            </a:r>
            <a:r>
              <a:rPr lang="fr-FR" dirty="0">
                <a:latin typeface="Maiandra GD" pitchFamily="34" charset="0"/>
              </a:rPr>
              <a:t>principal de la page, voici une image à </a:t>
            </a:r>
            <a:r>
              <a:rPr lang="fr-FR" dirty="0" smtClean="0">
                <a:latin typeface="Maiandra GD" pitchFamily="34" charset="0"/>
              </a:rPr>
              <a:t>afficher</a:t>
            </a:r>
            <a:r>
              <a:rPr lang="fr-FR" dirty="0">
                <a:latin typeface="Maiandra GD" pitchFamily="34" charset="0"/>
              </a:rPr>
              <a:t>, etc. .</a:t>
            </a:r>
          </a:p>
          <a:p>
            <a:pPr marL="0" indent="0">
              <a:buNone/>
            </a:pPr>
            <a:r>
              <a:rPr lang="fr-FR" dirty="0"/>
              <a:t> </a:t>
            </a:r>
          </a:p>
        </p:txBody>
      </p:sp>
    </p:spTree>
    <p:extLst>
      <p:ext uri="{BB962C8B-B14F-4D97-AF65-F5344CB8AC3E}">
        <p14:creationId xmlns:p14="http://schemas.microsoft.com/office/powerpoint/2010/main" val="405759449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510364"/>
            <a:ext cx="8229600" cy="5615800"/>
          </a:xfrm>
        </p:spPr>
        <p:txBody>
          <a:bodyPr/>
          <a:lstStyle/>
          <a:p>
            <a:pPr marL="0" indent="0" algn="just">
              <a:buNone/>
            </a:pPr>
            <a:r>
              <a:rPr lang="fr-FR" dirty="0">
                <a:latin typeface="Maiandra GD" pitchFamily="34" charset="0"/>
              </a:rPr>
              <a:t>CSS (Cascading Style Sheets, aussi appelées Feuilles de style) : le rôle du CSS est </a:t>
            </a:r>
            <a:r>
              <a:rPr lang="fr-FR" dirty="0" smtClean="0">
                <a:latin typeface="Maiandra GD" pitchFamily="34" charset="0"/>
              </a:rPr>
              <a:t>de gérer </a:t>
            </a:r>
            <a:r>
              <a:rPr lang="fr-FR" dirty="0">
                <a:latin typeface="Maiandra GD" pitchFamily="34" charset="0"/>
              </a:rPr>
              <a:t>l'apparence de la page web (agencement, positionnement, décoration, </a:t>
            </a:r>
            <a:r>
              <a:rPr lang="fr-FR" dirty="0" smtClean="0">
                <a:latin typeface="Maiandra GD" pitchFamily="34" charset="0"/>
              </a:rPr>
              <a:t>couleurs, taille </a:t>
            </a:r>
            <a:r>
              <a:rPr lang="fr-FR" dirty="0">
                <a:latin typeface="Maiandra GD" pitchFamily="34" charset="0"/>
              </a:rPr>
              <a:t>du texte. . .). Ce langage est venu compléter le HTML en 1996.</a:t>
            </a:r>
          </a:p>
          <a:p>
            <a:pPr marL="0" indent="0">
              <a:buNone/>
            </a:pPr>
            <a:endParaRPr lang="fr-FR" dirty="0"/>
          </a:p>
        </p:txBody>
      </p:sp>
    </p:spTree>
    <p:extLst>
      <p:ext uri="{BB962C8B-B14F-4D97-AF65-F5344CB8AC3E}">
        <p14:creationId xmlns:p14="http://schemas.microsoft.com/office/powerpoint/2010/main" val="363502971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332656"/>
            <a:ext cx="8712968" cy="6264696"/>
          </a:xfrm>
        </p:spPr>
        <p:txBody>
          <a:bodyPr>
            <a:normAutofit/>
          </a:bodyPr>
          <a:lstStyle/>
          <a:p>
            <a:pPr marL="0" indent="0" algn="just">
              <a:buNone/>
            </a:pPr>
            <a:r>
              <a:rPr lang="fr-FR" dirty="0">
                <a:latin typeface="Maiandra GD" pitchFamily="34" charset="0"/>
              </a:rPr>
              <a:t>Vous avez peut-être aussi entendu parler du langage XHTML. Il s'agit </a:t>
            </a:r>
            <a:r>
              <a:rPr lang="fr-FR" dirty="0" smtClean="0">
                <a:latin typeface="Maiandra GD" pitchFamily="34" charset="0"/>
              </a:rPr>
              <a:t>d'une variante </a:t>
            </a:r>
            <a:r>
              <a:rPr lang="fr-FR" dirty="0">
                <a:latin typeface="Maiandra GD" pitchFamily="34" charset="0"/>
              </a:rPr>
              <a:t>du HTML qui se veut plus rigoureuse et qui est donc un peu </a:t>
            </a:r>
            <a:r>
              <a:rPr lang="fr-FR" dirty="0" smtClean="0">
                <a:latin typeface="Maiandra GD" pitchFamily="34" charset="0"/>
              </a:rPr>
              <a:t>plus délicate </a:t>
            </a:r>
            <a:r>
              <a:rPr lang="fr-FR" dirty="0">
                <a:latin typeface="Maiandra GD" pitchFamily="34" charset="0"/>
              </a:rPr>
              <a:t>à manipuler. Pour faire simple, le HTML est apparu le premier </a:t>
            </a:r>
            <a:r>
              <a:rPr lang="fr-FR" dirty="0" smtClean="0">
                <a:latin typeface="Maiandra GD" pitchFamily="34" charset="0"/>
              </a:rPr>
              <a:t>en 1991. </a:t>
            </a:r>
            <a:r>
              <a:rPr lang="fr-FR" dirty="0">
                <a:latin typeface="Maiandra GD" pitchFamily="34" charset="0"/>
              </a:rPr>
              <a:t>Début 2000, le </a:t>
            </a:r>
            <a:r>
              <a:rPr lang="fr-FR" dirty="0" smtClean="0">
                <a:latin typeface="Maiandra GD" pitchFamily="34" charset="0"/>
              </a:rPr>
              <a:t> W3C </a:t>
            </a:r>
            <a:r>
              <a:rPr lang="fr-FR" dirty="0">
                <a:latin typeface="Maiandra GD" pitchFamily="34" charset="0"/>
              </a:rPr>
              <a:t>a lancé le XHTML en indiquant que ce </a:t>
            </a:r>
            <a:r>
              <a:rPr lang="fr-FR" dirty="0" smtClean="0">
                <a:latin typeface="Maiandra GD" pitchFamily="34" charset="0"/>
              </a:rPr>
              <a:t>serait l'avenir</a:t>
            </a:r>
            <a:r>
              <a:rPr lang="fr-FR" dirty="0">
                <a:latin typeface="Maiandra GD" pitchFamily="34" charset="0"/>
              </a:rPr>
              <a:t>. . . </a:t>
            </a:r>
            <a:r>
              <a:rPr lang="fr-FR" dirty="0" smtClean="0">
                <a:latin typeface="Maiandra GD" pitchFamily="34" charset="0"/>
              </a:rPr>
              <a:t>          mais </a:t>
            </a:r>
            <a:r>
              <a:rPr lang="fr-FR" dirty="0">
                <a:latin typeface="Maiandra GD" pitchFamily="34" charset="0"/>
              </a:rPr>
              <a:t>le XHTML n'a pas percé comme on l'espérait. Retour </a:t>
            </a:r>
            <a:r>
              <a:rPr lang="fr-FR" dirty="0" smtClean="0">
                <a:latin typeface="Maiandra GD" pitchFamily="34" charset="0"/>
              </a:rPr>
              <a:t>aux sources </a:t>
            </a:r>
            <a:r>
              <a:rPr lang="fr-FR" dirty="0">
                <a:latin typeface="Maiandra GD" pitchFamily="34" charset="0"/>
              </a:rPr>
              <a:t>en 2009 : le W3C abandonne le XHTML et décide de revenir au </a:t>
            </a:r>
            <a:r>
              <a:rPr lang="fr-FR" dirty="0" smtClean="0">
                <a:latin typeface="Maiandra GD" pitchFamily="34" charset="0"/>
              </a:rPr>
              <a:t>HTML pour </a:t>
            </a:r>
            <a:r>
              <a:rPr lang="fr-FR" dirty="0">
                <a:latin typeface="Maiandra GD" pitchFamily="34" charset="0"/>
              </a:rPr>
              <a:t>le faire évoluer.</a:t>
            </a:r>
          </a:p>
        </p:txBody>
      </p:sp>
    </p:spTree>
    <p:extLst>
      <p:ext uri="{BB962C8B-B14F-4D97-AF65-F5344CB8AC3E}">
        <p14:creationId xmlns:p14="http://schemas.microsoft.com/office/powerpoint/2010/main" val="40632405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332656"/>
            <a:ext cx="8568952" cy="6120680"/>
          </a:xfrm>
        </p:spPr>
        <p:txBody>
          <a:bodyPr>
            <a:normAutofit/>
          </a:bodyPr>
          <a:lstStyle/>
          <a:p>
            <a:pPr marL="0" indent="0" algn="just">
              <a:buNone/>
            </a:pPr>
            <a:r>
              <a:rPr lang="fr-FR" sz="3600" dirty="0">
                <a:latin typeface="Maiandra GD" pitchFamily="34" charset="0"/>
              </a:rPr>
              <a:t>Il y a beaucoup de confusion autour de </a:t>
            </a:r>
            <a:r>
              <a:rPr lang="fr-FR" sz="3600" dirty="0" smtClean="0">
                <a:latin typeface="Maiandra GD" pitchFamily="34" charset="0"/>
              </a:rPr>
              <a:t>ces langages</a:t>
            </a:r>
            <a:r>
              <a:rPr lang="fr-FR" sz="3600" dirty="0">
                <a:latin typeface="Maiandra GD" pitchFamily="34" charset="0"/>
              </a:rPr>
              <a:t>, </a:t>
            </a:r>
            <a:r>
              <a:rPr lang="fr-FR" sz="3600" dirty="0" smtClean="0">
                <a:latin typeface="Maiandra GD" pitchFamily="34" charset="0"/>
              </a:rPr>
              <a:t>alors qu'ils </a:t>
            </a:r>
            <a:r>
              <a:rPr lang="fr-FR" sz="3600" dirty="0">
                <a:latin typeface="Maiandra GD" pitchFamily="34" charset="0"/>
              </a:rPr>
              <a:t>se ressemblent beaucoup. </a:t>
            </a:r>
            <a:r>
              <a:rPr lang="fr-FR" sz="3600" dirty="0" smtClean="0">
                <a:latin typeface="Maiandra GD" pitchFamily="34" charset="0"/>
              </a:rPr>
              <a:t>Aucun </a:t>
            </a:r>
            <a:r>
              <a:rPr lang="fr-FR" sz="3600" dirty="0">
                <a:latin typeface="Maiandra GD" pitchFamily="34" charset="0"/>
              </a:rPr>
              <a:t>n'est vraiment meilleur que l'autre, </a:t>
            </a:r>
            <a:r>
              <a:rPr lang="fr-FR" sz="3600" dirty="0" smtClean="0">
                <a:latin typeface="Maiandra GD" pitchFamily="34" charset="0"/>
              </a:rPr>
              <a:t>il s'agit </a:t>
            </a:r>
            <a:r>
              <a:rPr lang="fr-FR" sz="3600" dirty="0">
                <a:latin typeface="Maiandra GD" pitchFamily="34" charset="0"/>
              </a:rPr>
              <a:t>de deux façons de faire </a:t>
            </a:r>
            <a:r>
              <a:rPr lang="fr-FR" sz="3600" dirty="0" smtClean="0">
                <a:latin typeface="Maiandra GD" pitchFamily="34" charset="0"/>
              </a:rPr>
              <a:t>différentes</a:t>
            </a:r>
            <a:r>
              <a:rPr lang="fr-FR" sz="3600" dirty="0">
                <a:latin typeface="Maiandra GD" pitchFamily="34" charset="0"/>
              </a:rPr>
              <a:t>. Dans ce cours, nous allons </a:t>
            </a:r>
            <a:r>
              <a:rPr lang="fr-FR" sz="3600" dirty="0" smtClean="0">
                <a:latin typeface="Maiandra GD" pitchFamily="34" charset="0"/>
              </a:rPr>
              <a:t>travailler sur </a:t>
            </a:r>
            <a:r>
              <a:rPr lang="fr-FR" sz="3600" dirty="0">
                <a:latin typeface="Maiandra GD" pitchFamily="34" charset="0"/>
              </a:rPr>
              <a:t>la dernière version de </a:t>
            </a:r>
            <a:r>
              <a:rPr lang="fr-FR" sz="3600" dirty="0" smtClean="0">
                <a:latin typeface="Maiandra GD" pitchFamily="34" charset="0"/>
              </a:rPr>
              <a:t>HTML (</a:t>
            </a:r>
            <a:r>
              <a:rPr lang="fr-FR" sz="3600" dirty="0">
                <a:latin typeface="Maiandra GD" pitchFamily="34" charset="0"/>
              </a:rPr>
              <a:t>HTML5) qui est aujourd'hui le </a:t>
            </a:r>
            <a:r>
              <a:rPr lang="fr-FR" sz="3600" dirty="0" smtClean="0">
                <a:latin typeface="Maiandra GD" pitchFamily="34" charset="0"/>
              </a:rPr>
              <a:t>langage d'avenir que </a:t>
            </a:r>
            <a:r>
              <a:rPr lang="fr-FR" sz="3600" dirty="0">
                <a:latin typeface="Maiandra GD" pitchFamily="34" charset="0"/>
              </a:rPr>
              <a:t>tout le monde est incité à utiliser.</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09814" y="5215086"/>
            <a:ext cx="1238250" cy="1238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9375326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404664"/>
            <a:ext cx="8712968" cy="6120680"/>
          </a:xfrm>
        </p:spPr>
        <p:txBody>
          <a:bodyPr>
            <a:normAutofit/>
          </a:bodyPr>
          <a:lstStyle/>
          <a:p>
            <a:pPr marL="0" indent="0" algn="just">
              <a:buNone/>
            </a:pPr>
            <a:r>
              <a:rPr lang="fr-FR" sz="3600" dirty="0">
                <a:latin typeface="Maiandra GD" pitchFamily="34" charset="0"/>
              </a:rPr>
              <a:t>Vous pouvez très bien créer un site </a:t>
            </a:r>
            <a:r>
              <a:rPr lang="fr-FR" sz="3600" dirty="0" smtClean="0">
                <a:latin typeface="Maiandra GD" pitchFamily="34" charset="0"/>
              </a:rPr>
              <a:t>web uniquement </a:t>
            </a:r>
            <a:r>
              <a:rPr lang="fr-FR" sz="3600" dirty="0">
                <a:latin typeface="Maiandra GD" pitchFamily="34" charset="0"/>
              </a:rPr>
              <a:t>en HTML, mais celui-ci ne </a:t>
            </a:r>
            <a:r>
              <a:rPr lang="fr-FR" sz="3600" dirty="0" smtClean="0">
                <a:latin typeface="Maiandra GD" pitchFamily="34" charset="0"/>
              </a:rPr>
              <a:t>sera pas </a:t>
            </a:r>
            <a:r>
              <a:rPr lang="fr-FR" sz="3600" dirty="0">
                <a:latin typeface="Maiandra GD" pitchFamily="34" charset="0"/>
              </a:rPr>
              <a:t>très beau : l'information apparaîtra </a:t>
            </a:r>
            <a:r>
              <a:rPr lang="fr-FR" sz="3600" dirty="0" smtClean="0">
                <a:latin typeface="Maiandra GD" pitchFamily="34" charset="0"/>
              </a:rPr>
              <a:t>« </a:t>
            </a:r>
            <a:r>
              <a:rPr lang="fr-FR" sz="3600" dirty="0" smtClean="0">
                <a:effectLst>
                  <a:outerShdw blurRad="38100" dist="38100" dir="2700000" algn="tl">
                    <a:srgbClr val="000000">
                      <a:alpha val="43137"/>
                    </a:srgbClr>
                  </a:outerShdw>
                </a:effectLst>
                <a:latin typeface="Maiandra GD" pitchFamily="34" charset="0"/>
              </a:rPr>
              <a:t>brute</a:t>
            </a:r>
            <a:r>
              <a:rPr lang="fr-FR" sz="3600" dirty="0" smtClean="0">
                <a:latin typeface="Maiandra GD" pitchFamily="34" charset="0"/>
              </a:rPr>
              <a:t> » </a:t>
            </a:r>
            <a:r>
              <a:rPr lang="fr-FR" sz="3600" dirty="0">
                <a:latin typeface="Maiandra GD" pitchFamily="34" charset="0"/>
              </a:rPr>
              <a:t>. </a:t>
            </a:r>
            <a:r>
              <a:rPr lang="fr-FR" sz="3600" dirty="0" smtClean="0">
                <a:latin typeface="Maiandra GD" pitchFamily="34" charset="0"/>
              </a:rPr>
              <a:t> C'est </a:t>
            </a:r>
            <a:r>
              <a:rPr lang="fr-FR" sz="3600" dirty="0">
                <a:latin typeface="Maiandra GD" pitchFamily="34" charset="0"/>
              </a:rPr>
              <a:t>pour cela que le langage </a:t>
            </a:r>
            <a:r>
              <a:rPr lang="fr-FR" sz="3600" dirty="0" smtClean="0">
                <a:latin typeface="Maiandra GD" pitchFamily="34" charset="0"/>
              </a:rPr>
              <a:t>CSS vient </a:t>
            </a:r>
            <a:r>
              <a:rPr lang="fr-FR" sz="3600" dirty="0">
                <a:latin typeface="Maiandra GD" pitchFamily="34" charset="0"/>
              </a:rPr>
              <a:t>toujours le compléter</a:t>
            </a:r>
            <a:r>
              <a:rPr lang="fr-FR" sz="3600" dirty="0" smtClean="0">
                <a:latin typeface="Maiandra GD" pitchFamily="34" charset="0"/>
              </a:rPr>
              <a:t>.</a:t>
            </a:r>
          </a:p>
          <a:p>
            <a:pPr marL="0" indent="0" algn="just">
              <a:buNone/>
            </a:pPr>
            <a:r>
              <a:rPr lang="fr-FR" sz="3600" dirty="0">
                <a:latin typeface="Maiandra GD" pitchFamily="34" charset="0"/>
              </a:rPr>
              <a:t>Pour vous donner une idée, la </a:t>
            </a:r>
            <a:r>
              <a:rPr lang="fr-FR" sz="3600" dirty="0" smtClean="0">
                <a:latin typeface="Maiandra GD" pitchFamily="34" charset="0"/>
              </a:rPr>
              <a:t>figure ci-dessous </a:t>
            </a:r>
            <a:r>
              <a:rPr lang="fr-FR" sz="3600" dirty="0">
                <a:latin typeface="Maiandra GD" pitchFamily="34" charset="0"/>
              </a:rPr>
              <a:t>montre ce que donne la même page sans </a:t>
            </a:r>
            <a:r>
              <a:rPr lang="fr-FR" sz="3600" dirty="0" smtClean="0">
                <a:latin typeface="Maiandra GD" pitchFamily="34" charset="0"/>
              </a:rPr>
              <a:t>CSS puis </a:t>
            </a:r>
            <a:r>
              <a:rPr lang="fr-FR" sz="3600" dirty="0">
                <a:latin typeface="Maiandra GD" pitchFamily="34" charset="0"/>
              </a:rPr>
              <a:t>avec le CSS.</a:t>
            </a:r>
          </a:p>
        </p:txBody>
      </p:sp>
    </p:spTree>
    <p:extLst>
      <p:ext uri="{BB962C8B-B14F-4D97-AF65-F5344CB8AC3E}">
        <p14:creationId xmlns:p14="http://schemas.microsoft.com/office/powerpoint/2010/main" val="381501343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404664"/>
            <a:ext cx="8640960" cy="6048672"/>
          </a:xfrm>
        </p:spPr>
        <p:txBody>
          <a:bodyPr>
            <a:noAutofit/>
          </a:bodyPr>
          <a:lstStyle/>
          <a:p>
            <a:pPr marL="0" indent="0" algn="just">
              <a:buNone/>
            </a:pPr>
            <a:r>
              <a:rPr lang="fr-FR" sz="3300" dirty="0">
                <a:latin typeface="Maiandra GD" pitchFamily="34" charset="0"/>
              </a:rPr>
              <a:t>Le HTML </a:t>
            </a:r>
            <a:r>
              <a:rPr lang="fr-FR" sz="3300" dirty="0" smtClean="0">
                <a:latin typeface="Maiandra GD" pitchFamily="34" charset="0"/>
              </a:rPr>
              <a:t>définit </a:t>
            </a:r>
            <a:r>
              <a:rPr lang="fr-FR" sz="3300" dirty="0">
                <a:latin typeface="Maiandra GD" pitchFamily="34" charset="0"/>
              </a:rPr>
              <a:t>le contenu (comme vous pouvez le voir, c'est brut de </a:t>
            </a:r>
            <a:r>
              <a:rPr lang="fr-FR" sz="3300" dirty="0" smtClean="0">
                <a:latin typeface="Maiandra GD" pitchFamily="34" charset="0"/>
              </a:rPr>
              <a:t>décoffrage </a:t>
            </a:r>
            <a:r>
              <a:rPr lang="fr-FR" sz="3300" dirty="0">
                <a:latin typeface="Maiandra GD" pitchFamily="34" charset="0"/>
              </a:rPr>
              <a:t>!). </a:t>
            </a:r>
            <a:r>
              <a:rPr lang="fr-FR" sz="3300" dirty="0" smtClean="0">
                <a:latin typeface="Maiandra GD" pitchFamily="34" charset="0"/>
              </a:rPr>
              <a:t>Le CSS </a:t>
            </a:r>
            <a:r>
              <a:rPr lang="fr-FR" sz="3300" dirty="0">
                <a:latin typeface="Maiandra GD" pitchFamily="34" charset="0"/>
              </a:rPr>
              <a:t>permet, </a:t>
            </a:r>
            <a:r>
              <a:rPr lang="fr-FR" sz="3300" dirty="0" smtClean="0">
                <a:latin typeface="Maiandra GD" pitchFamily="34" charset="0"/>
              </a:rPr>
              <a:t>lui, </a:t>
            </a:r>
            <a:r>
              <a:rPr lang="fr-FR" sz="3300" dirty="0">
                <a:latin typeface="Maiandra GD" pitchFamily="34" charset="0"/>
              </a:rPr>
              <a:t>d'arranger le contenu et de </a:t>
            </a:r>
            <a:r>
              <a:rPr lang="fr-FR" sz="3300" dirty="0" smtClean="0">
                <a:latin typeface="Maiandra GD" pitchFamily="34" charset="0"/>
              </a:rPr>
              <a:t>définir </a:t>
            </a:r>
            <a:r>
              <a:rPr lang="fr-FR" sz="3300" dirty="0">
                <a:latin typeface="Maiandra GD" pitchFamily="34" charset="0"/>
              </a:rPr>
              <a:t>la présentation : couleurs, </a:t>
            </a:r>
            <a:r>
              <a:rPr lang="fr-FR" sz="3300" dirty="0" smtClean="0">
                <a:latin typeface="Maiandra GD" pitchFamily="34" charset="0"/>
              </a:rPr>
              <a:t>image de </a:t>
            </a:r>
            <a:r>
              <a:rPr lang="fr-FR" sz="3300" dirty="0">
                <a:latin typeface="Maiandra GD" pitchFamily="34" charset="0"/>
              </a:rPr>
              <a:t>fond, marges, taille du </a:t>
            </a:r>
            <a:r>
              <a:rPr lang="fr-FR" sz="3300" dirty="0" smtClean="0">
                <a:latin typeface="Maiandra GD" pitchFamily="34" charset="0"/>
              </a:rPr>
              <a:t>texte</a:t>
            </a:r>
            <a:r>
              <a:rPr lang="fr-FR" sz="3300" dirty="0">
                <a:latin typeface="Maiandra GD" pitchFamily="34" charset="0"/>
              </a:rPr>
              <a:t>. . </a:t>
            </a:r>
            <a:r>
              <a:rPr lang="fr-FR" sz="3300" dirty="0" smtClean="0">
                <a:latin typeface="Maiandra GD" pitchFamily="34" charset="0"/>
              </a:rPr>
              <a:t>. </a:t>
            </a:r>
          </a:p>
          <a:p>
            <a:pPr marL="0" indent="0" algn="just">
              <a:buNone/>
            </a:pPr>
            <a:r>
              <a:rPr lang="fr-FR" sz="3300" dirty="0" smtClean="0">
                <a:latin typeface="Maiandra GD" pitchFamily="34" charset="0"/>
              </a:rPr>
              <a:t>Comme </a:t>
            </a:r>
            <a:r>
              <a:rPr lang="fr-FR" sz="3300" dirty="0">
                <a:latin typeface="Maiandra GD" pitchFamily="34" charset="0"/>
              </a:rPr>
              <a:t>vous vous en doutez, le CSS a besoin d'une page HTML pour fonctionner. </a:t>
            </a:r>
            <a:r>
              <a:rPr lang="fr-FR" sz="3300" dirty="0" smtClean="0">
                <a:latin typeface="Maiandra GD" pitchFamily="34" charset="0"/>
              </a:rPr>
              <a:t>C'est pour </a:t>
            </a:r>
            <a:r>
              <a:rPr lang="fr-FR" sz="3300" dirty="0">
                <a:latin typeface="Maiandra GD" pitchFamily="34" charset="0"/>
              </a:rPr>
              <a:t>cela que nous allons d'abord apprendre les bases du HTML avant de </a:t>
            </a:r>
            <a:r>
              <a:rPr lang="fr-FR" sz="3300" dirty="0" smtClean="0">
                <a:latin typeface="Maiandra GD" pitchFamily="34" charset="0"/>
              </a:rPr>
              <a:t>nous occuper de </a:t>
            </a:r>
            <a:r>
              <a:rPr lang="fr-FR" sz="3300" dirty="0">
                <a:latin typeface="Maiandra GD" pitchFamily="34" charset="0"/>
              </a:rPr>
              <a:t>la décoration en CSS.</a:t>
            </a:r>
          </a:p>
        </p:txBody>
      </p:sp>
    </p:spTree>
    <p:extLst>
      <p:ext uri="{BB962C8B-B14F-4D97-AF65-F5344CB8AC3E}">
        <p14:creationId xmlns:p14="http://schemas.microsoft.com/office/powerpoint/2010/main" val="166085285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476672"/>
            <a:ext cx="8229600" cy="5976664"/>
          </a:xfrm>
        </p:spPr>
        <p:txBody>
          <a:bodyPr/>
          <a:lstStyle/>
          <a:p>
            <a:pPr marL="0" indent="0" algn="just">
              <a:buNone/>
            </a:pPr>
            <a:r>
              <a:rPr lang="fr-FR" dirty="0">
                <a:latin typeface="Maiandra GD" pitchFamily="34" charset="0"/>
              </a:rPr>
              <a:t>Vos premières pages ne seront donc pas les plus </a:t>
            </a:r>
            <a:r>
              <a:rPr lang="fr-FR" dirty="0" smtClean="0">
                <a:latin typeface="Maiandra GD" pitchFamily="34" charset="0"/>
              </a:rPr>
              <a:t>esthétiques, mais </a:t>
            </a:r>
            <a:r>
              <a:rPr lang="fr-FR" dirty="0">
                <a:latin typeface="Maiandra GD" pitchFamily="34" charset="0"/>
              </a:rPr>
              <a:t>qu'importe ! Cela ne durera </a:t>
            </a:r>
            <a:r>
              <a:rPr lang="fr-FR" dirty="0" smtClean="0">
                <a:latin typeface="Maiandra GD" pitchFamily="34" charset="0"/>
              </a:rPr>
              <a:t>pas longtemps</a:t>
            </a:r>
            <a:r>
              <a:rPr lang="fr-FR" dirty="0">
                <a:latin typeface="Maiandra GD" pitchFamily="34" charset="0"/>
              </a:rPr>
              <a:t>.</a:t>
            </a:r>
          </a:p>
        </p:txBody>
      </p:sp>
    </p:spTree>
    <p:extLst>
      <p:ext uri="{BB962C8B-B14F-4D97-AF65-F5344CB8AC3E}">
        <p14:creationId xmlns:p14="http://schemas.microsoft.com/office/powerpoint/2010/main" val="291092942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008" y="188640"/>
            <a:ext cx="8964488" cy="6480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0943902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effectLst>
                  <a:outerShdw blurRad="38100" dist="38100" dir="2700000" algn="tl">
                    <a:srgbClr val="000000">
                      <a:alpha val="43137"/>
                    </a:srgbClr>
                  </a:outerShdw>
                </a:effectLst>
                <a:latin typeface="Maiandra GD" pitchFamily="34" charset="0"/>
              </a:rPr>
              <a:t>Les </a:t>
            </a:r>
            <a:r>
              <a:rPr lang="fr-FR" dirty="0" smtClean="0">
                <a:effectLst>
                  <a:outerShdw blurRad="38100" dist="38100" dir="2700000" algn="tl">
                    <a:srgbClr val="000000">
                      <a:alpha val="43137"/>
                    </a:srgbClr>
                  </a:outerShdw>
                </a:effectLst>
                <a:latin typeface="Maiandra GD" pitchFamily="34" charset="0"/>
              </a:rPr>
              <a:t>différentes </a:t>
            </a:r>
            <a:r>
              <a:rPr lang="fr-FR" dirty="0">
                <a:effectLst>
                  <a:outerShdw blurRad="38100" dist="38100" dir="2700000" algn="tl">
                    <a:srgbClr val="000000">
                      <a:alpha val="43137"/>
                    </a:srgbClr>
                  </a:outerShdw>
                </a:effectLst>
                <a:latin typeface="Maiandra GD" pitchFamily="34" charset="0"/>
              </a:rPr>
              <a:t>versions de HTML et CSS</a:t>
            </a:r>
          </a:p>
        </p:txBody>
      </p:sp>
      <p:sp>
        <p:nvSpPr>
          <p:cNvPr id="3" name="Espace réservé du contenu 2"/>
          <p:cNvSpPr>
            <a:spLocks noGrp="1"/>
          </p:cNvSpPr>
          <p:nvPr>
            <p:ph idx="1"/>
          </p:nvPr>
        </p:nvSpPr>
        <p:spPr/>
        <p:txBody>
          <a:bodyPr/>
          <a:lstStyle/>
          <a:p>
            <a:pPr marL="0" indent="0" algn="just">
              <a:buNone/>
            </a:pPr>
            <a:r>
              <a:rPr lang="fr-FR" dirty="0">
                <a:latin typeface="Maiandra GD" pitchFamily="34" charset="0"/>
              </a:rPr>
              <a:t>Au </a:t>
            </a:r>
            <a:r>
              <a:rPr lang="fr-FR" dirty="0" smtClean="0">
                <a:latin typeface="Maiandra GD" pitchFamily="34" charset="0"/>
              </a:rPr>
              <a:t>fil </a:t>
            </a:r>
            <a:r>
              <a:rPr lang="fr-FR" dirty="0">
                <a:latin typeface="Maiandra GD" pitchFamily="34" charset="0"/>
              </a:rPr>
              <a:t>du temps, les langages HTML et CSS ont beaucoup évolué. Dans la toute </a:t>
            </a:r>
            <a:r>
              <a:rPr lang="fr-FR" dirty="0" smtClean="0">
                <a:latin typeface="Maiandra GD" pitchFamily="34" charset="0"/>
              </a:rPr>
              <a:t>première version </a:t>
            </a:r>
            <a:r>
              <a:rPr lang="fr-FR" dirty="0">
                <a:latin typeface="Maiandra GD" pitchFamily="34" charset="0"/>
              </a:rPr>
              <a:t>de HTML (HTML 1.0) il n'était même pas possible </a:t>
            </a:r>
            <a:r>
              <a:rPr lang="fr-FR" dirty="0" smtClean="0">
                <a:latin typeface="Maiandra GD" pitchFamily="34" charset="0"/>
              </a:rPr>
              <a:t>d'afficher </a:t>
            </a:r>
            <a:r>
              <a:rPr lang="fr-FR" dirty="0">
                <a:latin typeface="Maiandra GD" pitchFamily="34" charset="0"/>
              </a:rPr>
              <a:t>des images !</a:t>
            </a:r>
          </a:p>
          <a:p>
            <a:pPr marL="0" indent="0" algn="just">
              <a:buNone/>
            </a:pPr>
            <a:r>
              <a:rPr lang="fr-FR" dirty="0">
                <a:latin typeface="Maiandra GD" pitchFamily="34" charset="0"/>
              </a:rPr>
              <a:t>Voici un très bref historique de ces langages pour votre culture générale.</a:t>
            </a:r>
          </a:p>
        </p:txBody>
      </p:sp>
    </p:spTree>
    <p:extLst>
      <p:ext uri="{BB962C8B-B14F-4D97-AF65-F5344CB8AC3E}">
        <p14:creationId xmlns:p14="http://schemas.microsoft.com/office/powerpoint/2010/main" val="271891869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effectLst>
                  <a:outerShdw blurRad="38100" dist="38100" dir="2700000" algn="tl">
                    <a:srgbClr val="000000">
                      <a:alpha val="43137"/>
                    </a:srgbClr>
                  </a:outerShdw>
                </a:effectLst>
                <a:latin typeface="Maiandra GD" pitchFamily="34" charset="0"/>
              </a:rPr>
              <a:t>Les versions de HTML</a:t>
            </a:r>
          </a:p>
        </p:txBody>
      </p:sp>
      <p:sp>
        <p:nvSpPr>
          <p:cNvPr id="3" name="Espace réservé du contenu 2"/>
          <p:cNvSpPr>
            <a:spLocks noGrp="1"/>
          </p:cNvSpPr>
          <p:nvPr>
            <p:ph idx="1"/>
          </p:nvPr>
        </p:nvSpPr>
        <p:spPr>
          <a:xfrm>
            <a:off x="251520" y="1340768"/>
            <a:ext cx="8640960" cy="5256584"/>
          </a:xfrm>
        </p:spPr>
        <p:txBody>
          <a:bodyPr>
            <a:normAutofit/>
          </a:bodyPr>
          <a:lstStyle/>
          <a:p>
            <a:pPr marL="0" indent="0" algn="just">
              <a:buNone/>
            </a:pPr>
            <a:r>
              <a:rPr lang="fr-FR" dirty="0" smtClean="0">
                <a:latin typeface="Maiandra GD" pitchFamily="34" charset="0"/>
              </a:rPr>
              <a:t>-  </a:t>
            </a:r>
            <a:r>
              <a:rPr lang="fr-FR" dirty="0">
                <a:latin typeface="Maiandra GD" pitchFamily="34" charset="0"/>
              </a:rPr>
              <a:t>HTML 1 : c'est la toute première version créée par Tim Berners-Lee en 1991.</a:t>
            </a:r>
          </a:p>
          <a:p>
            <a:pPr marL="0" indent="0" algn="just">
              <a:buNone/>
            </a:pPr>
            <a:r>
              <a:rPr lang="fr-FR" dirty="0" smtClean="0">
                <a:latin typeface="Maiandra GD" pitchFamily="34" charset="0"/>
              </a:rPr>
              <a:t>-  </a:t>
            </a:r>
            <a:r>
              <a:rPr lang="fr-FR" dirty="0">
                <a:latin typeface="Maiandra GD" pitchFamily="34" charset="0"/>
              </a:rPr>
              <a:t>HTML 2 : la deuxième version du HTML apparaît en 1994 et prend </a:t>
            </a:r>
            <a:r>
              <a:rPr lang="fr-FR" dirty="0" smtClean="0">
                <a:latin typeface="Maiandra GD" pitchFamily="34" charset="0"/>
              </a:rPr>
              <a:t>fin </a:t>
            </a:r>
            <a:r>
              <a:rPr lang="fr-FR" dirty="0">
                <a:latin typeface="Maiandra GD" pitchFamily="34" charset="0"/>
              </a:rPr>
              <a:t>en </a:t>
            </a:r>
            <a:r>
              <a:rPr lang="fr-FR" dirty="0" smtClean="0">
                <a:latin typeface="Maiandra GD" pitchFamily="34" charset="0"/>
              </a:rPr>
              <a:t>1996 avec </a:t>
            </a:r>
            <a:r>
              <a:rPr lang="fr-FR" dirty="0">
                <a:latin typeface="Maiandra GD" pitchFamily="34" charset="0"/>
              </a:rPr>
              <a:t>l'apparition du HTML 3.0. C'est cette version qui posera en fait les bases </a:t>
            </a:r>
            <a:r>
              <a:rPr lang="fr-FR" dirty="0" smtClean="0">
                <a:latin typeface="Maiandra GD" pitchFamily="34" charset="0"/>
              </a:rPr>
              <a:t>des versions </a:t>
            </a:r>
            <a:r>
              <a:rPr lang="fr-FR" dirty="0">
                <a:latin typeface="Maiandra GD" pitchFamily="34" charset="0"/>
              </a:rPr>
              <a:t>suivantes du HTML. Les règles et le fonctionnement de cette version </a:t>
            </a:r>
            <a:r>
              <a:rPr lang="fr-FR" dirty="0" smtClean="0">
                <a:latin typeface="Maiandra GD" pitchFamily="34" charset="0"/>
              </a:rPr>
              <a:t>sont donnés </a:t>
            </a:r>
            <a:r>
              <a:rPr lang="fr-FR" dirty="0">
                <a:latin typeface="Maiandra GD" pitchFamily="34" charset="0"/>
              </a:rPr>
              <a:t>par le W3C (tandis que la première version a été créée par un seul homme).</a:t>
            </a:r>
          </a:p>
        </p:txBody>
      </p:sp>
    </p:spTree>
    <p:extLst>
      <p:ext uri="{BB962C8B-B14F-4D97-AF65-F5344CB8AC3E}">
        <p14:creationId xmlns:p14="http://schemas.microsoft.com/office/powerpoint/2010/main" val="16168694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116632"/>
            <a:ext cx="8568952" cy="6552728"/>
          </a:xfrm>
        </p:spPr>
        <p:txBody>
          <a:bodyPr>
            <a:noAutofit/>
          </a:bodyPr>
          <a:lstStyle/>
          <a:p>
            <a:pPr marL="0" indent="0" algn="just">
              <a:buNone/>
            </a:pPr>
            <a:r>
              <a:rPr lang="fr-FR" sz="3000" dirty="0" smtClean="0">
                <a:latin typeface="Maiandra GD" pitchFamily="34" charset="0"/>
              </a:rPr>
              <a:t>- HTML </a:t>
            </a:r>
            <a:r>
              <a:rPr lang="fr-FR" sz="3000" dirty="0">
                <a:latin typeface="Maiandra GD" pitchFamily="34" charset="0"/>
              </a:rPr>
              <a:t>3 : apparue en 1996, cette nouvelle version du HTML rajoute de </a:t>
            </a:r>
            <a:r>
              <a:rPr lang="fr-FR" sz="3000" dirty="0" smtClean="0">
                <a:latin typeface="Maiandra GD" pitchFamily="34" charset="0"/>
              </a:rPr>
              <a:t>nombreuses possibilités </a:t>
            </a:r>
            <a:r>
              <a:rPr lang="fr-FR" sz="3000" dirty="0">
                <a:latin typeface="Maiandra GD" pitchFamily="34" charset="0"/>
              </a:rPr>
              <a:t>au langage comme les tableaux, les applets, les scripts, le </a:t>
            </a:r>
            <a:r>
              <a:rPr lang="fr-FR" sz="3000" dirty="0" smtClean="0">
                <a:latin typeface="Maiandra GD" pitchFamily="34" charset="0"/>
              </a:rPr>
              <a:t>positionnement du </a:t>
            </a:r>
            <a:r>
              <a:rPr lang="fr-FR" sz="3000" dirty="0">
                <a:latin typeface="Maiandra GD" pitchFamily="34" charset="0"/>
              </a:rPr>
              <a:t>texte autour des images, etc.</a:t>
            </a:r>
          </a:p>
          <a:p>
            <a:pPr marL="0" indent="0" algn="just">
              <a:buNone/>
            </a:pPr>
            <a:r>
              <a:rPr lang="fr-FR" sz="3000" dirty="0" smtClean="0">
                <a:latin typeface="Maiandra GD" pitchFamily="34" charset="0"/>
              </a:rPr>
              <a:t>- HTML </a:t>
            </a:r>
            <a:r>
              <a:rPr lang="fr-FR" sz="3000" dirty="0">
                <a:latin typeface="Maiandra GD" pitchFamily="34" charset="0"/>
              </a:rPr>
              <a:t>4 : il s'agit de la version la plus répandue du HTML (plus </a:t>
            </a:r>
            <a:r>
              <a:rPr lang="fr-FR" sz="3000" dirty="0" smtClean="0">
                <a:latin typeface="Maiandra GD" pitchFamily="34" charset="0"/>
              </a:rPr>
              <a:t>précisément, il </a:t>
            </a:r>
            <a:r>
              <a:rPr lang="fr-FR" sz="3000" dirty="0">
                <a:latin typeface="Maiandra GD" pitchFamily="34" charset="0"/>
              </a:rPr>
              <a:t>s'agit de HTML 4.01). Elle apparaît pour la première fois en 1998 et </a:t>
            </a:r>
            <a:r>
              <a:rPr lang="fr-FR" sz="3000" dirty="0" smtClean="0">
                <a:latin typeface="Maiandra GD" pitchFamily="34" charset="0"/>
              </a:rPr>
              <a:t>propose l'utilisation </a:t>
            </a:r>
            <a:r>
              <a:rPr lang="fr-FR" sz="3000" dirty="0">
                <a:latin typeface="Maiandra GD" pitchFamily="34" charset="0"/>
              </a:rPr>
              <a:t>de frames (qui découpent une page web en plusieurs parties), des </a:t>
            </a:r>
            <a:r>
              <a:rPr lang="fr-FR" sz="3000" dirty="0" smtClean="0">
                <a:latin typeface="Maiandra GD" pitchFamily="34" charset="0"/>
              </a:rPr>
              <a:t>tableaux plus </a:t>
            </a:r>
            <a:r>
              <a:rPr lang="fr-FR" sz="3000" dirty="0">
                <a:latin typeface="Maiandra GD" pitchFamily="34" charset="0"/>
              </a:rPr>
              <a:t>complexes, des améliorations sur les formulaires, etc. Mais surtout, cette </a:t>
            </a:r>
            <a:r>
              <a:rPr lang="fr-FR" sz="3000" dirty="0" smtClean="0">
                <a:latin typeface="Maiandra GD" pitchFamily="34" charset="0"/>
              </a:rPr>
              <a:t>version permet </a:t>
            </a:r>
            <a:r>
              <a:rPr lang="fr-FR" sz="3000" dirty="0">
                <a:latin typeface="Maiandra GD" pitchFamily="34" charset="0"/>
              </a:rPr>
              <a:t>pour la première fois d'exploiter des feuilles de style, notre fameux CSS !</a:t>
            </a:r>
          </a:p>
        </p:txBody>
      </p:sp>
    </p:spTree>
    <p:extLst>
      <p:ext uri="{BB962C8B-B14F-4D97-AF65-F5344CB8AC3E}">
        <p14:creationId xmlns:p14="http://schemas.microsoft.com/office/powerpoint/2010/main" val="413279245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332656"/>
            <a:ext cx="8435280" cy="6048672"/>
          </a:xfrm>
        </p:spPr>
        <p:txBody>
          <a:bodyPr/>
          <a:lstStyle/>
          <a:p>
            <a:pPr marL="0" indent="0" algn="just">
              <a:buNone/>
            </a:pPr>
            <a:r>
              <a:rPr lang="fr-FR" dirty="0" smtClean="0">
                <a:latin typeface="Maiandra GD" pitchFamily="34" charset="0"/>
              </a:rPr>
              <a:t>- HTML </a:t>
            </a:r>
            <a:r>
              <a:rPr lang="fr-FR" dirty="0">
                <a:latin typeface="Maiandra GD" pitchFamily="34" charset="0"/>
              </a:rPr>
              <a:t>5 : c'est LA dernière version. Encore assez peu répandue, elle fait </a:t>
            </a:r>
            <a:r>
              <a:rPr lang="fr-FR" dirty="0" smtClean="0">
                <a:latin typeface="Maiandra GD" pitchFamily="34" charset="0"/>
              </a:rPr>
              <a:t>beaucoup parler </a:t>
            </a:r>
            <a:r>
              <a:rPr lang="fr-FR" dirty="0">
                <a:latin typeface="Maiandra GD" pitchFamily="34" charset="0"/>
              </a:rPr>
              <a:t>d'elle car elle apporte de nombreuses améliorations comme la </a:t>
            </a:r>
            <a:r>
              <a:rPr lang="fr-FR" dirty="0" smtClean="0">
                <a:latin typeface="Maiandra GD" pitchFamily="34" charset="0"/>
              </a:rPr>
              <a:t>possibilité </a:t>
            </a:r>
            <a:r>
              <a:rPr lang="fr-FR" dirty="0">
                <a:latin typeface="Maiandra GD" pitchFamily="34" charset="0"/>
              </a:rPr>
              <a:t>d'inclure facilement des vidéos, un meilleur agencement du contenu, de </a:t>
            </a:r>
            <a:r>
              <a:rPr lang="fr-FR" dirty="0" smtClean="0">
                <a:latin typeface="Maiandra GD" pitchFamily="34" charset="0"/>
              </a:rPr>
              <a:t>nouvelles fonctionnalités </a:t>
            </a:r>
            <a:r>
              <a:rPr lang="fr-FR" dirty="0">
                <a:latin typeface="Maiandra GD" pitchFamily="34" charset="0"/>
              </a:rPr>
              <a:t>pour les formulaires, etc. C'est cette version que nous allons </a:t>
            </a:r>
            <a:r>
              <a:rPr lang="fr-FR" dirty="0" smtClean="0">
                <a:latin typeface="Maiandra GD" pitchFamily="34" charset="0"/>
              </a:rPr>
              <a:t>découvrir ensemble</a:t>
            </a:r>
            <a:r>
              <a:rPr lang="fr-FR" dirty="0">
                <a:latin typeface="Maiandra GD" pitchFamily="34" charset="0"/>
              </a:rPr>
              <a:t>.</a:t>
            </a:r>
          </a:p>
        </p:txBody>
      </p:sp>
    </p:spTree>
    <p:extLst>
      <p:ext uri="{BB962C8B-B14F-4D97-AF65-F5344CB8AC3E}">
        <p14:creationId xmlns:p14="http://schemas.microsoft.com/office/powerpoint/2010/main" val="302623237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116632"/>
            <a:ext cx="8229600" cy="850106"/>
          </a:xfrm>
        </p:spPr>
        <p:txBody>
          <a:bodyPr/>
          <a:lstStyle/>
          <a:p>
            <a:r>
              <a:rPr lang="fr-FR" dirty="0">
                <a:effectLst>
                  <a:outerShdw blurRad="38100" dist="38100" dir="2700000" algn="tl">
                    <a:srgbClr val="000000">
                      <a:alpha val="43137"/>
                    </a:srgbClr>
                  </a:outerShdw>
                </a:effectLst>
                <a:latin typeface="Maiandra GD" pitchFamily="34" charset="0"/>
              </a:rPr>
              <a:t>Les versions de CSS</a:t>
            </a:r>
          </a:p>
        </p:txBody>
      </p:sp>
      <p:sp>
        <p:nvSpPr>
          <p:cNvPr id="3" name="Espace réservé du contenu 2"/>
          <p:cNvSpPr>
            <a:spLocks noGrp="1"/>
          </p:cNvSpPr>
          <p:nvPr>
            <p:ph idx="1"/>
          </p:nvPr>
        </p:nvSpPr>
        <p:spPr>
          <a:xfrm>
            <a:off x="179512" y="980728"/>
            <a:ext cx="8712968" cy="5688632"/>
          </a:xfrm>
        </p:spPr>
        <p:txBody>
          <a:bodyPr>
            <a:normAutofit/>
          </a:bodyPr>
          <a:lstStyle/>
          <a:p>
            <a:pPr marL="0" indent="0" algn="just">
              <a:buNone/>
            </a:pPr>
            <a:r>
              <a:rPr lang="fr-FR" dirty="0" smtClean="0">
                <a:latin typeface="Maiandra GD" pitchFamily="34" charset="0"/>
              </a:rPr>
              <a:t>- CSS </a:t>
            </a:r>
            <a:r>
              <a:rPr lang="fr-FR" dirty="0">
                <a:latin typeface="Maiandra GD" pitchFamily="34" charset="0"/>
              </a:rPr>
              <a:t>1 : dès 1996, on dispose de la première version du CSS. Elle pose les bases </a:t>
            </a:r>
            <a:r>
              <a:rPr lang="fr-FR" dirty="0" smtClean="0">
                <a:latin typeface="Maiandra GD" pitchFamily="34" charset="0"/>
              </a:rPr>
              <a:t>de ce </a:t>
            </a:r>
            <a:r>
              <a:rPr lang="fr-FR" dirty="0">
                <a:latin typeface="Maiandra GD" pitchFamily="34" charset="0"/>
              </a:rPr>
              <a:t>langage qui permet de présenter sa page web, comme les couleurs, les marges, </a:t>
            </a:r>
            <a:r>
              <a:rPr lang="fr-FR" dirty="0" smtClean="0">
                <a:latin typeface="Maiandra GD" pitchFamily="34" charset="0"/>
              </a:rPr>
              <a:t>les polices </a:t>
            </a:r>
            <a:r>
              <a:rPr lang="fr-FR" dirty="0">
                <a:latin typeface="Maiandra GD" pitchFamily="34" charset="0"/>
              </a:rPr>
              <a:t>de caractères, etc.</a:t>
            </a:r>
          </a:p>
          <a:p>
            <a:pPr marL="0" indent="0" algn="just">
              <a:buNone/>
            </a:pPr>
            <a:r>
              <a:rPr lang="fr-FR" dirty="0" smtClean="0">
                <a:latin typeface="Maiandra GD" pitchFamily="34" charset="0"/>
              </a:rPr>
              <a:t>- CSS </a:t>
            </a:r>
            <a:r>
              <a:rPr lang="fr-FR" dirty="0">
                <a:latin typeface="Maiandra GD" pitchFamily="34" charset="0"/>
              </a:rPr>
              <a:t>2 : apparue en 1999 puis complétée par CSS 2.1, cette nouvelle version </a:t>
            </a:r>
            <a:r>
              <a:rPr lang="fr-FR" dirty="0" smtClean="0">
                <a:latin typeface="Maiandra GD" pitchFamily="34" charset="0"/>
              </a:rPr>
              <a:t>de CSS </a:t>
            </a:r>
            <a:r>
              <a:rPr lang="fr-FR" dirty="0">
                <a:latin typeface="Maiandra GD" pitchFamily="34" charset="0"/>
              </a:rPr>
              <a:t>rajoute de nombreuses options. On peut désormais utiliser des techniques </a:t>
            </a:r>
            <a:r>
              <a:rPr lang="fr-FR" dirty="0" smtClean="0">
                <a:latin typeface="Maiandra GD" pitchFamily="34" charset="0"/>
              </a:rPr>
              <a:t>de positionnement </a:t>
            </a:r>
            <a:r>
              <a:rPr lang="fr-FR" dirty="0">
                <a:latin typeface="Maiandra GD" pitchFamily="34" charset="0"/>
              </a:rPr>
              <a:t>très précises, qui nous permettent </a:t>
            </a:r>
            <a:r>
              <a:rPr lang="fr-FR" dirty="0" smtClean="0">
                <a:latin typeface="Maiandra GD" pitchFamily="34" charset="0"/>
              </a:rPr>
              <a:t>d'afficher </a:t>
            </a:r>
            <a:r>
              <a:rPr lang="fr-FR" dirty="0">
                <a:latin typeface="Maiandra GD" pitchFamily="34" charset="0"/>
              </a:rPr>
              <a:t>des éléments où on </a:t>
            </a:r>
            <a:r>
              <a:rPr lang="fr-FR" dirty="0" smtClean="0">
                <a:latin typeface="Maiandra GD" pitchFamily="34" charset="0"/>
              </a:rPr>
              <a:t>le souhaite </a:t>
            </a:r>
            <a:r>
              <a:rPr lang="fr-FR" dirty="0">
                <a:latin typeface="Maiandra GD" pitchFamily="34" charset="0"/>
              </a:rPr>
              <a:t>sur la page.</a:t>
            </a:r>
          </a:p>
        </p:txBody>
      </p:sp>
    </p:spTree>
    <p:extLst>
      <p:ext uri="{BB962C8B-B14F-4D97-AF65-F5344CB8AC3E}">
        <p14:creationId xmlns:p14="http://schemas.microsoft.com/office/powerpoint/2010/main" val="93398802"/>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476672"/>
            <a:ext cx="8640960" cy="6048672"/>
          </a:xfrm>
        </p:spPr>
        <p:txBody>
          <a:bodyPr/>
          <a:lstStyle/>
          <a:p>
            <a:pPr marL="0" indent="0" algn="just">
              <a:buNone/>
            </a:pPr>
            <a:r>
              <a:rPr lang="fr-FR" dirty="0" smtClean="0">
                <a:latin typeface="Maiandra GD" pitchFamily="34" charset="0"/>
              </a:rPr>
              <a:t>- </a:t>
            </a:r>
            <a:r>
              <a:rPr lang="fr-FR" dirty="0">
                <a:latin typeface="Maiandra GD" pitchFamily="34" charset="0"/>
              </a:rPr>
              <a:t>CSS 3 : c'est la dernière version, qui apporte des fonctionnalités </a:t>
            </a:r>
            <a:r>
              <a:rPr lang="fr-FR" dirty="0" smtClean="0">
                <a:latin typeface="Maiandra GD" pitchFamily="34" charset="0"/>
              </a:rPr>
              <a:t>particulièrement attendues </a:t>
            </a:r>
            <a:r>
              <a:rPr lang="fr-FR" dirty="0">
                <a:latin typeface="Maiandra GD" pitchFamily="34" charset="0"/>
              </a:rPr>
              <a:t>comme les bordures arrondies, les dégradés, les ombres, etc.</a:t>
            </a:r>
          </a:p>
        </p:txBody>
      </p:sp>
    </p:spTree>
    <p:extLst>
      <p:ext uri="{BB962C8B-B14F-4D97-AF65-F5344CB8AC3E}">
        <p14:creationId xmlns:p14="http://schemas.microsoft.com/office/powerpoint/2010/main" val="281836002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404664"/>
            <a:ext cx="8640960" cy="6120680"/>
          </a:xfrm>
        </p:spPr>
        <p:txBody>
          <a:bodyPr>
            <a:normAutofit/>
          </a:bodyPr>
          <a:lstStyle/>
          <a:p>
            <a:pPr marL="0" indent="0" algn="just">
              <a:buNone/>
            </a:pPr>
            <a:r>
              <a:rPr lang="fr-FR" dirty="0">
                <a:latin typeface="Maiandra GD" pitchFamily="34" charset="0"/>
              </a:rPr>
              <a:t>Notez que HTML5 et CSS3 ne sont pas encore des versions totalement </a:t>
            </a:r>
            <a:r>
              <a:rPr lang="fr-FR" dirty="0" smtClean="0">
                <a:latin typeface="Maiandra GD" pitchFamily="34" charset="0"/>
              </a:rPr>
              <a:t>finalisées </a:t>
            </a:r>
            <a:r>
              <a:rPr lang="fr-FR" dirty="0">
                <a:latin typeface="Maiandra GD" pitchFamily="34" charset="0"/>
              </a:rPr>
              <a:t>par le W3C. Cependant, même s'il peut y avoir </a:t>
            </a:r>
            <a:r>
              <a:rPr lang="fr-FR" dirty="0" smtClean="0">
                <a:latin typeface="Maiandra GD" pitchFamily="34" charset="0"/>
              </a:rPr>
              <a:t>des changements</a:t>
            </a:r>
            <a:r>
              <a:rPr lang="fr-FR" dirty="0">
                <a:latin typeface="Maiandra GD" pitchFamily="34" charset="0"/>
              </a:rPr>
              <a:t> </a:t>
            </a:r>
            <a:r>
              <a:rPr lang="fr-FR" dirty="0" smtClean="0">
                <a:latin typeface="Maiandra GD" pitchFamily="34" charset="0"/>
              </a:rPr>
              <a:t>mineurs </a:t>
            </a:r>
            <a:r>
              <a:rPr lang="fr-FR" dirty="0">
                <a:latin typeface="Maiandra GD" pitchFamily="34" charset="0"/>
              </a:rPr>
              <a:t>dans ces langages, je vous recommande chaudement de </a:t>
            </a:r>
            <a:r>
              <a:rPr lang="fr-FR" dirty="0" smtClean="0">
                <a:latin typeface="Maiandra GD" pitchFamily="34" charset="0"/>
              </a:rPr>
              <a:t>commencer dès </a:t>
            </a:r>
            <a:r>
              <a:rPr lang="fr-FR" dirty="0">
                <a:latin typeface="Maiandra GD" pitchFamily="34" charset="0"/>
              </a:rPr>
              <a:t>aujourd'hui avec ces nouvelles versions. Leurs apports sont nombreux </a:t>
            </a:r>
            <a:r>
              <a:rPr lang="fr-FR" dirty="0" smtClean="0">
                <a:latin typeface="Maiandra GD" pitchFamily="34" charset="0"/>
              </a:rPr>
              <a:t>et valent </a:t>
            </a:r>
            <a:r>
              <a:rPr lang="fr-FR" dirty="0">
                <a:latin typeface="Maiandra GD" pitchFamily="34" charset="0"/>
              </a:rPr>
              <a:t>vraiment le coup. D'ailleurs, de nombreux sites web professionnels </a:t>
            </a:r>
            <a:r>
              <a:rPr lang="fr-FR" dirty="0" smtClean="0">
                <a:latin typeface="Maiandra GD" pitchFamily="34" charset="0"/>
              </a:rPr>
              <a:t>se construisent </a:t>
            </a:r>
            <a:r>
              <a:rPr lang="fr-FR" dirty="0">
                <a:latin typeface="Maiandra GD" pitchFamily="34" charset="0"/>
              </a:rPr>
              <a:t>aujourd'hui sur ces dernières versions.</a:t>
            </a:r>
          </a:p>
          <a:p>
            <a:endParaRPr lang="fr-FR"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8144" y="5229200"/>
            <a:ext cx="1238250" cy="1238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348017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22313" y="2492896"/>
            <a:ext cx="7772400" cy="1362075"/>
          </a:xfrm>
        </p:spPr>
        <p:txBody>
          <a:bodyPr>
            <a:normAutofit fontScale="90000"/>
          </a:bodyPr>
          <a:lstStyle/>
          <a:p>
            <a:pPr algn="ctr"/>
            <a:r>
              <a:rPr lang="fr-FR" sz="6000" dirty="0">
                <a:effectLst>
                  <a:outerShdw blurRad="38100" dist="38100" dir="2700000" algn="tl">
                    <a:srgbClr val="000000">
                      <a:alpha val="43137"/>
                    </a:srgbClr>
                  </a:outerShdw>
                </a:effectLst>
                <a:latin typeface="Maiandra GD" pitchFamily="34" charset="0"/>
              </a:rPr>
              <a:t>L'éditeur de texte</a:t>
            </a:r>
            <a:r>
              <a:rPr lang="fr-FR" dirty="0"/>
              <a:t/>
            </a:r>
            <a:br>
              <a:rPr lang="fr-FR" dirty="0"/>
            </a:br>
            <a:endParaRPr lang="fr-FR" dirty="0"/>
          </a:p>
        </p:txBody>
      </p:sp>
    </p:spTree>
    <p:extLst>
      <p:ext uri="{BB962C8B-B14F-4D97-AF65-F5344CB8AC3E}">
        <p14:creationId xmlns:p14="http://schemas.microsoft.com/office/powerpoint/2010/main" val="24521148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67544" y="2996952"/>
            <a:ext cx="8229600" cy="1224136"/>
          </a:xfrm>
        </p:spPr>
        <p:txBody>
          <a:bodyPr>
            <a:normAutofit/>
          </a:bodyPr>
          <a:lstStyle/>
          <a:p>
            <a:pPr marL="0" indent="0" algn="ctr">
              <a:buNone/>
            </a:pPr>
            <a:r>
              <a:rPr lang="fr-FR" sz="3600" dirty="0">
                <a:effectLst>
                  <a:outerShdw blurRad="38100" dist="38100" dir="2700000" algn="tl">
                    <a:srgbClr val="000000">
                      <a:alpha val="43137"/>
                    </a:srgbClr>
                  </a:outerShdw>
                </a:effectLst>
                <a:latin typeface="Maiandra GD" pitchFamily="34" charset="0"/>
              </a:rPr>
              <a:t>De quel logiciel vais-je avoir besoin pour créer mon site web ? </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3888" y="1268760"/>
            <a:ext cx="1238250" cy="1238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890926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404664"/>
            <a:ext cx="8229600" cy="5721499"/>
          </a:xfrm>
        </p:spPr>
        <p:txBody>
          <a:bodyPr/>
          <a:lstStyle/>
          <a:p>
            <a:pPr marL="0" indent="0" algn="just">
              <a:buNone/>
            </a:pPr>
            <a:r>
              <a:rPr lang="fr-FR" dirty="0">
                <a:latin typeface="Maiandra GD" pitchFamily="34" charset="0"/>
              </a:rPr>
              <a:t>Il existe </a:t>
            </a:r>
            <a:r>
              <a:rPr lang="fr-FR" dirty="0" smtClean="0">
                <a:latin typeface="Maiandra GD" pitchFamily="34" charset="0"/>
              </a:rPr>
              <a:t>effectivement </a:t>
            </a:r>
            <a:r>
              <a:rPr lang="fr-FR" dirty="0">
                <a:latin typeface="Maiandra GD" pitchFamily="34" charset="0"/>
              </a:rPr>
              <a:t>de nombreux logiciels dédiés à la création de sites web. Mais, je</a:t>
            </a:r>
          </a:p>
          <a:p>
            <a:pPr marL="0" indent="0" algn="just">
              <a:buNone/>
            </a:pPr>
            <a:r>
              <a:rPr lang="fr-FR" dirty="0">
                <a:latin typeface="Maiandra GD" pitchFamily="34" charset="0"/>
              </a:rPr>
              <a:t>vous rassure, vous n'aurez pas à débourser un seul centime. Pourquoi aller chercher un</a:t>
            </a:r>
          </a:p>
          <a:p>
            <a:pPr marL="0" indent="0" algn="just">
              <a:buNone/>
            </a:pPr>
            <a:r>
              <a:rPr lang="fr-FR" dirty="0">
                <a:latin typeface="Maiandra GD" pitchFamily="34" charset="0"/>
              </a:rPr>
              <a:t>logiciel payant et compliqué, alors que vous avez déjà tout ce </a:t>
            </a:r>
            <a:r>
              <a:rPr lang="fr-FR" dirty="0" smtClean="0">
                <a:latin typeface="Maiandra GD" pitchFamily="34" charset="0"/>
              </a:rPr>
              <a:t>qu‘il </a:t>
            </a:r>
            <a:r>
              <a:rPr lang="fr-FR" dirty="0">
                <a:latin typeface="Maiandra GD" pitchFamily="34" charset="0"/>
              </a:rPr>
              <a:t>faut chez vous </a:t>
            </a:r>
            <a:r>
              <a:rPr lang="fr-FR" dirty="0" smtClean="0">
                <a:latin typeface="Maiandra GD" pitchFamily="34" charset="0"/>
              </a:rPr>
              <a:t>?</a:t>
            </a:r>
          </a:p>
          <a:p>
            <a:pPr marL="0" indent="0" algn="just">
              <a:buNone/>
            </a:pPr>
            <a:r>
              <a:rPr lang="fr-FR" dirty="0">
                <a:latin typeface="Maiandra GD" pitchFamily="34" charset="0"/>
              </a:rPr>
              <a:t>Eh oui, accrochez-vous bien parce qu'il </a:t>
            </a:r>
            <a:r>
              <a:rPr lang="fr-FR" dirty="0" smtClean="0">
                <a:latin typeface="Maiandra GD" pitchFamily="34" charset="0"/>
              </a:rPr>
              <a:t>suffit </a:t>
            </a:r>
            <a:r>
              <a:rPr lang="fr-FR" dirty="0">
                <a:latin typeface="Maiandra GD" pitchFamily="34" charset="0"/>
              </a:rPr>
              <a:t>de. . . </a:t>
            </a:r>
            <a:r>
              <a:rPr lang="fr-FR" dirty="0">
                <a:solidFill>
                  <a:srgbClr val="FF0000"/>
                </a:solidFill>
                <a:latin typeface="Maiandra GD" pitchFamily="34" charset="0"/>
              </a:rPr>
              <a:t>Bloc-Notes</a:t>
            </a:r>
            <a:r>
              <a:rPr lang="fr-FR" dirty="0">
                <a:latin typeface="Maiandra GD" pitchFamily="34" charset="0"/>
              </a:rPr>
              <a:t> </a:t>
            </a:r>
            <a:r>
              <a:rPr lang="fr-FR" dirty="0" smtClean="0">
                <a:latin typeface="Maiandra GD" pitchFamily="34" charset="0"/>
              </a:rPr>
              <a:t>(figure ci-dessous) </a:t>
            </a:r>
            <a:r>
              <a:rPr lang="fr-FR" dirty="0">
                <a:latin typeface="Maiandra GD" pitchFamily="34" charset="0"/>
              </a:rPr>
              <a:t>!</a:t>
            </a:r>
          </a:p>
        </p:txBody>
      </p:sp>
    </p:spTree>
    <p:extLst>
      <p:ext uri="{BB962C8B-B14F-4D97-AF65-F5344CB8AC3E}">
        <p14:creationId xmlns:p14="http://schemas.microsoft.com/office/powerpoint/2010/main" val="320506029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88640"/>
            <a:ext cx="8784976" cy="6048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971600" y="6309320"/>
            <a:ext cx="7488832" cy="461665"/>
          </a:xfrm>
          <a:prstGeom prst="rect">
            <a:avLst/>
          </a:prstGeom>
        </p:spPr>
        <p:txBody>
          <a:bodyPr wrap="square">
            <a:spAutoFit/>
          </a:bodyPr>
          <a:lstStyle/>
          <a:p>
            <a:pPr algn="ctr"/>
            <a:r>
              <a:rPr lang="fr-FR" sz="2400" dirty="0">
                <a:effectLst>
                  <a:outerShdw blurRad="38100" dist="38100" dir="2700000" algn="tl">
                    <a:srgbClr val="000000">
                      <a:alpha val="43137"/>
                    </a:srgbClr>
                  </a:outerShdw>
                </a:effectLst>
                <a:latin typeface="Maiandra GD" pitchFamily="34" charset="0"/>
              </a:rPr>
              <a:t>Le logiciel Bloc-notes de Windows</a:t>
            </a:r>
          </a:p>
        </p:txBody>
      </p:sp>
    </p:spTree>
    <p:extLst>
      <p:ext uri="{BB962C8B-B14F-4D97-AF65-F5344CB8AC3E}">
        <p14:creationId xmlns:p14="http://schemas.microsoft.com/office/powerpoint/2010/main" val="228346738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332656"/>
            <a:ext cx="8568952" cy="6120680"/>
          </a:xfrm>
        </p:spPr>
        <p:txBody>
          <a:bodyPr>
            <a:normAutofit/>
          </a:bodyPr>
          <a:lstStyle/>
          <a:p>
            <a:pPr marL="0" indent="0" algn="just">
              <a:buNone/>
            </a:pPr>
            <a:r>
              <a:rPr lang="fr-FR" sz="3400" dirty="0">
                <a:latin typeface="Maiandra GD" pitchFamily="34" charset="0"/>
              </a:rPr>
              <a:t>Incroyable mais vrai : on peut tout à fait créer un site web uniquement avec </a:t>
            </a:r>
            <a:r>
              <a:rPr lang="fr-FR" sz="3400" dirty="0" smtClean="0">
                <a:latin typeface="Maiandra GD" pitchFamily="34" charset="0"/>
              </a:rPr>
              <a:t>Bloc-Notes</a:t>
            </a:r>
            <a:r>
              <a:rPr lang="fr-FR" sz="3400" dirty="0">
                <a:latin typeface="Maiandra GD" pitchFamily="34" charset="0"/>
              </a:rPr>
              <a:t>, le logiciel d'édition de texte intégré par défaut à Windows. D'ailleurs, </a:t>
            </a:r>
            <a:r>
              <a:rPr lang="fr-FR" sz="3400" dirty="0" smtClean="0">
                <a:latin typeface="Maiandra GD" pitchFamily="34" charset="0"/>
              </a:rPr>
              <a:t>j'avoue, c'est </a:t>
            </a:r>
            <a:r>
              <a:rPr lang="fr-FR" sz="3400" dirty="0">
                <a:latin typeface="Maiandra GD" pitchFamily="34" charset="0"/>
              </a:rPr>
              <a:t>comme cela que j'ai commencé moi-même il y a quelques années</a:t>
            </a:r>
            <a:r>
              <a:rPr lang="fr-FR" sz="3400" dirty="0" smtClean="0">
                <a:latin typeface="Maiandra GD" pitchFamily="34" charset="0"/>
              </a:rPr>
              <a:t>. </a:t>
            </a:r>
          </a:p>
          <a:p>
            <a:pPr marL="0" indent="0" algn="just">
              <a:buNone/>
            </a:pPr>
            <a:r>
              <a:rPr lang="fr-FR" sz="3400" dirty="0" smtClean="0">
                <a:latin typeface="Maiandra GD" pitchFamily="34" charset="0"/>
              </a:rPr>
              <a:t>Il </a:t>
            </a:r>
            <a:r>
              <a:rPr lang="fr-FR" sz="3400" dirty="0">
                <a:latin typeface="Maiandra GD" pitchFamily="34" charset="0"/>
              </a:rPr>
              <a:t>y a cependant des logiciels plus puissants aujourd'hui et personne n'utilise </a:t>
            </a:r>
            <a:r>
              <a:rPr lang="fr-FR" sz="3400" dirty="0" smtClean="0">
                <a:latin typeface="Maiandra GD" pitchFamily="34" charset="0"/>
              </a:rPr>
              <a:t>vraiment Bloc-Notes</a:t>
            </a:r>
            <a:r>
              <a:rPr lang="fr-FR" sz="3400" dirty="0">
                <a:latin typeface="Maiandra GD" pitchFamily="34" charset="0"/>
              </a:rPr>
              <a:t>. On peut classer ces logiciels de création de site web en deux catégories :</a:t>
            </a:r>
          </a:p>
        </p:txBody>
      </p:sp>
    </p:spTree>
    <p:extLst>
      <p:ext uri="{BB962C8B-B14F-4D97-AF65-F5344CB8AC3E}">
        <p14:creationId xmlns:p14="http://schemas.microsoft.com/office/powerpoint/2010/main" val="7467111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23528" y="404664"/>
            <a:ext cx="8568952" cy="6264696"/>
          </a:xfrm>
        </p:spPr>
        <p:txBody>
          <a:bodyPr>
            <a:normAutofit/>
          </a:bodyPr>
          <a:lstStyle/>
          <a:p>
            <a:pPr marL="0" indent="0" algn="just">
              <a:buNone/>
            </a:pPr>
            <a:r>
              <a:rPr lang="fr-FR" dirty="0" smtClean="0">
                <a:latin typeface="Maiandra GD" pitchFamily="34" charset="0"/>
              </a:rPr>
              <a:t>- Les </a:t>
            </a:r>
            <a:r>
              <a:rPr lang="fr-FR" dirty="0">
                <a:latin typeface="Maiandra GD" pitchFamily="34" charset="0"/>
              </a:rPr>
              <a:t>WYSIWYG (</a:t>
            </a:r>
            <a:r>
              <a:rPr lang="fr-FR" dirty="0" err="1">
                <a:latin typeface="Maiandra GD" pitchFamily="34" charset="0"/>
              </a:rPr>
              <a:t>What</a:t>
            </a:r>
            <a:r>
              <a:rPr lang="fr-FR" dirty="0">
                <a:latin typeface="Maiandra GD" pitchFamily="34" charset="0"/>
              </a:rPr>
              <a:t> You </a:t>
            </a:r>
            <a:r>
              <a:rPr lang="fr-FR" dirty="0" err="1">
                <a:latin typeface="Maiandra GD" pitchFamily="34" charset="0"/>
              </a:rPr>
              <a:t>See</a:t>
            </a:r>
            <a:r>
              <a:rPr lang="fr-FR" dirty="0">
                <a:latin typeface="Maiandra GD" pitchFamily="34" charset="0"/>
              </a:rPr>
              <a:t> Is </a:t>
            </a:r>
            <a:r>
              <a:rPr lang="fr-FR" dirty="0" err="1">
                <a:latin typeface="Maiandra GD" pitchFamily="34" charset="0"/>
              </a:rPr>
              <a:t>What</a:t>
            </a:r>
            <a:r>
              <a:rPr lang="fr-FR" dirty="0">
                <a:latin typeface="Maiandra GD" pitchFamily="34" charset="0"/>
              </a:rPr>
              <a:t> You </a:t>
            </a:r>
            <a:r>
              <a:rPr lang="fr-FR" dirty="0" err="1">
                <a:latin typeface="Maiandra GD" pitchFamily="34" charset="0"/>
              </a:rPr>
              <a:t>Get</a:t>
            </a:r>
            <a:r>
              <a:rPr lang="fr-FR" dirty="0">
                <a:latin typeface="Maiandra GD" pitchFamily="34" charset="0"/>
              </a:rPr>
              <a:t> - Ce Que Vous Voyez Est Ce </a:t>
            </a:r>
            <a:r>
              <a:rPr lang="fr-FR" dirty="0" smtClean="0">
                <a:latin typeface="Maiandra GD" pitchFamily="34" charset="0"/>
              </a:rPr>
              <a:t>Que Vous </a:t>
            </a:r>
            <a:r>
              <a:rPr lang="fr-FR" dirty="0">
                <a:latin typeface="Maiandra GD" pitchFamily="34" charset="0"/>
              </a:rPr>
              <a:t>Obtenez) : ce sont des programmes qui se veulent très faciles d'emploi, ils </a:t>
            </a:r>
            <a:r>
              <a:rPr lang="fr-FR" dirty="0" smtClean="0">
                <a:latin typeface="Maiandra GD" pitchFamily="34" charset="0"/>
              </a:rPr>
              <a:t>permettent de </a:t>
            </a:r>
            <a:r>
              <a:rPr lang="fr-FR" dirty="0">
                <a:latin typeface="Maiandra GD" pitchFamily="34" charset="0"/>
              </a:rPr>
              <a:t>créer des sites web sans apprendre de langage particulier. Parmi les </a:t>
            </a:r>
            <a:r>
              <a:rPr lang="fr-FR" dirty="0" smtClean="0">
                <a:latin typeface="Maiandra GD" pitchFamily="34" charset="0"/>
              </a:rPr>
              <a:t>plus connus </a:t>
            </a:r>
            <a:r>
              <a:rPr lang="fr-FR" dirty="0">
                <a:latin typeface="Maiandra GD" pitchFamily="34" charset="0"/>
              </a:rPr>
              <a:t>d'entre eux : Mozilla Composer, Microsoft Expression Web, Dreamweaver. . </a:t>
            </a:r>
            <a:r>
              <a:rPr lang="fr-FR" dirty="0" smtClean="0">
                <a:latin typeface="Maiandra GD" pitchFamily="34" charset="0"/>
              </a:rPr>
              <a:t>.</a:t>
            </a:r>
            <a:r>
              <a:rPr lang="fr-FR" dirty="0"/>
              <a:t> </a:t>
            </a:r>
            <a:endParaRPr lang="fr-FR" dirty="0">
              <a:latin typeface="Maiandra GD" pitchFamily="34" charset="0"/>
            </a:endParaRPr>
          </a:p>
        </p:txBody>
      </p:sp>
    </p:spTree>
    <p:extLst>
      <p:ext uri="{BB962C8B-B14F-4D97-AF65-F5344CB8AC3E}">
        <p14:creationId xmlns:p14="http://schemas.microsoft.com/office/powerpoint/2010/main" val="201650817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404664"/>
            <a:ext cx="8229600" cy="5721499"/>
          </a:xfrm>
        </p:spPr>
        <p:txBody>
          <a:bodyPr/>
          <a:lstStyle/>
          <a:p>
            <a:pPr marL="0" indent="0" algn="just">
              <a:buNone/>
            </a:pPr>
            <a:r>
              <a:rPr lang="fr-FR" dirty="0">
                <a:latin typeface="Maiandra GD" pitchFamily="34" charset="0"/>
              </a:rPr>
              <a:t>et même Word ! Leur principal défaut est la qualité souvent assez mauvaise du code HTML et CSS qui est automatiquement généré par ces outils. Un bon créateur de site web doit tôt ou tard connaître HTML et CSS, c'est pourquoi je ne recommande pas l'usage de ces outils.</a:t>
            </a:r>
          </a:p>
          <a:p>
            <a:pPr marL="0" indent="0">
              <a:buNone/>
            </a:pPr>
            <a:endParaRPr lang="fr-FR" dirty="0"/>
          </a:p>
        </p:txBody>
      </p:sp>
    </p:spTree>
    <p:extLst>
      <p:ext uri="{BB962C8B-B14F-4D97-AF65-F5344CB8AC3E}">
        <p14:creationId xmlns:p14="http://schemas.microsoft.com/office/powerpoint/2010/main" val="35653901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476672"/>
            <a:ext cx="8640960" cy="6048672"/>
          </a:xfrm>
        </p:spPr>
        <p:txBody>
          <a:bodyPr/>
          <a:lstStyle/>
          <a:p>
            <a:pPr algn="just">
              <a:buFontTx/>
              <a:buChar char="-"/>
            </a:pPr>
            <a:r>
              <a:rPr lang="fr-FR" dirty="0" smtClean="0">
                <a:latin typeface="Maiandra GD" pitchFamily="34" charset="0"/>
              </a:rPr>
              <a:t>Les </a:t>
            </a:r>
            <a:r>
              <a:rPr lang="fr-FR" dirty="0">
                <a:latin typeface="Maiandra GD" pitchFamily="34" charset="0"/>
              </a:rPr>
              <a:t>éditeurs de texte : ce sont des programmes dédiés à l'écriture de code. </a:t>
            </a:r>
            <a:r>
              <a:rPr lang="fr-FR" dirty="0" smtClean="0">
                <a:latin typeface="Maiandra GD" pitchFamily="34" charset="0"/>
              </a:rPr>
              <a:t>On peut </a:t>
            </a:r>
            <a:r>
              <a:rPr lang="fr-FR" dirty="0">
                <a:latin typeface="Maiandra GD" pitchFamily="34" charset="0"/>
              </a:rPr>
              <a:t>en général les utiliser pour de multiples langages, pas seulement HTML et </a:t>
            </a:r>
            <a:r>
              <a:rPr lang="fr-FR" dirty="0" smtClean="0">
                <a:latin typeface="Maiandra GD" pitchFamily="34" charset="0"/>
              </a:rPr>
              <a:t>CSS. Ils </a:t>
            </a:r>
            <a:r>
              <a:rPr lang="fr-FR" dirty="0">
                <a:latin typeface="Maiandra GD" pitchFamily="34" charset="0"/>
              </a:rPr>
              <a:t>se révèlent être de puissants alliés pour les créateurs de sites web </a:t>
            </a:r>
            <a:r>
              <a:rPr lang="fr-FR" dirty="0" smtClean="0">
                <a:latin typeface="Maiandra GD" pitchFamily="34" charset="0"/>
              </a:rPr>
              <a:t>!</a:t>
            </a:r>
          </a:p>
          <a:p>
            <a:pPr marL="0" indent="0" algn="just">
              <a:buNone/>
            </a:pPr>
            <a:r>
              <a:rPr lang="fr-FR" dirty="0">
                <a:latin typeface="Maiandra GD" pitchFamily="34" charset="0"/>
              </a:rPr>
              <a:t>Vous l'aurez compris, je vais vous inviter à utiliser un éditeur de texte dans ce cours.</a:t>
            </a:r>
          </a:p>
          <a:p>
            <a:pPr marL="0" indent="0" algn="just">
              <a:buNone/>
            </a:pPr>
            <a:r>
              <a:rPr lang="fr-FR" dirty="0">
                <a:latin typeface="Maiandra GD" pitchFamily="34" charset="0"/>
              </a:rPr>
              <a:t>Voici quelques conseils, selon que vous êtes sous Windows, Mac OS X ou Linux.</a:t>
            </a:r>
          </a:p>
        </p:txBody>
      </p:sp>
    </p:spTree>
    <p:extLst>
      <p:ext uri="{BB962C8B-B14F-4D97-AF65-F5344CB8AC3E}">
        <p14:creationId xmlns:p14="http://schemas.microsoft.com/office/powerpoint/2010/main" val="190605816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effectLst>
                  <a:outerShdw blurRad="38100" dist="38100" dir="2700000" algn="tl">
                    <a:srgbClr val="000000">
                      <a:alpha val="43137"/>
                    </a:srgbClr>
                  </a:outerShdw>
                </a:effectLst>
                <a:latin typeface="Maiandra GD" pitchFamily="34" charset="0"/>
              </a:rPr>
              <a:t>Sous Windows</a:t>
            </a:r>
          </a:p>
        </p:txBody>
      </p:sp>
      <p:sp>
        <p:nvSpPr>
          <p:cNvPr id="3" name="Espace réservé du contenu 2"/>
          <p:cNvSpPr>
            <a:spLocks noGrp="1"/>
          </p:cNvSpPr>
          <p:nvPr>
            <p:ph idx="1"/>
          </p:nvPr>
        </p:nvSpPr>
        <p:spPr/>
        <p:txBody>
          <a:bodyPr>
            <a:normAutofit/>
          </a:bodyPr>
          <a:lstStyle/>
          <a:p>
            <a:pPr marL="0" indent="0" algn="just">
              <a:buNone/>
            </a:pPr>
            <a:r>
              <a:rPr lang="fr-FR" sz="3600" dirty="0">
                <a:latin typeface="Maiandra GD" pitchFamily="34" charset="0"/>
              </a:rPr>
              <a:t>Il existe une grande quantité d'éditeurs de texte, je ne pourrai pas vous les </a:t>
            </a:r>
            <a:r>
              <a:rPr lang="fr-FR" sz="3600" dirty="0" smtClean="0">
                <a:latin typeface="Maiandra GD" pitchFamily="34" charset="0"/>
              </a:rPr>
              <a:t>présenter tous</a:t>
            </a:r>
            <a:r>
              <a:rPr lang="fr-FR" sz="3600" dirty="0">
                <a:latin typeface="Maiandra GD" pitchFamily="34" charset="0"/>
              </a:rPr>
              <a:t>. </a:t>
            </a:r>
            <a:r>
              <a:rPr lang="fr-FR" sz="3600" dirty="0" smtClean="0">
                <a:latin typeface="Maiandra GD" pitchFamily="34" charset="0"/>
              </a:rPr>
              <a:t>Néanmoins</a:t>
            </a:r>
            <a:r>
              <a:rPr lang="fr-FR" sz="3600" dirty="0">
                <a:latin typeface="Maiandra GD" pitchFamily="34" charset="0"/>
              </a:rPr>
              <a:t>, je vous invite à vous pencher sur Notepad++, l'un des plus </a:t>
            </a:r>
            <a:r>
              <a:rPr lang="fr-FR" sz="3600" dirty="0" smtClean="0">
                <a:latin typeface="Maiandra GD" pitchFamily="34" charset="0"/>
              </a:rPr>
              <a:t>utilisés parmi </a:t>
            </a:r>
            <a:r>
              <a:rPr lang="fr-FR" sz="3600" dirty="0">
                <a:latin typeface="Maiandra GD" pitchFamily="34" charset="0"/>
              </a:rPr>
              <a:t>ceux disponibles pour Windows. Ce logiciel est simple, en français et gratuit.</a:t>
            </a:r>
          </a:p>
        </p:txBody>
      </p:sp>
    </p:spTree>
    <p:extLst>
      <p:ext uri="{BB962C8B-B14F-4D97-AF65-F5344CB8AC3E}">
        <p14:creationId xmlns:p14="http://schemas.microsoft.com/office/powerpoint/2010/main" val="168808380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404664"/>
            <a:ext cx="8640960" cy="6120680"/>
          </a:xfrm>
        </p:spPr>
        <p:txBody>
          <a:bodyPr/>
          <a:lstStyle/>
          <a:p>
            <a:pPr marL="0" indent="0" algn="just">
              <a:buNone/>
            </a:pPr>
            <a:r>
              <a:rPr lang="fr-FR" dirty="0">
                <a:latin typeface="Maiandra GD" pitchFamily="34" charset="0"/>
              </a:rPr>
              <a:t>Voici à quoi ressemble Notepad++ lorsque vous le lancez </a:t>
            </a:r>
            <a:r>
              <a:rPr lang="fr-FR" dirty="0" smtClean="0">
                <a:latin typeface="Maiandra GD" pitchFamily="34" charset="0"/>
              </a:rPr>
              <a:t>(figure ci-dessous).</a:t>
            </a:r>
            <a:endParaRPr lang="fr-FR" dirty="0">
              <a:latin typeface="Maiandra GD" pitchFamily="34" charset="0"/>
            </a:endParaRPr>
          </a:p>
          <a:p>
            <a:pPr marL="0" indent="0" algn="just">
              <a:buNone/>
            </a:pPr>
            <a:r>
              <a:rPr lang="fr-FR" dirty="0">
                <a:latin typeface="Maiandra GD" pitchFamily="34" charset="0"/>
              </a:rPr>
              <a:t>Je vous conseille de faire la manipulation suivante : allez dans le menu Langage &gt; H &gt;</a:t>
            </a:r>
          </a:p>
          <a:p>
            <a:pPr marL="0" indent="0" algn="just">
              <a:buNone/>
            </a:pPr>
            <a:r>
              <a:rPr lang="fr-FR" dirty="0">
                <a:latin typeface="Maiandra GD" pitchFamily="34" charset="0"/>
              </a:rPr>
              <a:t>HTML. Cela permettra au logiciel de savoir que l'on va taper du HTML. </a:t>
            </a:r>
          </a:p>
        </p:txBody>
      </p:sp>
    </p:spTree>
    <p:extLst>
      <p:ext uri="{BB962C8B-B14F-4D97-AF65-F5344CB8AC3E}">
        <p14:creationId xmlns:p14="http://schemas.microsoft.com/office/powerpoint/2010/main" val="42488119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016" y="188640"/>
            <a:ext cx="8892480" cy="6101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259632" y="6290156"/>
            <a:ext cx="6552728" cy="523220"/>
          </a:xfrm>
          <a:prstGeom prst="rect">
            <a:avLst/>
          </a:prstGeom>
        </p:spPr>
        <p:txBody>
          <a:bodyPr wrap="square">
            <a:spAutoFit/>
          </a:bodyPr>
          <a:lstStyle/>
          <a:p>
            <a:pPr algn="ctr"/>
            <a:r>
              <a:rPr lang="fr-FR" sz="2800" dirty="0">
                <a:latin typeface="Maiandra GD" pitchFamily="34" charset="0"/>
              </a:rPr>
              <a:t>Notepad++</a:t>
            </a:r>
          </a:p>
        </p:txBody>
      </p:sp>
    </p:spTree>
    <p:extLst>
      <p:ext uri="{BB962C8B-B14F-4D97-AF65-F5344CB8AC3E}">
        <p14:creationId xmlns:p14="http://schemas.microsoft.com/office/powerpoint/2010/main" val="137500419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476672"/>
            <a:ext cx="8229600" cy="5649491"/>
          </a:xfrm>
        </p:spPr>
        <p:txBody>
          <a:bodyPr/>
          <a:lstStyle/>
          <a:p>
            <a:pPr marL="0" indent="0" algn="just">
              <a:buNone/>
            </a:pPr>
            <a:r>
              <a:rPr lang="fr-FR" sz="3600" dirty="0">
                <a:latin typeface="Maiandra GD" pitchFamily="34" charset="0"/>
              </a:rPr>
              <a:t>Lorsque </a:t>
            </a:r>
            <a:r>
              <a:rPr lang="fr-FR" sz="3600" dirty="0" smtClean="0">
                <a:latin typeface="Maiandra GD" pitchFamily="34" charset="0"/>
              </a:rPr>
              <a:t>vous </a:t>
            </a:r>
            <a:r>
              <a:rPr lang="fr-FR" sz="3600" dirty="0">
                <a:latin typeface="Maiandra GD" pitchFamily="34" charset="0"/>
              </a:rPr>
              <a:t>utiliserez le logiciel, il colorera votre code </a:t>
            </a:r>
            <a:r>
              <a:rPr lang="fr-FR" sz="3600" dirty="0" smtClean="0">
                <a:latin typeface="Maiandra GD" pitchFamily="34" charset="0"/>
              </a:rPr>
              <a:t>(figure ci-dessous), </a:t>
            </a:r>
            <a:r>
              <a:rPr lang="fr-FR" sz="3600" dirty="0">
                <a:latin typeface="Maiandra GD" pitchFamily="34" charset="0"/>
              </a:rPr>
              <a:t>ce qui vous permettra de </a:t>
            </a:r>
            <a:r>
              <a:rPr lang="fr-FR" sz="3600" dirty="0" smtClean="0">
                <a:latin typeface="Maiandra GD" pitchFamily="34" charset="0"/>
              </a:rPr>
              <a:t>vous repérer </a:t>
            </a:r>
            <a:r>
              <a:rPr lang="fr-FR" sz="3600" dirty="0">
                <a:latin typeface="Maiandra GD" pitchFamily="34" charset="0"/>
              </a:rPr>
              <a:t>plus facilement.</a:t>
            </a:r>
          </a:p>
          <a:p>
            <a:pPr marL="0" indent="0">
              <a:buNone/>
            </a:pPr>
            <a:endParaRPr lang="fr-FR" dirty="0"/>
          </a:p>
        </p:txBody>
      </p:sp>
    </p:spTree>
    <p:extLst>
      <p:ext uri="{BB962C8B-B14F-4D97-AF65-F5344CB8AC3E}">
        <p14:creationId xmlns:p14="http://schemas.microsoft.com/office/powerpoint/2010/main" val="270172671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188640"/>
            <a:ext cx="8496943" cy="6048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187624" y="6309320"/>
            <a:ext cx="6912768" cy="461665"/>
          </a:xfrm>
          <a:prstGeom prst="rect">
            <a:avLst/>
          </a:prstGeom>
        </p:spPr>
        <p:txBody>
          <a:bodyPr wrap="square">
            <a:spAutoFit/>
          </a:bodyPr>
          <a:lstStyle/>
          <a:p>
            <a:pPr algn="ctr"/>
            <a:r>
              <a:rPr lang="fr-FR" sz="2400" dirty="0">
                <a:effectLst>
                  <a:outerShdw blurRad="38100" dist="38100" dir="2700000" algn="tl">
                    <a:srgbClr val="000000">
                      <a:alpha val="43137"/>
                    </a:srgbClr>
                  </a:outerShdw>
                </a:effectLst>
                <a:latin typeface="Maiandra GD" pitchFamily="34" charset="0"/>
              </a:rPr>
              <a:t>Coloration sous Notepad++</a:t>
            </a:r>
          </a:p>
        </p:txBody>
      </p:sp>
    </p:spTree>
    <p:extLst>
      <p:ext uri="{BB962C8B-B14F-4D97-AF65-F5344CB8AC3E}">
        <p14:creationId xmlns:p14="http://schemas.microsoft.com/office/powerpoint/2010/main" val="313253746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9512" y="260648"/>
            <a:ext cx="8784976" cy="6192688"/>
          </a:xfrm>
        </p:spPr>
        <p:txBody>
          <a:bodyPr>
            <a:normAutofit/>
          </a:bodyPr>
          <a:lstStyle/>
          <a:p>
            <a:pPr marL="0" indent="0" algn="just">
              <a:buNone/>
            </a:pPr>
            <a:endParaRPr lang="fr-FR" sz="3600" dirty="0" smtClean="0">
              <a:latin typeface="Maiandra GD" pitchFamily="34" charset="0"/>
            </a:endParaRPr>
          </a:p>
          <a:p>
            <a:pPr marL="0" indent="0" algn="just">
              <a:buNone/>
            </a:pPr>
            <a:r>
              <a:rPr lang="fr-FR" sz="3600" dirty="0" smtClean="0">
                <a:latin typeface="Maiandra GD" pitchFamily="34" charset="0"/>
              </a:rPr>
              <a:t>Pour </a:t>
            </a:r>
            <a:r>
              <a:rPr lang="fr-FR" sz="3600" dirty="0">
                <a:latin typeface="Maiandra GD" pitchFamily="34" charset="0"/>
              </a:rPr>
              <a:t>l'instant, ne vous préoccupez pas de savoir ce que </a:t>
            </a:r>
            <a:r>
              <a:rPr lang="fr-FR" sz="3600" dirty="0" smtClean="0">
                <a:latin typeface="Maiandra GD" pitchFamily="34" charset="0"/>
              </a:rPr>
              <a:t>signifie </a:t>
            </a:r>
            <a:r>
              <a:rPr lang="fr-FR" sz="3600" dirty="0">
                <a:latin typeface="Maiandra GD" pitchFamily="34" charset="0"/>
              </a:rPr>
              <a:t>tout ce </a:t>
            </a:r>
            <a:r>
              <a:rPr lang="fr-FR" sz="3600" dirty="0" smtClean="0">
                <a:latin typeface="Maiandra GD" pitchFamily="34" charset="0"/>
              </a:rPr>
              <a:t>charabia que </a:t>
            </a:r>
            <a:r>
              <a:rPr lang="fr-FR" sz="3600" dirty="0">
                <a:latin typeface="Maiandra GD" pitchFamily="34" charset="0"/>
              </a:rPr>
              <a:t>vous pouvez voir. Je souhaitais simplement vous donner un </a:t>
            </a:r>
            <a:r>
              <a:rPr lang="fr-FR" sz="3600" dirty="0" smtClean="0">
                <a:latin typeface="Maiandra GD" pitchFamily="34" charset="0"/>
              </a:rPr>
              <a:t>aperçu des </a:t>
            </a:r>
            <a:r>
              <a:rPr lang="fr-FR" sz="3600" dirty="0">
                <a:latin typeface="Maiandra GD" pitchFamily="34" charset="0"/>
              </a:rPr>
              <a:t>possibilités du logiciel</a:t>
            </a:r>
            <a:r>
              <a:rPr lang="fr-FR" sz="3600" dirty="0" smtClean="0">
                <a:latin typeface="Maiandra GD" pitchFamily="34" charset="0"/>
              </a:rPr>
              <a:t>.</a:t>
            </a:r>
          </a:p>
          <a:p>
            <a:pPr marL="0" indent="0" algn="just">
              <a:buNone/>
            </a:pPr>
            <a:endParaRPr lang="fr-FR" sz="3600" dirty="0">
              <a:latin typeface="Maiandra GD" pitchFamily="34" charset="0"/>
            </a:endParaRPr>
          </a:p>
        </p:txBody>
      </p:sp>
    </p:spTree>
    <p:extLst>
      <p:ext uri="{BB962C8B-B14F-4D97-AF65-F5344CB8AC3E}">
        <p14:creationId xmlns:p14="http://schemas.microsoft.com/office/powerpoint/2010/main" val="2926114785"/>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476672"/>
            <a:ext cx="8640960" cy="6120680"/>
          </a:xfrm>
        </p:spPr>
        <p:txBody>
          <a:bodyPr/>
          <a:lstStyle/>
          <a:p>
            <a:pPr marL="0" indent="0" algn="just">
              <a:buNone/>
            </a:pPr>
            <a:r>
              <a:rPr lang="fr-FR" sz="3600" dirty="0">
                <a:latin typeface="Maiandra GD" pitchFamily="34" charset="0"/>
              </a:rPr>
              <a:t>Il existe d'autres éditeurs disponibles sous Windows. Si Notepad++ ne vous convient pas, vous pouvez essayer :</a:t>
            </a:r>
          </a:p>
          <a:p>
            <a:pPr marL="0" indent="0" algn="just">
              <a:buNone/>
            </a:pPr>
            <a:r>
              <a:rPr lang="fr-FR" sz="3600" dirty="0">
                <a:latin typeface="Maiandra GD" pitchFamily="34" charset="0"/>
              </a:rPr>
              <a:t>- jEdit ;</a:t>
            </a:r>
          </a:p>
          <a:p>
            <a:pPr marL="0" indent="0" algn="just">
              <a:buNone/>
            </a:pPr>
            <a:r>
              <a:rPr lang="fr-FR" sz="3600" dirty="0">
                <a:latin typeface="Maiandra GD" pitchFamily="34" charset="0"/>
              </a:rPr>
              <a:t>- PSpad ;</a:t>
            </a:r>
          </a:p>
          <a:p>
            <a:pPr marL="0" indent="0" algn="just">
              <a:buNone/>
            </a:pPr>
            <a:r>
              <a:rPr lang="fr-FR" sz="3600" dirty="0">
                <a:latin typeface="Maiandra GD" pitchFamily="34" charset="0"/>
              </a:rPr>
              <a:t>- ConTEXT ;</a:t>
            </a:r>
          </a:p>
          <a:p>
            <a:pPr marL="0" indent="0" algn="just">
              <a:buNone/>
            </a:pPr>
            <a:r>
              <a:rPr lang="fr-FR" sz="3600" dirty="0">
                <a:latin typeface="Maiandra GD" pitchFamily="34" charset="0"/>
              </a:rPr>
              <a:t>- . . . et bien d'autres si vous recherchez  </a:t>
            </a:r>
            <a:r>
              <a:rPr lang="fr-FR" sz="3600" dirty="0" smtClean="0">
                <a:latin typeface="Maiandra GD" pitchFamily="34" charset="0"/>
              </a:rPr>
              <a:t>« Éditeur » </a:t>
            </a:r>
            <a:r>
              <a:rPr lang="fr-FR" sz="3600" dirty="0">
                <a:latin typeface="Maiandra GD" pitchFamily="34" charset="0"/>
              </a:rPr>
              <a:t>de texte  sur le Web.</a:t>
            </a:r>
          </a:p>
          <a:p>
            <a:pPr marL="0" indent="0">
              <a:buNone/>
            </a:pPr>
            <a:endParaRPr lang="fr-FR" dirty="0"/>
          </a:p>
        </p:txBody>
      </p:sp>
    </p:spTree>
    <p:extLst>
      <p:ext uri="{BB962C8B-B14F-4D97-AF65-F5344CB8AC3E}">
        <p14:creationId xmlns:p14="http://schemas.microsoft.com/office/powerpoint/2010/main" val="137570052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4800" dirty="0">
                <a:effectLst>
                  <a:outerShdw blurRad="38100" dist="38100" dir="2700000" algn="tl">
                    <a:srgbClr val="000000">
                      <a:alpha val="43137"/>
                    </a:srgbClr>
                  </a:outerShdw>
                </a:effectLst>
                <a:latin typeface="Maiandra GD" pitchFamily="34" charset="0"/>
              </a:rPr>
              <a:t>Sous Mac OS X</a:t>
            </a:r>
          </a:p>
        </p:txBody>
      </p:sp>
      <p:sp>
        <p:nvSpPr>
          <p:cNvPr id="3" name="Espace réservé du contenu 2"/>
          <p:cNvSpPr>
            <a:spLocks noGrp="1"/>
          </p:cNvSpPr>
          <p:nvPr>
            <p:ph idx="1"/>
          </p:nvPr>
        </p:nvSpPr>
        <p:spPr>
          <a:xfrm>
            <a:off x="251520" y="1600200"/>
            <a:ext cx="8712968" cy="4525963"/>
          </a:xfrm>
        </p:spPr>
        <p:txBody>
          <a:bodyPr>
            <a:normAutofit/>
          </a:bodyPr>
          <a:lstStyle/>
          <a:p>
            <a:pPr marL="0" indent="0">
              <a:buNone/>
            </a:pPr>
            <a:r>
              <a:rPr lang="fr-FR" sz="3600" dirty="0" smtClean="0">
                <a:latin typeface="Maiandra GD" pitchFamily="34" charset="0"/>
              </a:rPr>
              <a:t>Vous </a:t>
            </a:r>
            <a:r>
              <a:rPr lang="fr-FR" sz="3600" dirty="0">
                <a:latin typeface="Maiandra GD" pitchFamily="34" charset="0"/>
              </a:rPr>
              <a:t>pouvez essayer l'un des logiciels suivants :</a:t>
            </a:r>
          </a:p>
          <a:p>
            <a:pPr marL="0" indent="0">
              <a:buNone/>
            </a:pPr>
            <a:r>
              <a:rPr lang="fr-FR" sz="3600" dirty="0" smtClean="0">
                <a:latin typeface="Maiandra GD" pitchFamily="34" charset="0"/>
              </a:rPr>
              <a:t>- </a:t>
            </a:r>
            <a:r>
              <a:rPr lang="fr-FR" sz="3600" dirty="0">
                <a:latin typeface="Maiandra GD" pitchFamily="34" charset="0"/>
              </a:rPr>
              <a:t>jEdit ;</a:t>
            </a:r>
          </a:p>
          <a:p>
            <a:pPr marL="0" indent="0">
              <a:buNone/>
            </a:pPr>
            <a:r>
              <a:rPr lang="fr-FR" sz="3600" dirty="0" smtClean="0">
                <a:latin typeface="Maiandra GD" pitchFamily="34" charset="0"/>
              </a:rPr>
              <a:t>- Smultron </a:t>
            </a:r>
            <a:r>
              <a:rPr lang="fr-FR" sz="3600" dirty="0">
                <a:latin typeface="Maiandra GD" pitchFamily="34" charset="0"/>
              </a:rPr>
              <a:t>;</a:t>
            </a:r>
          </a:p>
          <a:p>
            <a:pPr marL="0" indent="0">
              <a:buNone/>
            </a:pPr>
            <a:r>
              <a:rPr lang="fr-FR" sz="3600" dirty="0" smtClean="0">
                <a:latin typeface="Maiandra GD" pitchFamily="34" charset="0"/>
              </a:rPr>
              <a:t>- TextWrangler</a:t>
            </a:r>
            <a:r>
              <a:rPr lang="fr-FR" sz="3600" dirty="0">
                <a:latin typeface="Maiandra GD" pitchFamily="34" charset="0"/>
              </a:rPr>
              <a:t>.</a:t>
            </a:r>
          </a:p>
        </p:txBody>
      </p:sp>
    </p:spTree>
    <p:extLst>
      <p:ext uri="{BB962C8B-B14F-4D97-AF65-F5344CB8AC3E}">
        <p14:creationId xmlns:p14="http://schemas.microsoft.com/office/powerpoint/2010/main" val="98199043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188640"/>
            <a:ext cx="8229600" cy="778098"/>
          </a:xfrm>
        </p:spPr>
        <p:txBody>
          <a:bodyPr>
            <a:normAutofit fontScale="90000"/>
          </a:bodyPr>
          <a:lstStyle/>
          <a:p>
            <a:r>
              <a:rPr lang="fr-FR" sz="4800" dirty="0">
                <a:effectLst>
                  <a:outerShdw blurRad="38100" dist="38100" dir="2700000" algn="tl">
                    <a:srgbClr val="000000">
                      <a:alpha val="43137"/>
                    </a:srgbClr>
                  </a:outerShdw>
                </a:effectLst>
                <a:latin typeface="Maiandra GD" pitchFamily="34" charset="0"/>
              </a:rPr>
              <a:t>Sous Linux</a:t>
            </a:r>
          </a:p>
        </p:txBody>
      </p:sp>
      <p:sp>
        <p:nvSpPr>
          <p:cNvPr id="3" name="Espace réservé du contenu 2"/>
          <p:cNvSpPr>
            <a:spLocks noGrp="1"/>
          </p:cNvSpPr>
          <p:nvPr>
            <p:ph idx="1"/>
          </p:nvPr>
        </p:nvSpPr>
        <p:spPr>
          <a:xfrm>
            <a:off x="251520" y="1124744"/>
            <a:ext cx="8712968" cy="5400600"/>
          </a:xfrm>
        </p:spPr>
        <p:txBody>
          <a:bodyPr>
            <a:normAutofit/>
          </a:bodyPr>
          <a:lstStyle/>
          <a:p>
            <a:pPr marL="0" indent="0" algn="just">
              <a:buNone/>
            </a:pPr>
            <a:r>
              <a:rPr lang="fr-FR" sz="3400" dirty="0">
                <a:latin typeface="Maiandra GD" pitchFamily="34" charset="0"/>
              </a:rPr>
              <a:t>Les éditeurs de texte sont légion sous Linux. Certains d'entre eux sont installés </a:t>
            </a:r>
            <a:r>
              <a:rPr lang="fr-FR" sz="3400" dirty="0" smtClean="0">
                <a:latin typeface="Maiandra GD" pitchFamily="34" charset="0"/>
              </a:rPr>
              <a:t>par défaut</a:t>
            </a:r>
            <a:r>
              <a:rPr lang="fr-FR" sz="3400" dirty="0">
                <a:latin typeface="Maiandra GD" pitchFamily="34" charset="0"/>
              </a:rPr>
              <a:t>, d'autres peuvent </a:t>
            </a:r>
            <a:r>
              <a:rPr lang="fr-FR" sz="3400" dirty="0" smtClean="0">
                <a:latin typeface="Maiandra GD" pitchFamily="34" charset="0"/>
              </a:rPr>
              <a:t>être téléchargés </a:t>
            </a:r>
            <a:r>
              <a:rPr lang="fr-FR" sz="3400" dirty="0">
                <a:latin typeface="Maiandra GD" pitchFamily="34" charset="0"/>
              </a:rPr>
              <a:t>facilement via le centre de </a:t>
            </a:r>
            <a:r>
              <a:rPr lang="fr-FR" sz="3400" dirty="0" smtClean="0">
                <a:latin typeface="Maiandra GD" pitchFamily="34" charset="0"/>
              </a:rPr>
              <a:t>téléchargement (sous Ubuntu </a:t>
            </a:r>
            <a:r>
              <a:rPr lang="fr-FR" sz="3400" dirty="0">
                <a:latin typeface="Maiandra GD" pitchFamily="34" charset="0"/>
              </a:rPr>
              <a:t>notamment) ou au moyen de commandes comme apt-get et aptitude.</a:t>
            </a:r>
          </a:p>
          <a:p>
            <a:pPr marL="0" indent="0" algn="just">
              <a:buNone/>
            </a:pPr>
            <a:r>
              <a:rPr lang="fr-FR" sz="3400" dirty="0">
                <a:latin typeface="Maiandra GD" pitchFamily="34" charset="0"/>
              </a:rPr>
              <a:t>Voici quelques logiciels que vous pouvez tester :</a:t>
            </a:r>
          </a:p>
          <a:p>
            <a:pPr marL="0" indent="0" algn="just">
              <a:buNone/>
            </a:pPr>
            <a:r>
              <a:rPr lang="fr-FR" sz="3400" dirty="0" smtClean="0">
                <a:latin typeface="Maiandra GD" pitchFamily="34" charset="0"/>
              </a:rPr>
              <a:t>- gEdit ; - Kate ; - vim ; - Emacs ; - jEdit</a:t>
            </a:r>
            <a:r>
              <a:rPr lang="fr-FR" sz="3400" dirty="0">
                <a:latin typeface="Maiandra GD" pitchFamily="34" charset="0"/>
              </a:rPr>
              <a:t>.</a:t>
            </a:r>
          </a:p>
        </p:txBody>
      </p:sp>
    </p:spTree>
    <p:extLst>
      <p:ext uri="{BB962C8B-B14F-4D97-AF65-F5344CB8AC3E}">
        <p14:creationId xmlns:p14="http://schemas.microsoft.com/office/powerpoint/2010/main" val="51424669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22313" y="2636912"/>
            <a:ext cx="7772400" cy="1362075"/>
          </a:xfrm>
        </p:spPr>
        <p:txBody>
          <a:bodyPr>
            <a:normAutofit/>
          </a:bodyPr>
          <a:lstStyle/>
          <a:p>
            <a:pPr algn="ctr"/>
            <a:r>
              <a:rPr lang="fr-FR" sz="5400" b="0" dirty="0">
                <a:effectLst>
                  <a:outerShdw blurRad="38100" dist="38100" dir="2700000" algn="tl">
                    <a:srgbClr val="000000">
                      <a:alpha val="43137"/>
                    </a:srgbClr>
                  </a:outerShdw>
                </a:effectLst>
                <a:latin typeface="Maiandra GD" pitchFamily="34" charset="0"/>
              </a:rPr>
              <a:t>Les navigateurs</a:t>
            </a:r>
            <a:endParaRPr lang="fr-FR" sz="5400" dirty="0">
              <a:effectLst>
                <a:outerShdw blurRad="38100" dist="38100" dir="2700000" algn="tl">
                  <a:srgbClr val="000000">
                    <a:alpha val="43137"/>
                  </a:srgbClr>
                </a:outerShdw>
              </a:effectLst>
              <a:latin typeface="Maiandra GD" pitchFamily="34" charset="0"/>
            </a:endParaRPr>
          </a:p>
        </p:txBody>
      </p:sp>
    </p:spTree>
    <p:extLst>
      <p:ext uri="{BB962C8B-B14F-4D97-AF65-F5344CB8AC3E}">
        <p14:creationId xmlns:p14="http://schemas.microsoft.com/office/powerpoint/2010/main" val="386759477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9512" y="2636912"/>
            <a:ext cx="8820472" cy="2448272"/>
          </a:xfrm>
        </p:spPr>
        <p:txBody>
          <a:bodyPr>
            <a:normAutofit fontScale="90000"/>
          </a:bodyPr>
          <a:lstStyle/>
          <a:p>
            <a:pPr algn="ctr"/>
            <a:r>
              <a:rPr lang="fr-FR" sz="5400" b="0" dirty="0">
                <a:effectLst>
                  <a:outerShdw blurRad="38100" dist="38100" dir="2700000" algn="tl">
                    <a:srgbClr val="000000">
                      <a:alpha val="43137"/>
                    </a:srgbClr>
                  </a:outerShdw>
                </a:effectLst>
                <a:latin typeface="Maiandra GD" pitchFamily="34" charset="0"/>
              </a:rPr>
              <a:t>Pourquoi le navigateur est important</a:t>
            </a:r>
            <a:endParaRPr lang="fr-FR" sz="5400" dirty="0">
              <a:effectLst>
                <a:outerShdw blurRad="38100" dist="38100" dir="2700000" algn="tl">
                  <a:srgbClr val="000000">
                    <a:alpha val="43137"/>
                  </a:srgbClr>
                </a:outerShdw>
              </a:effectLst>
              <a:latin typeface="Maiandra GD" pitchFamily="34" charset="0"/>
            </a:endParaRPr>
          </a:p>
        </p:txBody>
      </p:sp>
    </p:spTree>
    <p:extLst>
      <p:ext uri="{BB962C8B-B14F-4D97-AF65-F5344CB8AC3E}">
        <p14:creationId xmlns:p14="http://schemas.microsoft.com/office/powerpoint/2010/main" val="352786678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260648"/>
            <a:ext cx="8640960" cy="6264696"/>
          </a:xfrm>
        </p:spPr>
        <p:txBody>
          <a:bodyPr>
            <a:normAutofit/>
          </a:bodyPr>
          <a:lstStyle/>
          <a:p>
            <a:pPr marL="0" indent="0" algn="just">
              <a:buNone/>
            </a:pPr>
            <a:r>
              <a:rPr lang="fr-FR" sz="3600" dirty="0">
                <a:latin typeface="Maiandra GD" pitchFamily="34" charset="0"/>
              </a:rPr>
              <a:t>Le navigateur est le programme qui nous permet de voir les sites web. Comme je </a:t>
            </a:r>
            <a:r>
              <a:rPr lang="fr-FR" sz="3600" dirty="0" smtClean="0">
                <a:latin typeface="Maiandra GD" pitchFamily="34" charset="0"/>
              </a:rPr>
              <a:t>vous l'ai </a:t>
            </a:r>
            <a:r>
              <a:rPr lang="fr-FR" sz="3600" dirty="0">
                <a:latin typeface="Maiandra GD" pitchFamily="34" charset="0"/>
              </a:rPr>
              <a:t>expliqué plus tôt, le travail du navigateur est de lire le code HTML et CSS </a:t>
            </a:r>
            <a:r>
              <a:rPr lang="fr-FR" sz="3600" dirty="0" smtClean="0">
                <a:latin typeface="Maiandra GD" pitchFamily="34" charset="0"/>
              </a:rPr>
              <a:t>pour afficher </a:t>
            </a:r>
            <a:r>
              <a:rPr lang="fr-FR" sz="3600" dirty="0">
                <a:latin typeface="Maiandra GD" pitchFamily="34" charset="0"/>
              </a:rPr>
              <a:t>un résultat visuel à l'écran</a:t>
            </a:r>
            <a:r>
              <a:rPr lang="fr-FR" sz="3600" dirty="0" smtClean="0">
                <a:latin typeface="Maiandra GD" pitchFamily="34" charset="0"/>
              </a:rPr>
              <a:t>.</a:t>
            </a:r>
          </a:p>
          <a:p>
            <a:pPr marL="0" indent="0" algn="just">
              <a:buNone/>
            </a:pPr>
            <a:endParaRPr lang="fr-FR" sz="2000" dirty="0" smtClean="0">
              <a:latin typeface="Maiandra GD" pitchFamily="34" charset="0"/>
            </a:endParaRPr>
          </a:p>
          <a:p>
            <a:pPr marL="0" indent="0" algn="just">
              <a:buNone/>
            </a:pPr>
            <a:r>
              <a:rPr lang="fr-FR" sz="3600" dirty="0">
                <a:latin typeface="Maiandra GD" pitchFamily="34" charset="0"/>
              </a:rPr>
              <a:t>Si votre code CSS dit  Les titres sont en rouge </a:t>
            </a:r>
            <a:r>
              <a:rPr lang="fr-FR" sz="3600" dirty="0" smtClean="0">
                <a:latin typeface="Maiandra GD" pitchFamily="34" charset="0"/>
              </a:rPr>
              <a:t>, alors </a:t>
            </a:r>
            <a:r>
              <a:rPr lang="fr-FR" sz="3600" dirty="0">
                <a:latin typeface="Maiandra GD" pitchFamily="34" charset="0"/>
              </a:rPr>
              <a:t>le navigateur </a:t>
            </a:r>
            <a:r>
              <a:rPr lang="fr-FR" sz="3600" dirty="0" smtClean="0">
                <a:latin typeface="Maiandra GD" pitchFamily="34" charset="0"/>
              </a:rPr>
              <a:t>affichera </a:t>
            </a:r>
            <a:r>
              <a:rPr lang="fr-FR" sz="3600" dirty="0">
                <a:latin typeface="Maiandra GD" pitchFamily="34" charset="0"/>
              </a:rPr>
              <a:t>les titres en rouge. Le rôle du navigateur est donc essentiel !</a:t>
            </a:r>
          </a:p>
        </p:txBody>
      </p:sp>
    </p:spTree>
    <p:extLst>
      <p:ext uri="{BB962C8B-B14F-4D97-AF65-F5344CB8AC3E}">
        <p14:creationId xmlns:p14="http://schemas.microsoft.com/office/powerpoint/2010/main" val="408235397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332656"/>
            <a:ext cx="8640960" cy="6264696"/>
          </a:xfrm>
        </p:spPr>
        <p:txBody>
          <a:bodyPr>
            <a:normAutofit/>
          </a:bodyPr>
          <a:lstStyle/>
          <a:p>
            <a:pPr marL="0" indent="0" algn="just">
              <a:buNone/>
            </a:pPr>
            <a:r>
              <a:rPr lang="fr-FR" sz="3500" dirty="0">
                <a:latin typeface="Maiandra GD" pitchFamily="34" charset="0"/>
              </a:rPr>
              <a:t>On ne dirait pas, mais un navigateur est un programme extrêmement complexe. </a:t>
            </a:r>
            <a:r>
              <a:rPr lang="fr-FR" sz="3500" dirty="0" smtClean="0">
                <a:latin typeface="Maiandra GD" pitchFamily="34" charset="0"/>
              </a:rPr>
              <a:t>En effet</a:t>
            </a:r>
            <a:r>
              <a:rPr lang="fr-FR" sz="3500" dirty="0">
                <a:latin typeface="Maiandra GD" pitchFamily="34" charset="0"/>
              </a:rPr>
              <a:t>, comprendre le code HTML et CSS n'est pas une mince </a:t>
            </a:r>
            <a:r>
              <a:rPr lang="fr-FR" sz="3500" dirty="0" smtClean="0">
                <a:latin typeface="Maiandra GD" pitchFamily="34" charset="0"/>
              </a:rPr>
              <a:t>affaire</a:t>
            </a:r>
            <a:r>
              <a:rPr lang="fr-FR" sz="3500" dirty="0">
                <a:latin typeface="Maiandra GD" pitchFamily="34" charset="0"/>
              </a:rPr>
              <a:t>. Le principal </a:t>
            </a:r>
            <a:r>
              <a:rPr lang="fr-FR" sz="3500" dirty="0" smtClean="0">
                <a:latin typeface="Maiandra GD" pitchFamily="34" charset="0"/>
              </a:rPr>
              <a:t>problème</a:t>
            </a:r>
            <a:r>
              <a:rPr lang="fr-FR" sz="3500" dirty="0">
                <a:latin typeface="Maiandra GD" pitchFamily="34" charset="0"/>
              </a:rPr>
              <a:t>, vous vous en rendrez vite compte, c'est que les </a:t>
            </a:r>
            <a:r>
              <a:rPr lang="fr-FR" sz="3500" dirty="0" smtClean="0">
                <a:latin typeface="Maiandra GD" pitchFamily="34" charset="0"/>
              </a:rPr>
              <a:t>différents </a:t>
            </a:r>
            <a:r>
              <a:rPr lang="fr-FR" sz="3500" dirty="0">
                <a:latin typeface="Maiandra GD" pitchFamily="34" charset="0"/>
              </a:rPr>
              <a:t>navigateurs </a:t>
            </a:r>
            <a:r>
              <a:rPr lang="fr-FR" sz="3500" dirty="0" smtClean="0">
                <a:latin typeface="Maiandra GD" pitchFamily="34" charset="0"/>
              </a:rPr>
              <a:t>n'affichent </a:t>
            </a:r>
            <a:r>
              <a:rPr lang="fr-FR" sz="3500" dirty="0">
                <a:latin typeface="Maiandra GD" pitchFamily="34" charset="0"/>
              </a:rPr>
              <a:t>pas le même site exactement de la même façon ! Il faudra vous y faire et prendre </a:t>
            </a:r>
            <a:r>
              <a:rPr lang="fr-FR" sz="3500" dirty="0" smtClean="0">
                <a:latin typeface="Maiandra GD" pitchFamily="34" charset="0"/>
              </a:rPr>
              <a:t>l'habitude de vérifier régulièrement </a:t>
            </a:r>
            <a:r>
              <a:rPr lang="fr-FR" sz="3500" dirty="0">
                <a:latin typeface="Maiandra GD" pitchFamily="34" charset="0"/>
              </a:rPr>
              <a:t>que votre site fonctionne correctement sur la </a:t>
            </a:r>
            <a:r>
              <a:rPr lang="fr-FR" sz="3500" dirty="0" smtClean="0">
                <a:latin typeface="Maiandra GD" pitchFamily="34" charset="0"/>
              </a:rPr>
              <a:t>plupart des </a:t>
            </a:r>
            <a:r>
              <a:rPr lang="fr-FR" sz="3500" dirty="0">
                <a:latin typeface="Maiandra GD" pitchFamily="34" charset="0"/>
              </a:rPr>
              <a:t>navigateurs.</a:t>
            </a:r>
          </a:p>
        </p:txBody>
      </p:sp>
    </p:spTree>
    <p:extLst>
      <p:ext uri="{BB962C8B-B14F-4D97-AF65-F5344CB8AC3E}">
        <p14:creationId xmlns:p14="http://schemas.microsoft.com/office/powerpoint/2010/main" val="4095337164"/>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4800" dirty="0">
                <a:effectLst>
                  <a:outerShdw blurRad="38100" dist="38100" dir="2700000" algn="tl">
                    <a:srgbClr val="000000">
                      <a:alpha val="43137"/>
                    </a:srgbClr>
                  </a:outerShdw>
                </a:effectLst>
                <a:latin typeface="Maiandra GD" pitchFamily="34" charset="0"/>
              </a:rPr>
              <a:t>Les navigateurs sur ordinateur</a:t>
            </a:r>
          </a:p>
        </p:txBody>
      </p:sp>
      <p:sp>
        <p:nvSpPr>
          <p:cNvPr id="3" name="Espace réservé du contenu 2"/>
          <p:cNvSpPr>
            <a:spLocks noGrp="1"/>
          </p:cNvSpPr>
          <p:nvPr>
            <p:ph idx="1"/>
          </p:nvPr>
        </p:nvSpPr>
        <p:spPr>
          <a:xfrm>
            <a:off x="179512" y="1600200"/>
            <a:ext cx="8784976" cy="4997152"/>
          </a:xfrm>
        </p:spPr>
        <p:txBody>
          <a:bodyPr/>
          <a:lstStyle/>
          <a:p>
            <a:pPr marL="0" indent="0">
              <a:buNone/>
            </a:pPr>
            <a:r>
              <a:rPr lang="fr-FR" dirty="0">
                <a:latin typeface="Maiandra GD" pitchFamily="34" charset="0"/>
              </a:rPr>
              <a:t>Télécharger les navigateurs</a:t>
            </a:r>
          </a:p>
          <a:p>
            <a:pPr marL="0" indent="0">
              <a:buNone/>
            </a:pPr>
            <a:r>
              <a:rPr lang="fr-FR" dirty="0">
                <a:latin typeface="Maiandra GD" pitchFamily="34" charset="0"/>
              </a:rPr>
              <a:t>Il existe de nombreux navigateurs </a:t>
            </a:r>
            <a:r>
              <a:rPr lang="fr-FR" dirty="0" smtClean="0">
                <a:latin typeface="Maiandra GD" pitchFamily="34" charset="0"/>
              </a:rPr>
              <a:t>différents</a:t>
            </a:r>
            <a:r>
              <a:rPr lang="fr-FR" dirty="0">
                <a:latin typeface="Maiandra GD" pitchFamily="34" charset="0"/>
              </a:rPr>
              <a:t>. </a:t>
            </a:r>
            <a:r>
              <a:rPr lang="fr-FR" dirty="0" smtClean="0">
                <a:latin typeface="Maiandra GD" pitchFamily="34" charset="0"/>
              </a:rPr>
              <a:t>Voici </a:t>
            </a:r>
            <a:r>
              <a:rPr lang="fr-FR" dirty="0">
                <a:latin typeface="Maiandra GD" pitchFamily="34" charset="0"/>
              </a:rPr>
              <a:t>les principaux à connaître </a:t>
            </a:r>
            <a:r>
              <a:rPr lang="fr-FR" dirty="0" smtClean="0">
                <a:latin typeface="Maiandra GD" pitchFamily="34" charset="0"/>
              </a:rPr>
              <a:t>:</a:t>
            </a:r>
          </a:p>
          <a:p>
            <a:pPr marL="0" indent="0" algn="just">
              <a:buNone/>
            </a:pPr>
            <a:r>
              <a:rPr lang="fr-FR" dirty="0" smtClean="0">
                <a:latin typeface="Maiandra GD" pitchFamily="34" charset="0"/>
              </a:rPr>
              <a:t>- Google </a:t>
            </a:r>
            <a:r>
              <a:rPr lang="fr-FR" dirty="0">
                <a:latin typeface="Maiandra GD" pitchFamily="34" charset="0"/>
              </a:rPr>
              <a:t>Chrome : le navigateur de Google, simple d'emploi et très </a:t>
            </a:r>
            <a:r>
              <a:rPr lang="fr-FR" dirty="0" smtClean="0">
                <a:latin typeface="Maiandra GD" pitchFamily="34" charset="0"/>
              </a:rPr>
              <a:t>rapide. C'est </a:t>
            </a:r>
            <a:r>
              <a:rPr lang="fr-FR" dirty="0">
                <a:latin typeface="Maiandra GD" pitchFamily="34" charset="0"/>
              </a:rPr>
              <a:t>le navigateur que j'utilise au </a:t>
            </a:r>
            <a:r>
              <a:rPr lang="fr-FR" dirty="0" smtClean="0">
                <a:latin typeface="Maiandra GD" pitchFamily="34" charset="0"/>
              </a:rPr>
              <a:t>quotidien.</a:t>
            </a:r>
          </a:p>
          <a:p>
            <a:pPr marL="0" indent="0" algn="just">
              <a:buNone/>
            </a:pPr>
            <a:r>
              <a:rPr lang="fr-FR" dirty="0" smtClean="0">
                <a:latin typeface="Maiandra GD" pitchFamily="34" charset="0"/>
              </a:rPr>
              <a:t>Compatibilité </a:t>
            </a:r>
            <a:r>
              <a:rPr lang="fr-FR" dirty="0">
                <a:latin typeface="Maiandra GD" pitchFamily="34" charset="0"/>
              </a:rPr>
              <a:t>: Windows, Mac et Linux</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8304" y="5229200"/>
            <a:ext cx="1628006" cy="1483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16574356"/>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332656"/>
            <a:ext cx="8712968" cy="6192688"/>
          </a:xfrm>
        </p:spPr>
        <p:txBody>
          <a:bodyPr/>
          <a:lstStyle/>
          <a:p>
            <a:pPr marL="0" indent="0" algn="just">
              <a:buNone/>
            </a:pPr>
            <a:r>
              <a:rPr lang="fr-FR" dirty="0" smtClean="0"/>
              <a:t>- </a:t>
            </a:r>
            <a:r>
              <a:rPr lang="fr-FR" dirty="0" smtClean="0">
                <a:latin typeface="Maiandra GD" pitchFamily="34" charset="0"/>
              </a:rPr>
              <a:t>Mozilla </a:t>
            </a:r>
            <a:r>
              <a:rPr lang="fr-FR" dirty="0">
                <a:latin typeface="Maiandra GD" pitchFamily="34" charset="0"/>
              </a:rPr>
              <a:t>Firefox : le navigateur de la fondation Mozilla, célèbre et </a:t>
            </a:r>
            <a:r>
              <a:rPr lang="fr-FR" dirty="0" smtClean="0">
                <a:latin typeface="Maiandra GD" pitchFamily="34" charset="0"/>
              </a:rPr>
              <a:t>réputé. Je l'utilise fréquemment </a:t>
            </a:r>
            <a:r>
              <a:rPr lang="fr-FR" dirty="0">
                <a:latin typeface="Maiandra GD" pitchFamily="34" charset="0"/>
              </a:rPr>
              <a:t>pour tester mes sites web.</a:t>
            </a:r>
          </a:p>
          <a:p>
            <a:pPr marL="0" indent="0" algn="just">
              <a:buNone/>
            </a:pPr>
            <a:r>
              <a:rPr lang="fr-FR" dirty="0">
                <a:latin typeface="Maiandra GD" pitchFamily="34" charset="0"/>
              </a:rPr>
              <a:t>Compatibilité : Windows, Mac et </a:t>
            </a:r>
            <a:r>
              <a:rPr lang="fr-FR" dirty="0" smtClean="0">
                <a:latin typeface="Maiandra GD" pitchFamily="34" charset="0"/>
              </a:rPr>
              <a:t>Linux</a:t>
            </a:r>
          </a:p>
          <a:p>
            <a:pPr marL="0" indent="0" algn="just">
              <a:buNone/>
            </a:pPr>
            <a:endParaRPr lang="fr-FR" dirty="0" smtClean="0">
              <a:latin typeface="Maiandra GD" pitchFamily="34" charset="0"/>
            </a:endParaRPr>
          </a:p>
          <a:p>
            <a:pPr marL="0" indent="0" algn="just">
              <a:buNone/>
            </a:pPr>
            <a:endParaRPr lang="fr-FR" dirty="0">
              <a:latin typeface="Maiandra GD" pitchFamily="34" charset="0"/>
            </a:endParaRPr>
          </a:p>
          <a:p>
            <a:pPr marL="0" indent="0" algn="just">
              <a:buNone/>
            </a:pPr>
            <a:r>
              <a:rPr lang="fr-FR" dirty="0" smtClean="0">
                <a:latin typeface="Maiandra GD" pitchFamily="34" charset="0"/>
              </a:rPr>
              <a:t>- Internet </a:t>
            </a:r>
            <a:r>
              <a:rPr lang="fr-FR" dirty="0">
                <a:latin typeface="Maiandra GD" pitchFamily="34" charset="0"/>
              </a:rPr>
              <a:t>Explorer : le navigateur de Microsoft, qui équipe tous les </a:t>
            </a:r>
            <a:r>
              <a:rPr lang="fr-FR" dirty="0" smtClean="0">
                <a:latin typeface="Maiandra GD" pitchFamily="34" charset="0"/>
              </a:rPr>
              <a:t>PC Windows</a:t>
            </a:r>
            <a:r>
              <a:rPr lang="fr-FR" dirty="0">
                <a:latin typeface="Maiandra GD" pitchFamily="34" charset="0"/>
              </a:rPr>
              <a:t>. Je l'utilise fréquemment pour tester mes sites web.</a:t>
            </a:r>
          </a:p>
          <a:p>
            <a:pPr marL="0" indent="0" algn="just">
              <a:buNone/>
            </a:pPr>
            <a:r>
              <a:rPr lang="fr-FR" dirty="0">
                <a:latin typeface="Maiandra GD" pitchFamily="34" charset="0"/>
              </a:rPr>
              <a:t>Compatibilité : Windows</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96336" y="1727126"/>
            <a:ext cx="1368152" cy="1773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96336" y="5085184"/>
            <a:ext cx="1368152" cy="1555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42237839"/>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23528" y="476672"/>
            <a:ext cx="8568952" cy="5976664"/>
          </a:xfrm>
        </p:spPr>
        <p:txBody>
          <a:bodyPr/>
          <a:lstStyle/>
          <a:p>
            <a:pPr marL="0" indent="0">
              <a:buNone/>
            </a:pPr>
            <a:r>
              <a:rPr lang="fr-FR" dirty="0" smtClean="0">
                <a:latin typeface="Maiandra GD" pitchFamily="34" charset="0"/>
              </a:rPr>
              <a:t>- Safari </a:t>
            </a:r>
            <a:r>
              <a:rPr lang="fr-FR" dirty="0">
                <a:latin typeface="Maiandra GD" pitchFamily="34" charset="0"/>
              </a:rPr>
              <a:t>: le navigateur d'Apple, qui équipe tous les Mac.</a:t>
            </a:r>
          </a:p>
          <a:p>
            <a:pPr marL="0" indent="0">
              <a:buNone/>
            </a:pPr>
            <a:r>
              <a:rPr lang="fr-FR" dirty="0" smtClean="0">
                <a:latin typeface="Maiandra GD" pitchFamily="34" charset="0"/>
              </a:rPr>
              <a:t>Compatibilité : Windows et Mac</a:t>
            </a:r>
          </a:p>
          <a:p>
            <a:pPr marL="0" indent="0">
              <a:buNone/>
            </a:pPr>
            <a:endParaRPr lang="fr-FR" dirty="0" smtClean="0">
              <a:latin typeface="Maiandra GD" pitchFamily="34" charset="0"/>
            </a:endParaRPr>
          </a:p>
          <a:p>
            <a:pPr marL="0" indent="0">
              <a:buNone/>
            </a:pPr>
            <a:endParaRPr lang="fr-FR" dirty="0">
              <a:latin typeface="Maiandra GD" pitchFamily="34" charset="0"/>
            </a:endParaRPr>
          </a:p>
          <a:p>
            <a:pPr marL="0" indent="0">
              <a:buNone/>
            </a:pPr>
            <a:r>
              <a:rPr lang="fr-FR" dirty="0" smtClean="0">
                <a:latin typeface="Maiandra GD" pitchFamily="34" charset="0"/>
              </a:rPr>
              <a:t>- Opera </a:t>
            </a:r>
            <a:r>
              <a:rPr lang="fr-FR" dirty="0">
                <a:latin typeface="Maiandra GD" pitchFamily="34" charset="0"/>
              </a:rPr>
              <a:t>: l'éternel outsider. Il est moins utilisé mais propose de </a:t>
            </a:r>
            <a:r>
              <a:rPr lang="fr-FR" dirty="0" smtClean="0">
                <a:latin typeface="Maiandra GD" pitchFamily="34" charset="0"/>
              </a:rPr>
              <a:t>nombreuses fonctionnalités</a:t>
            </a:r>
            <a:r>
              <a:rPr lang="fr-FR" dirty="0">
                <a:latin typeface="Maiandra GD" pitchFamily="34" charset="0"/>
              </a:rPr>
              <a:t>.</a:t>
            </a:r>
          </a:p>
          <a:p>
            <a:pPr marL="0" indent="0">
              <a:buNone/>
            </a:pPr>
            <a:r>
              <a:rPr lang="fr-FR" dirty="0">
                <a:latin typeface="Maiandra GD" pitchFamily="34" charset="0"/>
              </a:rPr>
              <a:t>Compatibilité : Windows, Mac et Linux</a:t>
            </a:r>
            <a:endParaRPr lang="fr-FR" dirty="0" smtClean="0">
              <a:latin typeface="Maiandra GD" pitchFamily="34" charset="0"/>
            </a:endParaRPr>
          </a:p>
          <a:p>
            <a:pPr marL="0" indent="0">
              <a:buNone/>
            </a:pPr>
            <a:endParaRPr lang="fr-FR" dirty="0">
              <a:latin typeface="Maiandra GD" pitchFamily="34" charset="0"/>
            </a:endParaRPr>
          </a:p>
          <a:p>
            <a:pPr marL="0" indent="0">
              <a:buNone/>
            </a:pPr>
            <a:endParaRPr lang="fr-FR" dirty="0" smtClean="0">
              <a:latin typeface="Maiandra GD" pitchFamily="34" charset="0"/>
            </a:endParaRPr>
          </a:p>
          <a:p>
            <a:pPr marL="0" indent="0">
              <a:buNone/>
            </a:pPr>
            <a:endParaRPr lang="fr-FR" dirty="0">
              <a:latin typeface="Maiandra GD" pitchFamily="34" charset="0"/>
            </a:endParaRP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88224" y="1124744"/>
            <a:ext cx="2088232" cy="1872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6216" y="5041354"/>
            <a:ext cx="2016224" cy="16280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6144717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188640"/>
            <a:ext cx="8712968" cy="6566842"/>
          </a:xfrm>
        </p:spPr>
        <p:txBody>
          <a:bodyPr>
            <a:normAutofit/>
          </a:bodyPr>
          <a:lstStyle/>
          <a:p>
            <a:pPr marL="0" indent="0" algn="just">
              <a:buNone/>
            </a:pPr>
            <a:r>
              <a:rPr lang="fr-FR" dirty="0">
                <a:latin typeface="Maiandra GD" pitchFamily="34" charset="0"/>
              </a:rPr>
              <a:t>Il est conseillé d'installer plusieurs navigateurs sur son ordinateur pour </a:t>
            </a:r>
            <a:r>
              <a:rPr lang="fr-FR" dirty="0" smtClean="0">
                <a:latin typeface="Maiandra GD" pitchFamily="34" charset="0"/>
              </a:rPr>
              <a:t>s'assurer que </a:t>
            </a:r>
            <a:r>
              <a:rPr lang="fr-FR" dirty="0">
                <a:latin typeface="Maiandra GD" pitchFamily="34" charset="0"/>
              </a:rPr>
              <a:t>son site fonctionne correctement sur chacun d'eux. </a:t>
            </a:r>
            <a:endParaRPr lang="fr-FR" dirty="0" smtClean="0">
              <a:latin typeface="Maiandra GD" pitchFamily="34" charset="0"/>
            </a:endParaRPr>
          </a:p>
          <a:p>
            <a:pPr marL="0" indent="0" algn="just">
              <a:buNone/>
            </a:pPr>
            <a:r>
              <a:rPr lang="fr-FR" dirty="0" smtClean="0">
                <a:latin typeface="Maiandra GD" pitchFamily="34" charset="0"/>
              </a:rPr>
              <a:t>De </a:t>
            </a:r>
            <a:r>
              <a:rPr lang="fr-FR" dirty="0">
                <a:latin typeface="Maiandra GD" pitchFamily="34" charset="0"/>
              </a:rPr>
              <a:t>manière </a:t>
            </a:r>
            <a:r>
              <a:rPr lang="fr-FR" dirty="0" smtClean="0">
                <a:latin typeface="Maiandra GD" pitchFamily="34" charset="0"/>
              </a:rPr>
              <a:t>générale</a:t>
            </a:r>
            <a:r>
              <a:rPr lang="fr-FR" dirty="0">
                <a:latin typeface="Maiandra GD" pitchFamily="34" charset="0"/>
              </a:rPr>
              <a:t>, je conseille de tester son site web régulièrement au moins sur </a:t>
            </a:r>
            <a:r>
              <a:rPr lang="fr-FR" dirty="0" smtClean="0">
                <a:latin typeface="Maiandra GD" pitchFamily="34" charset="0"/>
              </a:rPr>
              <a:t>Google Chrome</a:t>
            </a:r>
            <a:r>
              <a:rPr lang="fr-FR" dirty="0">
                <a:latin typeface="Maiandra GD" pitchFamily="34" charset="0"/>
              </a:rPr>
              <a:t>, Mozilla Firefox et Internet Explorer. Notez que Safari et </a:t>
            </a:r>
            <a:r>
              <a:rPr lang="fr-FR" dirty="0" smtClean="0">
                <a:latin typeface="Maiandra GD" pitchFamily="34" charset="0"/>
              </a:rPr>
              <a:t>Google Chrome affichent </a:t>
            </a:r>
            <a:r>
              <a:rPr lang="fr-FR" dirty="0">
                <a:latin typeface="Maiandra GD" pitchFamily="34" charset="0"/>
              </a:rPr>
              <a:t>les sites web quasiment de la même façon. Il n'est pas </a:t>
            </a:r>
            <a:r>
              <a:rPr lang="fr-FR" dirty="0" smtClean="0">
                <a:latin typeface="Maiandra GD" pitchFamily="34" charset="0"/>
              </a:rPr>
              <a:t>forcément </a:t>
            </a:r>
            <a:r>
              <a:rPr lang="fr-FR" dirty="0">
                <a:latin typeface="Maiandra GD" pitchFamily="34" charset="0"/>
              </a:rPr>
              <a:t>nécessaire de tester son site sur Safari et Google Chrome, même </a:t>
            </a:r>
            <a:r>
              <a:rPr lang="fr-FR" dirty="0" smtClean="0">
                <a:latin typeface="Maiandra GD" pitchFamily="34" charset="0"/>
              </a:rPr>
              <a:t>si c'est </a:t>
            </a:r>
            <a:r>
              <a:rPr lang="fr-FR" dirty="0">
                <a:latin typeface="Maiandra GD" pitchFamily="34" charset="0"/>
              </a:rPr>
              <a:t>toujours plus sûr.</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24328" y="5517232"/>
            <a:ext cx="1238250" cy="1238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7669641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332656"/>
            <a:ext cx="8229600" cy="5793507"/>
          </a:xfrm>
        </p:spPr>
        <p:txBody>
          <a:bodyPr>
            <a:normAutofit/>
          </a:bodyPr>
          <a:lstStyle/>
          <a:p>
            <a:pPr marL="0" indent="0" algn="just">
              <a:buNone/>
            </a:pPr>
            <a:endParaRPr lang="fr-FR" sz="3600" dirty="0" smtClean="0">
              <a:latin typeface="Maiandra GD" pitchFamily="34" charset="0"/>
            </a:endParaRPr>
          </a:p>
          <a:p>
            <a:pPr marL="0" indent="0" algn="just">
              <a:buNone/>
            </a:pPr>
            <a:r>
              <a:rPr lang="fr-FR" sz="3600" dirty="0" smtClean="0">
                <a:latin typeface="Maiandra GD" pitchFamily="34" charset="0"/>
              </a:rPr>
              <a:t>La figure ci-dessous </a:t>
            </a:r>
            <a:r>
              <a:rPr lang="fr-FR" sz="3600" dirty="0">
                <a:latin typeface="Maiandra GD" pitchFamily="34" charset="0"/>
              </a:rPr>
              <a:t>vous montre un aperçu du résultat produit par quelques-uns de ces </a:t>
            </a:r>
            <a:r>
              <a:rPr lang="fr-FR" sz="3600" dirty="0" smtClean="0">
                <a:latin typeface="Maiandra GD" pitchFamily="34" charset="0"/>
              </a:rPr>
              <a:t>prin</a:t>
            </a:r>
            <a:r>
              <a:rPr lang="fr-FR" sz="3600" dirty="0">
                <a:latin typeface="Maiandra GD" pitchFamily="34" charset="0"/>
              </a:rPr>
              <a:t>cipaux navigateurs sur la page d'accueil de Google.</a:t>
            </a:r>
          </a:p>
        </p:txBody>
      </p:sp>
    </p:spTree>
    <p:extLst>
      <p:ext uri="{BB962C8B-B14F-4D97-AF65-F5344CB8AC3E}">
        <p14:creationId xmlns:p14="http://schemas.microsoft.com/office/powerpoint/2010/main" val="317249779"/>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017" y="260648"/>
            <a:ext cx="8892479" cy="6111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2649582" y="6372036"/>
            <a:ext cx="4154666" cy="400110"/>
          </a:xfrm>
          <a:prstGeom prst="rect">
            <a:avLst/>
          </a:prstGeom>
        </p:spPr>
        <p:txBody>
          <a:bodyPr wrap="square">
            <a:spAutoFit/>
          </a:bodyPr>
          <a:lstStyle/>
          <a:p>
            <a:r>
              <a:rPr lang="fr-FR" sz="2000" dirty="0">
                <a:effectLst>
                  <a:outerShdw blurRad="38100" dist="38100" dir="2700000" algn="tl">
                    <a:srgbClr val="000000">
                      <a:alpha val="43137"/>
                    </a:srgbClr>
                  </a:outerShdw>
                </a:effectLst>
                <a:latin typeface="Maiandra GD" pitchFamily="34" charset="0"/>
              </a:rPr>
              <a:t>Aperçu de quelques navigateurs</a:t>
            </a:r>
          </a:p>
        </p:txBody>
      </p:sp>
    </p:spTree>
    <p:extLst>
      <p:ext uri="{BB962C8B-B14F-4D97-AF65-F5344CB8AC3E}">
        <p14:creationId xmlns:p14="http://schemas.microsoft.com/office/powerpoint/2010/main" val="3275101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0242"/>
                                        </p:tgtEl>
                                        <p:attrNameLst>
                                          <p:attrName>style.visibility</p:attrName>
                                        </p:attrNameLst>
                                      </p:cBhvr>
                                      <p:to>
                                        <p:strVal val="visible"/>
                                      </p:to>
                                    </p:set>
                                    <p:anim calcmode="lin" valueType="num">
                                      <p:cBhvr>
                                        <p:cTn id="7" dur="500" fill="hold"/>
                                        <p:tgtEl>
                                          <p:spTgt spid="10242"/>
                                        </p:tgtEl>
                                        <p:attrNameLst>
                                          <p:attrName>ppt_w</p:attrName>
                                        </p:attrNameLst>
                                      </p:cBhvr>
                                      <p:tavLst>
                                        <p:tav tm="0">
                                          <p:val>
                                            <p:fltVal val="0"/>
                                          </p:val>
                                        </p:tav>
                                        <p:tav tm="100000">
                                          <p:val>
                                            <p:strVal val="#ppt_w"/>
                                          </p:val>
                                        </p:tav>
                                      </p:tavLst>
                                    </p:anim>
                                    <p:anim calcmode="lin" valueType="num">
                                      <p:cBhvr>
                                        <p:cTn id="8" dur="500" fill="hold"/>
                                        <p:tgtEl>
                                          <p:spTgt spid="10242"/>
                                        </p:tgtEl>
                                        <p:attrNameLst>
                                          <p:attrName>ppt_h</p:attrName>
                                        </p:attrNameLst>
                                      </p:cBhvr>
                                      <p:tavLst>
                                        <p:tav tm="0">
                                          <p:val>
                                            <p:fltVal val="0"/>
                                          </p:val>
                                        </p:tav>
                                        <p:tav tm="100000">
                                          <p:val>
                                            <p:strVal val="#ppt_h"/>
                                          </p:val>
                                        </p:tav>
                                      </p:tavLst>
                                    </p:anim>
                                    <p:animEffect transition="in" filter="fade">
                                      <p:cBhvr>
                                        <p:cTn id="9" dur="500"/>
                                        <p:tgtEl>
                                          <p:spTgt spid="10242"/>
                                        </p:tgtEl>
                                      </p:cBhvr>
                                    </p:animEffect>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wipe(down)">
                                      <p:cBhvr>
                                        <p:cTn id="14" dur="580">
                                          <p:stCondLst>
                                            <p:cond delay="0"/>
                                          </p:stCondLst>
                                        </p:cTn>
                                        <p:tgtEl>
                                          <p:spTgt spid="4"/>
                                        </p:tgtEl>
                                      </p:cBhvr>
                                    </p:animEffect>
                                    <p:anim calcmode="lin" valueType="num">
                                      <p:cBhvr>
                                        <p:cTn id="15"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20" dur="26">
                                          <p:stCondLst>
                                            <p:cond delay="650"/>
                                          </p:stCondLst>
                                        </p:cTn>
                                        <p:tgtEl>
                                          <p:spTgt spid="4"/>
                                        </p:tgtEl>
                                      </p:cBhvr>
                                      <p:to x="100000" y="60000"/>
                                    </p:animScale>
                                    <p:animScale>
                                      <p:cBhvr>
                                        <p:cTn id="21" dur="166" decel="50000">
                                          <p:stCondLst>
                                            <p:cond delay="676"/>
                                          </p:stCondLst>
                                        </p:cTn>
                                        <p:tgtEl>
                                          <p:spTgt spid="4"/>
                                        </p:tgtEl>
                                      </p:cBhvr>
                                      <p:to x="100000" y="100000"/>
                                    </p:animScale>
                                    <p:animScale>
                                      <p:cBhvr>
                                        <p:cTn id="22" dur="26">
                                          <p:stCondLst>
                                            <p:cond delay="1312"/>
                                          </p:stCondLst>
                                        </p:cTn>
                                        <p:tgtEl>
                                          <p:spTgt spid="4"/>
                                        </p:tgtEl>
                                      </p:cBhvr>
                                      <p:to x="100000" y="80000"/>
                                    </p:animScale>
                                    <p:animScale>
                                      <p:cBhvr>
                                        <p:cTn id="23" dur="166" decel="50000">
                                          <p:stCondLst>
                                            <p:cond delay="1338"/>
                                          </p:stCondLst>
                                        </p:cTn>
                                        <p:tgtEl>
                                          <p:spTgt spid="4"/>
                                        </p:tgtEl>
                                      </p:cBhvr>
                                      <p:to x="100000" y="100000"/>
                                    </p:animScale>
                                    <p:animScale>
                                      <p:cBhvr>
                                        <p:cTn id="24" dur="26">
                                          <p:stCondLst>
                                            <p:cond delay="1642"/>
                                          </p:stCondLst>
                                        </p:cTn>
                                        <p:tgtEl>
                                          <p:spTgt spid="4"/>
                                        </p:tgtEl>
                                      </p:cBhvr>
                                      <p:to x="100000" y="90000"/>
                                    </p:animScale>
                                    <p:animScale>
                                      <p:cBhvr>
                                        <p:cTn id="25" dur="166" decel="50000">
                                          <p:stCondLst>
                                            <p:cond delay="1668"/>
                                          </p:stCondLst>
                                        </p:cTn>
                                        <p:tgtEl>
                                          <p:spTgt spid="4"/>
                                        </p:tgtEl>
                                      </p:cBhvr>
                                      <p:to x="100000" y="100000"/>
                                    </p:animScale>
                                    <p:animScale>
                                      <p:cBhvr>
                                        <p:cTn id="26" dur="26">
                                          <p:stCondLst>
                                            <p:cond delay="1808"/>
                                          </p:stCondLst>
                                        </p:cTn>
                                        <p:tgtEl>
                                          <p:spTgt spid="4"/>
                                        </p:tgtEl>
                                      </p:cBhvr>
                                      <p:to x="100000" y="95000"/>
                                    </p:animScale>
                                    <p:animScale>
                                      <p:cBhvr>
                                        <p:cTn id="27" dur="166" decel="50000">
                                          <p:stCondLst>
                                            <p:cond delay="1834"/>
                                          </p:stCondLst>
                                        </p:cTn>
                                        <p:tgtEl>
                                          <p:spTgt spid="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276872"/>
            <a:ext cx="8229600" cy="2088232"/>
          </a:xfrm>
        </p:spPr>
        <p:txBody>
          <a:bodyPr>
            <a:normAutofit/>
          </a:bodyPr>
          <a:lstStyle/>
          <a:p>
            <a:r>
              <a:rPr lang="fr-FR" sz="4800" dirty="0">
                <a:effectLst>
                  <a:outerShdw blurRad="38100" dist="38100" dir="2700000" algn="tl">
                    <a:srgbClr val="000000">
                      <a:alpha val="43137"/>
                    </a:srgbClr>
                  </a:outerShdw>
                </a:effectLst>
                <a:latin typeface="Maiandra GD" pitchFamily="34" charset="0"/>
              </a:rPr>
              <a:t>Comprendre les </a:t>
            </a:r>
            <a:r>
              <a:rPr lang="fr-FR" sz="4800" dirty="0" smtClean="0">
                <a:effectLst>
                  <a:outerShdw blurRad="38100" dist="38100" dir="2700000" algn="tl">
                    <a:srgbClr val="000000">
                      <a:alpha val="43137"/>
                    </a:srgbClr>
                  </a:outerShdw>
                </a:effectLst>
                <a:latin typeface="Maiandra GD" pitchFamily="34" charset="0"/>
              </a:rPr>
              <a:t>différences </a:t>
            </a:r>
            <a:r>
              <a:rPr lang="fr-FR" sz="4800" dirty="0">
                <a:effectLst>
                  <a:outerShdw blurRad="38100" dist="38100" dir="2700000" algn="tl">
                    <a:srgbClr val="000000">
                      <a:alpha val="43137"/>
                    </a:srgbClr>
                  </a:outerShdw>
                </a:effectLst>
                <a:latin typeface="Maiandra GD" pitchFamily="34" charset="0"/>
              </a:rPr>
              <a:t>entre navigateurs</a:t>
            </a:r>
          </a:p>
        </p:txBody>
      </p:sp>
    </p:spTree>
    <p:extLst>
      <p:ext uri="{BB962C8B-B14F-4D97-AF65-F5344CB8AC3E}">
        <p14:creationId xmlns:p14="http://schemas.microsoft.com/office/powerpoint/2010/main" val="660183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260648"/>
            <a:ext cx="8640960" cy="6144992"/>
          </a:xfrm>
        </p:spPr>
        <p:txBody>
          <a:bodyPr/>
          <a:lstStyle/>
          <a:p>
            <a:pPr marL="0" indent="0" algn="just">
              <a:buNone/>
            </a:pPr>
            <a:r>
              <a:rPr lang="fr-FR" sz="3500" dirty="0">
                <a:latin typeface="Maiandra GD" pitchFamily="34" charset="0"/>
              </a:rPr>
              <a:t>Comme je vous le disais plus tôt, les navigateurs </a:t>
            </a:r>
            <a:r>
              <a:rPr lang="fr-FR" sz="3500" dirty="0" smtClean="0">
                <a:latin typeface="Maiandra GD" pitchFamily="34" charset="0"/>
              </a:rPr>
              <a:t>n'affichent </a:t>
            </a:r>
            <a:r>
              <a:rPr lang="fr-FR" sz="3500" dirty="0">
                <a:latin typeface="Maiandra GD" pitchFamily="34" charset="0"/>
              </a:rPr>
              <a:t>pas toujours un </a:t>
            </a:r>
            <a:r>
              <a:rPr lang="fr-FR" sz="3500" dirty="0" smtClean="0">
                <a:latin typeface="Maiandra GD" pitchFamily="34" charset="0"/>
              </a:rPr>
              <a:t>même site </a:t>
            </a:r>
            <a:r>
              <a:rPr lang="fr-FR" sz="3500" dirty="0">
                <a:latin typeface="Maiandra GD" pitchFamily="34" charset="0"/>
              </a:rPr>
              <a:t>web exactement de la même façon. Pourquoi ? Cela est dû au fait que les </a:t>
            </a:r>
            <a:r>
              <a:rPr lang="fr-FR" sz="3500" dirty="0" smtClean="0">
                <a:latin typeface="Maiandra GD" pitchFamily="34" charset="0"/>
              </a:rPr>
              <a:t>navigateurs ne </a:t>
            </a:r>
            <a:r>
              <a:rPr lang="fr-FR" sz="3500" dirty="0">
                <a:latin typeface="Maiandra GD" pitchFamily="34" charset="0"/>
              </a:rPr>
              <a:t>connaissent pas toujours les dernières fonctionnalités de HTML et </a:t>
            </a:r>
            <a:r>
              <a:rPr lang="fr-FR" sz="3500" dirty="0" smtClean="0">
                <a:latin typeface="Maiandra GD" pitchFamily="34" charset="0"/>
              </a:rPr>
              <a:t>CSS.</a:t>
            </a:r>
          </a:p>
          <a:p>
            <a:pPr marL="0" indent="0" algn="just">
              <a:buNone/>
            </a:pPr>
            <a:r>
              <a:rPr lang="fr-FR" sz="3300" dirty="0" smtClean="0">
                <a:latin typeface="Maiandra GD" pitchFamily="34" charset="0"/>
              </a:rPr>
              <a:t>Par</a:t>
            </a:r>
            <a:r>
              <a:rPr lang="fr-FR" sz="3300" dirty="0">
                <a:latin typeface="Maiandra GD" pitchFamily="34" charset="0"/>
              </a:rPr>
              <a:t> </a:t>
            </a:r>
            <a:r>
              <a:rPr lang="fr-FR" sz="3300" dirty="0" smtClean="0">
                <a:latin typeface="Maiandra GD" pitchFamily="34" charset="0"/>
              </a:rPr>
              <a:t>exemple</a:t>
            </a:r>
            <a:r>
              <a:rPr lang="fr-FR" sz="3300" dirty="0">
                <a:latin typeface="Maiandra GD" pitchFamily="34" charset="0"/>
              </a:rPr>
              <a:t>, Internet Explorer a longtemps été en retard sur certaines fonctionnalités </a:t>
            </a:r>
            <a:r>
              <a:rPr lang="fr-FR" sz="3300" dirty="0" smtClean="0">
                <a:latin typeface="Maiandra GD" pitchFamily="34" charset="0"/>
              </a:rPr>
              <a:t>CSS (et paradoxalement, il a aussi été en avance sur quelques autres).</a:t>
            </a:r>
            <a:endParaRPr lang="fr-FR" sz="3300" dirty="0">
              <a:latin typeface="Maiandra GD" pitchFamily="34" charset="0"/>
            </a:endParaRPr>
          </a:p>
        </p:txBody>
      </p:sp>
    </p:spTree>
    <p:extLst>
      <p:ext uri="{BB962C8B-B14F-4D97-AF65-F5344CB8AC3E}">
        <p14:creationId xmlns:p14="http://schemas.microsoft.com/office/powerpoint/2010/main" val="3436401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wipe(down)">
                                      <p:cBhvr>
                                        <p:cTn id="25" dur="580">
                                          <p:stCondLst>
                                            <p:cond delay="0"/>
                                          </p:stCondLst>
                                        </p:cTn>
                                        <p:tgtEl>
                                          <p:spTgt spid="3">
                                            <p:txEl>
                                              <p:pRg st="1" end="1"/>
                                            </p:txEl>
                                          </p:spTgt>
                                        </p:tgtEl>
                                      </p:cBhvr>
                                    </p:animEffect>
                                    <p:anim calcmode="lin" valueType="num">
                                      <p:cBhvr>
                                        <p:cTn id="26"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1" end="1"/>
                                            </p:txEl>
                                          </p:spTgt>
                                        </p:tgtEl>
                                      </p:cBhvr>
                                      <p:to x="100000" y="60000"/>
                                    </p:animScale>
                                    <p:animScale>
                                      <p:cBhvr>
                                        <p:cTn id="32" dur="166" decel="50000">
                                          <p:stCondLst>
                                            <p:cond delay="676"/>
                                          </p:stCondLst>
                                        </p:cTn>
                                        <p:tgtEl>
                                          <p:spTgt spid="3">
                                            <p:txEl>
                                              <p:pRg st="1" end="1"/>
                                            </p:txEl>
                                          </p:spTgt>
                                        </p:tgtEl>
                                      </p:cBhvr>
                                      <p:to x="100000" y="100000"/>
                                    </p:animScale>
                                    <p:animScale>
                                      <p:cBhvr>
                                        <p:cTn id="33" dur="26">
                                          <p:stCondLst>
                                            <p:cond delay="1312"/>
                                          </p:stCondLst>
                                        </p:cTn>
                                        <p:tgtEl>
                                          <p:spTgt spid="3">
                                            <p:txEl>
                                              <p:pRg st="1" end="1"/>
                                            </p:txEl>
                                          </p:spTgt>
                                        </p:tgtEl>
                                      </p:cBhvr>
                                      <p:to x="100000" y="80000"/>
                                    </p:animScale>
                                    <p:animScale>
                                      <p:cBhvr>
                                        <p:cTn id="34" dur="166" decel="50000">
                                          <p:stCondLst>
                                            <p:cond delay="1338"/>
                                          </p:stCondLst>
                                        </p:cTn>
                                        <p:tgtEl>
                                          <p:spTgt spid="3">
                                            <p:txEl>
                                              <p:pRg st="1" end="1"/>
                                            </p:txEl>
                                          </p:spTgt>
                                        </p:tgtEl>
                                      </p:cBhvr>
                                      <p:to x="100000" y="100000"/>
                                    </p:animScale>
                                    <p:animScale>
                                      <p:cBhvr>
                                        <p:cTn id="35" dur="26">
                                          <p:stCondLst>
                                            <p:cond delay="1642"/>
                                          </p:stCondLst>
                                        </p:cTn>
                                        <p:tgtEl>
                                          <p:spTgt spid="3">
                                            <p:txEl>
                                              <p:pRg st="1" end="1"/>
                                            </p:txEl>
                                          </p:spTgt>
                                        </p:tgtEl>
                                      </p:cBhvr>
                                      <p:to x="100000" y="90000"/>
                                    </p:animScale>
                                    <p:animScale>
                                      <p:cBhvr>
                                        <p:cTn id="36" dur="166" decel="50000">
                                          <p:stCondLst>
                                            <p:cond delay="1668"/>
                                          </p:stCondLst>
                                        </p:cTn>
                                        <p:tgtEl>
                                          <p:spTgt spid="3">
                                            <p:txEl>
                                              <p:pRg st="1" end="1"/>
                                            </p:txEl>
                                          </p:spTgt>
                                        </p:tgtEl>
                                      </p:cBhvr>
                                      <p:to x="100000" y="100000"/>
                                    </p:animScale>
                                    <p:animScale>
                                      <p:cBhvr>
                                        <p:cTn id="37" dur="26">
                                          <p:stCondLst>
                                            <p:cond delay="1808"/>
                                          </p:stCondLst>
                                        </p:cTn>
                                        <p:tgtEl>
                                          <p:spTgt spid="3">
                                            <p:txEl>
                                              <p:pRg st="1" end="1"/>
                                            </p:txEl>
                                          </p:spTgt>
                                        </p:tgtEl>
                                      </p:cBhvr>
                                      <p:to x="100000" y="95000"/>
                                    </p:animScale>
                                    <p:animScale>
                                      <p:cBhvr>
                                        <p:cTn id="38" dur="166" decel="50000">
                                          <p:stCondLst>
                                            <p:cond delay="1834"/>
                                          </p:stCondLst>
                                        </p:cTn>
                                        <p:tgtEl>
                                          <p:spTgt spid="3">
                                            <p:txEl>
                                              <p:pRg st="1" end="1"/>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9512" y="188640"/>
            <a:ext cx="8784976" cy="6336704"/>
          </a:xfrm>
        </p:spPr>
        <p:txBody>
          <a:bodyPr>
            <a:normAutofit/>
          </a:bodyPr>
          <a:lstStyle/>
          <a:p>
            <a:pPr marL="0" indent="0" algn="just">
              <a:buNone/>
            </a:pPr>
            <a:r>
              <a:rPr lang="fr-FR" sz="3600" dirty="0">
                <a:latin typeface="Maiandra GD" pitchFamily="34" charset="0"/>
              </a:rPr>
              <a:t>Pour compliquer les choses, plusieurs versions des navigateurs co-existent :</a:t>
            </a:r>
          </a:p>
          <a:p>
            <a:pPr algn="just">
              <a:buFontTx/>
              <a:buChar char="-"/>
            </a:pPr>
            <a:r>
              <a:rPr lang="fr-FR" sz="3600" dirty="0" smtClean="0">
                <a:latin typeface="Maiandra GD" pitchFamily="34" charset="0"/>
              </a:rPr>
              <a:t>Firefox 2, Firefox 3.5, Firefox 3.6, </a:t>
            </a:r>
          </a:p>
          <a:p>
            <a:pPr marL="0" indent="0" algn="just">
              <a:buNone/>
            </a:pPr>
            <a:r>
              <a:rPr lang="fr-FR" sz="3600" dirty="0">
                <a:latin typeface="Maiandra GD" pitchFamily="34" charset="0"/>
              </a:rPr>
              <a:t> </a:t>
            </a:r>
            <a:r>
              <a:rPr lang="fr-FR" sz="3600" dirty="0" smtClean="0">
                <a:latin typeface="Maiandra GD" pitchFamily="34" charset="0"/>
              </a:rPr>
              <a:t>  Firefox </a:t>
            </a:r>
            <a:r>
              <a:rPr lang="fr-FR" sz="3600" dirty="0">
                <a:latin typeface="Maiandra GD" pitchFamily="34" charset="0"/>
              </a:rPr>
              <a:t>4 ;</a:t>
            </a:r>
          </a:p>
          <a:p>
            <a:pPr algn="just">
              <a:buFontTx/>
              <a:buChar char="-"/>
            </a:pPr>
            <a:r>
              <a:rPr lang="fr-FR" sz="3600" dirty="0" smtClean="0">
                <a:latin typeface="Maiandra GD" pitchFamily="34" charset="0"/>
              </a:rPr>
              <a:t>Internet </a:t>
            </a:r>
            <a:r>
              <a:rPr lang="fr-FR" sz="3600" dirty="0">
                <a:latin typeface="Maiandra GD" pitchFamily="34" charset="0"/>
              </a:rPr>
              <a:t>Explorer 6, Internet Explorer 7, </a:t>
            </a:r>
            <a:r>
              <a:rPr lang="fr-FR" sz="3600" dirty="0" smtClean="0">
                <a:latin typeface="Maiandra GD" pitchFamily="34" charset="0"/>
              </a:rPr>
              <a:t>  </a:t>
            </a:r>
          </a:p>
          <a:p>
            <a:pPr marL="0" indent="0" algn="just">
              <a:buNone/>
            </a:pPr>
            <a:r>
              <a:rPr lang="fr-FR" sz="3600" dirty="0">
                <a:latin typeface="Maiandra GD" pitchFamily="34" charset="0"/>
              </a:rPr>
              <a:t> </a:t>
            </a:r>
            <a:r>
              <a:rPr lang="fr-FR" sz="3600" dirty="0" smtClean="0">
                <a:latin typeface="Maiandra GD" pitchFamily="34" charset="0"/>
              </a:rPr>
              <a:t>  Internet </a:t>
            </a:r>
            <a:r>
              <a:rPr lang="fr-FR" sz="3600" dirty="0">
                <a:latin typeface="Maiandra GD" pitchFamily="34" charset="0"/>
              </a:rPr>
              <a:t>Explorer 8, Internet Explorer 9 ;</a:t>
            </a:r>
          </a:p>
          <a:p>
            <a:pPr marL="0" indent="0" algn="just">
              <a:buNone/>
            </a:pPr>
            <a:r>
              <a:rPr lang="en-US" sz="3600" dirty="0" smtClean="0">
                <a:latin typeface="Maiandra GD" pitchFamily="34" charset="0"/>
              </a:rPr>
              <a:t>- Chrome </a:t>
            </a:r>
            <a:r>
              <a:rPr lang="en-US" sz="3600" dirty="0">
                <a:latin typeface="Maiandra GD" pitchFamily="34" charset="0"/>
              </a:rPr>
              <a:t>8, Chrome 9, Chrome 10 ;</a:t>
            </a:r>
          </a:p>
          <a:p>
            <a:pPr marL="0" indent="0" algn="just">
              <a:buNone/>
            </a:pPr>
            <a:r>
              <a:rPr lang="fr-FR" sz="3600" dirty="0" smtClean="0">
                <a:latin typeface="Maiandra GD" pitchFamily="34" charset="0"/>
              </a:rPr>
              <a:t>- etc</a:t>
            </a:r>
            <a:r>
              <a:rPr lang="fr-FR" sz="3600" dirty="0">
                <a:latin typeface="Maiandra GD" pitchFamily="34" charset="0"/>
              </a:rPr>
              <a:t>.</a:t>
            </a:r>
          </a:p>
        </p:txBody>
      </p:sp>
    </p:spTree>
    <p:extLst>
      <p:ext uri="{BB962C8B-B14F-4D97-AF65-F5344CB8AC3E}">
        <p14:creationId xmlns:p14="http://schemas.microsoft.com/office/powerpoint/2010/main" val="755428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wipe(down)">
                                      <p:cBhvr>
                                        <p:cTn id="25" dur="580">
                                          <p:stCondLst>
                                            <p:cond delay="0"/>
                                          </p:stCondLst>
                                        </p:cTn>
                                        <p:tgtEl>
                                          <p:spTgt spid="3">
                                            <p:txEl>
                                              <p:pRg st="1" end="1"/>
                                            </p:txEl>
                                          </p:spTgt>
                                        </p:tgtEl>
                                      </p:cBhvr>
                                    </p:animEffect>
                                    <p:anim calcmode="lin" valueType="num">
                                      <p:cBhvr>
                                        <p:cTn id="26"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1" end="1"/>
                                            </p:txEl>
                                          </p:spTgt>
                                        </p:tgtEl>
                                      </p:cBhvr>
                                      <p:to x="100000" y="60000"/>
                                    </p:animScale>
                                    <p:animScale>
                                      <p:cBhvr>
                                        <p:cTn id="32" dur="166" decel="50000">
                                          <p:stCondLst>
                                            <p:cond delay="676"/>
                                          </p:stCondLst>
                                        </p:cTn>
                                        <p:tgtEl>
                                          <p:spTgt spid="3">
                                            <p:txEl>
                                              <p:pRg st="1" end="1"/>
                                            </p:txEl>
                                          </p:spTgt>
                                        </p:tgtEl>
                                      </p:cBhvr>
                                      <p:to x="100000" y="100000"/>
                                    </p:animScale>
                                    <p:animScale>
                                      <p:cBhvr>
                                        <p:cTn id="33" dur="26">
                                          <p:stCondLst>
                                            <p:cond delay="1312"/>
                                          </p:stCondLst>
                                        </p:cTn>
                                        <p:tgtEl>
                                          <p:spTgt spid="3">
                                            <p:txEl>
                                              <p:pRg st="1" end="1"/>
                                            </p:txEl>
                                          </p:spTgt>
                                        </p:tgtEl>
                                      </p:cBhvr>
                                      <p:to x="100000" y="80000"/>
                                    </p:animScale>
                                    <p:animScale>
                                      <p:cBhvr>
                                        <p:cTn id="34" dur="166" decel="50000">
                                          <p:stCondLst>
                                            <p:cond delay="1338"/>
                                          </p:stCondLst>
                                        </p:cTn>
                                        <p:tgtEl>
                                          <p:spTgt spid="3">
                                            <p:txEl>
                                              <p:pRg st="1" end="1"/>
                                            </p:txEl>
                                          </p:spTgt>
                                        </p:tgtEl>
                                      </p:cBhvr>
                                      <p:to x="100000" y="100000"/>
                                    </p:animScale>
                                    <p:animScale>
                                      <p:cBhvr>
                                        <p:cTn id="35" dur="26">
                                          <p:stCondLst>
                                            <p:cond delay="1642"/>
                                          </p:stCondLst>
                                        </p:cTn>
                                        <p:tgtEl>
                                          <p:spTgt spid="3">
                                            <p:txEl>
                                              <p:pRg st="1" end="1"/>
                                            </p:txEl>
                                          </p:spTgt>
                                        </p:tgtEl>
                                      </p:cBhvr>
                                      <p:to x="100000" y="90000"/>
                                    </p:animScale>
                                    <p:animScale>
                                      <p:cBhvr>
                                        <p:cTn id="36" dur="166" decel="50000">
                                          <p:stCondLst>
                                            <p:cond delay="1668"/>
                                          </p:stCondLst>
                                        </p:cTn>
                                        <p:tgtEl>
                                          <p:spTgt spid="3">
                                            <p:txEl>
                                              <p:pRg st="1" end="1"/>
                                            </p:txEl>
                                          </p:spTgt>
                                        </p:tgtEl>
                                      </p:cBhvr>
                                      <p:to x="100000" y="100000"/>
                                    </p:animScale>
                                    <p:animScale>
                                      <p:cBhvr>
                                        <p:cTn id="37" dur="26">
                                          <p:stCondLst>
                                            <p:cond delay="1808"/>
                                          </p:stCondLst>
                                        </p:cTn>
                                        <p:tgtEl>
                                          <p:spTgt spid="3">
                                            <p:txEl>
                                              <p:pRg st="1" end="1"/>
                                            </p:txEl>
                                          </p:spTgt>
                                        </p:tgtEl>
                                      </p:cBhvr>
                                      <p:to x="100000" y="95000"/>
                                    </p:animScale>
                                    <p:animScale>
                                      <p:cBhvr>
                                        <p:cTn id="38" dur="166" decel="50000">
                                          <p:stCondLst>
                                            <p:cond delay="1834"/>
                                          </p:stCondLst>
                                        </p:cTn>
                                        <p:tgtEl>
                                          <p:spTgt spid="3">
                                            <p:txEl>
                                              <p:pRg st="1" end="1"/>
                                            </p:txEl>
                                          </p:spTgt>
                                        </p:tgtEl>
                                      </p:cBhvr>
                                      <p:to x="100000" y="100000"/>
                                    </p:animScale>
                                  </p:childTnLst>
                                </p:cTn>
                              </p:par>
                              <p:par>
                                <p:cTn id="39" presetID="26" presetClass="entr" presetSubtype="0" fill="hold" nodeType="withEffect">
                                  <p:stCondLst>
                                    <p:cond delay="0"/>
                                  </p:stCondLst>
                                  <p:childTnLst>
                                    <p:set>
                                      <p:cBhvr>
                                        <p:cTn id="40" dur="1" fill="hold">
                                          <p:stCondLst>
                                            <p:cond delay="0"/>
                                          </p:stCondLst>
                                        </p:cTn>
                                        <p:tgtEl>
                                          <p:spTgt spid="3">
                                            <p:txEl>
                                              <p:pRg st="2" end="2"/>
                                            </p:txEl>
                                          </p:spTgt>
                                        </p:tgtEl>
                                        <p:attrNameLst>
                                          <p:attrName>style.visibility</p:attrName>
                                        </p:attrNameLst>
                                      </p:cBhvr>
                                      <p:to>
                                        <p:strVal val="visible"/>
                                      </p:to>
                                    </p:set>
                                    <p:animEffect transition="in" filter="wipe(down)">
                                      <p:cBhvr>
                                        <p:cTn id="41" dur="580">
                                          <p:stCondLst>
                                            <p:cond delay="0"/>
                                          </p:stCondLst>
                                        </p:cTn>
                                        <p:tgtEl>
                                          <p:spTgt spid="3">
                                            <p:txEl>
                                              <p:pRg st="2" end="2"/>
                                            </p:txEl>
                                          </p:spTgt>
                                        </p:tgtEl>
                                      </p:cBhvr>
                                    </p:animEffect>
                                    <p:anim calcmode="lin" valueType="num">
                                      <p:cBhvr>
                                        <p:cTn id="42"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43"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44"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45"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46"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47" dur="26">
                                          <p:stCondLst>
                                            <p:cond delay="650"/>
                                          </p:stCondLst>
                                        </p:cTn>
                                        <p:tgtEl>
                                          <p:spTgt spid="3">
                                            <p:txEl>
                                              <p:pRg st="2" end="2"/>
                                            </p:txEl>
                                          </p:spTgt>
                                        </p:tgtEl>
                                      </p:cBhvr>
                                      <p:to x="100000" y="60000"/>
                                    </p:animScale>
                                    <p:animScale>
                                      <p:cBhvr>
                                        <p:cTn id="48" dur="166" decel="50000">
                                          <p:stCondLst>
                                            <p:cond delay="676"/>
                                          </p:stCondLst>
                                        </p:cTn>
                                        <p:tgtEl>
                                          <p:spTgt spid="3">
                                            <p:txEl>
                                              <p:pRg st="2" end="2"/>
                                            </p:txEl>
                                          </p:spTgt>
                                        </p:tgtEl>
                                      </p:cBhvr>
                                      <p:to x="100000" y="100000"/>
                                    </p:animScale>
                                    <p:animScale>
                                      <p:cBhvr>
                                        <p:cTn id="49" dur="26">
                                          <p:stCondLst>
                                            <p:cond delay="1312"/>
                                          </p:stCondLst>
                                        </p:cTn>
                                        <p:tgtEl>
                                          <p:spTgt spid="3">
                                            <p:txEl>
                                              <p:pRg st="2" end="2"/>
                                            </p:txEl>
                                          </p:spTgt>
                                        </p:tgtEl>
                                      </p:cBhvr>
                                      <p:to x="100000" y="80000"/>
                                    </p:animScale>
                                    <p:animScale>
                                      <p:cBhvr>
                                        <p:cTn id="50" dur="166" decel="50000">
                                          <p:stCondLst>
                                            <p:cond delay="1338"/>
                                          </p:stCondLst>
                                        </p:cTn>
                                        <p:tgtEl>
                                          <p:spTgt spid="3">
                                            <p:txEl>
                                              <p:pRg st="2" end="2"/>
                                            </p:txEl>
                                          </p:spTgt>
                                        </p:tgtEl>
                                      </p:cBhvr>
                                      <p:to x="100000" y="100000"/>
                                    </p:animScale>
                                    <p:animScale>
                                      <p:cBhvr>
                                        <p:cTn id="51" dur="26">
                                          <p:stCondLst>
                                            <p:cond delay="1642"/>
                                          </p:stCondLst>
                                        </p:cTn>
                                        <p:tgtEl>
                                          <p:spTgt spid="3">
                                            <p:txEl>
                                              <p:pRg st="2" end="2"/>
                                            </p:txEl>
                                          </p:spTgt>
                                        </p:tgtEl>
                                      </p:cBhvr>
                                      <p:to x="100000" y="90000"/>
                                    </p:animScale>
                                    <p:animScale>
                                      <p:cBhvr>
                                        <p:cTn id="52" dur="166" decel="50000">
                                          <p:stCondLst>
                                            <p:cond delay="1668"/>
                                          </p:stCondLst>
                                        </p:cTn>
                                        <p:tgtEl>
                                          <p:spTgt spid="3">
                                            <p:txEl>
                                              <p:pRg st="2" end="2"/>
                                            </p:txEl>
                                          </p:spTgt>
                                        </p:tgtEl>
                                      </p:cBhvr>
                                      <p:to x="100000" y="100000"/>
                                    </p:animScale>
                                    <p:animScale>
                                      <p:cBhvr>
                                        <p:cTn id="53" dur="26">
                                          <p:stCondLst>
                                            <p:cond delay="1808"/>
                                          </p:stCondLst>
                                        </p:cTn>
                                        <p:tgtEl>
                                          <p:spTgt spid="3">
                                            <p:txEl>
                                              <p:pRg st="2" end="2"/>
                                            </p:txEl>
                                          </p:spTgt>
                                        </p:tgtEl>
                                      </p:cBhvr>
                                      <p:to x="100000" y="95000"/>
                                    </p:animScale>
                                    <p:animScale>
                                      <p:cBhvr>
                                        <p:cTn id="54" dur="166" decel="50000">
                                          <p:stCondLst>
                                            <p:cond delay="1834"/>
                                          </p:stCondLst>
                                        </p:cTn>
                                        <p:tgtEl>
                                          <p:spTgt spid="3">
                                            <p:txEl>
                                              <p:pRg st="2" end="2"/>
                                            </p:txEl>
                                          </p:spTgt>
                                        </p:tgtEl>
                                      </p:cBhvr>
                                      <p:to x="100000" y="100000"/>
                                    </p:animScale>
                                  </p:childTnLst>
                                </p:cTn>
                              </p:par>
                            </p:childTnLst>
                          </p:cTn>
                        </p:par>
                      </p:childTnLst>
                    </p:cTn>
                  </p:par>
                  <p:par>
                    <p:cTn id="55" fill="hold">
                      <p:stCondLst>
                        <p:cond delay="indefinite"/>
                      </p:stCondLst>
                      <p:childTnLst>
                        <p:par>
                          <p:cTn id="56" fill="hold">
                            <p:stCondLst>
                              <p:cond delay="0"/>
                            </p:stCondLst>
                            <p:childTnLst>
                              <p:par>
                                <p:cTn id="57" presetID="26" presetClass="entr" presetSubtype="0" fill="hold" nodeType="clickEffect">
                                  <p:stCondLst>
                                    <p:cond delay="0"/>
                                  </p:stCondLst>
                                  <p:childTnLst>
                                    <p:set>
                                      <p:cBhvr>
                                        <p:cTn id="58" dur="1" fill="hold">
                                          <p:stCondLst>
                                            <p:cond delay="0"/>
                                          </p:stCondLst>
                                        </p:cTn>
                                        <p:tgtEl>
                                          <p:spTgt spid="3">
                                            <p:txEl>
                                              <p:pRg st="3" end="3"/>
                                            </p:txEl>
                                          </p:spTgt>
                                        </p:tgtEl>
                                        <p:attrNameLst>
                                          <p:attrName>style.visibility</p:attrName>
                                        </p:attrNameLst>
                                      </p:cBhvr>
                                      <p:to>
                                        <p:strVal val="visible"/>
                                      </p:to>
                                    </p:set>
                                    <p:animEffect transition="in" filter="wipe(down)">
                                      <p:cBhvr>
                                        <p:cTn id="59" dur="580">
                                          <p:stCondLst>
                                            <p:cond delay="0"/>
                                          </p:stCondLst>
                                        </p:cTn>
                                        <p:tgtEl>
                                          <p:spTgt spid="3">
                                            <p:txEl>
                                              <p:pRg st="3" end="3"/>
                                            </p:txEl>
                                          </p:spTgt>
                                        </p:tgtEl>
                                      </p:cBhvr>
                                    </p:animEffect>
                                    <p:anim calcmode="lin" valueType="num">
                                      <p:cBhvr>
                                        <p:cTn id="60"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61"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62"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63"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64"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65" dur="26">
                                          <p:stCondLst>
                                            <p:cond delay="650"/>
                                          </p:stCondLst>
                                        </p:cTn>
                                        <p:tgtEl>
                                          <p:spTgt spid="3">
                                            <p:txEl>
                                              <p:pRg st="3" end="3"/>
                                            </p:txEl>
                                          </p:spTgt>
                                        </p:tgtEl>
                                      </p:cBhvr>
                                      <p:to x="100000" y="60000"/>
                                    </p:animScale>
                                    <p:animScale>
                                      <p:cBhvr>
                                        <p:cTn id="66" dur="166" decel="50000">
                                          <p:stCondLst>
                                            <p:cond delay="676"/>
                                          </p:stCondLst>
                                        </p:cTn>
                                        <p:tgtEl>
                                          <p:spTgt spid="3">
                                            <p:txEl>
                                              <p:pRg st="3" end="3"/>
                                            </p:txEl>
                                          </p:spTgt>
                                        </p:tgtEl>
                                      </p:cBhvr>
                                      <p:to x="100000" y="100000"/>
                                    </p:animScale>
                                    <p:animScale>
                                      <p:cBhvr>
                                        <p:cTn id="67" dur="26">
                                          <p:stCondLst>
                                            <p:cond delay="1312"/>
                                          </p:stCondLst>
                                        </p:cTn>
                                        <p:tgtEl>
                                          <p:spTgt spid="3">
                                            <p:txEl>
                                              <p:pRg st="3" end="3"/>
                                            </p:txEl>
                                          </p:spTgt>
                                        </p:tgtEl>
                                      </p:cBhvr>
                                      <p:to x="100000" y="80000"/>
                                    </p:animScale>
                                    <p:animScale>
                                      <p:cBhvr>
                                        <p:cTn id="68" dur="166" decel="50000">
                                          <p:stCondLst>
                                            <p:cond delay="1338"/>
                                          </p:stCondLst>
                                        </p:cTn>
                                        <p:tgtEl>
                                          <p:spTgt spid="3">
                                            <p:txEl>
                                              <p:pRg st="3" end="3"/>
                                            </p:txEl>
                                          </p:spTgt>
                                        </p:tgtEl>
                                      </p:cBhvr>
                                      <p:to x="100000" y="100000"/>
                                    </p:animScale>
                                    <p:animScale>
                                      <p:cBhvr>
                                        <p:cTn id="69" dur="26">
                                          <p:stCondLst>
                                            <p:cond delay="1642"/>
                                          </p:stCondLst>
                                        </p:cTn>
                                        <p:tgtEl>
                                          <p:spTgt spid="3">
                                            <p:txEl>
                                              <p:pRg st="3" end="3"/>
                                            </p:txEl>
                                          </p:spTgt>
                                        </p:tgtEl>
                                      </p:cBhvr>
                                      <p:to x="100000" y="90000"/>
                                    </p:animScale>
                                    <p:animScale>
                                      <p:cBhvr>
                                        <p:cTn id="70" dur="166" decel="50000">
                                          <p:stCondLst>
                                            <p:cond delay="1668"/>
                                          </p:stCondLst>
                                        </p:cTn>
                                        <p:tgtEl>
                                          <p:spTgt spid="3">
                                            <p:txEl>
                                              <p:pRg st="3" end="3"/>
                                            </p:txEl>
                                          </p:spTgt>
                                        </p:tgtEl>
                                      </p:cBhvr>
                                      <p:to x="100000" y="100000"/>
                                    </p:animScale>
                                    <p:animScale>
                                      <p:cBhvr>
                                        <p:cTn id="71" dur="26">
                                          <p:stCondLst>
                                            <p:cond delay="1808"/>
                                          </p:stCondLst>
                                        </p:cTn>
                                        <p:tgtEl>
                                          <p:spTgt spid="3">
                                            <p:txEl>
                                              <p:pRg st="3" end="3"/>
                                            </p:txEl>
                                          </p:spTgt>
                                        </p:tgtEl>
                                      </p:cBhvr>
                                      <p:to x="100000" y="95000"/>
                                    </p:animScale>
                                    <p:animScale>
                                      <p:cBhvr>
                                        <p:cTn id="72" dur="166" decel="50000">
                                          <p:stCondLst>
                                            <p:cond delay="1834"/>
                                          </p:stCondLst>
                                        </p:cTn>
                                        <p:tgtEl>
                                          <p:spTgt spid="3">
                                            <p:txEl>
                                              <p:pRg st="3" end="3"/>
                                            </p:txEl>
                                          </p:spTgt>
                                        </p:tgtEl>
                                      </p:cBhvr>
                                      <p:to x="100000" y="100000"/>
                                    </p:animScale>
                                  </p:childTnLst>
                                </p:cTn>
                              </p:par>
                              <p:par>
                                <p:cTn id="73" presetID="26" presetClass="entr" presetSubtype="0" fill="hold" nodeType="withEffect">
                                  <p:stCondLst>
                                    <p:cond delay="0"/>
                                  </p:stCondLst>
                                  <p:childTnLst>
                                    <p:set>
                                      <p:cBhvr>
                                        <p:cTn id="74" dur="1" fill="hold">
                                          <p:stCondLst>
                                            <p:cond delay="0"/>
                                          </p:stCondLst>
                                        </p:cTn>
                                        <p:tgtEl>
                                          <p:spTgt spid="3">
                                            <p:txEl>
                                              <p:pRg st="4" end="4"/>
                                            </p:txEl>
                                          </p:spTgt>
                                        </p:tgtEl>
                                        <p:attrNameLst>
                                          <p:attrName>style.visibility</p:attrName>
                                        </p:attrNameLst>
                                      </p:cBhvr>
                                      <p:to>
                                        <p:strVal val="visible"/>
                                      </p:to>
                                    </p:set>
                                    <p:animEffect transition="in" filter="wipe(down)">
                                      <p:cBhvr>
                                        <p:cTn id="75" dur="580">
                                          <p:stCondLst>
                                            <p:cond delay="0"/>
                                          </p:stCondLst>
                                        </p:cTn>
                                        <p:tgtEl>
                                          <p:spTgt spid="3">
                                            <p:txEl>
                                              <p:pRg st="4" end="4"/>
                                            </p:txEl>
                                          </p:spTgt>
                                        </p:tgtEl>
                                      </p:cBhvr>
                                    </p:animEffect>
                                    <p:anim calcmode="lin" valueType="num">
                                      <p:cBhvr>
                                        <p:cTn id="76"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77"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78"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79"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80"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81" dur="26">
                                          <p:stCondLst>
                                            <p:cond delay="650"/>
                                          </p:stCondLst>
                                        </p:cTn>
                                        <p:tgtEl>
                                          <p:spTgt spid="3">
                                            <p:txEl>
                                              <p:pRg st="4" end="4"/>
                                            </p:txEl>
                                          </p:spTgt>
                                        </p:tgtEl>
                                      </p:cBhvr>
                                      <p:to x="100000" y="60000"/>
                                    </p:animScale>
                                    <p:animScale>
                                      <p:cBhvr>
                                        <p:cTn id="82" dur="166" decel="50000">
                                          <p:stCondLst>
                                            <p:cond delay="676"/>
                                          </p:stCondLst>
                                        </p:cTn>
                                        <p:tgtEl>
                                          <p:spTgt spid="3">
                                            <p:txEl>
                                              <p:pRg st="4" end="4"/>
                                            </p:txEl>
                                          </p:spTgt>
                                        </p:tgtEl>
                                      </p:cBhvr>
                                      <p:to x="100000" y="100000"/>
                                    </p:animScale>
                                    <p:animScale>
                                      <p:cBhvr>
                                        <p:cTn id="83" dur="26">
                                          <p:stCondLst>
                                            <p:cond delay="1312"/>
                                          </p:stCondLst>
                                        </p:cTn>
                                        <p:tgtEl>
                                          <p:spTgt spid="3">
                                            <p:txEl>
                                              <p:pRg st="4" end="4"/>
                                            </p:txEl>
                                          </p:spTgt>
                                        </p:tgtEl>
                                      </p:cBhvr>
                                      <p:to x="100000" y="80000"/>
                                    </p:animScale>
                                    <p:animScale>
                                      <p:cBhvr>
                                        <p:cTn id="84" dur="166" decel="50000">
                                          <p:stCondLst>
                                            <p:cond delay="1338"/>
                                          </p:stCondLst>
                                        </p:cTn>
                                        <p:tgtEl>
                                          <p:spTgt spid="3">
                                            <p:txEl>
                                              <p:pRg st="4" end="4"/>
                                            </p:txEl>
                                          </p:spTgt>
                                        </p:tgtEl>
                                      </p:cBhvr>
                                      <p:to x="100000" y="100000"/>
                                    </p:animScale>
                                    <p:animScale>
                                      <p:cBhvr>
                                        <p:cTn id="85" dur="26">
                                          <p:stCondLst>
                                            <p:cond delay="1642"/>
                                          </p:stCondLst>
                                        </p:cTn>
                                        <p:tgtEl>
                                          <p:spTgt spid="3">
                                            <p:txEl>
                                              <p:pRg st="4" end="4"/>
                                            </p:txEl>
                                          </p:spTgt>
                                        </p:tgtEl>
                                      </p:cBhvr>
                                      <p:to x="100000" y="90000"/>
                                    </p:animScale>
                                    <p:animScale>
                                      <p:cBhvr>
                                        <p:cTn id="86" dur="166" decel="50000">
                                          <p:stCondLst>
                                            <p:cond delay="1668"/>
                                          </p:stCondLst>
                                        </p:cTn>
                                        <p:tgtEl>
                                          <p:spTgt spid="3">
                                            <p:txEl>
                                              <p:pRg st="4" end="4"/>
                                            </p:txEl>
                                          </p:spTgt>
                                        </p:tgtEl>
                                      </p:cBhvr>
                                      <p:to x="100000" y="100000"/>
                                    </p:animScale>
                                    <p:animScale>
                                      <p:cBhvr>
                                        <p:cTn id="87" dur="26">
                                          <p:stCondLst>
                                            <p:cond delay="1808"/>
                                          </p:stCondLst>
                                        </p:cTn>
                                        <p:tgtEl>
                                          <p:spTgt spid="3">
                                            <p:txEl>
                                              <p:pRg st="4" end="4"/>
                                            </p:txEl>
                                          </p:spTgt>
                                        </p:tgtEl>
                                      </p:cBhvr>
                                      <p:to x="100000" y="95000"/>
                                    </p:animScale>
                                    <p:animScale>
                                      <p:cBhvr>
                                        <p:cTn id="88" dur="166" decel="50000">
                                          <p:stCondLst>
                                            <p:cond delay="1834"/>
                                          </p:stCondLst>
                                        </p:cTn>
                                        <p:tgtEl>
                                          <p:spTgt spid="3">
                                            <p:txEl>
                                              <p:pRg st="4" end="4"/>
                                            </p:txEl>
                                          </p:spTgt>
                                        </p:tgtEl>
                                      </p:cBhvr>
                                      <p:to x="100000" y="100000"/>
                                    </p:animScale>
                                  </p:childTnLst>
                                </p:cTn>
                              </p:par>
                            </p:childTnLst>
                          </p:cTn>
                        </p:par>
                      </p:childTnLst>
                    </p:cTn>
                  </p:par>
                  <p:par>
                    <p:cTn id="89" fill="hold">
                      <p:stCondLst>
                        <p:cond delay="indefinite"/>
                      </p:stCondLst>
                      <p:childTnLst>
                        <p:par>
                          <p:cTn id="90" fill="hold">
                            <p:stCondLst>
                              <p:cond delay="0"/>
                            </p:stCondLst>
                            <p:childTnLst>
                              <p:par>
                                <p:cTn id="91" presetID="26" presetClass="entr" presetSubtype="0" fill="hold" nodeType="clickEffect">
                                  <p:stCondLst>
                                    <p:cond delay="0"/>
                                  </p:stCondLst>
                                  <p:childTnLst>
                                    <p:set>
                                      <p:cBhvr>
                                        <p:cTn id="92" dur="1" fill="hold">
                                          <p:stCondLst>
                                            <p:cond delay="0"/>
                                          </p:stCondLst>
                                        </p:cTn>
                                        <p:tgtEl>
                                          <p:spTgt spid="3">
                                            <p:txEl>
                                              <p:pRg st="5" end="5"/>
                                            </p:txEl>
                                          </p:spTgt>
                                        </p:tgtEl>
                                        <p:attrNameLst>
                                          <p:attrName>style.visibility</p:attrName>
                                        </p:attrNameLst>
                                      </p:cBhvr>
                                      <p:to>
                                        <p:strVal val="visible"/>
                                      </p:to>
                                    </p:set>
                                    <p:animEffect transition="in" filter="wipe(down)">
                                      <p:cBhvr>
                                        <p:cTn id="93" dur="580">
                                          <p:stCondLst>
                                            <p:cond delay="0"/>
                                          </p:stCondLst>
                                        </p:cTn>
                                        <p:tgtEl>
                                          <p:spTgt spid="3">
                                            <p:txEl>
                                              <p:pRg st="5" end="5"/>
                                            </p:txEl>
                                          </p:spTgt>
                                        </p:tgtEl>
                                      </p:cBhvr>
                                    </p:animEffect>
                                    <p:anim calcmode="lin" valueType="num">
                                      <p:cBhvr>
                                        <p:cTn id="94" dur="1822" tmFilter="0,0; 0.14,0.36; 0.43,0.73; 0.71,0.91; 1.0,1.0">
                                          <p:stCondLst>
                                            <p:cond delay="0"/>
                                          </p:stCondLst>
                                        </p:cTn>
                                        <p:tgtEl>
                                          <p:spTgt spid="3">
                                            <p:txEl>
                                              <p:pRg st="5" end="5"/>
                                            </p:txEl>
                                          </p:spTgt>
                                        </p:tgtEl>
                                        <p:attrNameLst>
                                          <p:attrName>ppt_x</p:attrName>
                                        </p:attrNameLst>
                                      </p:cBhvr>
                                      <p:tavLst>
                                        <p:tav tm="0">
                                          <p:val>
                                            <p:strVal val="#ppt_x-0.25"/>
                                          </p:val>
                                        </p:tav>
                                        <p:tav tm="100000">
                                          <p:val>
                                            <p:strVal val="#ppt_x"/>
                                          </p:val>
                                        </p:tav>
                                      </p:tavLst>
                                    </p:anim>
                                    <p:anim calcmode="lin" valueType="num">
                                      <p:cBhvr>
                                        <p:cTn id="95" dur="664" tmFilter="0.0,0.0; 0.25,0.07; 0.50,0.2; 0.75,0.467; 1.0,1.0">
                                          <p:stCondLst>
                                            <p:cond delay="0"/>
                                          </p:stCondLst>
                                        </p:cTn>
                                        <p:tgtEl>
                                          <p:spTgt spid="3">
                                            <p:txEl>
                                              <p:pRg st="5" end="5"/>
                                            </p:txEl>
                                          </p:spTgt>
                                        </p:tgtEl>
                                        <p:attrNameLst>
                                          <p:attrName>ppt_y</p:attrName>
                                        </p:attrNameLst>
                                      </p:cBhvr>
                                      <p:tavLst>
                                        <p:tav tm="0" fmla="#ppt_y-sin(pi*$)/3">
                                          <p:val>
                                            <p:fltVal val="0.5"/>
                                          </p:val>
                                        </p:tav>
                                        <p:tav tm="100000">
                                          <p:val>
                                            <p:fltVal val="1"/>
                                          </p:val>
                                        </p:tav>
                                      </p:tavLst>
                                    </p:anim>
                                    <p:anim calcmode="lin" valueType="num">
                                      <p:cBhvr>
                                        <p:cTn id="96" dur="664" tmFilter="0, 0; 0.125,0.2665; 0.25,0.4; 0.375,0.465; 0.5,0.5;  0.625,0.535; 0.75,0.6; 0.875,0.7335; 1,1">
                                          <p:stCondLst>
                                            <p:cond delay="664"/>
                                          </p:stCondLst>
                                        </p:cTn>
                                        <p:tgtEl>
                                          <p:spTgt spid="3">
                                            <p:txEl>
                                              <p:pRg st="5" end="5"/>
                                            </p:txEl>
                                          </p:spTgt>
                                        </p:tgtEl>
                                        <p:attrNameLst>
                                          <p:attrName>ppt_y</p:attrName>
                                        </p:attrNameLst>
                                      </p:cBhvr>
                                      <p:tavLst>
                                        <p:tav tm="0" fmla="#ppt_y-sin(pi*$)/9">
                                          <p:val>
                                            <p:fltVal val="0"/>
                                          </p:val>
                                        </p:tav>
                                        <p:tav tm="100000">
                                          <p:val>
                                            <p:fltVal val="1"/>
                                          </p:val>
                                        </p:tav>
                                      </p:tavLst>
                                    </p:anim>
                                    <p:anim calcmode="lin" valueType="num">
                                      <p:cBhvr>
                                        <p:cTn id="97" dur="332" tmFilter="0, 0; 0.125,0.2665; 0.25,0.4; 0.375,0.465; 0.5,0.5;  0.625,0.535; 0.75,0.6; 0.875,0.7335; 1,1">
                                          <p:stCondLst>
                                            <p:cond delay="1324"/>
                                          </p:stCondLst>
                                        </p:cTn>
                                        <p:tgtEl>
                                          <p:spTgt spid="3">
                                            <p:txEl>
                                              <p:pRg st="5" end="5"/>
                                            </p:txEl>
                                          </p:spTgt>
                                        </p:tgtEl>
                                        <p:attrNameLst>
                                          <p:attrName>ppt_y</p:attrName>
                                        </p:attrNameLst>
                                      </p:cBhvr>
                                      <p:tavLst>
                                        <p:tav tm="0" fmla="#ppt_y-sin(pi*$)/27">
                                          <p:val>
                                            <p:fltVal val="0"/>
                                          </p:val>
                                        </p:tav>
                                        <p:tav tm="100000">
                                          <p:val>
                                            <p:fltVal val="1"/>
                                          </p:val>
                                        </p:tav>
                                      </p:tavLst>
                                    </p:anim>
                                    <p:anim calcmode="lin" valueType="num">
                                      <p:cBhvr>
                                        <p:cTn id="98" dur="164" tmFilter="0, 0; 0.125,0.2665; 0.25,0.4; 0.375,0.465; 0.5,0.5;  0.625,0.535; 0.75,0.6; 0.875,0.7335; 1,1">
                                          <p:stCondLst>
                                            <p:cond delay="1656"/>
                                          </p:stCondLst>
                                        </p:cTn>
                                        <p:tgtEl>
                                          <p:spTgt spid="3">
                                            <p:txEl>
                                              <p:pRg st="5" end="5"/>
                                            </p:txEl>
                                          </p:spTgt>
                                        </p:tgtEl>
                                        <p:attrNameLst>
                                          <p:attrName>ppt_y</p:attrName>
                                        </p:attrNameLst>
                                      </p:cBhvr>
                                      <p:tavLst>
                                        <p:tav tm="0" fmla="#ppt_y-sin(pi*$)/81">
                                          <p:val>
                                            <p:fltVal val="0"/>
                                          </p:val>
                                        </p:tav>
                                        <p:tav tm="100000">
                                          <p:val>
                                            <p:fltVal val="1"/>
                                          </p:val>
                                        </p:tav>
                                      </p:tavLst>
                                    </p:anim>
                                    <p:animScale>
                                      <p:cBhvr>
                                        <p:cTn id="99" dur="26">
                                          <p:stCondLst>
                                            <p:cond delay="650"/>
                                          </p:stCondLst>
                                        </p:cTn>
                                        <p:tgtEl>
                                          <p:spTgt spid="3">
                                            <p:txEl>
                                              <p:pRg st="5" end="5"/>
                                            </p:txEl>
                                          </p:spTgt>
                                        </p:tgtEl>
                                      </p:cBhvr>
                                      <p:to x="100000" y="60000"/>
                                    </p:animScale>
                                    <p:animScale>
                                      <p:cBhvr>
                                        <p:cTn id="100" dur="166" decel="50000">
                                          <p:stCondLst>
                                            <p:cond delay="676"/>
                                          </p:stCondLst>
                                        </p:cTn>
                                        <p:tgtEl>
                                          <p:spTgt spid="3">
                                            <p:txEl>
                                              <p:pRg st="5" end="5"/>
                                            </p:txEl>
                                          </p:spTgt>
                                        </p:tgtEl>
                                      </p:cBhvr>
                                      <p:to x="100000" y="100000"/>
                                    </p:animScale>
                                    <p:animScale>
                                      <p:cBhvr>
                                        <p:cTn id="101" dur="26">
                                          <p:stCondLst>
                                            <p:cond delay="1312"/>
                                          </p:stCondLst>
                                        </p:cTn>
                                        <p:tgtEl>
                                          <p:spTgt spid="3">
                                            <p:txEl>
                                              <p:pRg st="5" end="5"/>
                                            </p:txEl>
                                          </p:spTgt>
                                        </p:tgtEl>
                                      </p:cBhvr>
                                      <p:to x="100000" y="80000"/>
                                    </p:animScale>
                                    <p:animScale>
                                      <p:cBhvr>
                                        <p:cTn id="102" dur="166" decel="50000">
                                          <p:stCondLst>
                                            <p:cond delay="1338"/>
                                          </p:stCondLst>
                                        </p:cTn>
                                        <p:tgtEl>
                                          <p:spTgt spid="3">
                                            <p:txEl>
                                              <p:pRg st="5" end="5"/>
                                            </p:txEl>
                                          </p:spTgt>
                                        </p:tgtEl>
                                      </p:cBhvr>
                                      <p:to x="100000" y="100000"/>
                                    </p:animScale>
                                    <p:animScale>
                                      <p:cBhvr>
                                        <p:cTn id="103" dur="26">
                                          <p:stCondLst>
                                            <p:cond delay="1642"/>
                                          </p:stCondLst>
                                        </p:cTn>
                                        <p:tgtEl>
                                          <p:spTgt spid="3">
                                            <p:txEl>
                                              <p:pRg st="5" end="5"/>
                                            </p:txEl>
                                          </p:spTgt>
                                        </p:tgtEl>
                                      </p:cBhvr>
                                      <p:to x="100000" y="90000"/>
                                    </p:animScale>
                                    <p:animScale>
                                      <p:cBhvr>
                                        <p:cTn id="104" dur="166" decel="50000">
                                          <p:stCondLst>
                                            <p:cond delay="1668"/>
                                          </p:stCondLst>
                                        </p:cTn>
                                        <p:tgtEl>
                                          <p:spTgt spid="3">
                                            <p:txEl>
                                              <p:pRg st="5" end="5"/>
                                            </p:txEl>
                                          </p:spTgt>
                                        </p:tgtEl>
                                      </p:cBhvr>
                                      <p:to x="100000" y="100000"/>
                                    </p:animScale>
                                    <p:animScale>
                                      <p:cBhvr>
                                        <p:cTn id="105" dur="26">
                                          <p:stCondLst>
                                            <p:cond delay="1808"/>
                                          </p:stCondLst>
                                        </p:cTn>
                                        <p:tgtEl>
                                          <p:spTgt spid="3">
                                            <p:txEl>
                                              <p:pRg st="5" end="5"/>
                                            </p:txEl>
                                          </p:spTgt>
                                        </p:tgtEl>
                                      </p:cBhvr>
                                      <p:to x="100000" y="95000"/>
                                    </p:animScale>
                                    <p:animScale>
                                      <p:cBhvr>
                                        <p:cTn id="106" dur="166" decel="50000">
                                          <p:stCondLst>
                                            <p:cond delay="1834"/>
                                          </p:stCondLst>
                                        </p:cTn>
                                        <p:tgtEl>
                                          <p:spTgt spid="3">
                                            <p:txEl>
                                              <p:pRg st="5" end="5"/>
                                            </p:txEl>
                                          </p:spTgt>
                                        </p:tgtEl>
                                      </p:cBhvr>
                                      <p:to x="100000" y="100000"/>
                                    </p:animScale>
                                  </p:childTnLst>
                                </p:cTn>
                              </p:par>
                            </p:childTnLst>
                          </p:cTn>
                        </p:par>
                      </p:childTnLst>
                    </p:cTn>
                  </p:par>
                  <p:par>
                    <p:cTn id="107" fill="hold">
                      <p:stCondLst>
                        <p:cond delay="indefinite"/>
                      </p:stCondLst>
                      <p:childTnLst>
                        <p:par>
                          <p:cTn id="108" fill="hold">
                            <p:stCondLst>
                              <p:cond delay="0"/>
                            </p:stCondLst>
                            <p:childTnLst>
                              <p:par>
                                <p:cTn id="109" presetID="26" presetClass="entr" presetSubtype="0" fill="hold" nodeType="clickEffect">
                                  <p:stCondLst>
                                    <p:cond delay="0"/>
                                  </p:stCondLst>
                                  <p:childTnLst>
                                    <p:set>
                                      <p:cBhvr>
                                        <p:cTn id="110" dur="1" fill="hold">
                                          <p:stCondLst>
                                            <p:cond delay="0"/>
                                          </p:stCondLst>
                                        </p:cTn>
                                        <p:tgtEl>
                                          <p:spTgt spid="3">
                                            <p:txEl>
                                              <p:pRg st="6" end="6"/>
                                            </p:txEl>
                                          </p:spTgt>
                                        </p:tgtEl>
                                        <p:attrNameLst>
                                          <p:attrName>style.visibility</p:attrName>
                                        </p:attrNameLst>
                                      </p:cBhvr>
                                      <p:to>
                                        <p:strVal val="visible"/>
                                      </p:to>
                                    </p:set>
                                    <p:animEffect transition="in" filter="wipe(down)">
                                      <p:cBhvr>
                                        <p:cTn id="111" dur="580">
                                          <p:stCondLst>
                                            <p:cond delay="0"/>
                                          </p:stCondLst>
                                        </p:cTn>
                                        <p:tgtEl>
                                          <p:spTgt spid="3">
                                            <p:txEl>
                                              <p:pRg st="6" end="6"/>
                                            </p:txEl>
                                          </p:spTgt>
                                        </p:tgtEl>
                                      </p:cBhvr>
                                    </p:animEffect>
                                    <p:anim calcmode="lin" valueType="num">
                                      <p:cBhvr>
                                        <p:cTn id="112" dur="1822" tmFilter="0,0; 0.14,0.36; 0.43,0.73; 0.71,0.91; 1.0,1.0">
                                          <p:stCondLst>
                                            <p:cond delay="0"/>
                                          </p:stCondLst>
                                        </p:cTn>
                                        <p:tgtEl>
                                          <p:spTgt spid="3">
                                            <p:txEl>
                                              <p:pRg st="6" end="6"/>
                                            </p:txEl>
                                          </p:spTgt>
                                        </p:tgtEl>
                                        <p:attrNameLst>
                                          <p:attrName>ppt_x</p:attrName>
                                        </p:attrNameLst>
                                      </p:cBhvr>
                                      <p:tavLst>
                                        <p:tav tm="0">
                                          <p:val>
                                            <p:strVal val="#ppt_x-0.25"/>
                                          </p:val>
                                        </p:tav>
                                        <p:tav tm="100000">
                                          <p:val>
                                            <p:strVal val="#ppt_x"/>
                                          </p:val>
                                        </p:tav>
                                      </p:tavLst>
                                    </p:anim>
                                    <p:anim calcmode="lin" valueType="num">
                                      <p:cBhvr>
                                        <p:cTn id="113" dur="664" tmFilter="0.0,0.0; 0.25,0.07; 0.50,0.2; 0.75,0.467; 1.0,1.0">
                                          <p:stCondLst>
                                            <p:cond delay="0"/>
                                          </p:stCondLst>
                                        </p:cTn>
                                        <p:tgtEl>
                                          <p:spTgt spid="3">
                                            <p:txEl>
                                              <p:pRg st="6" end="6"/>
                                            </p:txEl>
                                          </p:spTgt>
                                        </p:tgtEl>
                                        <p:attrNameLst>
                                          <p:attrName>ppt_y</p:attrName>
                                        </p:attrNameLst>
                                      </p:cBhvr>
                                      <p:tavLst>
                                        <p:tav tm="0" fmla="#ppt_y-sin(pi*$)/3">
                                          <p:val>
                                            <p:fltVal val="0.5"/>
                                          </p:val>
                                        </p:tav>
                                        <p:tav tm="100000">
                                          <p:val>
                                            <p:fltVal val="1"/>
                                          </p:val>
                                        </p:tav>
                                      </p:tavLst>
                                    </p:anim>
                                    <p:anim calcmode="lin" valueType="num">
                                      <p:cBhvr>
                                        <p:cTn id="114" dur="664" tmFilter="0, 0; 0.125,0.2665; 0.25,0.4; 0.375,0.465; 0.5,0.5;  0.625,0.535; 0.75,0.6; 0.875,0.7335; 1,1">
                                          <p:stCondLst>
                                            <p:cond delay="664"/>
                                          </p:stCondLst>
                                        </p:cTn>
                                        <p:tgtEl>
                                          <p:spTgt spid="3">
                                            <p:txEl>
                                              <p:pRg st="6" end="6"/>
                                            </p:txEl>
                                          </p:spTgt>
                                        </p:tgtEl>
                                        <p:attrNameLst>
                                          <p:attrName>ppt_y</p:attrName>
                                        </p:attrNameLst>
                                      </p:cBhvr>
                                      <p:tavLst>
                                        <p:tav tm="0" fmla="#ppt_y-sin(pi*$)/9">
                                          <p:val>
                                            <p:fltVal val="0"/>
                                          </p:val>
                                        </p:tav>
                                        <p:tav tm="100000">
                                          <p:val>
                                            <p:fltVal val="1"/>
                                          </p:val>
                                        </p:tav>
                                      </p:tavLst>
                                    </p:anim>
                                    <p:anim calcmode="lin" valueType="num">
                                      <p:cBhvr>
                                        <p:cTn id="115" dur="332" tmFilter="0, 0; 0.125,0.2665; 0.25,0.4; 0.375,0.465; 0.5,0.5;  0.625,0.535; 0.75,0.6; 0.875,0.7335; 1,1">
                                          <p:stCondLst>
                                            <p:cond delay="1324"/>
                                          </p:stCondLst>
                                        </p:cTn>
                                        <p:tgtEl>
                                          <p:spTgt spid="3">
                                            <p:txEl>
                                              <p:pRg st="6" end="6"/>
                                            </p:txEl>
                                          </p:spTgt>
                                        </p:tgtEl>
                                        <p:attrNameLst>
                                          <p:attrName>ppt_y</p:attrName>
                                        </p:attrNameLst>
                                      </p:cBhvr>
                                      <p:tavLst>
                                        <p:tav tm="0" fmla="#ppt_y-sin(pi*$)/27">
                                          <p:val>
                                            <p:fltVal val="0"/>
                                          </p:val>
                                        </p:tav>
                                        <p:tav tm="100000">
                                          <p:val>
                                            <p:fltVal val="1"/>
                                          </p:val>
                                        </p:tav>
                                      </p:tavLst>
                                    </p:anim>
                                    <p:anim calcmode="lin" valueType="num">
                                      <p:cBhvr>
                                        <p:cTn id="116" dur="164" tmFilter="0, 0; 0.125,0.2665; 0.25,0.4; 0.375,0.465; 0.5,0.5;  0.625,0.535; 0.75,0.6; 0.875,0.7335; 1,1">
                                          <p:stCondLst>
                                            <p:cond delay="1656"/>
                                          </p:stCondLst>
                                        </p:cTn>
                                        <p:tgtEl>
                                          <p:spTgt spid="3">
                                            <p:txEl>
                                              <p:pRg st="6" end="6"/>
                                            </p:txEl>
                                          </p:spTgt>
                                        </p:tgtEl>
                                        <p:attrNameLst>
                                          <p:attrName>ppt_y</p:attrName>
                                        </p:attrNameLst>
                                      </p:cBhvr>
                                      <p:tavLst>
                                        <p:tav tm="0" fmla="#ppt_y-sin(pi*$)/81">
                                          <p:val>
                                            <p:fltVal val="0"/>
                                          </p:val>
                                        </p:tav>
                                        <p:tav tm="100000">
                                          <p:val>
                                            <p:fltVal val="1"/>
                                          </p:val>
                                        </p:tav>
                                      </p:tavLst>
                                    </p:anim>
                                    <p:animScale>
                                      <p:cBhvr>
                                        <p:cTn id="117" dur="26">
                                          <p:stCondLst>
                                            <p:cond delay="650"/>
                                          </p:stCondLst>
                                        </p:cTn>
                                        <p:tgtEl>
                                          <p:spTgt spid="3">
                                            <p:txEl>
                                              <p:pRg st="6" end="6"/>
                                            </p:txEl>
                                          </p:spTgt>
                                        </p:tgtEl>
                                      </p:cBhvr>
                                      <p:to x="100000" y="60000"/>
                                    </p:animScale>
                                    <p:animScale>
                                      <p:cBhvr>
                                        <p:cTn id="118" dur="166" decel="50000">
                                          <p:stCondLst>
                                            <p:cond delay="676"/>
                                          </p:stCondLst>
                                        </p:cTn>
                                        <p:tgtEl>
                                          <p:spTgt spid="3">
                                            <p:txEl>
                                              <p:pRg st="6" end="6"/>
                                            </p:txEl>
                                          </p:spTgt>
                                        </p:tgtEl>
                                      </p:cBhvr>
                                      <p:to x="100000" y="100000"/>
                                    </p:animScale>
                                    <p:animScale>
                                      <p:cBhvr>
                                        <p:cTn id="119" dur="26">
                                          <p:stCondLst>
                                            <p:cond delay="1312"/>
                                          </p:stCondLst>
                                        </p:cTn>
                                        <p:tgtEl>
                                          <p:spTgt spid="3">
                                            <p:txEl>
                                              <p:pRg st="6" end="6"/>
                                            </p:txEl>
                                          </p:spTgt>
                                        </p:tgtEl>
                                      </p:cBhvr>
                                      <p:to x="100000" y="80000"/>
                                    </p:animScale>
                                    <p:animScale>
                                      <p:cBhvr>
                                        <p:cTn id="120" dur="166" decel="50000">
                                          <p:stCondLst>
                                            <p:cond delay="1338"/>
                                          </p:stCondLst>
                                        </p:cTn>
                                        <p:tgtEl>
                                          <p:spTgt spid="3">
                                            <p:txEl>
                                              <p:pRg st="6" end="6"/>
                                            </p:txEl>
                                          </p:spTgt>
                                        </p:tgtEl>
                                      </p:cBhvr>
                                      <p:to x="100000" y="100000"/>
                                    </p:animScale>
                                    <p:animScale>
                                      <p:cBhvr>
                                        <p:cTn id="121" dur="26">
                                          <p:stCondLst>
                                            <p:cond delay="1642"/>
                                          </p:stCondLst>
                                        </p:cTn>
                                        <p:tgtEl>
                                          <p:spTgt spid="3">
                                            <p:txEl>
                                              <p:pRg st="6" end="6"/>
                                            </p:txEl>
                                          </p:spTgt>
                                        </p:tgtEl>
                                      </p:cBhvr>
                                      <p:to x="100000" y="90000"/>
                                    </p:animScale>
                                    <p:animScale>
                                      <p:cBhvr>
                                        <p:cTn id="122" dur="166" decel="50000">
                                          <p:stCondLst>
                                            <p:cond delay="1668"/>
                                          </p:stCondLst>
                                        </p:cTn>
                                        <p:tgtEl>
                                          <p:spTgt spid="3">
                                            <p:txEl>
                                              <p:pRg st="6" end="6"/>
                                            </p:txEl>
                                          </p:spTgt>
                                        </p:tgtEl>
                                      </p:cBhvr>
                                      <p:to x="100000" y="100000"/>
                                    </p:animScale>
                                    <p:animScale>
                                      <p:cBhvr>
                                        <p:cTn id="123" dur="26">
                                          <p:stCondLst>
                                            <p:cond delay="1808"/>
                                          </p:stCondLst>
                                        </p:cTn>
                                        <p:tgtEl>
                                          <p:spTgt spid="3">
                                            <p:txEl>
                                              <p:pRg st="6" end="6"/>
                                            </p:txEl>
                                          </p:spTgt>
                                        </p:tgtEl>
                                      </p:cBhvr>
                                      <p:to x="100000" y="95000"/>
                                    </p:animScale>
                                    <p:animScale>
                                      <p:cBhvr>
                                        <p:cTn id="124" dur="166" decel="50000">
                                          <p:stCondLst>
                                            <p:cond delay="1834"/>
                                          </p:stCondLst>
                                        </p:cTn>
                                        <p:tgtEl>
                                          <p:spTgt spid="3">
                                            <p:txEl>
                                              <p:pRg st="6" end="6"/>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23528" y="404664"/>
            <a:ext cx="8568952" cy="6120680"/>
          </a:xfrm>
        </p:spPr>
        <p:txBody>
          <a:bodyPr>
            <a:normAutofit/>
          </a:bodyPr>
          <a:lstStyle/>
          <a:p>
            <a:pPr marL="0" indent="0" algn="just">
              <a:buNone/>
            </a:pPr>
            <a:r>
              <a:rPr lang="fr-FR" dirty="0">
                <a:latin typeface="Maiandra GD" pitchFamily="34" charset="0"/>
              </a:rPr>
              <a:t>Chaque version prend en charge de nouvelles fonctionnalités mais, si les utilisateurs </a:t>
            </a:r>
            <a:r>
              <a:rPr lang="fr-FR" dirty="0" smtClean="0">
                <a:latin typeface="Maiandra GD" pitchFamily="34" charset="0"/>
              </a:rPr>
              <a:t>ne mettent </a:t>
            </a:r>
            <a:r>
              <a:rPr lang="fr-FR" dirty="0">
                <a:latin typeface="Maiandra GD" pitchFamily="34" charset="0"/>
              </a:rPr>
              <a:t>pas à jour leur(s) navigateur(s), cela devient un problème pour les </a:t>
            </a:r>
            <a:r>
              <a:rPr lang="fr-FR" dirty="0" smtClean="0">
                <a:latin typeface="Maiandra GD" pitchFamily="34" charset="0"/>
              </a:rPr>
              <a:t>webmasters comme </a:t>
            </a:r>
            <a:r>
              <a:rPr lang="fr-FR" dirty="0">
                <a:latin typeface="Maiandra GD" pitchFamily="34" charset="0"/>
              </a:rPr>
              <a:t>vous qui créent des sites web</a:t>
            </a:r>
            <a:r>
              <a:rPr lang="fr-FR" dirty="0" smtClean="0">
                <a:latin typeface="Maiandra GD" pitchFamily="34" charset="0"/>
              </a:rPr>
              <a:t>.</a:t>
            </a:r>
          </a:p>
          <a:p>
            <a:pPr marL="0" indent="0" algn="just">
              <a:buNone/>
            </a:pPr>
            <a:endParaRPr lang="fr-FR" dirty="0" smtClean="0">
              <a:latin typeface="Maiandra GD" pitchFamily="34" charset="0"/>
            </a:endParaRPr>
          </a:p>
          <a:p>
            <a:pPr marL="0" indent="0" algn="just">
              <a:buNone/>
            </a:pPr>
            <a:r>
              <a:rPr lang="fr-FR" dirty="0">
                <a:latin typeface="Maiandra GD" pitchFamily="34" charset="0"/>
              </a:rPr>
              <a:t>Chrome a résolu en grande partie le problème</a:t>
            </a:r>
          </a:p>
          <a:p>
            <a:pPr marL="0" indent="0" algn="just">
              <a:buNone/>
            </a:pPr>
            <a:r>
              <a:rPr lang="fr-FR" dirty="0">
                <a:latin typeface="Maiandra GD" pitchFamily="34" charset="0"/>
              </a:rPr>
              <a:t>en mettant en place des mises à </a:t>
            </a:r>
            <a:r>
              <a:rPr lang="fr-FR" dirty="0" smtClean="0">
                <a:latin typeface="Maiandra GD" pitchFamily="34" charset="0"/>
              </a:rPr>
              <a:t>jour automatiques</a:t>
            </a:r>
            <a:r>
              <a:rPr lang="fr-FR" dirty="0">
                <a:latin typeface="Maiandra GD" pitchFamily="34" charset="0"/>
              </a:rPr>
              <a:t>, sans intervention de l'utilisateur.</a:t>
            </a:r>
          </a:p>
        </p:txBody>
      </p:sp>
    </p:spTree>
    <p:extLst>
      <p:ext uri="{BB962C8B-B14F-4D97-AF65-F5344CB8AC3E}">
        <p14:creationId xmlns:p14="http://schemas.microsoft.com/office/powerpoint/2010/main" val="2456474220"/>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9512" y="188640"/>
            <a:ext cx="8784976" cy="6480720"/>
          </a:xfrm>
        </p:spPr>
        <p:txBody>
          <a:bodyPr>
            <a:normAutofit/>
          </a:bodyPr>
          <a:lstStyle/>
          <a:p>
            <a:pPr marL="0" indent="0" algn="just">
              <a:buNone/>
            </a:pPr>
            <a:r>
              <a:rPr lang="fr-FR" sz="3600" dirty="0">
                <a:latin typeface="Maiandra GD" pitchFamily="34" charset="0"/>
              </a:rPr>
              <a:t>Les utilisateurs de Firefox ne pensent pas toujours à mettre à niveau leur navigateur </a:t>
            </a:r>
            <a:r>
              <a:rPr lang="fr-FR" sz="3600" dirty="0" smtClean="0">
                <a:latin typeface="Maiandra GD" pitchFamily="34" charset="0"/>
              </a:rPr>
              <a:t>; quant </a:t>
            </a:r>
            <a:r>
              <a:rPr lang="fr-FR" sz="3600" dirty="0">
                <a:latin typeface="Maiandra GD" pitchFamily="34" charset="0"/>
              </a:rPr>
              <a:t>à Internet Explorer, les utilisateurs sont d'autant moins incités à mettre à </a:t>
            </a:r>
            <a:r>
              <a:rPr lang="fr-FR" sz="3600" dirty="0" smtClean="0">
                <a:latin typeface="Maiandra GD" pitchFamily="34" charset="0"/>
              </a:rPr>
              <a:t>jour leur </a:t>
            </a:r>
            <a:r>
              <a:rPr lang="fr-FR" sz="3600" dirty="0">
                <a:latin typeface="Maiandra GD" pitchFamily="34" charset="0"/>
              </a:rPr>
              <a:t>navigateur que les dernières versions nécessitent aussi de passer à une version </a:t>
            </a:r>
            <a:r>
              <a:rPr lang="fr-FR" sz="3600" dirty="0" smtClean="0">
                <a:latin typeface="Maiandra GD" pitchFamily="34" charset="0"/>
              </a:rPr>
              <a:t>récente </a:t>
            </a:r>
            <a:r>
              <a:rPr lang="fr-FR" sz="3600" dirty="0">
                <a:latin typeface="Maiandra GD" pitchFamily="34" charset="0"/>
              </a:rPr>
              <a:t>de Windows (Internet Explorer 9 n'est pas disponible pour Windows XP, </a:t>
            </a:r>
            <a:r>
              <a:rPr lang="fr-FR" sz="3600" dirty="0" smtClean="0">
                <a:latin typeface="Maiandra GD" pitchFamily="34" charset="0"/>
              </a:rPr>
              <a:t>par exemple).</a:t>
            </a:r>
            <a:endParaRPr lang="fr-FR" sz="3600" dirty="0">
              <a:latin typeface="Maiandra GD" pitchFamily="34" charset="0"/>
            </a:endParaRPr>
          </a:p>
        </p:txBody>
      </p:sp>
    </p:spTree>
    <p:extLst>
      <p:ext uri="{BB962C8B-B14F-4D97-AF65-F5344CB8AC3E}">
        <p14:creationId xmlns:p14="http://schemas.microsoft.com/office/powerpoint/2010/main" val="2948250002"/>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332656"/>
            <a:ext cx="8640960" cy="6264696"/>
          </a:xfrm>
        </p:spPr>
        <p:txBody>
          <a:bodyPr/>
          <a:lstStyle/>
          <a:p>
            <a:pPr marL="0" indent="0" algn="just">
              <a:buNone/>
            </a:pPr>
            <a:r>
              <a:rPr lang="fr-FR" sz="3600" dirty="0">
                <a:latin typeface="Maiandra GD" pitchFamily="34" charset="0"/>
              </a:rPr>
              <a:t>Des sites comme normansblog.de et caniuse.com tiennent notamment à jour une liste des fonctionnalités CSS prises en charge par les différentes versions de chaque navigateur (figure ci-dessous).</a:t>
            </a:r>
          </a:p>
          <a:p>
            <a:pPr marL="0" indent="0">
              <a:buNone/>
            </a:pPr>
            <a:endParaRPr lang="fr-FR" dirty="0"/>
          </a:p>
        </p:txBody>
      </p:sp>
    </p:spTree>
    <p:extLst>
      <p:ext uri="{BB962C8B-B14F-4D97-AF65-F5344CB8AC3E}">
        <p14:creationId xmlns:p14="http://schemas.microsoft.com/office/powerpoint/2010/main" val="3313043354"/>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008" y="188640"/>
            <a:ext cx="8964488" cy="5976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755576" y="6309320"/>
            <a:ext cx="7704856" cy="400110"/>
          </a:xfrm>
          <a:prstGeom prst="rect">
            <a:avLst/>
          </a:prstGeom>
        </p:spPr>
        <p:txBody>
          <a:bodyPr wrap="square">
            <a:spAutoFit/>
          </a:bodyPr>
          <a:lstStyle/>
          <a:p>
            <a:pPr algn="ctr"/>
            <a:r>
              <a:rPr lang="fr-FR" sz="2000" dirty="0">
                <a:effectLst>
                  <a:outerShdw blurRad="38100" dist="38100" dir="2700000" algn="tl">
                    <a:srgbClr val="000000">
                      <a:alpha val="43137"/>
                    </a:srgbClr>
                  </a:outerShdw>
                </a:effectLst>
                <a:latin typeface="Maiandra GD" pitchFamily="34" charset="0"/>
              </a:rPr>
              <a:t>Les fonctionnalités gérées par les </a:t>
            </a:r>
            <a:r>
              <a:rPr lang="fr-FR" sz="2000" dirty="0" smtClean="0">
                <a:effectLst>
                  <a:outerShdw blurRad="38100" dist="38100" dir="2700000" algn="tl">
                    <a:srgbClr val="000000">
                      <a:alpha val="43137"/>
                    </a:srgbClr>
                  </a:outerShdw>
                </a:effectLst>
                <a:latin typeface="Maiandra GD" pitchFamily="34" charset="0"/>
              </a:rPr>
              <a:t>différents </a:t>
            </a:r>
            <a:r>
              <a:rPr lang="fr-FR" sz="2000" dirty="0">
                <a:effectLst>
                  <a:outerShdw blurRad="38100" dist="38100" dir="2700000" algn="tl">
                    <a:srgbClr val="000000">
                      <a:alpha val="43137"/>
                    </a:srgbClr>
                  </a:outerShdw>
                </a:effectLst>
                <a:latin typeface="Maiandra GD" pitchFamily="34" charset="0"/>
              </a:rPr>
              <a:t>navigateurs</a:t>
            </a:r>
          </a:p>
        </p:txBody>
      </p:sp>
    </p:spTree>
    <p:extLst>
      <p:ext uri="{BB962C8B-B14F-4D97-AF65-F5344CB8AC3E}">
        <p14:creationId xmlns:p14="http://schemas.microsoft.com/office/powerpoint/2010/main" val="1631373862"/>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934072"/>
            <a:ext cx="8229600" cy="1143000"/>
          </a:xfrm>
        </p:spPr>
        <p:txBody>
          <a:bodyPr>
            <a:normAutofit/>
          </a:bodyPr>
          <a:lstStyle/>
          <a:p>
            <a:r>
              <a:rPr lang="fr-FR" sz="5400" dirty="0">
                <a:effectLst>
                  <a:outerShdw blurRad="38100" dist="38100" dir="2700000" algn="tl">
                    <a:srgbClr val="000000">
                      <a:alpha val="43137"/>
                    </a:srgbClr>
                  </a:outerShdw>
                </a:effectLst>
                <a:latin typeface="Maiandra GD" pitchFamily="34" charset="0"/>
              </a:rPr>
              <a:t>Les navigateurs sur mobile</a:t>
            </a:r>
          </a:p>
        </p:txBody>
      </p:sp>
    </p:spTree>
    <p:extLst>
      <p:ext uri="{BB962C8B-B14F-4D97-AF65-F5344CB8AC3E}">
        <p14:creationId xmlns:p14="http://schemas.microsoft.com/office/powerpoint/2010/main" val="548265372"/>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9511" y="255181"/>
            <a:ext cx="8836897" cy="6198155"/>
          </a:xfrm>
        </p:spPr>
        <p:txBody>
          <a:bodyPr>
            <a:normAutofit/>
          </a:bodyPr>
          <a:lstStyle/>
          <a:p>
            <a:pPr marL="0" indent="0" algn="just">
              <a:buNone/>
            </a:pPr>
            <a:r>
              <a:rPr lang="fr-FR" sz="3600" dirty="0">
                <a:latin typeface="Maiandra GD" pitchFamily="34" charset="0"/>
              </a:rPr>
              <a:t>En plus des navigateurs que je vous ai présentés, il faut savoir qu'il existe des </a:t>
            </a:r>
            <a:r>
              <a:rPr lang="fr-FR" sz="3600" dirty="0" smtClean="0">
                <a:latin typeface="Maiandra GD" pitchFamily="34" charset="0"/>
              </a:rPr>
              <a:t>variantes de </a:t>
            </a:r>
            <a:r>
              <a:rPr lang="fr-FR" sz="3600" dirty="0">
                <a:latin typeface="Maiandra GD" pitchFamily="34" charset="0"/>
              </a:rPr>
              <a:t>ces navigateurs conçues pour les téléphones portables, en particulier pour </a:t>
            </a:r>
            <a:r>
              <a:rPr lang="fr-FR" sz="3600" dirty="0" smtClean="0">
                <a:latin typeface="Maiandra GD" pitchFamily="34" charset="0"/>
              </a:rPr>
              <a:t>les Smartphones. </a:t>
            </a:r>
          </a:p>
          <a:p>
            <a:pPr marL="0" indent="0" algn="just">
              <a:buNone/>
            </a:pPr>
            <a:r>
              <a:rPr lang="fr-FR" sz="3600" dirty="0" smtClean="0">
                <a:latin typeface="Maiandra GD" pitchFamily="34" charset="0"/>
              </a:rPr>
              <a:t>De </a:t>
            </a:r>
            <a:r>
              <a:rPr lang="fr-FR" sz="3600" dirty="0">
                <a:latin typeface="Maiandra GD" pitchFamily="34" charset="0"/>
              </a:rPr>
              <a:t>plus en plus de personnes consultent aujourd'hui des sites web </a:t>
            </a:r>
            <a:r>
              <a:rPr lang="fr-FR" sz="3600" dirty="0" smtClean="0">
                <a:latin typeface="Maiandra GD" pitchFamily="34" charset="0"/>
              </a:rPr>
              <a:t>sur leur </a:t>
            </a:r>
            <a:r>
              <a:rPr lang="fr-FR" sz="3600" dirty="0">
                <a:latin typeface="Maiandra GD" pitchFamily="34" charset="0"/>
              </a:rPr>
              <a:t>portable, il faut donc connaître un minimum le fonctionnement des </a:t>
            </a:r>
            <a:r>
              <a:rPr lang="fr-FR" sz="3600" dirty="0" smtClean="0">
                <a:latin typeface="Maiandra GD" pitchFamily="34" charset="0"/>
              </a:rPr>
              <a:t>navigateurs des </a:t>
            </a:r>
            <a:r>
              <a:rPr lang="fr-FR" sz="3600" dirty="0">
                <a:latin typeface="Maiandra GD" pitchFamily="34" charset="0"/>
              </a:rPr>
              <a:t>téléphones.</a:t>
            </a:r>
          </a:p>
        </p:txBody>
      </p:sp>
    </p:spTree>
    <p:extLst>
      <p:ext uri="{BB962C8B-B14F-4D97-AF65-F5344CB8AC3E}">
        <p14:creationId xmlns:p14="http://schemas.microsoft.com/office/powerpoint/2010/main" val="3707668001"/>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9512" y="260648"/>
            <a:ext cx="8784976" cy="6408712"/>
          </a:xfrm>
        </p:spPr>
        <p:txBody>
          <a:bodyPr>
            <a:normAutofit/>
          </a:bodyPr>
          <a:lstStyle/>
          <a:p>
            <a:pPr marL="0" indent="0" algn="just">
              <a:buNone/>
            </a:pPr>
            <a:r>
              <a:rPr lang="fr-FR" sz="3600" dirty="0">
                <a:latin typeface="Maiandra GD" pitchFamily="34" charset="0"/>
              </a:rPr>
              <a:t>En fait, vous n'allez pas être dépaysés : la plupart des navigateurs sur </a:t>
            </a:r>
            <a:r>
              <a:rPr lang="fr-FR" sz="3600" dirty="0" smtClean="0">
                <a:latin typeface="Maiandra GD" pitchFamily="34" charset="0"/>
              </a:rPr>
              <a:t>Smartphones sont </a:t>
            </a:r>
            <a:r>
              <a:rPr lang="fr-FR" sz="3600" dirty="0">
                <a:latin typeface="Maiandra GD" pitchFamily="34" charset="0"/>
              </a:rPr>
              <a:t>les mêmes que sur ordinateur, dans une version plus légère adaptée aux mobiles.</a:t>
            </a:r>
          </a:p>
          <a:p>
            <a:pPr marL="0" indent="0" algn="just">
              <a:buNone/>
            </a:pPr>
            <a:r>
              <a:rPr lang="fr-FR" sz="3600" dirty="0" smtClean="0">
                <a:latin typeface="Maiandra GD" pitchFamily="34" charset="0"/>
              </a:rPr>
              <a:t>Tout dépend du type de téléphone.</a:t>
            </a:r>
          </a:p>
          <a:p>
            <a:pPr algn="just">
              <a:buFontTx/>
              <a:buChar char="-"/>
            </a:pPr>
            <a:r>
              <a:rPr lang="fr-FR" sz="3600" dirty="0" smtClean="0">
                <a:latin typeface="Maiandra GD" pitchFamily="34" charset="0"/>
              </a:rPr>
              <a:t>iPhone </a:t>
            </a:r>
            <a:r>
              <a:rPr lang="fr-FR" sz="3600" dirty="0">
                <a:latin typeface="Maiandra GD" pitchFamily="34" charset="0"/>
              </a:rPr>
              <a:t>:</a:t>
            </a:r>
            <a:r>
              <a:rPr lang="fr-FR" sz="3600" dirty="0" smtClean="0">
                <a:latin typeface="Maiandra GD" pitchFamily="34" charset="0"/>
              </a:rPr>
              <a:t> </a:t>
            </a:r>
            <a:r>
              <a:rPr lang="fr-FR" sz="3600" dirty="0">
                <a:latin typeface="Maiandra GD" pitchFamily="34" charset="0"/>
              </a:rPr>
              <a:t>sur l'iPhone d'Apple, le navigateur utilisé est </a:t>
            </a:r>
            <a:r>
              <a:rPr lang="fr-FR" sz="3600" dirty="0" smtClean="0">
                <a:latin typeface="Maiandra GD" pitchFamily="34" charset="0"/>
              </a:rPr>
              <a:t>Safari </a:t>
            </a:r>
            <a:r>
              <a:rPr lang="fr-FR" sz="3600" dirty="0">
                <a:latin typeface="Maiandra GD" pitchFamily="34" charset="0"/>
              </a:rPr>
              <a:t>Mobile</a:t>
            </a:r>
            <a:r>
              <a:rPr lang="fr-FR" sz="3600" dirty="0" smtClean="0">
                <a:latin typeface="Maiandra GD" pitchFamily="34" charset="0"/>
              </a:rPr>
              <a:t>.</a:t>
            </a:r>
            <a:r>
              <a:rPr lang="fr-FR" sz="3600" dirty="0">
                <a:latin typeface="Maiandra GD" pitchFamily="34" charset="0"/>
              </a:rPr>
              <a:t> </a:t>
            </a:r>
            <a:endParaRPr lang="fr-FR" sz="3600" dirty="0" smtClean="0">
              <a:latin typeface="Maiandra GD" pitchFamily="34" charset="0"/>
            </a:endParaRPr>
          </a:p>
          <a:p>
            <a:pPr marL="0" indent="0" algn="just">
              <a:buNone/>
            </a:pPr>
            <a:r>
              <a:rPr lang="fr-FR" sz="3600" dirty="0" smtClean="0">
                <a:latin typeface="Maiandra GD" pitchFamily="34" charset="0"/>
              </a:rPr>
              <a:t>Il </a:t>
            </a:r>
            <a:r>
              <a:rPr lang="fr-FR" sz="3600" dirty="0">
                <a:latin typeface="Maiandra GD" pitchFamily="34" charset="0"/>
              </a:rPr>
              <a:t>s'agit </a:t>
            </a:r>
            <a:r>
              <a:rPr lang="fr-FR" sz="3600" dirty="0" smtClean="0">
                <a:latin typeface="Maiandra GD" pitchFamily="34" charset="0"/>
              </a:rPr>
              <a:t>d'une version </a:t>
            </a:r>
            <a:r>
              <a:rPr lang="fr-FR" sz="3600" dirty="0">
                <a:latin typeface="Maiandra GD" pitchFamily="34" charset="0"/>
              </a:rPr>
              <a:t>light et néanmoins très complète de Safari pour ordinateur.</a:t>
            </a:r>
            <a:endParaRPr lang="fr-FR" sz="3600" dirty="0" smtClean="0">
              <a:latin typeface="Maiandra GD" pitchFamily="34" charset="0"/>
            </a:endParaRPr>
          </a:p>
          <a:p>
            <a:pPr marL="0" indent="0" algn="just">
              <a:buNone/>
            </a:pPr>
            <a:endParaRPr lang="fr-FR" sz="3600" dirty="0">
              <a:latin typeface="Maiandra GD" pitchFamily="34" charset="0"/>
            </a:endParaRPr>
          </a:p>
        </p:txBody>
      </p:sp>
    </p:spTree>
    <p:extLst>
      <p:ext uri="{BB962C8B-B14F-4D97-AF65-F5344CB8AC3E}">
        <p14:creationId xmlns:p14="http://schemas.microsoft.com/office/powerpoint/2010/main" val="1044177613"/>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9512" y="332656"/>
            <a:ext cx="8784976" cy="6192688"/>
          </a:xfrm>
        </p:spPr>
        <p:txBody>
          <a:bodyPr>
            <a:normAutofit/>
          </a:bodyPr>
          <a:lstStyle/>
          <a:p>
            <a:pPr algn="just">
              <a:buFontTx/>
              <a:buChar char="-"/>
            </a:pPr>
            <a:r>
              <a:rPr lang="fr-FR" sz="3600" dirty="0" smtClean="0">
                <a:latin typeface="Maiandra GD" pitchFamily="34" charset="0"/>
              </a:rPr>
              <a:t>Android </a:t>
            </a:r>
            <a:r>
              <a:rPr lang="fr-FR" sz="3600" dirty="0">
                <a:latin typeface="Maiandra GD" pitchFamily="34" charset="0"/>
              </a:rPr>
              <a:t>: les portables sous Android bénécient du navigateur Chrome Mobile. </a:t>
            </a:r>
            <a:r>
              <a:rPr lang="fr-FR" sz="3600" dirty="0" smtClean="0">
                <a:latin typeface="Maiandra GD" pitchFamily="34" charset="0"/>
              </a:rPr>
              <a:t>Là encore</a:t>
            </a:r>
            <a:r>
              <a:rPr lang="fr-FR" sz="3600" dirty="0">
                <a:latin typeface="Maiandra GD" pitchFamily="34" charset="0"/>
              </a:rPr>
              <a:t>, il s'agit d'une version adaptée aux </a:t>
            </a:r>
            <a:r>
              <a:rPr lang="fr-FR" sz="3600" dirty="0" smtClean="0">
                <a:latin typeface="Maiandra GD" pitchFamily="34" charset="0"/>
              </a:rPr>
              <a:t>mobiles.</a:t>
            </a:r>
          </a:p>
          <a:p>
            <a:pPr marL="0" indent="0" algn="just">
              <a:buNone/>
            </a:pPr>
            <a:endParaRPr lang="fr-FR" dirty="0" smtClean="0">
              <a:latin typeface="Maiandra GD" pitchFamily="34" charset="0"/>
            </a:endParaRPr>
          </a:p>
          <a:p>
            <a:pPr marL="0" indent="0" algn="just">
              <a:buNone/>
            </a:pPr>
            <a:r>
              <a:rPr lang="fr-FR" sz="3600" dirty="0" smtClean="0"/>
              <a:t>- </a:t>
            </a:r>
            <a:r>
              <a:rPr lang="fr-FR" sz="3600" dirty="0" smtClean="0">
                <a:latin typeface="Maiandra GD" pitchFamily="34" charset="0"/>
              </a:rPr>
              <a:t>Windows </a:t>
            </a:r>
            <a:r>
              <a:rPr lang="fr-FR" sz="3600" dirty="0">
                <a:latin typeface="Maiandra GD" pitchFamily="34" charset="0"/>
              </a:rPr>
              <a:t>Phone : sous Windows Phone, on retrouve. . . Internet Explorer Mobile </a:t>
            </a:r>
            <a:r>
              <a:rPr lang="fr-FR" sz="3600" dirty="0" smtClean="0">
                <a:latin typeface="Maiandra GD" pitchFamily="34" charset="0"/>
              </a:rPr>
              <a:t>! Le </a:t>
            </a:r>
            <a:r>
              <a:rPr lang="fr-FR" sz="3600" dirty="0">
                <a:latin typeface="Maiandra GD" pitchFamily="34" charset="0"/>
              </a:rPr>
              <a:t>principe est le même que pour </a:t>
            </a:r>
            <a:r>
              <a:rPr lang="fr-FR" sz="3600" dirty="0" smtClean="0">
                <a:latin typeface="Maiandra GD" pitchFamily="34" charset="0"/>
              </a:rPr>
              <a:t>les précédents navigateurs </a:t>
            </a:r>
            <a:r>
              <a:rPr lang="fr-FR" sz="3600" dirty="0">
                <a:latin typeface="Maiandra GD" pitchFamily="34" charset="0"/>
              </a:rPr>
              <a:t>: il s'agit d'une </a:t>
            </a:r>
            <a:r>
              <a:rPr lang="fr-FR" sz="3600" dirty="0" smtClean="0">
                <a:latin typeface="Maiandra GD" pitchFamily="34" charset="0"/>
              </a:rPr>
              <a:t>version dédiée </a:t>
            </a:r>
            <a:r>
              <a:rPr lang="fr-FR" sz="3600" dirty="0">
                <a:latin typeface="Maiandra GD" pitchFamily="34" charset="0"/>
              </a:rPr>
              <a:t>aux mobiles</a:t>
            </a:r>
            <a:r>
              <a:rPr lang="fr-FR" sz="3600" dirty="0" smtClean="0">
                <a:latin typeface="Maiandra GD" pitchFamily="34" charset="0"/>
              </a:rPr>
              <a:t>.</a:t>
            </a:r>
            <a:endParaRPr lang="fr-FR" sz="3600" dirty="0">
              <a:latin typeface="Maiandra GD" pitchFamily="34" charset="0"/>
            </a:endParaRPr>
          </a:p>
        </p:txBody>
      </p:sp>
    </p:spTree>
    <p:extLst>
      <p:ext uri="{BB962C8B-B14F-4D97-AF65-F5344CB8AC3E}">
        <p14:creationId xmlns:p14="http://schemas.microsoft.com/office/powerpoint/2010/main" val="2278186466"/>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260648"/>
            <a:ext cx="8435280" cy="6264696"/>
          </a:xfrm>
        </p:spPr>
        <p:txBody>
          <a:bodyPr>
            <a:normAutofit/>
          </a:bodyPr>
          <a:lstStyle/>
          <a:p>
            <a:pPr marL="0" indent="0" algn="just">
              <a:buNone/>
            </a:pPr>
            <a:r>
              <a:rPr lang="fr-FR" sz="3600" dirty="0">
                <a:latin typeface="Maiandra GD" pitchFamily="34" charset="0"/>
              </a:rPr>
              <a:t> Blackberry : les Blackberry font exception car ils ont leur propre navigateur (</a:t>
            </a:r>
            <a:r>
              <a:rPr lang="fr-FR" sz="3600" dirty="0" smtClean="0">
                <a:latin typeface="Maiandra GD" pitchFamily="34" charset="0"/>
              </a:rPr>
              <a:t>il n'existe </a:t>
            </a:r>
            <a:r>
              <a:rPr lang="fr-FR" sz="3600" dirty="0">
                <a:latin typeface="Maiandra GD" pitchFamily="34" charset="0"/>
              </a:rPr>
              <a:t>pas d'équivalent sur ordinateur). </a:t>
            </a:r>
            <a:endParaRPr lang="fr-FR" sz="3600" dirty="0" smtClean="0">
              <a:latin typeface="Maiandra GD" pitchFamily="34" charset="0"/>
            </a:endParaRPr>
          </a:p>
          <a:p>
            <a:pPr marL="0" indent="0" algn="just">
              <a:buNone/>
            </a:pPr>
            <a:r>
              <a:rPr lang="fr-FR" sz="3600" dirty="0" smtClean="0">
                <a:latin typeface="Maiandra GD" pitchFamily="34" charset="0"/>
              </a:rPr>
              <a:t>Néanmoins</a:t>
            </a:r>
            <a:r>
              <a:rPr lang="fr-FR" sz="3600" dirty="0">
                <a:latin typeface="Maiandra GD" pitchFamily="34" charset="0"/>
              </a:rPr>
              <a:t>, les versions les plus </a:t>
            </a:r>
            <a:r>
              <a:rPr lang="fr-FR" sz="3600" dirty="0" smtClean="0">
                <a:latin typeface="Maiandra GD" pitchFamily="34" charset="0"/>
              </a:rPr>
              <a:t>récentes de </a:t>
            </a:r>
            <a:r>
              <a:rPr lang="fr-FR" sz="3600" dirty="0">
                <a:latin typeface="Maiandra GD" pitchFamily="34" charset="0"/>
              </a:rPr>
              <a:t>ce navigateur se basent sur un noyau commun à Safari et Chrome (il s'agit </a:t>
            </a:r>
            <a:r>
              <a:rPr lang="fr-FR" sz="3600" dirty="0" smtClean="0">
                <a:latin typeface="Maiandra GD" pitchFamily="34" charset="0"/>
              </a:rPr>
              <a:t>du moteur </a:t>
            </a:r>
            <a:r>
              <a:rPr lang="fr-FR" sz="3600" dirty="0">
                <a:latin typeface="Maiandra GD" pitchFamily="34" charset="0"/>
              </a:rPr>
              <a:t>de rendu Webkit). Par conséquent, </a:t>
            </a:r>
            <a:r>
              <a:rPr lang="fr-FR" sz="3600" dirty="0" smtClean="0">
                <a:latin typeface="Maiandra GD" pitchFamily="34" charset="0"/>
              </a:rPr>
              <a:t>l'affichage </a:t>
            </a:r>
            <a:r>
              <a:rPr lang="fr-FR" sz="3600" dirty="0">
                <a:latin typeface="Maiandra GD" pitchFamily="34" charset="0"/>
              </a:rPr>
              <a:t>est en général proche de </a:t>
            </a:r>
            <a:r>
              <a:rPr lang="fr-FR" sz="3600" dirty="0" smtClean="0">
                <a:latin typeface="Maiandra GD" pitchFamily="34" charset="0"/>
              </a:rPr>
              <a:t>celui proposé </a:t>
            </a:r>
            <a:r>
              <a:rPr lang="fr-FR" sz="3600" dirty="0">
                <a:latin typeface="Maiandra GD" pitchFamily="34" charset="0"/>
              </a:rPr>
              <a:t>par Safari et Chrome.</a:t>
            </a:r>
          </a:p>
        </p:txBody>
      </p:sp>
    </p:spTree>
    <p:extLst>
      <p:ext uri="{BB962C8B-B14F-4D97-AF65-F5344CB8AC3E}">
        <p14:creationId xmlns:p14="http://schemas.microsoft.com/office/powerpoint/2010/main" val="3867268057"/>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260648"/>
            <a:ext cx="8640960" cy="6264696"/>
          </a:xfrm>
        </p:spPr>
        <p:txBody>
          <a:bodyPr>
            <a:normAutofit/>
          </a:bodyPr>
          <a:lstStyle/>
          <a:p>
            <a:pPr marL="0" indent="0" algn="just">
              <a:buNone/>
            </a:pPr>
            <a:r>
              <a:rPr lang="fr-FR" sz="3600" dirty="0">
                <a:latin typeface="Maiandra GD" pitchFamily="34" charset="0"/>
              </a:rPr>
              <a:t>Les navigateurs pour mobiles prennent en charge la plupart des dernières </a:t>
            </a:r>
            <a:r>
              <a:rPr lang="fr-FR" sz="3600" dirty="0" smtClean="0">
                <a:latin typeface="Maiandra GD" pitchFamily="34" charset="0"/>
              </a:rPr>
              <a:t>fonctionnalités de </a:t>
            </a:r>
            <a:r>
              <a:rPr lang="fr-FR" sz="3600" dirty="0">
                <a:latin typeface="Maiandra GD" pitchFamily="34" charset="0"/>
              </a:rPr>
              <a:t>HTML et CSS. De plus, le système de mise à jour automatisé des mobiles </a:t>
            </a:r>
            <a:r>
              <a:rPr lang="fr-FR" sz="3600" dirty="0" smtClean="0">
                <a:latin typeface="Maiandra GD" pitchFamily="34" charset="0"/>
              </a:rPr>
              <a:t>nous garantit </a:t>
            </a:r>
            <a:r>
              <a:rPr lang="fr-FR" sz="3600" dirty="0">
                <a:latin typeface="Maiandra GD" pitchFamily="34" charset="0"/>
              </a:rPr>
              <a:t>que les utilisateurs auront le plus souvent les dernières </a:t>
            </a:r>
            <a:r>
              <a:rPr lang="fr-FR" sz="3600" dirty="0" smtClean="0">
                <a:latin typeface="Maiandra GD" pitchFamily="34" charset="0"/>
              </a:rPr>
              <a:t>versions. </a:t>
            </a:r>
            <a:endParaRPr lang="fr-FR" sz="3600" dirty="0">
              <a:latin typeface="Maiandra GD" pitchFamily="34" charset="0"/>
            </a:endParaRPr>
          </a:p>
        </p:txBody>
      </p:sp>
    </p:spTree>
    <p:extLst>
      <p:ext uri="{BB962C8B-B14F-4D97-AF65-F5344CB8AC3E}">
        <p14:creationId xmlns:p14="http://schemas.microsoft.com/office/powerpoint/2010/main" val="2801515785"/>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23528" y="404664"/>
            <a:ext cx="8568952" cy="5976664"/>
          </a:xfrm>
        </p:spPr>
        <p:txBody>
          <a:bodyPr/>
          <a:lstStyle/>
          <a:p>
            <a:pPr marL="0" indent="0" algn="just">
              <a:buNone/>
            </a:pPr>
            <a:r>
              <a:rPr lang="fr-FR" sz="3600" dirty="0">
                <a:latin typeface="Maiandra GD" pitchFamily="34" charset="0"/>
              </a:rPr>
              <a:t>Sachez néanmoins que des différences existent entre ces différents navigateurs mobiles et qu'il est conseillé de tester son site sur ces appareils aussi ! En particulier, l'écran étant beaucoup moins large, il faudra vérifier que votre site s'ache correctement.</a:t>
            </a:r>
          </a:p>
          <a:p>
            <a:pPr marL="0" indent="0">
              <a:buNone/>
            </a:pPr>
            <a:endParaRPr lang="fr-FR" dirty="0"/>
          </a:p>
        </p:txBody>
      </p:sp>
    </p:spTree>
    <p:extLst>
      <p:ext uri="{BB962C8B-B14F-4D97-AF65-F5344CB8AC3E}">
        <p14:creationId xmlns:p14="http://schemas.microsoft.com/office/powerpoint/2010/main" val="2169420105"/>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620688"/>
            <a:ext cx="8363272" cy="5832648"/>
          </a:xfrm>
        </p:spPr>
        <p:txBody>
          <a:bodyPr>
            <a:normAutofit/>
          </a:bodyPr>
          <a:lstStyle/>
          <a:p>
            <a:pPr marL="0" indent="0" algn="just">
              <a:buNone/>
            </a:pPr>
            <a:r>
              <a:rPr lang="fr-FR" sz="3600" dirty="0">
                <a:latin typeface="Maiandra GD" pitchFamily="34" charset="0"/>
              </a:rPr>
              <a:t>Les tablettes tactiles sont équipées des mêmes navigateurs, l'écran est </a:t>
            </a:r>
            <a:r>
              <a:rPr lang="fr-FR" sz="3600" dirty="0" smtClean="0">
                <a:latin typeface="Maiandra GD" pitchFamily="34" charset="0"/>
              </a:rPr>
              <a:t>simplement plus </a:t>
            </a:r>
            <a:r>
              <a:rPr lang="fr-FR" sz="3600" dirty="0">
                <a:latin typeface="Maiandra GD" pitchFamily="34" charset="0"/>
              </a:rPr>
              <a:t>large. Ainsi, l'</a:t>
            </a:r>
            <a:r>
              <a:rPr lang="fr-FR" sz="3600" dirty="0" err="1">
                <a:latin typeface="Maiandra GD" pitchFamily="34" charset="0"/>
              </a:rPr>
              <a:t>iPad</a:t>
            </a:r>
            <a:r>
              <a:rPr lang="fr-FR" sz="3600" dirty="0">
                <a:latin typeface="Maiandra GD" pitchFamily="34" charset="0"/>
              </a:rPr>
              <a:t> est fourni avec </a:t>
            </a:r>
            <a:r>
              <a:rPr lang="fr-FR" sz="3600" dirty="0" smtClean="0">
                <a:latin typeface="Maiandra GD" pitchFamily="34" charset="0"/>
              </a:rPr>
              <a:t>Safari </a:t>
            </a:r>
            <a:r>
              <a:rPr lang="fr-FR" sz="3600" dirty="0">
                <a:latin typeface="Maiandra GD" pitchFamily="34" charset="0"/>
              </a:rPr>
              <a:t>Mobile</a:t>
            </a:r>
            <a:r>
              <a:rPr lang="fr-FR" sz="3600" dirty="0" smtClean="0">
                <a:latin typeface="Maiandra GD" pitchFamily="34" charset="0"/>
              </a:rPr>
              <a:t>.</a:t>
            </a:r>
          </a:p>
          <a:p>
            <a:pPr marL="0" indent="0" algn="just">
              <a:buNone/>
            </a:pPr>
            <a:endParaRPr lang="fr-FR" sz="3600" dirty="0">
              <a:latin typeface="Maiandra GD" pitchFamily="34" charset="0"/>
            </a:endParaRPr>
          </a:p>
          <a:p>
            <a:pPr marL="0" indent="0" algn="just">
              <a:buNone/>
            </a:pPr>
            <a:endParaRPr lang="fr-FR" sz="3600" dirty="0">
              <a:latin typeface="Maiandra GD" pitchFamily="34"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3928" y="3861048"/>
            <a:ext cx="1670298" cy="1598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73435364"/>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646040"/>
            <a:ext cx="8229600" cy="1143000"/>
          </a:xfrm>
        </p:spPr>
        <p:txBody>
          <a:bodyPr>
            <a:noAutofit/>
          </a:bodyPr>
          <a:lstStyle/>
          <a:p>
            <a:r>
              <a:rPr lang="fr-FR" sz="8000" dirty="0">
                <a:effectLst>
                  <a:outerShdw blurRad="38100" dist="38100" dir="2700000" algn="tl">
                    <a:srgbClr val="000000">
                      <a:alpha val="43137"/>
                    </a:srgbClr>
                  </a:outerShdw>
                </a:effectLst>
                <a:latin typeface="Maiandra GD" pitchFamily="34" charset="0"/>
              </a:rPr>
              <a:t>En résumé</a:t>
            </a:r>
          </a:p>
        </p:txBody>
      </p:sp>
    </p:spTree>
    <p:extLst>
      <p:ext uri="{BB962C8B-B14F-4D97-AF65-F5344CB8AC3E}">
        <p14:creationId xmlns:p14="http://schemas.microsoft.com/office/powerpoint/2010/main" val="3870132684"/>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332656"/>
            <a:ext cx="8640960" cy="6120680"/>
          </a:xfrm>
        </p:spPr>
        <p:txBody>
          <a:bodyPr>
            <a:normAutofit/>
          </a:bodyPr>
          <a:lstStyle/>
          <a:p>
            <a:pPr marL="0" indent="0" algn="just">
              <a:buNone/>
            </a:pPr>
            <a:r>
              <a:rPr lang="fr-FR" dirty="0" smtClean="0">
                <a:latin typeface="Maiandra GD" pitchFamily="34" charset="0"/>
              </a:rPr>
              <a:t>- Le </a:t>
            </a:r>
            <a:r>
              <a:rPr lang="fr-FR" dirty="0">
                <a:latin typeface="Maiandra GD" pitchFamily="34" charset="0"/>
              </a:rPr>
              <a:t>Web a été inventé par Tim Berners-Lee au début des années 1990.</a:t>
            </a:r>
          </a:p>
          <a:p>
            <a:pPr marL="0" indent="0" algn="just">
              <a:buNone/>
            </a:pPr>
            <a:r>
              <a:rPr lang="fr-FR" dirty="0" smtClean="0">
                <a:latin typeface="Maiandra GD" pitchFamily="34" charset="0"/>
              </a:rPr>
              <a:t>- Pour </a:t>
            </a:r>
            <a:r>
              <a:rPr lang="fr-FR" dirty="0">
                <a:latin typeface="Maiandra GD" pitchFamily="34" charset="0"/>
              </a:rPr>
              <a:t>créer des sites web, on utilise deux langages informatiques :</a:t>
            </a:r>
          </a:p>
          <a:p>
            <a:pPr marL="0" indent="0" algn="just">
              <a:buNone/>
            </a:pPr>
            <a:r>
              <a:rPr lang="fr-FR" dirty="0" smtClean="0">
                <a:latin typeface="Maiandra GD" pitchFamily="34" charset="0"/>
              </a:rPr>
              <a:t>- HTML </a:t>
            </a:r>
            <a:r>
              <a:rPr lang="fr-FR" dirty="0">
                <a:latin typeface="Maiandra GD" pitchFamily="34" charset="0"/>
              </a:rPr>
              <a:t>: permet d'écrire et organiser le contenu de la page (paragraphes, titres. . .) ;</a:t>
            </a:r>
          </a:p>
          <a:p>
            <a:pPr marL="0" indent="0" algn="just">
              <a:buNone/>
            </a:pPr>
            <a:r>
              <a:rPr lang="fr-FR" dirty="0" smtClean="0">
                <a:latin typeface="Maiandra GD" pitchFamily="34" charset="0"/>
              </a:rPr>
              <a:t>- CSS </a:t>
            </a:r>
            <a:r>
              <a:rPr lang="fr-FR" dirty="0">
                <a:latin typeface="Maiandra GD" pitchFamily="34" charset="0"/>
              </a:rPr>
              <a:t>: permet de mettre en forme la page (couleur, taille. . .).</a:t>
            </a:r>
          </a:p>
          <a:p>
            <a:pPr marL="0" indent="0" algn="just">
              <a:buNone/>
            </a:pPr>
            <a:r>
              <a:rPr lang="fr-FR" dirty="0" smtClean="0">
                <a:latin typeface="Maiandra GD" pitchFamily="34" charset="0"/>
              </a:rPr>
              <a:t>- Il </a:t>
            </a:r>
            <a:r>
              <a:rPr lang="fr-FR" dirty="0">
                <a:latin typeface="Maiandra GD" pitchFamily="34" charset="0"/>
              </a:rPr>
              <a:t>y a eu plusieurs versions des langages HTML et CSS. Les dernières versions </a:t>
            </a:r>
            <a:r>
              <a:rPr lang="fr-FR" dirty="0" smtClean="0">
                <a:latin typeface="Maiandra GD" pitchFamily="34" charset="0"/>
              </a:rPr>
              <a:t>sont HTML5 </a:t>
            </a:r>
            <a:r>
              <a:rPr lang="fr-FR" dirty="0">
                <a:latin typeface="Maiandra GD" pitchFamily="34" charset="0"/>
              </a:rPr>
              <a:t>et CSS3.</a:t>
            </a:r>
          </a:p>
        </p:txBody>
      </p:sp>
    </p:spTree>
    <p:extLst>
      <p:ext uri="{BB962C8B-B14F-4D97-AF65-F5344CB8AC3E}">
        <p14:creationId xmlns:p14="http://schemas.microsoft.com/office/powerpoint/2010/main" val="1137279336"/>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332656"/>
            <a:ext cx="8568952" cy="6264696"/>
          </a:xfrm>
        </p:spPr>
        <p:txBody>
          <a:bodyPr>
            <a:normAutofit/>
          </a:bodyPr>
          <a:lstStyle/>
          <a:p>
            <a:pPr marL="0" indent="0" algn="just">
              <a:buNone/>
            </a:pPr>
            <a:r>
              <a:rPr lang="fr-FR" sz="3600" dirty="0" smtClean="0">
                <a:latin typeface="Maiandra GD" pitchFamily="34" charset="0"/>
              </a:rPr>
              <a:t>- Le </a:t>
            </a:r>
            <a:r>
              <a:rPr lang="fr-FR" sz="3600" dirty="0">
                <a:latin typeface="Maiandra GD" pitchFamily="34" charset="0"/>
              </a:rPr>
              <a:t>navigateur web est un programme qui permet </a:t>
            </a:r>
            <a:r>
              <a:rPr lang="fr-FR" sz="3600" dirty="0" smtClean="0">
                <a:latin typeface="Maiandra GD" pitchFamily="34" charset="0"/>
              </a:rPr>
              <a:t>d'afficher </a:t>
            </a:r>
            <a:r>
              <a:rPr lang="fr-FR" sz="3600" dirty="0">
                <a:latin typeface="Maiandra GD" pitchFamily="34" charset="0"/>
              </a:rPr>
              <a:t>des sites web. Il lit </a:t>
            </a:r>
            <a:r>
              <a:rPr lang="fr-FR" sz="3600" dirty="0" smtClean="0">
                <a:latin typeface="Maiandra GD" pitchFamily="34" charset="0"/>
              </a:rPr>
              <a:t>les langages </a:t>
            </a:r>
            <a:r>
              <a:rPr lang="fr-FR" sz="3600" dirty="0">
                <a:latin typeface="Maiandra GD" pitchFamily="34" charset="0"/>
              </a:rPr>
              <a:t>HTML et CSS pour savoir ce qu'il doit </a:t>
            </a:r>
            <a:r>
              <a:rPr lang="fr-FR" sz="3600" dirty="0" smtClean="0">
                <a:latin typeface="Maiandra GD" pitchFamily="34" charset="0"/>
              </a:rPr>
              <a:t>afficher</a:t>
            </a:r>
            <a:r>
              <a:rPr lang="fr-FR" sz="3600" dirty="0">
                <a:latin typeface="Maiandra GD" pitchFamily="34" charset="0"/>
              </a:rPr>
              <a:t>.</a:t>
            </a:r>
          </a:p>
          <a:p>
            <a:pPr marL="0" indent="0" algn="just">
              <a:buNone/>
            </a:pPr>
            <a:r>
              <a:rPr lang="fr-FR" sz="3600" dirty="0" smtClean="0">
                <a:latin typeface="Maiandra GD" pitchFamily="34" charset="0"/>
              </a:rPr>
              <a:t>- Il </a:t>
            </a:r>
            <a:r>
              <a:rPr lang="fr-FR" sz="3600" dirty="0">
                <a:latin typeface="Maiandra GD" pitchFamily="34" charset="0"/>
              </a:rPr>
              <a:t>existe de nombreux navigateurs web </a:t>
            </a:r>
            <a:r>
              <a:rPr lang="fr-FR" sz="3600" dirty="0" smtClean="0">
                <a:latin typeface="Maiandra GD" pitchFamily="34" charset="0"/>
              </a:rPr>
              <a:t>différents </a:t>
            </a:r>
            <a:r>
              <a:rPr lang="fr-FR" sz="3600" dirty="0">
                <a:latin typeface="Maiandra GD" pitchFamily="34" charset="0"/>
              </a:rPr>
              <a:t>: Google Chrome, Mozilla </a:t>
            </a:r>
            <a:r>
              <a:rPr lang="fr-FR" sz="3600" dirty="0" smtClean="0">
                <a:latin typeface="Maiandra GD" pitchFamily="34" charset="0"/>
              </a:rPr>
              <a:t>Firefox, Internet </a:t>
            </a:r>
            <a:r>
              <a:rPr lang="fr-FR" sz="3600" dirty="0">
                <a:latin typeface="Maiandra GD" pitchFamily="34" charset="0"/>
              </a:rPr>
              <a:t>Explorer, </a:t>
            </a:r>
            <a:r>
              <a:rPr lang="fr-FR" sz="3600" dirty="0" smtClean="0">
                <a:latin typeface="Maiandra GD" pitchFamily="34" charset="0"/>
              </a:rPr>
              <a:t>Safari, Opera</a:t>
            </a:r>
            <a:r>
              <a:rPr lang="fr-FR" sz="3600" dirty="0">
                <a:latin typeface="Maiandra GD" pitchFamily="34" charset="0"/>
              </a:rPr>
              <a:t>. </a:t>
            </a:r>
            <a:r>
              <a:rPr lang="fr-FR" sz="3600" dirty="0" smtClean="0">
                <a:latin typeface="Maiandra GD" pitchFamily="34" charset="0"/>
              </a:rPr>
              <a:t> Chacun affiche </a:t>
            </a:r>
            <a:r>
              <a:rPr lang="fr-FR" sz="3600" dirty="0">
                <a:latin typeface="Maiandra GD" pitchFamily="34" charset="0"/>
              </a:rPr>
              <a:t>un site web de manière </a:t>
            </a:r>
            <a:r>
              <a:rPr lang="fr-FR" sz="3600" dirty="0" smtClean="0">
                <a:latin typeface="Maiandra GD" pitchFamily="34" charset="0"/>
              </a:rPr>
              <a:t>légèrement différente </a:t>
            </a:r>
            <a:r>
              <a:rPr lang="fr-FR" sz="3600" dirty="0">
                <a:latin typeface="Maiandra GD" pitchFamily="34" charset="0"/>
              </a:rPr>
              <a:t>des autres navigateurs.</a:t>
            </a:r>
          </a:p>
          <a:p>
            <a:pPr marL="0" indent="0" algn="just">
              <a:buNone/>
            </a:pPr>
            <a:endParaRPr lang="fr-FR" dirty="0">
              <a:latin typeface="Maiandra GD" pitchFamily="34" charset="0"/>
            </a:endParaRPr>
          </a:p>
        </p:txBody>
      </p:sp>
    </p:spTree>
    <p:extLst>
      <p:ext uri="{BB962C8B-B14F-4D97-AF65-F5344CB8AC3E}">
        <p14:creationId xmlns:p14="http://schemas.microsoft.com/office/powerpoint/2010/main" val="2544847196"/>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332656"/>
            <a:ext cx="8229600" cy="5793507"/>
          </a:xfrm>
        </p:spPr>
        <p:txBody>
          <a:bodyPr>
            <a:normAutofit/>
          </a:bodyPr>
          <a:lstStyle/>
          <a:p>
            <a:pPr marL="0" indent="0" algn="just">
              <a:buNone/>
            </a:pPr>
            <a:r>
              <a:rPr lang="fr-FR" sz="3600" dirty="0">
                <a:latin typeface="Maiandra GD" pitchFamily="34" charset="0"/>
              </a:rPr>
              <a:t>- Dans ce cours, nous allons apprendre à utiliser les langages HTML et CSS. Nous travaillerons dans un programme appelé  éditeur de texte  (Notepad++, jEdit,vim. . .).</a:t>
            </a:r>
            <a:endParaRPr lang="fr-FR" sz="3600" dirty="0"/>
          </a:p>
        </p:txBody>
      </p:sp>
    </p:spTree>
    <p:extLst>
      <p:ext uri="{BB962C8B-B14F-4D97-AF65-F5344CB8AC3E}">
        <p14:creationId xmlns:p14="http://schemas.microsoft.com/office/powerpoint/2010/main" val="406920758"/>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39552" y="2060848"/>
            <a:ext cx="7772400" cy="1362075"/>
          </a:xfrm>
        </p:spPr>
        <p:txBody>
          <a:bodyPr>
            <a:noAutofit/>
          </a:bodyPr>
          <a:lstStyle/>
          <a:p>
            <a:pPr algn="ctr"/>
            <a:r>
              <a:rPr lang="fr-FR" sz="4800" b="0" dirty="0">
                <a:effectLst>
                  <a:outerShdw blurRad="38100" dist="38100" dir="2700000" algn="tl">
                    <a:srgbClr val="000000">
                      <a:alpha val="43137"/>
                    </a:srgbClr>
                  </a:outerShdw>
                </a:effectLst>
                <a:latin typeface="Maiandra GD" pitchFamily="34" charset="0"/>
              </a:rPr>
              <a:t>Les balises et leurs attributs</a:t>
            </a:r>
            <a:endParaRPr lang="fr-FR" sz="4800" dirty="0">
              <a:effectLst>
                <a:outerShdw blurRad="38100" dist="38100" dir="2700000" algn="tl">
                  <a:srgbClr val="000000">
                    <a:alpha val="43137"/>
                  </a:srgbClr>
                </a:outerShdw>
              </a:effectLst>
              <a:latin typeface="Maiandra GD" pitchFamily="34" charset="0"/>
            </a:endParaRPr>
          </a:p>
        </p:txBody>
      </p:sp>
    </p:spTree>
    <p:extLst>
      <p:ext uri="{BB962C8B-B14F-4D97-AF65-F5344CB8AC3E}">
        <p14:creationId xmlns:p14="http://schemas.microsoft.com/office/powerpoint/2010/main" val="928420551"/>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23528" y="332656"/>
            <a:ext cx="8568952" cy="6336704"/>
          </a:xfrm>
        </p:spPr>
        <p:txBody>
          <a:bodyPr>
            <a:normAutofit/>
          </a:bodyPr>
          <a:lstStyle/>
          <a:p>
            <a:pPr marL="0" indent="0" algn="just">
              <a:buNone/>
            </a:pPr>
            <a:r>
              <a:rPr lang="fr-FR" sz="3600" dirty="0" smtClean="0">
                <a:latin typeface="Maiandra GD" pitchFamily="34" charset="0"/>
              </a:rPr>
              <a:t>Le </a:t>
            </a:r>
            <a:r>
              <a:rPr lang="fr-FR" sz="3600" dirty="0">
                <a:latin typeface="Maiandra GD" pitchFamily="34" charset="0"/>
              </a:rPr>
              <a:t>texte </a:t>
            </a:r>
            <a:r>
              <a:rPr lang="fr-FR" sz="3600" dirty="0" smtClean="0">
                <a:latin typeface="Maiandra GD" pitchFamily="34" charset="0"/>
              </a:rPr>
              <a:t>s'affiche </a:t>
            </a:r>
            <a:r>
              <a:rPr lang="fr-FR" sz="3600" dirty="0">
                <a:latin typeface="Maiandra GD" pitchFamily="34" charset="0"/>
              </a:rPr>
              <a:t>sur la même ligne alors qu'on avait demandé </a:t>
            </a:r>
            <a:r>
              <a:rPr lang="fr-FR" sz="3600" dirty="0" smtClean="0">
                <a:latin typeface="Maiandra GD" pitchFamily="34" charset="0"/>
              </a:rPr>
              <a:t>à l'écrire </a:t>
            </a:r>
            <a:r>
              <a:rPr lang="fr-FR" sz="3600" dirty="0">
                <a:latin typeface="Maiandra GD" pitchFamily="34" charset="0"/>
              </a:rPr>
              <a:t>sur deux lignes </a:t>
            </a:r>
            <a:r>
              <a:rPr lang="fr-FR" sz="3600" dirty="0" smtClean="0">
                <a:latin typeface="Maiandra GD" pitchFamily="34" charset="0"/>
              </a:rPr>
              <a:t>différentes</a:t>
            </a:r>
            <a:r>
              <a:rPr lang="fr-FR" sz="3600" dirty="0">
                <a:latin typeface="Maiandra GD" pitchFamily="34" charset="0"/>
              </a:rPr>
              <a:t>. Que se passe-t-il ?</a:t>
            </a:r>
          </a:p>
          <a:p>
            <a:pPr marL="0" indent="0" algn="just">
              <a:buNone/>
            </a:pPr>
            <a:r>
              <a:rPr lang="fr-FR" sz="3600" dirty="0">
                <a:latin typeface="Maiandra GD" pitchFamily="34" charset="0"/>
              </a:rPr>
              <a:t>En fait, pour créer une page web il ne </a:t>
            </a:r>
            <a:r>
              <a:rPr lang="fr-FR" sz="3600" dirty="0" smtClean="0">
                <a:latin typeface="Maiandra GD" pitchFamily="34" charset="0"/>
              </a:rPr>
              <a:t>suffit </a:t>
            </a:r>
            <a:r>
              <a:rPr lang="fr-FR" sz="3600" dirty="0">
                <a:latin typeface="Maiandra GD" pitchFamily="34" charset="0"/>
              </a:rPr>
              <a:t>pas de taper simplement du texte </a:t>
            </a:r>
            <a:r>
              <a:rPr lang="fr-FR" sz="3600" dirty="0" smtClean="0">
                <a:latin typeface="Maiandra GD" pitchFamily="34" charset="0"/>
              </a:rPr>
              <a:t>comme on </a:t>
            </a:r>
            <a:r>
              <a:rPr lang="fr-FR" sz="3600" dirty="0">
                <a:latin typeface="Maiandra GD" pitchFamily="34" charset="0"/>
              </a:rPr>
              <a:t>vient de le faire. En plus de ce texte, il faut aussi écrire ce qu'on appelle des </a:t>
            </a:r>
            <a:r>
              <a:rPr lang="fr-FR" sz="3600" dirty="0" smtClean="0">
                <a:latin typeface="Maiandra GD" pitchFamily="34" charset="0"/>
              </a:rPr>
              <a:t>balises, qui </a:t>
            </a:r>
            <a:r>
              <a:rPr lang="fr-FR" sz="3600" dirty="0">
                <a:latin typeface="Maiandra GD" pitchFamily="34" charset="0"/>
              </a:rPr>
              <a:t>vont donner des instructions à l'ordinateur comme  aller à la ligne ,  </a:t>
            </a:r>
            <a:r>
              <a:rPr lang="fr-FR" sz="3600" dirty="0" smtClean="0">
                <a:latin typeface="Maiandra GD" pitchFamily="34" charset="0"/>
              </a:rPr>
              <a:t>afficher</a:t>
            </a:r>
            <a:r>
              <a:rPr lang="fr-FR" sz="3600" dirty="0">
                <a:latin typeface="Maiandra GD" pitchFamily="34" charset="0"/>
              </a:rPr>
              <a:t> </a:t>
            </a:r>
            <a:r>
              <a:rPr lang="fr-FR" sz="3600" dirty="0" smtClean="0">
                <a:latin typeface="Maiandra GD" pitchFamily="34" charset="0"/>
              </a:rPr>
              <a:t>une </a:t>
            </a:r>
            <a:r>
              <a:rPr lang="fr-FR" sz="3600" dirty="0">
                <a:latin typeface="Maiandra GD" pitchFamily="34" charset="0"/>
              </a:rPr>
              <a:t>image , etc.</a:t>
            </a: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50174" y="5733256"/>
            <a:ext cx="1742306" cy="878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31611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randombar(horizontal)">
                                      <p:cBhvr>
                                        <p:cTn id="25"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548680"/>
            <a:ext cx="8229600" cy="5577483"/>
          </a:xfrm>
        </p:spPr>
        <p:txBody>
          <a:bodyPr>
            <a:normAutofit/>
          </a:bodyPr>
          <a:lstStyle/>
          <a:p>
            <a:pPr marL="0" indent="0" algn="just">
              <a:buNone/>
            </a:pPr>
            <a:r>
              <a:rPr lang="fr-FR" sz="3600" dirty="0" smtClean="0">
                <a:latin typeface="Maiandra GD" pitchFamily="34" charset="0"/>
              </a:rPr>
              <a:t>Il </a:t>
            </a:r>
            <a:r>
              <a:rPr lang="fr-FR" sz="3600" dirty="0">
                <a:latin typeface="Maiandra GD" pitchFamily="34" charset="0"/>
              </a:rPr>
              <a:t>ne </a:t>
            </a:r>
            <a:r>
              <a:rPr lang="fr-FR" sz="3600" dirty="0" smtClean="0">
                <a:latin typeface="Maiandra GD" pitchFamily="34" charset="0"/>
              </a:rPr>
              <a:t>suffit </a:t>
            </a:r>
            <a:r>
              <a:rPr lang="fr-FR" sz="3600" dirty="0">
                <a:latin typeface="Maiandra GD" pitchFamily="34" charset="0"/>
              </a:rPr>
              <a:t>pas d'écrire  simplement  du </a:t>
            </a:r>
            <a:r>
              <a:rPr lang="fr-FR" sz="3600" dirty="0" smtClean="0">
                <a:latin typeface="Maiandra GD" pitchFamily="34" charset="0"/>
              </a:rPr>
              <a:t>texte dans </a:t>
            </a:r>
            <a:r>
              <a:rPr lang="fr-FR" sz="3600" dirty="0">
                <a:latin typeface="Maiandra GD" pitchFamily="34" charset="0"/>
              </a:rPr>
              <a:t>l'éditeur, il faut aussi donner des instructions à l'ordinateur. En HTML, on </a:t>
            </a:r>
            <a:r>
              <a:rPr lang="fr-FR" sz="3600" dirty="0" smtClean="0">
                <a:latin typeface="Maiandra GD" pitchFamily="34" charset="0"/>
              </a:rPr>
              <a:t> utilise pour </a:t>
            </a:r>
            <a:r>
              <a:rPr lang="fr-FR" sz="3600" dirty="0">
                <a:latin typeface="Maiandra GD" pitchFamily="34" charset="0"/>
              </a:rPr>
              <a:t>cela des balises.</a:t>
            </a:r>
          </a:p>
        </p:txBody>
      </p:sp>
    </p:spTree>
    <p:extLst>
      <p:ext uri="{BB962C8B-B14F-4D97-AF65-F5344CB8AC3E}">
        <p14:creationId xmlns:p14="http://schemas.microsoft.com/office/powerpoint/2010/main" val="1388459870"/>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6000" dirty="0">
                <a:effectLst>
                  <a:outerShdw blurRad="38100" dist="38100" dir="2700000" algn="tl">
                    <a:srgbClr val="000000">
                      <a:alpha val="43137"/>
                    </a:srgbClr>
                  </a:outerShdw>
                </a:effectLst>
                <a:latin typeface="Maiandra GD" pitchFamily="34" charset="0"/>
              </a:rPr>
              <a:t>Les balises</a:t>
            </a:r>
          </a:p>
        </p:txBody>
      </p:sp>
      <p:sp>
        <p:nvSpPr>
          <p:cNvPr id="3" name="Espace réservé du contenu 2"/>
          <p:cNvSpPr>
            <a:spLocks noGrp="1"/>
          </p:cNvSpPr>
          <p:nvPr>
            <p:ph idx="1"/>
          </p:nvPr>
        </p:nvSpPr>
        <p:spPr>
          <a:xfrm>
            <a:off x="323528" y="1556792"/>
            <a:ext cx="8640960" cy="5040560"/>
          </a:xfrm>
        </p:spPr>
        <p:txBody>
          <a:bodyPr>
            <a:normAutofit lnSpcReduction="10000"/>
          </a:bodyPr>
          <a:lstStyle/>
          <a:p>
            <a:pPr marL="0" indent="0" algn="just">
              <a:buNone/>
            </a:pPr>
            <a:r>
              <a:rPr lang="fr-FR" sz="3600" dirty="0">
                <a:latin typeface="Maiandra GD" pitchFamily="34" charset="0"/>
              </a:rPr>
              <a:t>Les pages HTML sont remplies de ce qu'on appelle des balises. Celles-ci sont </a:t>
            </a:r>
            <a:r>
              <a:rPr lang="fr-FR" sz="3600" dirty="0" smtClean="0">
                <a:latin typeface="Maiandra GD" pitchFamily="34" charset="0"/>
              </a:rPr>
              <a:t>invisibles à </a:t>
            </a:r>
            <a:r>
              <a:rPr lang="fr-FR" sz="3600" dirty="0">
                <a:latin typeface="Maiandra GD" pitchFamily="34" charset="0"/>
              </a:rPr>
              <a:t>l'écran pour vos visiteurs, mais elles permettent à l'ordinateur de comprendre ce </a:t>
            </a:r>
            <a:r>
              <a:rPr lang="fr-FR" sz="3600" dirty="0" smtClean="0">
                <a:latin typeface="Maiandra GD" pitchFamily="34" charset="0"/>
              </a:rPr>
              <a:t>qu'il doit afficher.</a:t>
            </a:r>
          </a:p>
          <a:p>
            <a:pPr marL="0" indent="0" algn="just">
              <a:buNone/>
            </a:pPr>
            <a:r>
              <a:rPr lang="fr-FR" sz="3600" dirty="0" smtClean="0">
                <a:latin typeface="Maiandra GD" pitchFamily="34" charset="0"/>
              </a:rPr>
              <a:t> </a:t>
            </a:r>
            <a:r>
              <a:rPr lang="fr-FR" sz="3600" dirty="0">
                <a:latin typeface="Maiandra GD" pitchFamily="34" charset="0"/>
              </a:rPr>
              <a:t>Les balises se repèrent facilement. Elles sont entourées de  chevrons </a:t>
            </a:r>
            <a:r>
              <a:rPr lang="fr-FR" sz="3600" dirty="0" smtClean="0">
                <a:latin typeface="Maiandra GD" pitchFamily="34" charset="0"/>
              </a:rPr>
              <a:t>, c'est-à-dire </a:t>
            </a:r>
            <a:r>
              <a:rPr lang="fr-FR" sz="3600" dirty="0">
                <a:latin typeface="Maiandra GD" pitchFamily="34" charset="0"/>
              </a:rPr>
              <a:t>des symboles &lt; et &gt;, comme ceci : &lt;balise&gt;</a:t>
            </a:r>
          </a:p>
        </p:txBody>
      </p:sp>
    </p:spTree>
    <p:extLst>
      <p:ext uri="{BB962C8B-B14F-4D97-AF65-F5344CB8AC3E}">
        <p14:creationId xmlns:p14="http://schemas.microsoft.com/office/powerpoint/2010/main" val="3090792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1" presetClass="entr" presetSubtype="1"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wheel(1)">
                                      <p:cBhvr>
                                        <p:cTn id="25"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332656"/>
            <a:ext cx="8640960" cy="6192688"/>
          </a:xfrm>
        </p:spPr>
        <p:txBody>
          <a:bodyPr>
            <a:normAutofit/>
          </a:bodyPr>
          <a:lstStyle/>
          <a:p>
            <a:pPr marL="0" indent="0" algn="just">
              <a:buNone/>
            </a:pPr>
            <a:r>
              <a:rPr lang="fr-FR" sz="3600" dirty="0">
                <a:latin typeface="Maiandra GD" pitchFamily="34" charset="0"/>
              </a:rPr>
              <a:t>À quoi est-ce qu'elles servent ? Elles indiquent la nature du texte qu'elles encadrent</a:t>
            </a:r>
            <a:r>
              <a:rPr lang="fr-FR" sz="3600" dirty="0" smtClean="0">
                <a:latin typeface="Maiandra GD" pitchFamily="34" charset="0"/>
              </a:rPr>
              <a:t>.</a:t>
            </a:r>
          </a:p>
          <a:p>
            <a:pPr marL="0" indent="0" algn="just">
              <a:buNone/>
            </a:pPr>
            <a:endParaRPr lang="fr-FR" sz="1600" dirty="0">
              <a:latin typeface="Maiandra GD" pitchFamily="34" charset="0"/>
            </a:endParaRPr>
          </a:p>
          <a:p>
            <a:pPr marL="0" indent="0" algn="just">
              <a:buNone/>
            </a:pPr>
            <a:r>
              <a:rPr lang="fr-FR" sz="3600" dirty="0">
                <a:latin typeface="Maiandra GD" pitchFamily="34" charset="0"/>
              </a:rPr>
              <a:t>Elles veulent dire par exemple :  Ceci est le titre de la page ,  Ceci est une image </a:t>
            </a:r>
            <a:r>
              <a:rPr lang="fr-FR" sz="3600" dirty="0" smtClean="0">
                <a:latin typeface="Maiandra GD" pitchFamily="34" charset="0"/>
              </a:rPr>
              <a:t>, Ceci </a:t>
            </a:r>
            <a:r>
              <a:rPr lang="fr-FR" sz="3600" dirty="0">
                <a:latin typeface="Maiandra GD" pitchFamily="34" charset="0"/>
              </a:rPr>
              <a:t>est un paragraphe de texte , etc</a:t>
            </a:r>
            <a:r>
              <a:rPr lang="fr-FR" sz="3600" dirty="0" smtClean="0">
                <a:latin typeface="Maiandra GD" pitchFamily="34" charset="0"/>
              </a:rPr>
              <a:t>.</a:t>
            </a:r>
          </a:p>
          <a:p>
            <a:pPr marL="0" indent="0" algn="just">
              <a:buNone/>
            </a:pPr>
            <a:endParaRPr lang="fr-FR" sz="1400" dirty="0">
              <a:latin typeface="Maiandra GD" pitchFamily="34" charset="0"/>
            </a:endParaRPr>
          </a:p>
          <a:p>
            <a:pPr marL="0" indent="0" algn="just">
              <a:buNone/>
            </a:pPr>
            <a:r>
              <a:rPr lang="fr-FR" sz="3600" dirty="0">
                <a:latin typeface="Maiandra GD" pitchFamily="34" charset="0"/>
              </a:rPr>
              <a:t>On distingue deux types de balises : les balises en paires et les balises orphelines.</a:t>
            </a:r>
          </a:p>
        </p:txBody>
      </p:sp>
    </p:spTree>
    <p:extLst>
      <p:ext uri="{BB962C8B-B14F-4D97-AF65-F5344CB8AC3E}">
        <p14:creationId xmlns:p14="http://schemas.microsoft.com/office/powerpoint/2010/main" val="3654661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wipe(down)">
                                      <p:cBhvr>
                                        <p:cTn id="25" dur="580">
                                          <p:stCondLst>
                                            <p:cond delay="0"/>
                                          </p:stCondLst>
                                        </p:cTn>
                                        <p:tgtEl>
                                          <p:spTgt spid="3">
                                            <p:txEl>
                                              <p:pRg st="2" end="2"/>
                                            </p:txEl>
                                          </p:spTgt>
                                        </p:tgtEl>
                                      </p:cBhvr>
                                    </p:animEffect>
                                    <p:anim calcmode="lin" valueType="num">
                                      <p:cBhvr>
                                        <p:cTn id="26"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2" end="2"/>
                                            </p:txEl>
                                          </p:spTgt>
                                        </p:tgtEl>
                                      </p:cBhvr>
                                      <p:to x="100000" y="60000"/>
                                    </p:animScale>
                                    <p:animScale>
                                      <p:cBhvr>
                                        <p:cTn id="32" dur="166" decel="50000">
                                          <p:stCondLst>
                                            <p:cond delay="676"/>
                                          </p:stCondLst>
                                        </p:cTn>
                                        <p:tgtEl>
                                          <p:spTgt spid="3">
                                            <p:txEl>
                                              <p:pRg st="2" end="2"/>
                                            </p:txEl>
                                          </p:spTgt>
                                        </p:tgtEl>
                                      </p:cBhvr>
                                      <p:to x="100000" y="100000"/>
                                    </p:animScale>
                                    <p:animScale>
                                      <p:cBhvr>
                                        <p:cTn id="33" dur="26">
                                          <p:stCondLst>
                                            <p:cond delay="1312"/>
                                          </p:stCondLst>
                                        </p:cTn>
                                        <p:tgtEl>
                                          <p:spTgt spid="3">
                                            <p:txEl>
                                              <p:pRg st="2" end="2"/>
                                            </p:txEl>
                                          </p:spTgt>
                                        </p:tgtEl>
                                      </p:cBhvr>
                                      <p:to x="100000" y="80000"/>
                                    </p:animScale>
                                    <p:animScale>
                                      <p:cBhvr>
                                        <p:cTn id="34" dur="166" decel="50000">
                                          <p:stCondLst>
                                            <p:cond delay="1338"/>
                                          </p:stCondLst>
                                        </p:cTn>
                                        <p:tgtEl>
                                          <p:spTgt spid="3">
                                            <p:txEl>
                                              <p:pRg st="2" end="2"/>
                                            </p:txEl>
                                          </p:spTgt>
                                        </p:tgtEl>
                                      </p:cBhvr>
                                      <p:to x="100000" y="100000"/>
                                    </p:animScale>
                                    <p:animScale>
                                      <p:cBhvr>
                                        <p:cTn id="35" dur="26">
                                          <p:stCondLst>
                                            <p:cond delay="1642"/>
                                          </p:stCondLst>
                                        </p:cTn>
                                        <p:tgtEl>
                                          <p:spTgt spid="3">
                                            <p:txEl>
                                              <p:pRg st="2" end="2"/>
                                            </p:txEl>
                                          </p:spTgt>
                                        </p:tgtEl>
                                      </p:cBhvr>
                                      <p:to x="100000" y="90000"/>
                                    </p:animScale>
                                    <p:animScale>
                                      <p:cBhvr>
                                        <p:cTn id="36" dur="166" decel="50000">
                                          <p:stCondLst>
                                            <p:cond delay="1668"/>
                                          </p:stCondLst>
                                        </p:cTn>
                                        <p:tgtEl>
                                          <p:spTgt spid="3">
                                            <p:txEl>
                                              <p:pRg st="2" end="2"/>
                                            </p:txEl>
                                          </p:spTgt>
                                        </p:tgtEl>
                                      </p:cBhvr>
                                      <p:to x="100000" y="100000"/>
                                    </p:animScale>
                                    <p:animScale>
                                      <p:cBhvr>
                                        <p:cTn id="37" dur="26">
                                          <p:stCondLst>
                                            <p:cond delay="1808"/>
                                          </p:stCondLst>
                                        </p:cTn>
                                        <p:tgtEl>
                                          <p:spTgt spid="3">
                                            <p:txEl>
                                              <p:pRg st="2" end="2"/>
                                            </p:txEl>
                                          </p:spTgt>
                                        </p:tgtEl>
                                      </p:cBhvr>
                                      <p:to x="100000" y="95000"/>
                                    </p:animScale>
                                    <p:animScale>
                                      <p:cBhvr>
                                        <p:cTn id="38" dur="166" decel="50000">
                                          <p:stCondLst>
                                            <p:cond delay="1834"/>
                                          </p:stCondLst>
                                        </p:cTn>
                                        <p:tgtEl>
                                          <p:spTgt spid="3">
                                            <p:txEl>
                                              <p:pRg st="2" end="2"/>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14" presetClass="entr" presetSubtype="10" fill="hold" nodeType="clickEffect">
                                  <p:stCondLst>
                                    <p:cond delay="0"/>
                                  </p:stCondLst>
                                  <p:childTnLst>
                                    <p:set>
                                      <p:cBhvr>
                                        <p:cTn id="42" dur="1" fill="hold">
                                          <p:stCondLst>
                                            <p:cond delay="0"/>
                                          </p:stCondLst>
                                        </p:cTn>
                                        <p:tgtEl>
                                          <p:spTgt spid="3">
                                            <p:txEl>
                                              <p:pRg st="4" end="4"/>
                                            </p:txEl>
                                          </p:spTgt>
                                        </p:tgtEl>
                                        <p:attrNameLst>
                                          <p:attrName>style.visibility</p:attrName>
                                        </p:attrNameLst>
                                      </p:cBhvr>
                                      <p:to>
                                        <p:strVal val="visible"/>
                                      </p:to>
                                    </p:set>
                                    <p:animEffect transition="in" filter="randombar(horizontal)">
                                      <p:cBhvr>
                                        <p:cTn id="4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5400" dirty="0">
                <a:effectLst>
                  <a:outerShdw blurRad="38100" dist="38100" dir="2700000" algn="tl">
                    <a:srgbClr val="000000">
                      <a:alpha val="43137"/>
                    </a:srgbClr>
                  </a:outerShdw>
                </a:effectLst>
                <a:latin typeface="Maiandra GD" pitchFamily="34" charset="0"/>
              </a:rPr>
              <a:t>Les balises en paires</a:t>
            </a:r>
          </a:p>
        </p:txBody>
      </p:sp>
      <p:sp>
        <p:nvSpPr>
          <p:cNvPr id="3" name="Espace réservé du contenu 2"/>
          <p:cNvSpPr>
            <a:spLocks noGrp="1"/>
          </p:cNvSpPr>
          <p:nvPr>
            <p:ph idx="1"/>
          </p:nvPr>
        </p:nvSpPr>
        <p:spPr>
          <a:xfrm>
            <a:off x="179512" y="1412776"/>
            <a:ext cx="8712968" cy="5112568"/>
          </a:xfrm>
        </p:spPr>
        <p:txBody>
          <a:bodyPr>
            <a:normAutofit/>
          </a:bodyPr>
          <a:lstStyle/>
          <a:p>
            <a:pPr marL="0" indent="0" algn="just">
              <a:buNone/>
            </a:pPr>
            <a:r>
              <a:rPr lang="fr-FR" sz="3400" dirty="0">
                <a:latin typeface="Maiandra GD" pitchFamily="34" charset="0"/>
              </a:rPr>
              <a:t>Elles s'ouvrent, contiennent du texte, et se ferment plus loin. Voici à quoi elles </a:t>
            </a:r>
            <a:r>
              <a:rPr lang="fr-FR" sz="3400" dirty="0" smtClean="0">
                <a:latin typeface="Maiandra GD" pitchFamily="34" charset="0"/>
              </a:rPr>
              <a:t>ressemblent:</a:t>
            </a:r>
            <a:endParaRPr lang="fr-FR" sz="3400" dirty="0">
              <a:latin typeface="Maiandra GD" pitchFamily="34" charset="0"/>
            </a:endParaRPr>
          </a:p>
          <a:p>
            <a:pPr marL="0" indent="0" algn="just">
              <a:buNone/>
            </a:pPr>
            <a:r>
              <a:rPr lang="fr-FR" sz="3400" baseline="30000" dirty="0">
                <a:latin typeface="Maiandra GD" pitchFamily="34" charset="0"/>
              </a:rPr>
              <a:t>1</a:t>
            </a:r>
            <a:r>
              <a:rPr lang="fr-FR" sz="3400" dirty="0">
                <a:latin typeface="Maiandra GD" pitchFamily="34" charset="0"/>
              </a:rPr>
              <a:t> &lt;titre &gt;Ceci est un titre &lt;/ titre &gt;</a:t>
            </a:r>
          </a:p>
          <a:p>
            <a:pPr marL="0" indent="0" algn="just">
              <a:buNone/>
            </a:pPr>
            <a:r>
              <a:rPr lang="fr-FR" sz="3400" dirty="0" smtClean="0">
                <a:latin typeface="Maiandra GD" pitchFamily="34" charset="0"/>
              </a:rPr>
              <a:t>On distingue une balise ouvrante (&lt;titre&gt;) et une balise fermante (&lt;/titre&gt;) qui indique que le titre se termine. Cela signifie pour l'ordinateur que tout ce qui n'est pas </a:t>
            </a:r>
            <a:r>
              <a:rPr lang="fr-FR" sz="3400" dirty="0">
                <a:latin typeface="Maiandra GD" pitchFamily="34" charset="0"/>
              </a:rPr>
              <a:t>entre ces deux balises. . . n'est pas un titre.</a:t>
            </a:r>
          </a:p>
        </p:txBody>
      </p:sp>
      <p:cxnSp>
        <p:nvCxnSpPr>
          <p:cNvPr id="5" name="Connecteur droit 4"/>
          <p:cNvCxnSpPr/>
          <p:nvPr/>
        </p:nvCxnSpPr>
        <p:spPr>
          <a:xfrm>
            <a:off x="467544" y="3068960"/>
            <a:ext cx="0" cy="72008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376528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wipe(down)">
                                      <p:cBhvr>
                                        <p:cTn id="25" dur="580">
                                          <p:stCondLst>
                                            <p:cond delay="0"/>
                                          </p:stCondLst>
                                        </p:cTn>
                                        <p:tgtEl>
                                          <p:spTgt spid="3">
                                            <p:txEl>
                                              <p:pRg st="1" end="1"/>
                                            </p:txEl>
                                          </p:spTgt>
                                        </p:tgtEl>
                                      </p:cBhvr>
                                    </p:animEffect>
                                    <p:anim calcmode="lin" valueType="num">
                                      <p:cBhvr>
                                        <p:cTn id="26"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1" end="1"/>
                                            </p:txEl>
                                          </p:spTgt>
                                        </p:tgtEl>
                                      </p:cBhvr>
                                      <p:to x="100000" y="60000"/>
                                    </p:animScale>
                                    <p:animScale>
                                      <p:cBhvr>
                                        <p:cTn id="32" dur="166" decel="50000">
                                          <p:stCondLst>
                                            <p:cond delay="676"/>
                                          </p:stCondLst>
                                        </p:cTn>
                                        <p:tgtEl>
                                          <p:spTgt spid="3">
                                            <p:txEl>
                                              <p:pRg st="1" end="1"/>
                                            </p:txEl>
                                          </p:spTgt>
                                        </p:tgtEl>
                                      </p:cBhvr>
                                      <p:to x="100000" y="100000"/>
                                    </p:animScale>
                                    <p:animScale>
                                      <p:cBhvr>
                                        <p:cTn id="33" dur="26">
                                          <p:stCondLst>
                                            <p:cond delay="1312"/>
                                          </p:stCondLst>
                                        </p:cTn>
                                        <p:tgtEl>
                                          <p:spTgt spid="3">
                                            <p:txEl>
                                              <p:pRg st="1" end="1"/>
                                            </p:txEl>
                                          </p:spTgt>
                                        </p:tgtEl>
                                      </p:cBhvr>
                                      <p:to x="100000" y="80000"/>
                                    </p:animScale>
                                    <p:animScale>
                                      <p:cBhvr>
                                        <p:cTn id="34" dur="166" decel="50000">
                                          <p:stCondLst>
                                            <p:cond delay="1338"/>
                                          </p:stCondLst>
                                        </p:cTn>
                                        <p:tgtEl>
                                          <p:spTgt spid="3">
                                            <p:txEl>
                                              <p:pRg st="1" end="1"/>
                                            </p:txEl>
                                          </p:spTgt>
                                        </p:tgtEl>
                                      </p:cBhvr>
                                      <p:to x="100000" y="100000"/>
                                    </p:animScale>
                                    <p:animScale>
                                      <p:cBhvr>
                                        <p:cTn id="35" dur="26">
                                          <p:stCondLst>
                                            <p:cond delay="1642"/>
                                          </p:stCondLst>
                                        </p:cTn>
                                        <p:tgtEl>
                                          <p:spTgt spid="3">
                                            <p:txEl>
                                              <p:pRg st="1" end="1"/>
                                            </p:txEl>
                                          </p:spTgt>
                                        </p:tgtEl>
                                      </p:cBhvr>
                                      <p:to x="100000" y="90000"/>
                                    </p:animScale>
                                    <p:animScale>
                                      <p:cBhvr>
                                        <p:cTn id="36" dur="166" decel="50000">
                                          <p:stCondLst>
                                            <p:cond delay="1668"/>
                                          </p:stCondLst>
                                        </p:cTn>
                                        <p:tgtEl>
                                          <p:spTgt spid="3">
                                            <p:txEl>
                                              <p:pRg st="1" end="1"/>
                                            </p:txEl>
                                          </p:spTgt>
                                        </p:tgtEl>
                                      </p:cBhvr>
                                      <p:to x="100000" y="100000"/>
                                    </p:animScale>
                                    <p:animScale>
                                      <p:cBhvr>
                                        <p:cTn id="37" dur="26">
                                          <p:stCondLst>
                                            <p:cond delay="1808"/>
                                          </p:stCondLst>
                                        </p:cTn>
                                        <p:tgtEl>
                                          <p:spTgt spid="3">
                                            <p:txEl>
                                              <p:pRg st="1" end="1"/>
                                            </p:txEl>
                                          </p:spTgt>
                                        </p:tgtEl>
                                      </p:cBhvr>
                                      <p:to x="100000" y="95000"/>
                                    </p:animScale>
                                    <p:animScale>
                                      <p:cBhvr>
                                        <p:cTn id="38" dur="166" decel="50000">
                                          <p:stCondLst>
                                            <p:cond delay="1834"/>
                                          </p:stCondLst>
                                        </p:cTn>
                                        <p:tgtEl>
                                          <p:spTgt spid="3">
                                            <p:txEl>
                                              <p:pRg st="1" end="1"/>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14" presetClass="entr" presetSubtype="10" fill="hold" nodeType="clickEffect">
                                  <p:stCondLst>
                                    <p:cond delay="0"/>
                                  </p:stCondLst>
                                  <p:childTnLst>
                                    <p:set>
                                      <p:cBhvr>
                                        <p:cTn id="42" dur="1" fill="hold">
                                          <p:stCondLst>
                                            <p:cond delay="0"/>
                                          </p:stCondLst>
                                        </p:cTn>
                                        <p:tgtEl>
                                          <p:spTgt spid="3">
                                            <p:txEl>
                                              <p:pRg st="2" end="2"/>
                                            </p:txEl>
                                          </p:spTgt>
                                        </p:tgtEl>
                                        <p:attrNameLst>
                                          <p:attrName>style.visibility</p:attrName>
                                        </p:attrNameLst>
                                      </p:cBhvr>
                                      <p:to>
                                        <p:strVal val="visible"/>
                                      </p:to>
                                    </p:set>
                                    <p:animEffect transition="in" filter="randombar(horizontal)">
                                      <p:cBhvr>
                                        <p:cTn id="4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23528" y="476672"/>
            <a:ext cx="8229600" cy="5649491"/>
          </a:xfrm>
        </p:spPr>
        <p:txBody>
          <a:bodyPr/>
          <a:lstStyle/>
          <a:p>
            <a:pPr marL="0" indent="0">
              <a:buNone/>
            </a:pPr>
            <a:endParaRPr lang="fr-FR" dirty="0" smtClean="0">
              <a:latin typeface="Maiandra GD" pitchFamily="34" charset="0"/>
            </a:endParaRPr>
          </a:p>
          <a:p>
            <a:pPr marL="0" indent="0">
              <a:buNone/>
            </a:pPr>
            <a:r>
              <a:rPr lang="fr-FR" sz="3600" baseline="30000" dirty="0">
                <a:latin typeface="Maiandra GD" pitchFamily="34" charset="0"/>
              </a:rPr>
              <a:t>1</a:t>
            </a:r>
            <a:r>
              <a:rPr lang="fr-FR" sz="3600" dirty="0">
                <a:latin typeface="Maiandra GD" pitchFamily="34" charset="0"/>
              </a:rPr>
              <a:t> Ceci n'est pas un titre &lt;titre &gt;Ceci est un titre &lt;/ titre &gt; Ceci </a:t>
            </a:r>
            <a:r>
              <a:rPr lang="fr-FR" sz="3600" dirty="0" smtClean="0">
                <a:latin typeface="Maiandra GD" pitchFamily="34" charset="0"/>
              </a:rPr>
              <a:t>n'est </a:t>
            </a:r>
            <a:r>
              <a:rPr lang="fr-FR" sz="3600" dirty="0">
                <a:latin typeface="Maiandra GD" pitchFamily="34" charset="0"/>
              </a:rPr>
              <a:t>pas un titre</a:t>
            </a:r>
          </a:p>
        </p:txBody>
      </p:sp>
      <p:cxnSp>
        <p:nvCxnSpPr>
          <p:cNvPr id="4" name="Connecteur droit 3"/>
          <p:cNvCxnSpPr/>
          <p:nvPr/>
        </p:nvCxnSpPr>
        <p:spPr>
          <a:xfrm>
            <a:off x="611560" y="980728"/>
            <a:ext cx="0" cy="72008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62872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2000"/>
                                        <p:tgtEl>
                                          <p:spTgt spid="3">
                                            <p:txEl>
                                              <p:pRg st="1" end="1"/>
                                            </p:txEl>
                                          </p:spTgt>
                                        </p:tgtEl>
                                      </p:cBhvr>
                                    </p:animEffect>
                                    <p:anim calcmode="lin" valueType="num">
                                      <p:cBhvr>
                                        <p:cTn id="8" dur="2000" fill="hold"/>
                                        <p:tgtEl>
                                          <p:spTgt spid="3">
                                            <p:txEl>
                                              <p:pRg st="1" end="1"/>
                                            </p:txEl>
                                          </p:spTgt>
                                        </p:tgtEl>
                                        <p:attrNameLst>
                                          <p:attrName>ppt_w</p:attrName>
                                        </p:attrNameLst>
                                      </p:cBhvr>
                                      <p:tavLst>
                                        <p:tav tm="0" fmla="#ppt_w*sin(2.5*pi*$)">
                                          <p:val>
                                            <p:fltVal val="0"/>
                                          </p:val>
                                        </p:tav>
                                        <p:tav tm="100000">
                                          <p:val>
                                            <p:fltVal val="1"/>
                                          </p:val>
                                        </p:tav>
                                      </p:tavLst>
                                    </p:anim>
                                    <p:anim calcmode="lin" valueType="num">
                                      <p:cBhvr>
                                        <p:cTn id="9" dur="2000" fill="hold"/>
                                        <p:tgtEl>
                                          <p:spTgt spid="3">
                                            <p:txEl>
                                              <p:pRg st="1" end="1"/>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188640"/>
            <a:ext cx="8229600" cy="1143000"/>
          </a:xfrm>
        </p:spPr>
        <p:txBody>
          <a:bodyPr>
            <a:normAutofit/>
          </a:bodyPr>
          <a:lstStyle/>
          <a:p>
            <a:r>
              <a:rPr lang="fr-FR" sz="5400" dirty="0">
                <a:effectLst>
                  <a:outerShdw blurRad="38100" dist="38100" dir="2700000" algn="tl">
                    <a:srgbClr val="000000">
                      <a:alpha val="43137"/>
                    </a:srgbClr>
                  </a:outerShdw>
                </a:effectLst>
                <a:latin typeface="Maiandra GD" pitchFamily="34" charset="0"/>
              </a:rPr>
              <a:t>Les balises orphelines</a:t>
            </a:r>
          </a:p>
        </p:txBody>
      </p:sp>
      <p:sp>
        <p:nvSpPr>
          <p:cNvPr id="3" name="Espace réservé du contenu 2"/>
          <p:cNvSpPr>
            <a:spLocks noGrp="1"/>
          </p:cNvSpPr>
          <p:nvPr>
            <p:ph idx="1"/>
          </p:nvPr>
        </p:nvSpPr>
        <p:spPr>
          <a:xfrm>
            <a:off x="179512" y="1268760"/>
            <a:ext cx="8784976" cy="5328592"/>
          </a:xfrm>
        </p:spPr>
        <p:txBody>
          <a:bodyPr>
            <a:normAutofit/>
          </a:bodyPr>
          <a:lstStyle/>
          <a:p>
            <a:pPr marL="0" indent="0" algn="just">
              <a:buNone/>
            </a:pPr>
            <a:r>
              <a:rPr lang="fr-FR" sz="3600" dirty="0">
                <a:latin typeface="Maiandra GD" pitchFamily="34" charset="0"/>
              </a:rPr>
              <a:t>Ce sont des balises qui servent le plus souvent à insérer un élément à un endroit </a:t>
            </a:r>
            <a:r>
              <a:rPr lang="fr-FR" sz="3600" dirty="0" smtClean="0">
                <a:latin typeface="Maiandra GD" pitchFamily="34" charset="0"/>
              </a:rPr>
              <a:t>précis (par </a:t>
            </a:r>
            <a:r>
              <a:rPr lang="fr-FR" sz="3600" dirty="0">
                <a:latin typeface="Maiandra GD" pitchFamily="34" charset="0"/>
              </a:rPr>
              <a:t>exemple une image). </a:t>
            </a:r>
            <a:endParaRPr lang="fr-FR" sz="3600" dirty="0" smtClean="0">
              <a:latin typeface="Maiandra GD" pitchFamily="34" charset="0"/>
            </a:endParaRPr>
          </a:p>
          <a:p>
            <a:pPr marL="0" indent="0" algn="just">
              <a:buNone/>
            </a:pPr>
            <a:r>
              <a:rPr lang="fr-FR" sz="3600" dirty="0" smtClean="0">
                <a:latin typeface="Maiandra GD" pitchFamily="34" charset="0"/>
              </a:rPr>
              <a:t>Il </a:t>
            </a:r>
            <a:r>
              <a:rPr lang="fr-FR" sz="3600" dirty="0">
                <a:latin typeface="Maiandra GD" pitchFamily="34" charset="0"/>
              </a:rPr>
              <a:t>n'est pas nécessaire de délimiter le début et la </a:t>
            </a:r>
            <a:r>
              <a:rPr lang="fr-FR" sz="3600" dirty="0" smtClean="0">
                <a:latin typeface="Maiandra GD" pitchFamily="34" charset="0"/>
              </a:rPr>
              <a:t>fin de l'image</a:t>
            </a:r>
            <a:r>
              <a:rPr lang="fr-FR" sz="3600" dirty="0">
                <a:latin typeface="Maiandra GD" pitchFamily="34" charset="0"/>
              </a:rPr>
              <a:t>, on veut juste dire à l'ordinateur  Insère une image ici </a:t>
            </a:r>
            <a:r>
              <a:rPr lang="fr-FR" sz="3600" dirty="0" smtClean="0">
                <a:latin typeface="Maiandra GD" pitchFamily="34" charset="0"/>
              </a:rPr>
              <a:t>. Une </a:t>
            </a:r>
            <a:r>
              <a:rPr lang="fr-FR" sz="3600" dirty="0">
                <a:latin typeface="Maiandra GD" pitchFamily="34" charset="0"/>
              </a:rPr>
              <a:t>balise orpheline s'écrit comme ceci :</a:t>
            </a:r>
          </a:p>
          <a:p>
            <a:pPr marL="0" indent="0" algn="just">
              <a:buNone/>
            </a:pPr>
            <a:r>
              <a:rPr lang="fr-FR" sz="3600" baseline="30000" dirty="0" smtClean="0">
                <a:latin typeface="Maiandra GD" pitchFamily="34" charset="0"/>
              </a:rPr>
              <a:t>    1</a:t>
            </a:r>
            <a:r>
              <a:rPr lang="fr-FR" sz="3600" dirty="0" smtClean="0">
                <a:latin typeface="Maiandra GD" pitchFamily="34" charset="0"/>
              </a:rPr>
              <a:t>  &lt;</a:t>
            </a:r>
            <a:r>
              <a:rPr lang="fr-FR" sz="3600" dirty="0">
                <a:latin typeface="Maiandra GD" pitchFamily="34" charset="0"/>
              </a:rPr>
              <a:t>image /&gt;</a:t>
            </a:r>
          </a:p>
        </p:txBody>
      </p:sp>
      <p:cxnSp>
        <p:nvCxnSpPr>
          <p:cNvPr id="4" name="Connecteur droit 3"/>
          <p:cNvCxnSpPr/>
          <p:nvPr/>
        </p:nvCxnSpPr>
        <p:spPr>
          <a:xfrm>
            <a:off x="899592" y="5373216"/>
            <a:ext cx="0" cy="72008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773306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randombar(horizontal)">
                                      <p:cBhvr>
                                        <p:cTn id="25" dur="500"/>
                                        <p:tgtEl>
                                          <p:spTgt spid="3">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6" presetClass="entr" presetSubtype="0" fill="hold" nodeType="clickEffect">
                                  <p:stCondLst>
                                    <p:cond delay="0"/>
                                  </p:stCondLst>
                                  <p:childTnLst>
                                    <p:set>
                                      <p:cBhvr>
                                        <p:cTn id="29" dur="1" fill="hold">
                                          <p:stCondLst>
                                            <p:cond delay="0"/>
                                          </p:stCondLst>
                                        </p:cTn>
                                        <p:tgtEl>
                                          <p:spTgt spid="3">
                                            <p:txEl>
                                              <p:pRg st="2" end="2"/>
                                            </p:txEl>
                                          </p:spTgt>
                                        </p:tgtEl>
                                        <p:attrNameLst>
                                          <p:attrName>style.visibility</p:attrName>
                                        </p:attrNameLst>
                                      </p:cBhvr>
                                      <p:to>
                                        <p:strVal val="visible"/>
                                      </p:to>
                                    </p:set>
                                    <p:animEffect transition="in" filter="wipe(down)">
                                      <p:cBhvr>
                                        <p:cTn id="30" dur="580">
                                          <p:stCondLst>
                                            <p:cond delay="0"/>
                                          </p:stCondLst>
                                        </p:cTn>
                                        <p:tgtEl>
                                          <p:spTgt spid="3">
                                            <p:txEl>
                                              <p:pRg st="2" end="2"/>
                                            </p:txEl>
                                          </p:spTgt>
                                        </p:tgtEl>
                                      </p:cBhvr>
                                    </p:animEffect>
                                    <p:anim calcmode="lin" valueType="num">
                                      <p:cBhvr>
                                        <p:cTn id="31"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32"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33"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34"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35"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36" dur="26">
                                          <p:stCondLst>
                                            <p:cond delay="650"/>
                                          </p:stCondLst>
                                        </p:cTn>
                                        <p:tgtEl>
                                          <p:spTgt spid="3">
                                            <p:txEl>
                                              <p:pRg st="2" end="2"/>
                                            </p:txEl>
                                          </p:spTgt>
                                        </p:tgtEl>
                                      </p:cBhvr>
                                      <p:to x="100000" y="60000"/>
                                    </p:animScale>
                                    <p:animScale>
                                      <p:cBhvr>
                                        <p:cTn id="37" dur="166" decel="50000">
                                          <p:stCondLst>
                                            <p:cond delay="676"/>
                                          </p:stCondLst>
                                        </p:cTn>
                                        <p:tgtEl>
                                          <p:spTgt spid="3">
                                            <p:txEl>
                                              <p:pRg st="2" end="2"/>
                                            </p:txEl>
                                          </p:spTgt>
                                        </p:tgtEl>
                                      </p:cBhvr>
                                      <p:to x="100000" y="100000"/>
                                    </p:animScale>
                                    <p:animScale>
                                      <p:cBhvr>
                                        <p:cTn id="38" dur="26">
                                          <p:stCondLst>
                                            <p:cond delay="1312"/>
                                          </p:stCondLst>
                                        </p:cTn>
                                        <p:tgtEl>
                                          <p:spTgt spid="3">
                                            <p:txEl>
                                              <p:pRg st="2" end="2"/>
                                            </p:txEl>
                                          </p:spTgt>
                                        </p:tgtEl>
                                      </p:cBhvr>
                                      <p:to x="100000" y="80000"/>
                                    </p:animScale>
                                    <p:animScale>
                                      <p:cBhvr>
                                        <p:cTn id="39" dur="166" decel="50000">
                                          <p:stCondLst>
                                            <p:cond delay="1338"/>
                                          </p:stCondLst>
                                        </p:cTn>
                                        <p:tgtEl>
                                          <p:spTgt spid="3">
                                            <p:txEl>
                                              <p:pRg st="2" end="2"/>
                                            </p:txEl>
                                          </p:spTgt>
                                        </p:tgtEl>
                                      </p:cBhvr>
                                      <p:to x="100000" y="100000"/>
                                    </p:animScale>
                                    <p:animScale>
                                      <p:cBhvr>
                                        <p:cTn id="40" dur="26">
                                          <p:stCondLst>
                                            <p:cond delay="1642"/>
                                          </p:stCondLst>
                                        </p:cTn>
                                        <p:tgtEl>
                                          <p:spTgt spid="3">
                                            <p:txEl>
                                              <p:pRg st="2" end="2"/>
                                            </p:txEl>
                                          </p:spTgt>
                                        </p:tgtEl>
                                      </p:cBhvr>
                                      <p:to x="100000" y="90000"/>
                                    </p:animScale>
                                    <p:animScale>
                                      <p:cBhvr>
                                        <p:cTn id="41" dur="166" decel="50000">
                                          <p:stCondLst>
                                            <p:cond delay="1668"/>
                                          </p:stCondLst>
                                        </p:cTn>
                                        <p:tgtEl>
                                          <p:spTgt spid="3">
                                            <p:txEl>
                                              <p:pRg st="2" end="2"/>
                                            </p:txEl>
                                          </p:spTgt>
                                        </p:tgtEl>
                                      </p:cBhvr>
                                      <p:to x="100000" y="100000"/>
                                    </p:animScale>
                                    <p:animScale>
                                      <p:cBhvr>
                                        <p:cTn id="42" dur="26">
                                          <p:stCondLst>
                                            <p:cond delay="1808"/>
                                          </p:stCondLst>
                                        </p:cTn>
                                        <p:tgtEl>
                                          <p:spTgt spid="3">
                                            <p:txEl>
                                              <p:pRg st="2" end="2"/>
                                            </p:txEl>
                                          </p:spTgt>
                                        </p:tgtEl>
                                      </p:cBhvr>
                                      <p:to x="100000" y="95000"/>
                                    </p:animScale>
                                    <p:animScale>
                                      <p:cBhvr>
                                        <p:cTn id="43" dur="166" decel="50000">
                                          <p:stCondLst>
                                            <p:cond delay="1834"/>
                                          </p:stCondLst>
                                        </p:cTn>
                                        <p:tgtEl>
                                          <p:spTgt spid="3">
                                            <p:txEl>
                                              <p:pRg st="2" end="2"/>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332656"/>
            <a:ext cx="8229600" cy="5793507"/>
          </a:xfrm>
        </p:spPr>
        <p:txBody>
          <a:bodyPr>
            <a:noAutofit/>
          </a:bodyPr>
          <a:lstStyle/>
          <a:p>
            <a:pPr marL="0" indent="0" algn="just">
              <a:buNone/>
            </a:pPr>
            <a:r>
              <a:rPr lang="fr-FR" sz="3400" dirty="0">
                <a:latin typeface="Maiandra GD" pitchFamily="34" charset="0"/>
              </a:rPr>
              <a:t>Notez que le / </a:t>
            </a:r>
            <a:r>
              <a:rPr lang="fr-FR" sz="3400" dirty="0" smtClean="0">
                <a:latin typeface="Maiandra GD" pitchFamily="34" charset="0"/>
              </a:rPr>
              <a:t>de fin </a:t>
            </a:r>
            <a:r>
              <a:rPr lang="fr-FR" sz="3400" dirty="0">
                <a:latin typeface="Maiandra GD" pitchFamily="34" charset="0"/>
              </a:rPr>
              <a:t>n'est pas obligatoire. On pourrait écrire </a:t>
            </a:r>
            <a:r>
              <a:rPr lang="fr-FR" sz="3400" dirty="0" smtClean="0">
                <a:latin typeface="Maiandra GD" pitchFamily="34" charset="0"/>
              </a:rPr>
              <a:t>seulement &lt;image</a:t>
            </a:r>
            <a:r>
              <a:rPr lang="fr-FR" sz="3400" dirty="0">
                <a:latin typeface="Maiandra GD" pitchFamily="34" charset="0"/>
              </a:rPr>
              <a:t>&gt;. Néanmoins, pour ne pas les confondre avec le premier type </a:t>
            </a:r>
            <a:r>
              <a:rPr lang="fr-FR" sz="3400" dirty="0" smtClean="0">
                <a:latin typeface="Maiandra GD" pitchFamily="34" charset="0"/>
              </a:rPr>
              <a:t>de balise</a:t>
            </a:r>
            <a:r>
              <a:rPr lang="fr-FR" sz="3400" dirty="0">
                <a:latin typeface="Maiandra GD" pitchFamily="34" charset="0"/>
              </a:rPr>
              <a:t>, les webmasters recommandent de rajouter ce / (slash) à la </a:t>
            </a:r>
            <a:r>
              <a:rPr lang="fr-FR" sz="3400" dirty="0" smtClean="0">
                <a:latin typeface="Maiandra GD" pitchFamily="34" charset="0"/>
              </a:rPr>
              <a:t>fin des balises </a:t>
            </a:r>
            <a:r>
              <a:rPr lang="fr-FR" sz="3400" dirty="0">
                <a:latin typeface="Maiandra GD" pitchFamily="34" charset="0"/>
              </a:rPr>
              <a:t>orphelines. Vous me verrez donc mettre un / aux balises orphelines </a:t>
            </a:r>
            <a:r>
              <a:rPr lang="fr-FR" sz="3400" dirty="0" smtClean="0">
                <a:latin typeface="Maiandra GD" pitchFamily="34" charset="0"/>
              </a:rPr>
              <a:t>et je </a:t>
            </a:r>
            <a:r>
              <a:rPr lang="fr-FR" sz="3400" dirty="0">
                <a:latin typeface="Maiandra GD" pitchFamily="34" charset="0"/>
              </a:rPr>
              <a:t>vous recommande de faire de même, c'est une bonne pratique.</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6216" y="5359102"/>
            <a:ext cx="1886322" cy="1238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42831755"/>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6000" dirty="0">
                <a:effectLst>
                  <a:outerShdw blurRad="38100" dist="38100" dir="2700000" algn="tl">
                    <a:srgbClr val="000000">
                      <a:alpha val="43137"/>
                    </a:srgbClr>
                  </a:outerShdw>
                </a:effectLst>
                <a:latin typeface="Maiandra GD" pitchFamily="34" charset="0"/>
              </a:rPr>
              <a:t>Les attributs</a:t>
            </a:r>
          </a:p>
        </p:txBody>
      </p:sp>
      <p:sp>
        <p:nvSpPr>
          <p:cNvPr id="3" name="Espace réservé du contenu 2"/>
          <p:cNvSpPr>
            <a:spLocks noGrp="1"/>
          </p:cNvSpPr>
          <p:nvPr>
            <p:ph idx="1"/>
          </p:nvPr>
        </p:nvSpPr>
        <p:spPr>
          <a:xfrm>
            <a:off x="251520" y="1600200"/>
            <a:ext cx="8640960" cy="4853136"/>
          </a:xfrm>
        </p:spPr>
        <p:txBody>
          <a:bodyPr>
            <a:normAutofit/>
          </a:bodyPr>
          <a:lstStyle/>
          <a:p>
            <a:pPr marL="0" indent="0" algn="just">
              <a:buNone/>
            </a:pPr>
            <a:r>
              <a:rPr lang="fr-FR" sz="3600" dirty="0">
                <a:latin typeface="Maiandra GD" pitchFamily="34" charset="0"/>
              </a:rPr>
              <a:t>Les attributs sont un peu les options des balises. Ils viennent les compléter pour </a:t>
            </a:r>
            <a:r>
              <a:rPr lang="fr-FR" sz="3600" dirty="0" smtClean="0">
                <a:latin typeface="Maiandra GD" pitchFamily="34" charset="0"/>
              </a:rPr>
              <a:t>donner des </a:t>
            </a:r>
            <a:r>
              <a:rPr lang="fr-FR" sz="3600" dirty="0">
                <a:latin typeface="Maiandra GD" pitchFamily="34" charset="0"/>
              </a:rPr>
              <a:t>informations supplémentaires. L'attribut se place après le nom de la balise </a:t>
            </a:r>
            <a:r>
              <a:rPr lang="fr-FR" sz="3600" dirty="0" smtClean="0">
                <a:latin typeface="Maiandra GD" pitchFamily="34" charset="0"/>
              </a:rPr>
              <a:t>ouvrante et </a:t>
            </a:r>
            <a:r>
              <a:rPr lang="fr-FR" sz="3600" dirty="0">
                <a:latin typeface="Maiandra GD" pitchFamily="34" charset="0"/>
              </a:rPr>
              <a:t>a le plus souvent une valeur, comme ceci :</a:t>
            </a:r>
          </a:p>
          <a:p>
            <a:pPr marL="0" indent="0" algn="just">
              <a:buNone/>
            </a:pPr>
            <a:r>
              <a:rPr lang="fr-FR" sz="3600" baseline="30000" dirty="0">
                <a:latin typeface="Maiandra GD" pitchFamily="34" charset="0"/>
              </a:rPr>
              <a:t>1</a:t>
            </a:r>
            <a:r>
              <a:rPr lang="fr-FR" sz="3600" dirty="0">
                <a:latin typeface="Maiandra GD" pitchFamily="34" charset="0"/>
              </a:rPr>
              <a:t> </a:t>
            </a:r>
            <a:r>
              <a:rPr lang="fr-FR" sz="3600" dirty="0" smtClean="0">
                <a:latin typeface="Maiandra GD" pitchFamily="34" charset="0"/>
              </a:rPr>
              <a:t> &lt;</a:t>
            </a:r>
            <a:r>
              <a:rPr lang="fr-FR" sz="3600" dirty="0">
                <a:latin typeface="Maiandra GD" pitchFamily="34" charset="0"/>
              </a:rPr>
              <a:t>balise attribut =</a:t>
            </a:r>
            <a:r>
              <a:rPr lang="fr-FR" sz="3600" dirty="0">
                <a:solidFill>
                  <a:srgbClr val="FF0000"/>
                </a:solidFill>
                <a:latin typeface="Maiandra GD" pitchFamily="34" charset="0"/>
              </a:rPr>
              <a:t>" valeur "</a:t>
            </a:r>
            <a:r>
              <a:rPr lang="fr-FR" sz="3600" dirty="0">
                <a:latin typeface="Maiandra GD" pitchFamily="34" charset="0"/>
              </a:rPr>
              <a:t>&gt;</a:t>
            </a:r>
          </a:p>
        </p:txBody>
      </p:sp>
      <p:cxnSp>
        <p:nvCxnSpPr>
          <p:cNvPr id="4" name="Connecteur droit 3"/>
          <p:cNvCxnSpPr/>
          <p:nvPr/>
        </p:nvCxnSpPr>
        <p:spPr>
          <a:xfrm>
            <a:off x="611560" y="4941168"/>
            <a:ext cx="0" cy="72008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234074888"/>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23528" y="332656"/>
            <a:ext cx="8496944" cy="6192688"/>
          </a:xfrm>
        </p:spPr>
        <p:txBody>
          <a:bodyPr>
            <a:normAutofit lnSpcReduction="10000"/>
          </a:bodyPr>
          <a:lstStyle/>
          <a:p>
            <a:pPr marL="0" indent="0" algn="just">
              <a:buNone/>
            </a:pPr>
            <a:r>
              <a:rPr lang="fr-FR" sz="3600" dirty="0">
                <a:latin typeface="Maiandra GD" pitchFamily="34" charset="0"/>
              </a:rPr>
              <a:t>À quoi cela sert-il ? Prenons la balise &lt;image /&gt; que nous venons de voir. Seule, elle </a:t>
            </a:r>
            <a:r>
              <a:rPr lang="fr-FR" sz="3600" dirty="0" smtClean="0">
                <a:latin typeface="Maiandra GD" pitchFamily="34" charset="0"/>
              </a:rPr>
              <a:t>ne sert </a:t>
            </a:r>
            <a:r>
              <a:rPr lang="fr-FR" sz="3600" dirty="0">
                <a:latin typeface="Maiandra GD" pitchFamily="34" charset="0"/>
              </a:rPr>
              <a:t>pas à grand chose. On pourrait rajouter un attribut qui indique le nom de </a:t>
            </a:r>
            <a:r>
              <a:rPr lang="fr-FR" sz="3600" dirty="0" smtClean="0">
                <a:latin typeface="Maiandra GD" pitchFamily="34" charset="0"/>
              </a:rPr>
              <a:t>l'image à afficher :</a:t>
            </a:r>
          </a:p>
          <a:p>
            <a:pPr marL="0" indent="0" algn="just">
              <a:buNone/>
            </a:pPr>
            <a:endParaRPr lang="fr-FR" sz="2000" dirty="0" smtClean="0">
              <a:latin typeface="Maiandra GD" pitchFamily="34" charset="0"/>
            </a:endParaRPr>
          </a:p>
          <a:p>
            <a:pPr marL="0" indent="0" algn="just">
              <a:buNone/>
            </a:pPr>
            <a:r>
              <a:rPr lang="fr-FR" sz="3600" baseline="30000" dirty="0" smtClean="0">
                <a:latin typeface="Maiandra GD" pitchFamily="34" charset="0"/>
              </a:rPr>
              <a:t>1</a:t>
            </a:r>
            <a:r>
              <a:rPr lang="fr-FR" sz="3600" dirty="0" smtClean="0">
                <a:latin typeface="Maiandra GD" pitchFamily="34" charset="0"/>
              </a:rPr>
              <a:t> </a:t>
            </a:r>
            <a:r>
              <a:rPr lang="fr-FR" sz="3600" dirty="0">
                <a:latin typeface="Maiandra GD" pitchFamily="34" charset="0"/>
              </a:rPr>
              <a:t>&lt;image nom=</a:t>
            </a:r>
            <a:r>
              <a:rPr lang="fr-FR" sz="3600" dirty="0">
                <a:solidFill>
                  <a:srgbClr val="FF0000"/>
                </a:solidFill>
                <a:latin typeface="Maiandra GD" pitchFamily="34" charset="0"/>
              </a:rPr>
              <a:t>" photo .</a:t>
            </a:r>
            <a:r>
              <a:rPr lang="fr-FR" sz="3600" dirty="0" smtClean="0">
                <a:solidFill>
                  <a:srgbClr val="FF0000"/>
                </a:solidFill>
                <a:latin typeface="Maiandra GD" pitchFamily="34" charset="0"/>
              </a:rPr>
              <a:t>jpg" </a:t>
            </a:r>
            <a:r>
              <a:rPr lang="fr-FR" sz="3600" dirty="0" smtClean="0">
                <a:latin typeface="Maiandra GD" pitchFamily="34" charset="0"/>
              </a:rPr>
              <a:t>/&gt;</a:t>
            </a:r>
          </a:p>
          <a:p>
            <a:pPr marL="0" indent="0" algn="just">
              <a:buNone/>
            </a:pPr>
            <a:endParaRPr lang="fr-FR" dirty="0" smtClean="0">
              <a:latin typeface="Maiandra GD" pitchFamily="34" charset="0"/>
            </a:endParaRPr>
          </a:p>
          <a:p>
            <a:pPr marL="0" indent="0" algn="just">
              <a:buNone/>
            </a:pPr>
            <a:r>
              <a:rPr lang="fr-FR" sz="3600" dirty="0">
                <a:latin typeface="Maiandra GD" pitchFamily="34" charset="0"/>
              </a:rPr>
              <a:t>L'ordinateur comprend alors qu'il doit </a:t>
            </a:r>
            <a:r>
              <a:rPr lang="fr-FR" sz="3600" dirty="0" smtClean="0">
                <a:latin typeface="Maiandra GD" pitchFamily="34" charset="0"/>
              </a:rPr>
              <a:t>afficher </a:t>
            </a:r>
            <a:r>
              <a:rPr lang="fr-FR" sz="3600" dirty="0">
                <a:latin typeface="Maiandra GD" pitchFamily="34" charset="0"/>
              </a:rPr>
              <a:t>l'image contenue dans le </a:t>
            </a:r>
            <a:r>
              <a:rPr lang="fr-FR" sz="3600" dirty="0" smtClean="0">
                <a:latin typeface="Maiandra GD" pitchFamily="34" charset="0"/>
              </a:rPr>
              <a:t>fichier </a:t>
            </a:r>
            <a:r>
              <a:rPr lang="fr-FR" sz="3600" dirty="0">
                <a:latin typeface="Maiandra GD" pitchFamily="34" charset="0"/>
              </a:rPr>
              <a:t>photo.jpg.</a:t>
            </a:r>
          </a:p>
        </p:txBody>
      </p:sp>
      <p:cxnSp>
        <p:nvCxnSpPr>
          <p:cNvPr id="4" name="Connecteur droit 3"/>
          <p:cNvCxnSpPr/>
          <p:nvPr/>
        </p:nvCxnSpPr>
        <p:spPr>
          <a:xfrm>
            <a:off x="611560" y="3140968"/>
            <a:ext cx="0" cy="72008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416351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wipe(down)">
                                      <p:cBhvr>
                                        <p:cTn id="25" dur="580">
                                          <p:stCondLst>
                                            <p:cond delay="0"/>
                                          </p:stCondLst>
                                        </p:cTn>
                                        <p:tgtEl>
                                          <p:spTgt spid="3">
                                            <p:txEl>
                                              <p:pRg st="2" end="2"/>
                                            </p:txEl>
                                          </p:spTgt>
                                        </p:tgtEl>
                                      </p:cBhvr>
                                    </p:animEffect>
                                    <p:anim calcmode="lin" valueType="num">
                                      <p:cBhvr>
                                        <p:cTn id="26"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2" end="2"/>
                                            </p:txEl>
                                          </p:spTgt>
                                        </p:tgtEl>
                                      </p:cBhvr>
                                      <p:to x="100000" y="60000"/>
                                    </p:animScale>
                                    <p:animScale>
                                      <p:cBhvr>
                                        <p:cTn id="32" dur="166" decel="50000">
                                          <p:stCondLst>
                                            <p:cond delay="676"/>
                                          </p:stCondLst>
                                        </p:cTn>
                                        <p:tgtEl>
                                          <p:spTgt spid="3">
                                            <p:txEl>
                                              <p:pRg st="2" end="2"/>
                                            </p:txEl>
                                          </p:spTgt>
                                        </p:tgtEl>
                                      </p:cBhvr>
                                      <p:to x="100000" y="100000"/>
                                    </p:animScale>
                                    <p:animScale>
                                      <p:cBhvr>
                                        <p:cTn id="33" dur="26">
                                          <p:stCondLst>
                                            <p:cond delay="1312"/>
                                          </p:stCondLst>
                                        </p:cTn>
                                        <p:tgtEl>
                                          <p:spTgt spid="3">
                                            <p:txEl>
                                              <p:pRg st="2" end="2"/>
                                            </p:txEl>
                                          </p:spTgt>
                                        </p:tgtEl>
                                      </p:cBhvr>
                                      <p:to x="100000" y="80000"/>
                                    </p:animScale>
                                    <p:animScale>
                                      <p:cBhvr>
                                        <p:cTn id="34" dur="166" decel="50000">
                                          <p:stCondLst>
                                            <p:cond delay="1338"/>
                                          </p:stCondLst>
                                        </p:cTn>
                                        <p:tgtEl>
                                          <p:spTgt spid="3">
                                            <p:txEl>
                                              <p:pRg st="2" end="2"/>
                                            </p:txEl>
                                          </p:spTgt>
                                        </p:tgtEl>
                                      </p:cBhvr>
                                      <p:to x="100000" y="100000"/>
                                    </p:animScale>
                                    <p:animScale>
                                      <p:cBhvr>
                                        <p:cTn id="35" dur="26">
                                          <p:stCondLst>
                                            <p:cond delay="1642"/>
                                          </p:stCondLst>
                                        </p:cTn>
                                        <p:tgtEl>
                                          <p:spTgt spid="3">
                                            <p:txEl>
                                              <p:pRg st="2" end="2"/>
                                            </p:txEl>
                                          </p:spTgt>
                                        </p:tgtEl>
                                      </p:cBhvr>
                                      <p:to x="100000" y="90000"/>
                                    </p:animScale>
                                    <p:animScale>
                                      <p:cBhvr>
                                        <p:cTn id="36" dur="166" decel="50000">
                                          <p:stCondLst>
                                            <p:cond delay="1668"/>
                                          </p:stCondLst>
                                        </p:cTn>
                                        <p:tgtEl>
                                          <p:spTgt spid="3">
                                            <p:txEl>
                                              <p:pRg st="2" end="2"/>
                                            </p:txEl>
                                          </p:spTgt>
                                        </p:tgtEl>
                                      </p:cBhvr>
                                      <p:to x="100000" y="100000"/>
                                    </p:animScale>
                                    <p:animScale>
                                      <p:cBhvr>
                                        <p:cTn id="37" dur="26">
                                          <p:stCondLst>
                                            <p:cond delay="1808"/>
                                          </p:stCondLst>
                                        </p:cTn>
                                        <p:tgtEl>
                                          <p:spTgt spid="3">
                                            <p:txEl>
                                              <p:pRg st="2" end="2"/>
                                            </p:txEl>
                                          </p:spTgt>
                                        </p:tgtEl>
                                      </p:cBhvr>
                                      <p:to x="100000" y="95000"/>
                                    </p:animScale>
                                    <p:animScale>
                                      <p:cBhvr>
                                        <p:cTn id="38" dur="166" decel="50000">
                                          <p:stCondLst>
                                            <p:cond delay="1834"/>
                                          </p:stCondLst>
                                        </p:cTn>
                                        <p:tgtEl>
                                          <p:spTgt spid="3">
                                            <p:txEl>
                                              <p:pRg st="2" end="2"/>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14" presetClass="entr" presetSubtype="10" fill="hold" nodeType="clickEffect">
                                  <p:stCondLst>
                                    <p:cond delay="0"/>
                                  </p:stCondLst>
                                  <p:childTnLst>
                                    <p:set>
                                      <p:cBhvr>
                                        <p:cTn id="42" dur="1" fill="hold">
                                          <p:stCondLst>
                                            <p:cond delay="0"/>
                                          </p:stCondLst>
                                        </p:cTn>
                                        <p:tgtEl>
                                          <p:spTgt spid="3">
                                            <p:txEl>
                                              <p:pRg st="4" end="4"/>
                                            </p:txEl>
                                          </p:spTgt>
                                        </p:tgtEl>
                                        <p:attrNameLst>
                                          <p:attrName>style.visibility</p:attrName>
                                        </p:attrNameLst>
                                      </p:cBhvr>
                                      <p:to>
                                        <p:strVal val="visible"/>
                                      </p:to>
                                    </p:set>
                                    <p:animEffect transition="in" filter="randombar(horizontal)">
                                      <p:cBhvr>
                                        <p:cTn id="4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23528" y="332656"/>
            <a:ext cx="8568952" cy="6336704"/>
          </a:xfrm>
        </p:spPr>
        <p:txBody>
          <a:bodyPr>
            <a:normAutofit/>
          </a:bodyPr>
          <a:lstStyle/>
          <a:p>
            <a:pPr marL="0" indent="0" algn="just">
              <a:buNone/>
            </a:pPr>
            <a:r>
              <a:rPr lang="fr-FR" dirty="0">
                <a:latin typeface="Maiandra GD" pitchFamily="34" charset="0"/>
              </a:rPr>
              <a:t>Dans le cas d'une balise fonctionnant  par </a:t>
            </a:r>
            <a:r>
              <a:rPr lang="fr-FR" dirty="0" smtClean="0">
                <a:latin typeface="Maiandra GD" pitchFamily="34" charset="0"/>
              </a:rPr>
              <a:t>« paire » </a:t>
            </a:r>
            <a:r>
              <a:rPr lang="fr-FR" dirty="0">
                <a:latin typeface="Maiandra GD" pitchFamily="34" charset="0"/>
              </a:rPr>
              <a:t>, on ne met les attributs que </a:t>
            </a:r>
            <a:r>
              <a:rPr lang="fr-FR" dirty="0" smtClean="0">
                <a:latin typeface="Maiandra GD" pitchFamily="34" charset="0"/>
              </a:rPr>
              <a:t>dans la </a:t>
            </a:r>
            <a:r>
              <a:rPr lang="fr-FR" dirty="0">
                <a:latin typeface="Maiandra GD" pitchFamily="34" charset="0"/>
              </a:rPr>
              <a:t>balise ouvrante et pas dans la balise </a:t>
            </a:r>
            <a:r>
              <a:rPr lang="fr-FR" dirty="0" smtClean="0">
                <a:latin typeface="Maiandra GD" pitchFamily="34" charset="0"/>
              </a:rPr>
              <a:t>fermante.</a:t>
            </a:r>
          </a:p>
          <a:p>
            <a:pPr marL="0" indent="0" algn="just">
              <a:buNone/>
            </a:pPr>
            <a:r>
              <a:rPr lang="fr-FR" dirty="0" smtClean="0">
                <a:latin typeface="Maiandra GD" pitchFamily="34" charset="0"/>
              </a:rPr>
              <a:t>Par </a:t>
            </a:r>
            <a:r>
              <a:rPr lang="fr-FR" dirty="0">
                <a:latin typeface="Maiandra GD" pitchFamily="34" charset="0"/>
              </a:rPr>
              <a:t>exemple, ce code indique que </a:t>
            </a:r>
            <a:r>
              <a:rPr lang="fr-FR" dirty="0" smtClean="0">
                <a:latin typeface="Maiandra GD" pitchFamily="34" charset="0"/>
              </a:rPr>
              <a:t>la citation </a:t>
            </a:r>
            <a:r>
              <a:rPr lang="fr-FR" dirty="0">
                <a:latin typeface="Maiandra GD" pitchFamily="34" charset="0"/>
              </a:rPr>
              <a:t>est de Neil Armstrong et qu'elle date du 21 Juillet 1969 </a:t>
            </a:r>
            <a:r>
              <a:rPr lang="fr-FR" dirty="0" smtClean="0">
                <a:latin typeface="Maiandra GD" pitchFamily="34" charset="0"/>
              </a:rPr>
              <a:t>:</a:t>
            </a:r>
          </a:p>
          <a:p>
            <a:pPr marL="0" indent="0" algn="just">
              <a:buNone/>
            </a:pPr>
            <a:r>
              <a:rPr lang="fr-FR" dirty="0">
                <a:latin typeface="Maiandra GD" pitchFamily="34" charset="0"/>
              </a:rPr>
              <a:t>1 </a:t>
            </a:r>
            <a:r>
              <a:rPr lang="fr-FR" dirty="0" smtClean="0">
                <a:latin typeface="Maiandra GD" pitchFamily="34" charset="0"/>
              </a:rPr>
              <a:t> &lt;</a:t>
            </a:r>
            <a:r>
              <a:rPr lang="fr-FR" dirty="0">
                <a:latin typeface="Maiandra GD" pitchFamily="34" charset="0"/>
              </a:rPr>
              <a:t>citation auteur =</a:t>
            </a:r>
            <a:r>
              <a:rPr lang="fr-FR" dirty="0">
                <a:solidFill>
                  <a:srgbClr val="FF0000"/>
                </a:solidFill>
                <a:latin typeface="Maiandra GD" pitchFamily="34" charset="0"/>
              </a:rPr>
              <a:t>" Neil Armstrong " </a:t>
            </a:r>
            <a:r>
              <a:rPr lang="fr-FR" dirty="0" smtClean="0">
                <a:solidFill>
                  <a:srgbClr val="FF0000"/>
                </a:solidFill>
                <a:latin typeface="Maiandra GD" pitchFamily="34" charset="0"/>
              </a:rPr>
              <a:t>  </a:t>
            </a:r>
          </a:p>
          <a:p>
            <a:pPr marL="0" indent="0" algn="just">
              <a:buNone/>
            </a:pPr>
            <a:r>
              <a:rPr lang="fr-FR" dirty="0" smtClean="0">
                <a:latin typeface="Maiandra GD" pitchFamily="34" charset="0"/>
              </a:rPr>
              <a:t>      date </a:t>
            </a:r>
            <a:r>
              <a:rPr lang="fr-FR" dirty="0">
                <a:latin typeface="Maiandra GD" pitchFamily="34" charset="0"/>
              </a:rPr>
              <a:t>=</a:t>
            </a:r>
            <a:r>
              <a:rPr lang="fr-FR" dirty="0">
                <a:solidFill>
                  <a:srgbClr val="FF0000"/>
                </a:solidFill>
                <a:latin typeface="Maiandra GD" pitchFamily="34" charset="0"/>
              </a:rPr>
              <a:t>"21/07/ 1969 "</a:t>
            </a:r>
            <a:r>
              <a:rPr lang="fr-FR" dirty="0">
                <a:latin typeface="Maiandra GD" pitchFamily="34" charset="0"/>
              </a:rPr>
              <a:t>&gt;</a:t>
            </a:r>
          </a:p>
          <a:p>
            <a:pPr marL="514350" indent="-514350" algn="just">
              <a:buAutoNum type="arabicPlain" startAt="2"/>
            </a:pPr>
            <a:r>
              <a:rPr lang="fr-FR" dirty="0" smtClean="0">
                <a:latin typeface="Maiandra GD" pitchFamily="34" charset="0"/>
              </a:rPr>
              <a:t>C'est </a:t>
            </a:r>
            <a:r>
              <a:rPr lang="fr-FR" dirty="0">
                <a:latin typeface="Maiandra GD" pitchFamily="34" charset="0"/>
              </a:rPr>
              <a:t>un petit pas pour l'homme , mais un </a:t>
            </a:r>
            <a:r>
              <a:rPr lang="fr-FR" dirty="0" smtClean="0">
                <a:latin typeface="Maiandra GD" pitchFamily="34" charset="0"/>
              </a:rPr>
              <a:t>   </a:t>
            </a:r>
          </a:p>
          <a:p>
            <a:pPr marL="0" indent="0" algn="just">
              <a:buNone/>
            </a:pPr>
            <a:r>
              <a:rPr lang="fr-FR" dirty="0">
                <a:latin typeface="Maiandra GD" pitchFamily="34" charset="0"/>
              </a:rPr>
              <a:t> </a:t>
            </a:r>
            <a:r>
              <a:rPr lang="fr-FR" dirty="0" smtClean="0">
                <a:latin typeface="Maiandra GD" pitchFamily="34" charset="0"/>
              </a:rPr>
              <a:t>     bond </a:t>
            </a:r>
            <a:r>
              <a:rPr lang="fr-FR" dirty="0">
                <a:latin typeface="Maiandra GD" pitchFamily="34" charset="0"/>
              </a:rPr>
              <a:t>de géant pour </a:t>
            </a:r>
            <a:r>
              <a:rPr lang="fr-FR" dirty="0" smtClean="0">
                <a:latin typeface="Maiandra GD" pitchFamily="34" charset="0"/>
              </a:rPr>
              <a:t>l'humanité</a:t>
            </a:r>
            <a:r>
              <a:rPr lang="fr-FR" dirty="0">
                <a:latin typeface="Maiandra GD" pitchFamily="34" charset="0"/>
              </a:rPr>
              <a:t>.</a:t>
            </a:r>
          </a:p>
          <a:p>
            <a:pPr marL="0" indent="0" algn="just">
              <a:buNone/>
            </a:pPr>
            <a:r>
              <a:rPr lang="fr-FR" dirty="0">
                <a:latin typeface="Maiandra GD" pitchFamily="34" charset="0"/>
              </a:rPr>
              <a:t>3 </a:t>
            </a:r>
            <a:r>
              <a:rPr lang="fr-FR" dirty="0" smtClean="0">
                <a:latin typeface="Maiandra GD" pitchFamily="34" charset="0"/>
              </a:rPr>
              <a:t> &lt;/ </a:t>
            </a:r>
            <a:r>
              <a:rPr lang="fr-FR" dirty="0">
                <a:latin typeface="Maiandra GD" pitchFamily="34" charset="0"/>
              </a:rPr>
              <a:t>citation &gt;</a:t>
            </a:r>
          </a:p>
        </p:txBody>
      </p:sp>
      <p:cxnSp>
        <p:nvCxnSpPr>
          <p:cNvPr id="5" name="Connecteur droit 4"/>
          <p:cNvCxnSpPr/>
          <p:nvPr/>
        </p:nvCxnSpPr>
        <p:spPr>
          <a:xfrm>
            <a:off x="755576" y="3429000"/>
            <a:ext cx="0" cy="3096344"/>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688911034"/>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404664"/>
            <a:ext cx="8640960" cy="6048672"/>
          </a:xfrm>
        </p:spPr>
        <p:txBody>
          <a:bodyPr>
            <a:normAutofit/>
          </a:bodyPr>
          <a:lstStyle/>
          <a:p>
            <a:pPr marL="0" indent="0" algn="just">
              <a:buNone/>
            </a:pPr>
            <a:r>
              <a:rPr lang="fr-FR" sz="3600" dirty="0">
                <a:latin typeface="Maiandra GD" pitchFamily="34" charset="0"/>
              </a:rPr>
              <a:t>Toutes les balises que nous venons de voir sont </a:t>
            </a:r>
            <a:r>
              <a:rPr lang="fr-FR" sz="3600" dirty="0" smtClean="0">
                <a:latin typeface="Maiandra GD" pitchFamily="34" charset="0"/>
              </a:rPr>
              <a:t>fictives</a:t>
            </a:r>
            <a:r>
              <a:rPr lang="fr-FR" sz="3600" dirty="0">
                <a:latin typeface="Maiandra GD" pitchFamily="34" charset="0"/>
              </a:rPr>
              <a:t>. </a:t>
            </a:r>
            <a:endParaRPr lang="fr-FR" sz="3600" dirty="0" smtClean="0">
              <a:latin typeface="Maiandra GD" pitchFamily="34" charset="0"/>
            </a:endParaRPr>
          </a:p>
          <a:p>
            <a:pPr marL="0" indent="0" algn="just">
              <a:buNone/>
            </a:pPr>
            <a:r>
              <a:rPr lang="fr-FR" sz="3600" dirty="0" smtClean="0">
                <a:latin typeface="Maiandra GD" pitchFamily="34" charset="0"/>
              </a:rPr>
              <a:t>Les </a:t>
            </a:r>
            <a:r>
              <a:rPr lang="fr-FR" sz="3600" dirty="0">
                <a:latin typeface="Maiandra GD" pitchFamily="34" charset="0"/>
              </a:rPr>
              <a:t>vraies balises </a:t>
            </a:r>
            <a:r>
              <a:rPr lang="fr-FR" sz="3600" dirty="0" smtClean="0">
                <a:latin typeface="Maiandra GD" pitchFamily="34" charset="0"/>
              </a:rPr>
              <a:t>ont des </a:t>
            </a:r>
            <a:r>
              <a:rPr lang="fr-FR" sz="3600" dirty="0">
                <a:latin typeface="Maiandra GD" pitchFamily="34" charset="0"/>
              </a:rPr>
              <a:t>noms en anglais (eh oui !), nous allons les découvrir dans la suite de </a:t>
            </a:r>
            <a:r>
              <a:rPr lang="fr-FR" sz="3600" dirty="0" smtClean="0">
                <a:latin typeface="Maiandra GD" pitchFamily="34" charset="0"/>
              </a:rPr>
              <a:t>ce cours</a:t>
            </a:r>
            <a:r>
              <a:rPr lang="fr-FR" sz="3600" dirty="0">
                <a:latin typeface="Maiandra GD" pitchFamily="34" charset="0"/>
              </a:rPr>
              <a:t>.</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00192" y="4221088"/>
            <a:ext cx="1872208" cy="1742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3434750"/>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204864"/>
            <a:ext cx="8229600" cy="1728192"/>
          </a:xfrm>
        </p:spPr>
        <p:txBody>
          <a:bodyPr>
            <a:normAutofit/>
          </a:bodyPr>
          <a:lstStyle/>
          <a:p>
            <a:r>
              <a:rPr lang="fr-FR" sz="4800" dirty="0">
                <a:effectLst>
                  <a:outerShdw blurRad="38100" dist="38100" dir="2700000" algn="tl">
                    <a:srgbClr val="000000">
                      <a:alpha val="43137"/>
                    </a:srgbClr>
                  </a:outerShdw>
                </a:effectLst>
                <a:latin typeface="Maiandra GD" pitchFamily="34" charset="0"/>
              </a:rPr>
              <a:t>Structure de base d'une page HTML5</a:t>
            </a:r>
          </a:p>
        </p:txBody>
      </p:sp>
    </p:spTree>
    <p:extLst>
      <p:ext uri="{BB962C8B-B14F-4D97-AF65-F5344CB8AC3E}">
        <p14:creationId xmlns:p14="http://schemas.microsoft.com/office/powerpoint/2010/main" val="1292211480"/>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23528" y="332656"/>
            <a:ext cx="8568952" cy="6264696"/>
          </a:xfrm>
        </p:spPr>
        <p:txBody>
          <a:bodyPr>
            <a:normAutofit/>
          </a:bodyPr>
          <a:lstStyle/>
          <a:p>
            <a:pPr marL="0" indent="0" algn="just">
              <a:buNone/>
            </a:pPr>
            <a:r>
              <a:rPr lang="fr-FR" sz="3600" dirty="0">
                <a:latin typeface="Maiandra GD" pitchFamily="34" charset="0"/>
              </a:rPr>
              <a:t>Reprenons notre éditeur de texte (dans mon cas Notepad++). Je vous invite à </a:t>
            </a:r>
            <a:r>
              <a:rPr lang="fr-FR" sz="3600" dirty="0" smtClean="0">
                <a:latin typeface="Maiandra GD" pitchFamily="34" charset="0"/>
              </a:rPr>
              <a:t>écrire ou </a:t>
            </a:r>
            <a:r>
              <a:rPr lang="fr-FR" sz="3600" dirty="0">
                <a:latin typeface="Maiandra GD" pitchFamily="34" charset="0"/>
              </a:rPr>
              <a:t>à copier-coller le code source ci-dessous dans Notepad++. Ce code correspond à </a:t>
            </a:r>
            <a:r>
              <a:rPr lang="fr-FR" sz="3600" dirty="0" smtClean="0">
                <a:latin typeface="Maiandra GD" pitchFamily="34" charset="0"/>
              </a:rPr>
              <a:t>la base </a:t>
            </a:r>
            <a:r>
              <a:rPr lang="fr-FR" sz="3600" dirty="0">
                <a:latin typeface="Maiandra GD" pitchFamily="34" charset="0"/>
              </a:rPr>
              <a:t>d'une page web en HTML5 :</a:t>
            </a:r>
          </a:p>
        </p:txBody>
      </p:sp>
    </p:spTree>
    <p:extLst>
      <p:ext uri="{BB962C8B-B14F-4D97-AF65-F5344CB8AC3E}">
        <p14:creationId xmlns:p14="http://schemas.microsoft.com/office/powerpoint/2010/main" val="1920025461"/>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9512" y="404664"/>
            <a:ext cx="8712968" cy="6192688"/>
          </a:xfrm>
        </p:spPr>
        <p:txBody>
          <a:bodyPr>
            <a:normAutofit lnSpcReduction="10000"/>
          </a:bodyPr>
          <a:lstStyle/>
          <a:p>
            <a:pPr marL="0" indent="0">
              <a:buNone/>
            </a:pPr>
            <a:r>
              <a:rPr lang="fr-FR" dirty="0" smtClean="0">
                <a:latin typeface="Maiandra GD" pitchFamily="34" charset="0"/>
              </a:rPr>
              <a:t>1     &lt;! </a:t>
            </a:r>
            <a:r>
              <a:rPr lang="fr-FR" dirty="0">
                <a:solidFill>
                  <a:srgbClr val="92D050"/>
                </a:solidFill>
                <a:latin typeface="Maiandra GD" pitchFamily="34" charset="0"/>
              </a:rPr>
              <a:t>DOCTYPE </a:t>
            </a:r>
            <a:r>
              <a:rPr lang="fr-FR" dirty="0" smtClean="0">
                <a:solidFill>
                  <a:srgbClr val="92D050"/>
                </a:solidFill>
                <a:latin typeface="Maiandra GD" pitchFamily="34" charset="0"/>
              </a:rPr>
              <a:t>html</a:t>
            </a:r>
            <a:r>
              <a:rPr lang="fr-FR" dirty="0" smtClean="0">
                <a:latin typeface="Maiandra GD" pitchFamily="34" charset="0"/>
              </a:rPr>
              <a:t>&gt;</a:t>
            </a:r>
            <a:endParaRPr lang="fr-FR" dirty="0">
              <a:latin typeface="Maiandra GD" pitchFamily="34" charset="0"/>
            </a:endParaRPr>
          </a:p>
          <a:p>
            <a:pPr marL="0" indent="0">
              <a:buNone/>
            </a:pPr>
            <a:r>
              <a:rPr lang="fr-FR" dirty="0">
                <a:latin typeface="Maiandra GD" pitchFamily="34" charset="0"/>
              </a:rPr>
              <a:t>2 </a:t>
            </a:r>
            <a:r>
              <a:rPr lang="fr-FR" dirty="0" smtClean="0">
                <a:latin typeface="Maiandra GD" pitchFamily="34" charset="0"/>
              </a:rPr>
              <a:t>    &lt;</a:t>
            </a:r>
            <a:r>
              <a:rPr lang="fr-FR" dirty="0">
                <a:solidFill>
                  <a:srgbClr val="92D050"/>
                </a:solidFill>
                <a:latin typeface="Maiandra GD" pitchFamily="34" charset="0"/>
              </a:rPr>
              <a:t>html</a:t>
            </a:r>
            <a:r>
              <a:rPr lang="fr-FR" dirty="0" smtClean="0">
                <a:latin typeface="Maiandra GD" pitchFamily="34" charset="0"/>
              </a:rPr>
              <a:t>&gt;</a:t>
            </a:r>
            <a:endParaRPr lang="fr-FR" dirty="0">
              <a:latin typeface="Maiandra GD" pitchFamily="34" charset="0"/>
            </a:endParaRPr>
          </a:p>
          <a:p>
            <a:pPr marL="0" indent="0">
              <a:buNone/>
            </a:pPr>
            <a:r>
              <a:rPr lang="fr-FR" dirty="0">
                <a:latin typeface="Maiandra GD" pitchFamily="34" charset="0"/>
              </a:rPr>
              <a:t>3 </a:t>
            </a:r>
            <a:r>
              <a:rPr lang="fr-FR" dirty="0" smtClean="0">
                <a:latin typeface="Maiandra GD" pitchFamily="34" charset="0"/>
              </a:rPr>
              <a:t>            &lt;</a:t>
            </a:r>
            <a:r>
              <a:rPr lang="fr-FR" dirty="0">
                <a:solidFill>
                  <a:srgbClr val="92D050"/>
                </a:solidFill>
                <a:latin typeface="Maiandra GD" pitchFamily="34" charset="0"/>
              </a:rPr>
              <a:t>head</a:t>
            </a:r>
            <a:r>
              <a:rPr lang="fr-FR" dirty="0" smtClean="0">
                <a:latin typeface="Maiandra GD" pitchFamily="34" charset="0"/>
              </a:rPr>
              <a:t>&gt;</a:t>
            </a:r>
            <a:endParaRPr lang="fr-FR" dirty="0">
              <a:latin typeface="Maiandra GD" pitchFamily="34" charset="0"/>
            </a:endParaRPr>
          </a:p>
          <a:p>
            <a:pPr marL="0" indent="0">
              <a:buNone/>
            </a:pPr>
            <a:r>
              <a:rPr lang="sv-SE" dirty="0">
                <a:latin typeface="Maiandra GD" pitchFamily="34" charset="0"/>
              </a:rPr>
              <a:t>4 </a:t>
            </a:r>
            <a:r>
              <a:rPr lang="sv-SE" dirty="0" smtClean="0">
                <a:latin typeface="Maiandra GD" pitchFamily="34" charset="0"/>
              </a:rPr>
              <a:t>                    &lt;</a:t>
            </a:r>
            <a:r>
              <a:rPr lang="sv-SE" dirty="0">
                <a:solidFill>
                  <a:srgbClr val="92D050"/>
                </a:solidFill>
                <a:latin typeface="Maiandra GD" pitchFamily="34" charset="0"/>
              </a:rPr>
              <a:t>meta</a:t>
            </a:r>
            <a:r>
              <a:rPr lang="sv-SE" dirty="0">
                <a:latin typeface="Maiandra GD" pitchFamily="34" charset="0"/>
              </a:rPr>
              <a:t> </a:t>
            </a:r>
            <a:r>
              <a:rPr lang="sv-SE" dirty="0" smtClean="0">
                <a:solidFill>
                  <a:srgbClr val="92D050"/>
                </a:solidFill>
                <a:latin typeface="Maiandra GD" pitchFamily="34" charset="0"/>
              </a:rPr>
              <a:t>charset</a:t>
            </a:r>
            <a:r>
              <a:rPr lang="sv-SE" dirty="0" smtClean="0">
                <a:latin typeface="Maiandra GD" pitchFamily="34" charset="0"/>
              </a:rPr>
              <a:t>=</a:t>
            </a:r>
            <a:r>
              <a:rPr lang="sv-SE" dirty="0" smtClean="0">
                <a:solidFill>
                  <a:srgbClr val="FF0000"/>
                </a:solidFill>
                <a:latin typeface="Maiandra GD" pitchFamily="34" charset="0"/>
              </a:rPr>
              <a:t>"</a:t>
            </a:r>
            <a:r>
              <a:rPr lang="sv-SE" dirty="0">
                <a:solidFill>
                  <a:srgbClr val="FF0000"/>
                </a:solidFill>
                <a:latin typeface="Maiandra GD" pitchFamily="34" charset="0"/>
              </a:rPr>
              <a:t>utf -8</a:t>
            </a:r>
            <a:r>
              <a:rPr lang="sv-SE" dirty="0" smtClean="0">
                <a:solidFill>
                  <a:srgbClr val="FF0000"/>
                </a:solidFill>
                <a:latin typeface="Maiandra GD" pitchFamily="34" charset="0"/>
              </a:rPr>
              <a:t>"</a:t>
            </a:r>
            <a:r>
              <a:rPr lang="sv-SE" dirty="0" smtClean="0">
                <a:latin typeface="Maiandra GD" pitchFamily="34" charset="0"/>
              </a:rPr>
              <a:t>/&gt;</a:t>
            </a:r>
            <a:endParaRPr lang="sv-SE" dirty="0">
              <a:latin typeface="Maiandra GD" pitchFamily="34" charset="0"/>
            </a:endParaRPr>
          </a:p>
          <a:p>
            <a:pPr marL="0" indent="0">
              <a:buNone/>
            </a:pPr>
            <a:r>
              <a:rPr lang="fr-FR" dirty="0">
                <a:latin typeface="Maiandra GD" pitchFamily="34" charset="0"/>
              </a:rPr>
              <a:t>5 </a:t>
            </a:r>
            <a:r>
              <a:rPr lang="fr-FR" dirty="0" smtClean="0">
                <a:latin typeface="Maiandra GD" pitchFamily="34" charset="0"/>
              </a:rPr>
              <a:t>                    &lt;</a:t>
            </a:r>
            <a:r>
              <a:rPr lang="fr-FR" dirty="0">
                <a:solidFill>
                  <a:srgbClr val="92D050"/>
                </a:solidFill>
                <a:latin typeface="Maiandra GD" pitchFamily="34" charset="0"/>
              </a:rPr>
              <a:t>title</a:t>
            </a:r>
            <a:r>
              <a:rPr lang="fr-FR" dirty="0">
                <a:latin typeface="Maiandra GD" pitchFamily="34" charset="0"/>
              </a:rPr>
              <a:t>&gt;Titre</a:t>
            </a:r>
            <a:r>
              <a:rPr lang="fr-FR" dirty="0" smtClean="0">
                <a:latin typeface="Maiandra GD" pitchFamily="34" charset="0"/>
              </a:rPr>
              <a:t> &lt;/</a:t>
            </a:r>
            <a:r>
              <a:rPr lang="fr-FR" dirty="0" smtClean="0">
                <a:solidFill>
                  <a:srgbClr val="92D050"/>
                </a:solidFill>
                <a:latin typeface="Maiandra GD" pitchFamily="34" charset="0"/>
              </a:rPr>
              <a:t>title</a:t>
            </a:r>
            <a:r>
              <a:rPr lang="fr-FR" dirty="0" smtClean="0">
                <a:latin typeface="Maiandra GD" pitchFamily="34" charset="0"/>
              </a:rPr>
              <a:t>&gt;</a:t>
            </a:r>
            <a:endParaRPr lang="fr-FR" dirty="0">
              <a:latin typeface="Maiandra GD" pitchFamily="34" charset="0"/>
            </a:endParaRPr>
          </a:p>
          <a:p>
            <a:pPr marL="0" indent="0">
              <a:buNone/>
            </a:pPr>
            <a:r>
              <a:rPr lang="fr-FR" dirty="0" smtClean="0">
                <a:latin typeface="Maiandra GD" pitchFamily="34" charset="0"/>
              </a:rPr>
              <a:t>6             &lt;/</a:t>
            </a:r>
            <a:r>
              <a:rPr lang="fr-FR" dirty="0" smtClean="0">
                <a:solidFill>
                  <a:srgbClr val="92D050"/>
                </a:solidFill>
                <a:latin typeface="Maiandra GD" pitchFamily="34" charset="0"/>
              </a:rPr>
              <a:t>head</a:t>
            </a:r>
            <a:r>
              <a:rPr lang="fr-FR" dirty="0" smtClean="0">
                <a:latin typeface="Maiandra GD" pitchFamily="34" charset="0"/>
              </a:rPr>
              <a:t>&gt;</a:t>
            </a:r>
            <a:endParaRPr lang="fr-FR" dirty="0">
              <a:latin typeface="Maiandra GD" pitchFamily="34" charset="0"/>
            </a:endParaRPr>
          </a:p>
          <a:p>
            <a:pPr marL="0" indent="0">
              <a:buNone/>
            </a:pPr>
            <a:r>
              <a:rPr lang="fr-FR" dirty="0">
                <a:latin typeface="Maiandra GD" pitchFamily="34" charset="0"/>
              </a:rPr>
              <a:t>7</a:t>
            </a:r>
          </a:p>
          <a:p>
            <a:pPr marL="0" indent="0">
              <a:buNone/>
            </a:pPr>
            <a:r>
              <a:rPr lang="fr-FR" dirty="0">
                <a:latin typeface="Maiandra GD" pitchFamily="34" charset="0"/>
              </a:rPr>
              <a:t>8 </a:t>
            </a:r>
            <a:r>
              <a:rPr lang="fr-FR" dirty="0" smtClean="0">
                <a:latin typeface="Maiandra GD" pitchFamily="34" charset="0"/>
              </a:rPr>
              <a:t>            &lt;</a:t>
            </a:r>
            <a:r>
              <a:rPr lang="fr-FR" dirty="0" smtClean="0">
                <a:solidFill>
                  <a:srgbClr val="92D050"/>
                </a:solidFill>
                <a:latin typeface="Maiandra GD" pitchFamily="34" charset="0"/>
              </a:rPr>
              <a:t>body</a:t>
            </a:r>
            <a:r>
              <a:rPr lang="fr-FR" dirty="0" smtClean="0">
                <a:latin typeface="Maiandra GD" pitchFamily="34" charset="0"/>
              </a:rPr>
              <a:t>&gt;</a:t>
            </a:r>
            <a:endParaRPr lang="fr-FR" dirty="0">
              <a:latin typeface="Maiandra GD" pitchFamily="34" charset="0"/>
            </a:endParaRPr>
          </a:p>
          <a:p>
            <a:pPr marL="0" indent="0">
              <a:buNone/>
            </a:pPr>
            <a:r>
              <a:rPr lang="fr-FR" dirty="0">
                <a:latin typeface="Maiandra GD" pitchFamily="34" charset="0"/>
              </a:rPr>
              <a:t>9</a:t>
            </a:r>
          </a:p>
          <a:p>
            <a:pPr marL="0" indent="0">
              <a:buNone/>
            </a:pPr>
            <a:r>
              <a:rPr lang="fr-FR" dirty="0">
                <a:latin typeface="Maiandra GD" pitchFamily="34" charset="0"/>
              </a:rPr>
              <a:t>10 </a:t>
            </a:r>
            <a:r>
              <a:rPr lang="fr-FR" dirty="0" smtClean="0">
                <a:latin typeface="Maiandra GD" pitchFamily="34" charset="0"/>
              </a:rPr>
              <a:t>          &lt;/</a:t>
            </a:r>
            <a:r>
              <a:rPr lang="fr-FR" dirty="0" smtClean="0">
                <a:solidFill>
                  <a:srgbClr val="92D050"/>
                </a:solidFill>
                <a:latin typeface="Maiandra GD" pitchFamily="34" charset="0"/>
              </a:rPr>
              <a:t>body</a:t>
            </a:r>
            <a:r>
              <a:rPr lang="fr-FR" dirty="0" smtClean="0">
                <a:latin typeface="Maiandra GD" pitchFamily="34" charset="0"/>
              </a:rPr>
              <a:t>&gt;</a:t>
            </a:r>
            <a:endParaRPr lang="fr-FR" dirty="0">
              <a:latin typeface="Maiandra GD" pitchFamily="34" charset="0"/>
            </a:endParaRPr>
          </a:p>
          <a:p>
            <a:pPr marL="0" indent="0">
              <a:buNone/>
            </a:pPr>
            <a:r>
              <a:rPr lang="fr-FR" dirty="0">
                <a:latin typeface="Maiandra GD" pitchFamily="34" charset="0"/>
              </a:rPr>
              <a:t>11 </a:t>
            </a:r>
            <a:r>
              <a:rPr lang="fr-FR" dirty="0" smtClean="0">
                <a:latin typeface="Maiandra GD" pitchFamily="34" charset="0"/>
              </a:rPr>
              <a:t>    &lt;/</a:t>
            </a:r>
            <a:r>
              <a:rPr lang="fr-FR" dirty="0" smtClean="0">
                <a:solidFill>
                  <a:srgbClr val="92D050"/>
                </a:solidFill>
                <a:latin typeface="Maiandra GD" pitchFamily="34" charset="0"/>
              </a:rPr>
              <a:t>html</a:t>
            </a:r>
            <a:r>
              <a:rPr lang="fr-FR" dirty="0" smtClean="0">
                <a:latin typeface="Maiandra GD" pitchFamily="34" charset="0"/>
              </a:rPr>
              <a:t>&gt;</a:t>
            </a:r>
            <a:endParaRPr lang="fr-FR" dirty="0">
              <a:latin typeface="Maiandra GD" pitchFamily="34" charset="0"/>
            </a:endParaRPr>
          </a:p>
        </p:txBody>
      </p:sp>
      <p:cxnSp>
        <p:nvCxnSpPr>
          <p:cNvPr id="5" name="Connecteur droit 4"/>
          <p:cNvCxnSpPr/>
          <p:nvPr/>
        </p:nvCxnSpPr>
        <p:spPr>
          <a:xfrm>
            <a:off x="755576" y="332656"/>
            <a:ext cx="0" cy="5976664"/>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069939909"/>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404664"/>
            <a:ext cx="8640960" cy="6192688"/>
          </a:xfrm>
        </p:spPr>
        <p:txBody>
          <a:bodyPr>
            <a:normAutofit/>
          </a:bodyPr>
          <a:lstStyle/>
          <a:p>
            <a:pPr marL="0" indent="0" algn="just">
              <a:buNone/>
            </a:pPr>
            <a:r>
              <a:rPr lang="fr-FR" sz="3600" dirty="0">
                <a:latin typeface="Maiandra GD" pitchFamily="34" charset="0"/>
              </a:rPr>
              <a:t>Copié dans Notepad++, cela donne la </a:t>
            </a:r>
            <a:r>
              <a:rPr lang="fr-FR" sz="3600" dirty="0" smtClean="0">
                <a:latin typeface="Maiandra GD" pitchFamily="34" charset="0"/>
              </a:rPr>
              <a:t>figure ci</a:t>
            </a:r>
            <a:r>
              <a:rPr lang="fr-FR" sz="3600" dirty="0">
                <a:latin typeface="Maiandra GD" pitchFamily="34" charset="0"/>
              </a:rPr>
              <a:t>-</a:t>
            </a:r>
            <a:r>
              <a:rPr lang="fr-FR" sz="3600" dirty="0" smtClean="0">
                <a:latin typeface="Maiandra GD" pitchFamily="34" charset="0"/>
              </a:rPr>
              <a:t>sous Vous </a:t>
            </a:r>
            <a:r>
              <a:rPr lang="fr-FR" sz="3600" dirty="0">
                <a:latin typeface="Maiandra GD" pitchFamily="34" charset="0"/>
              </a:rPr>
              <a:t>noterez que les balises s'ouvrent et se ferment dans un ordre précis. Par </a:t>
            </a:r>
            <a:r>
              <a:rPr lang="fr-FR" sz="3600" dirty="0" smtClean="0">
                <a:latin typeface="Maiandra GD" pitchFamily="34" charset="0"/>
              </a:rPr>
              <a:t>exemple, la </a:t>
            </a:r>
            <a:r>
              <a:rPr lang="fr-FR" sz="3600" dirty="0">
                <a:latin typeface="Maiandra GD" pitchFamily="34" charset="0"/>
              </a:rPr>
              <a:t>balise &lt;html&gt; est la première que l'on ouvre et c'est aussi la dernière que l'on </a:t>
            </a:r>
            <a:r>
              <a:rPr lang="fr-FR" sz="3600" dirty="0" smtClean="0">
                <a:latin typeface="Maiandra GD" pitchFamily="34" charset="0"/>
              </a:rPr>
              <a:t>ferme (tout </a:t>
            </a:r>
            <a:r>
              <a:rPr lang="fr-FR" sz="3600" dirty="0">
                <a:latin typeface="Maiandra GD" pitchFamily="34" charset="0"/>
              </a:rPr>
              <a:t>à la </a:t>
            </a:r>
            <a:r>
              <a:rPr lang="fr-FR" sz="3600" dirty="0" smtClean="0">
                <a:latin typeface="Maiandra GD" pitchFamily="34" charset="0"/>
              </a:rPr>
              <a:t>fin </a:t>
            </a:r>
            <a:r>
              <a:rPr lang="fr-FR" sz="3600" dirty="0">
                <a:latin typeface="Maiandra GD" pitchFamily="34" charset="0"/>
              </a:rPr>
              <a:t>du code, avec &lt;/html</a:t>
            </a:r>
            <a:r>
              <a:rPr lang="fr-FR" sz="3600" dirty="0" smtClean="0">
                <a:latin typeface="Maiandra GD" pitchFamily="34" charset="0"/>
              </a:rPr>
              <a:t>&gt;).</a:t>
            </a:r>
          </a:p>
          <a:p>
            <a:pPr marL="0" indent="0" algn="just">
              <a:buNone/>
            </a:pPr>
            <a:r>
              <a:rPr lang="fr-FR" sz="3600" dirty="0" smtClean="0">
                <a:latin typeface="Maiandra GD" pitchFamily="34" charset="0"/>
              </a:rPr>
              <a:t>Les </a:t>
            </a:r>
            <a:r>
              <a:rPr lang="fr-FR" sz="3600" dirty="0">
                <a:latin typeface="Maiandra GD" pitchFamily="34" charset="0"/>
              </a:rPr>
              <a:t>balises doivent être fermées dans le </a:t>
            </a:r>
            <a:r>
              <a:rPr lang="fr-FR" sz="3600" dirty="0" smtClean="0">
                <a:latin typeface="Maiandra GD" pitchFamily="34" charset="0"/>
              </a:rPr>
              <a:t>sens inverse </a:t>
            </a:r>
            <a:r>
              <a:rPr lang="fr-FR" sz="3600" dirty="0">
                <a:latin typeface="Maiandra GD" pitchFamily="34" charset="0"/>
              </a:rPr>
              <a:t>de leur ouverture. </a:t>
            </a:r>
            <a:endParaRPr lang="fr-FR" sz="3600" dirty="0" smtClean="0">
              <a:latin typeface="Maiandra GD" pitchFamily="34" charset="0"/>
            </a:endParaRPr>
          </a:p>
        </p:txBody>
      </p:sp>
    </p:spTree>
    <p:extLst>
      <p:ext uri="{BB962C8B-B14F-4D97-AF65-F5344CB8AC3E}">
        <p14:creationId xmlns:p14="http://schemas.microsoft.com/office/powerpoint/2010/main" val="433578217"/>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72008" y="260648"/>
            <a:ext cx="8964488" cy="6336704"/>
          </a:xfrm>
        </p:spPr>
        <p:txBody>
          <a:bodyPr/>
          <a:lstStyle/>
          <a:p>
            <a:pPr marL="0" indent="0">
              <a:buNone/>
            </a:pPr>
            <a:endParaRPr lang="fr-FR" sz="2400" dirty="0" smtClean="0">
              <a:effectLst>
                <a:outerShdw blurRad="38100" dist="38100" dir="2700000" algn="tl">
                  <a:srgbClr val="000000">
                    <a:alpha val="43137"/>
                  </a:srgbClr>
                </a:outerShdw>
              </a:effectLst>
              <a:latin typeface="Maiandra GD" pitchFamily="34" charset="0"/>
            </a:endParaRPr>
          </a:p>
          <a:p>
            <a:pPr marL="0" indent="0">
              <a:buNone/>
            </a:pPr>
            <a:r>
              <a:rPr lang="fr-FR" sz="3600" dirty="0" smtClean="0">
                <a:effectLst>
                  <a:outerShdw blurRad="38100" dist="38100" dir="2700000" algn="tl">
                    <a:srgbClr val="000000">
                      <a:alpha val="43137"/>
                    </a:srgbClr>
                  </a:outerShdw>
                </a:effectLst>
                <a:latin typeface="Maiandra GD" pitchFamily="34" charset="0"/>
              </a:rPr>
              <a:t>Un </a:t>
            </a:r>
            <a:r>
              <a:rPr lang="fr-FR" sz="3600" dirty="0">
                <a:effectLst>
                  <a:outerShdw blurRad="38100" dist="38100" dir="2700000" algn="tl">
                    <a:srgbClr val="000000">
                      <a:alpha val="43137"/>
                    </a:srgbClr>
                  </a:outerShdw>
                </a:effectLst>
                <a:latin typeface="Maiandra GD" pitchFamily="34" charset="0"/>
              </a:rPr>
              <a:t>exemple </a:t>
            </a:r>
            <a:r>
              <a:rPr lang="fr-FR" sz="3600" dirty="0" smtClean="0">
                <a:effectLst>
                  <a:outerShdw blurRad="38100" dist="38100" dir="2700000" algn="tl">
                    <a:srgbClr val="000000">
                      <a:alpha val="43137"/>
                    </a:srgbClr>
                  </a:outerShdw>
                </a:effectLst>
                <a:latin typeface="Maiandra GD" pitchFamily="34" charset="0"/>
              </a:rPr>
              <a:t>:</a:t>
            </a:r>
          </a:p>
          <a:p>
            <a:pPr marL="0" indent="0">
              <a:buNone/>
            </a:pPr>
            <a:endParaRPr lang="fr-FR" dirty="0">
              <a:latin typeface="Maiandra GD" pitchFamily="34" charset="0"/>
            </a:endParaRPr>
          </a:p>
          <a:p>
            <a:pPr algn="just">
              <a:buFontTx/>
              <a:buChar char="-"/>
            </a:pPr>
            <a:r>
              <a:rPr lang="fr-FR" dirty="0" smtClean="0">
                <a:latin typeface="Maiandra GD" pitchFamily="34" charset="0"/>
              </a:rPr>
              <a:t>&lt;</a:t>
            </a:r>
            <a:r>
              <a:rPr lang="fr-FR" dirty="0">
                <a:latin typeface="Maiandra GD" pitchFamily="34" charset="0"/>
              </a:rPr>
              <a:t>html&gt;&lt;body&gt;&lt;/body&gt;&lt;/html</a:t>
            </a:r>
            <a:r>
              <a:rPr lang="fr-FR" dirty="0" smtClean="0">
                <a:latin typeface="Maiandra GD" pitchFamily="34" charset="0"/>
              </a:rPr>
              <a:t>&gt;: correct</a:t>
            </a:r>
            <a:r>
              <a:rPr lang="fr-FR" dirty="0">
                <a:latin typeface="Maiandra GD" pitchFamily="34" charset="0"/>
              </a:rPr>
              <a:t>. Une balise qui est ouverte à </a:t>
            </a:r>
            <a:r>
              <a:rPr lang="fr-FR" dirty="0" smtClean="0">
                <a:latin typeface="Maiandra GD" pitchFamily="34" charset="0"/>
              </a:rPr>
              <a:t>l'intérieur d'une </a:t>
            </a:r>
            <a:r>
              <a:rPr lang="fr-FR" dirty="0">
                <a:latin typeface="Maiandra GD" pitchFamily="34" charset="0"/>
              </a:rPr>
              <a:t>autre doit aussi être fermée à l'intérieur</a:t>
            </a:r>
            <a:r>
              <a:rPr lang="fr-FR" dirty="0" smtClean="0">
                <a:latin typeface="Maiandra GD" pitchFamily="34" charset="0"/>
              </a:rPr>
              <a:t>.</a:t>
            </a:r>
          </a:p>
          <a:p>
            <a:pPr marL="0" indent="0">
              <a:buNone/>
            </a:pPr>
            <a:endParaRPr lang="fr-FR" sz="2400" dirty="0">
              <a:latin typeface="Maiandra GD" pitchFamily="34" charset="0"/>
            </a:endParaRPr>
          </a:p>
          <a:p>
            <a:pPr algn="just">
              <a:buFontTx/>
              <a:buChar char="-"/>
            </a:pPr>
            <a:r>
              <a:rPr lang="fr-FR" dirty="0" smtClean="0">
                <a:latin typeface="Maiandra GD" pitchFamily="34" charset="0"/>
              </a:rPr>
              <a:t>&lt;</a:t>
            </a:r>
            <a:r>
              <a:rPr lang="fr-FR" dirty="0">
                <a:latin typeface="Maiandra GD" pitchFamily="34" charset="0"/>
              </a:rPr>
              <a:t>html&gt;&lt;body&gt;&lt;/html&gt;&lt;/</a:t>
            </a:r>
            <a:r>
              <a:rPr lang="fr-FR" dirty="0" smtClean="0">
                <a:latin typeface="Maiandra GD" pitchFamily="34" charset="0"/>
              </a:rPr>
              <a:t>body&gt;: incorrect</a:t>
            </a:r>
            <a:r>
              <a:rPr lang="fr-FR" dirty="0">
                <a:latin typeface="Maiandra GD" pitchFamily="34" charset="0"/>
              </a:rPr>
              <a:t>,</a:t>
            </a:r>
            <a:r>
              <a:rPr lang="fr-FR" sz="3600" dirty="0">
                <a:latin typeface="Maiandra GD" pitchFamily="34" charset="0"/>
              </a:rPr>
              <a:t> </a:t>
            </a:r>
            <a:r>
              <a:rPr lang="fr-FR" sz="3600" dirty="0" smtClean="0">
                <a:latin typeface="Maiandra GD" pitchFamily="34" charset="0"/>
              </a:rPr>
              <a:t>    </a:t>
            </a:r>
          </a:p>
          <a:p>
            <a:pPr marL="0" indent="0" algn="just">
              <a:buNone/>
            </a:pPr>
            <a:r>
              <a:rPr lang="fr-FR" dirty="0">
                <a:latin typeface="Maiandra GD" pitchFamily="34" charset="0"/>
              </a:rPr>
              <a:t> </a:t>
            </a:r>
            <a:r>
              <a:rPr lang="fr-FR" dirty="0" smtClean="0">
                <a:latin typeface="Maiandra GD" pitchFamily="34" charset="0"/>
              </a:rPr>
              <a:t>  les </a:t>
            </a:r>
            <a:r>
              <a:rPr lang="fr-FR" dirty="0">
                <a:latin typeface="Maiandra GD" pitchFamily="34" charset="0"/>
              </a:rPr>
              <a:t>balises s'entremêlent.</a:t>
            </a:r>
            <a:r>
              <a:rPr lang="fr-FR" sz="3600" dirty="0">
                <a:latin typeface="Maiandra GD" pitchFamily="34" charset="0"/>
              </a:rPr>
              <a:t>	</a:t>
            </a:r>
          </a:p>
          <a:p>
            <a:pPr marL="0" indent="0">
              <a:buNone/>
            </a:pPr>
            <a:endParaRPr lang="fr-FR" dirty="0"/>
          </a:p>
        </p:txBody>
      </p:sp>
    </p:spTree>
    <p:extLst>
      <p:ext uri="{BB962C8B-B14F-4D97-AF65-F5344CB8AC3E}">
        <p14:creationId xmlns:p14="http://schemas.microsoft.com/office/powerpoint/2010/main" val="1229414660"/>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5400" dirty="0">
                <a:effectLst>
                  <a:outerShdw blurRad="38100" dist="38100" dir="2700000" algn="tl">
                    <a:srgbClr val="000000">
                      <a:alpha val="43137"/>
                    </a:srgbClr>
                  </a:outerShdw>
                </a:effectLst>
              </a:rPr>
              <a:t>Le doctype</a:t>
            </a:r>
          </a:p>
        </p:txBody>
      </p:sp>
      <p:sp>
        <p:nvSpPr>
          <p:cNvPr id="3" name="Espace réservé du contenu 2"/>
          <p:cNvSpPr>
            <a:spLocks noGrp="1"/>
          </p:cNvSpPr>
          <p:nvPr>
            <p:ph idx="1"/>
          </p:nvPr>
        </p:nvSpPr>
        <p:spPr>
          <a:xfrm>
            <a:off x="251520" y="1268760"/>
            <a:ext cx="8712968" cy="5328592"/>
          </a:xfrm>
        </p:spPr>
        <p:txBody>
          <a:bodyPr>
            <a:normAutofit/>
          </a:bodyPr>
          <a:lstStyle/>
          <a:p>
            <a:pPr marL="0" indent="0">
              <a:buNone/>
            </a:pPr>
            <a:endParaRPr lang="fr-FR" sz="1400" dirty="0" smtClean="0"/>
          </a:p>
          <a:p>
            <a:pPr marL="514350" indent="-514350">
              <a:buAutoNum type="arabicPlain"/>
            </a:pPr>
            <a:r>
              <a:rPr lang="fr-FR" dirty="0" smtClean="0">
                <a:effectLst>
                  <a:outerShdw blurRad="38100" dist="38100" dir="2700000" algn="tl">
                    <a:srgbClr val="000000">
                      <a:alpha val="43137"/>
                    </a:srgbClr>
                  </a:outerShdw>
                </a:effectLst>
                <a:latin typeface="Maiandra GD" pitchFamily="34" charset="0"/>
              </a:rPr>
              <a:t>&lt;! </a:t>
            </a:r>
            <a:r>
              <a:rPr lang="fr-FR" dirty="0">
                <a:effectLst>
                  <a:outerShdw blurRad="38100" dist="38100" dir="2700000" algn="tl">
                    <a:srgbClr val="000000">
                      <a:alpha val="43137"/>
                    </a:srgbClr>
                  </a:outerShdw>
                </a:effectLst>
                <a:latin typeface="Maiandra GD" pitchFamily="34" charset="0"/>
              </a:rPr>
              <a:t>DOCTYPE html </a:t>
            </a:r>
            <a:r>
              <a:rPr lang="fr-FR" dirty="0" smtClean="0">
                <a:effectLst>
                  <a:outerShdw blurRad="38100" dist="38100" dir="2700000" algn="tl">
                    <a:srgbClr val="000000">
                      <a:alpha val="43137"/>
                    </a:srgbClr>
                  </a:outerShdw>
                </a:effectLst>
                <a:latin typeface="Maiandra GD" pitchFamily="34" charset="0"/>
              </a:rPr>
              <a:t>&gt;</a:t>
            </a:r>
          </a:p>
          <a:p>
            <a:pPr marL="0" indent="0">
              <a:buNone/>
            </a:pPr>
            <a:endParaRPr lang="fr-FR" sz="1800" dirty="0">
              <a:effectLst>
                <a:outerShdw blurRad="38100" dist="38100" dir="2700000" algn="tl">
                  <a:srgbClr val="000000">
                    <a:alpha val="43137"/>
                  </a:srgbClr>
                </a:outerShdw>
              </a:effectLst>
              <a:latin typeface="Maiandra GD" pitchFamily="34" charset="0"/>
            </a:endParaRPr>
          </a:p>
          <a:p>
            <a:pPr marL="0" indent="0" algn="just">
              <a:buNone/>
            </a:pPr>
            <a:r>
              <a:rPr lang="fr-FR" dirty="0">
                <a:latin typeface="Maiandra GD" pitchFamily="34" charset="0"/>
              </a:rPr>
              <a:t>La toute première ligne s'appelle le doctype. Elle est indispensable car c'est elle </a:t>
            </a:r>
            <a:r>
              <a:rPr lang="fr-FR" dirty="0" smtClean="0">
                <a:latin typeface="Maiandra GD" pitchFamily="34" charset="0"/>
              </a:rPr>
              <a:t>qui indique </a:t>
            </a:r>
            <a:r>
              <a:rPr lang="fr-FR" dirty="0">
                <a:latin typeface="Maiandra GD" pitchFamily="34" charset="0"/>
              </a:rPr>
              <a:t>qu'il s'agit bien </a:t>
            </a:r>
            <a:r>
              <a:rPr lang="fr-FR" dirty="0" smtClean="0">
                <a:latin typeface="Maiandra GD" pitchFamily="34" charset="0"/>
              </a:rPr>
              <a:t>d‘une </a:t>
            </a:r>
            <a:r>
              <a:rPr lang="fr-FR" dirty="0">
                <a:latin typeface="Maiandra GD" pitchFamily="34" charset="0"/>
              </a:rPr>
              <a:t>page web HTML. </a:t>
            </a:r>
            <a:endParaRPr lang="fr-FR" dirty="0" smtClean="0">
              <a:latin typeface="Maiandra GD" pitchFamily="34" charset="0"/>
            </a:endParaRPr>
          </a:p>
          <a:p>
            <a:pPr marL="0" indent="0" algn="just">
              <a:buNone/>
            </a:pPr>
            <a:r>
              <a:rPr lang="fr-FR" dirty="0" smtClean="0">
                <a:latin typeface="Maiandra GD" pitchFamily="34" charset="0"/>
              </a:rPr>
              <a:t>Ce </a:t>
            </a:r>
            <a:r>
              <a:rPr lang="fr-FR" dirty="0">
                <a:latin typeface="Maiandra GD" pitchFamily="34" charset="0"/>
              </a:rPr>
              <a:t>n'est pas vraiment une </a:t>
            </a:r>
            <a:r>
              <a:rPr lang="fr-FR" dirty="0" smtClean="0">
                <a:latin typeface="Maiandra GD" pitchFamily="34" charset="0"/>
              </a:rPr>
              <a:t>balise comme </a:t>
            </a:r>
            <a:r>
              <a:rPr lang="fr-FR" dirty="0">
                <a:latin typeface="Maiandra GD" pitchFamily="34" charset="0"/>
              </a:rPr>
              <a:t>les autres (elle commence par un point d'exclamation), vous pouvez </a:t>
            </a:r>
            <a:r>
              <a:rPr lang="fr-FR" dirty="0" smtClean="0">
                <a:latin typeface="Maiandra GD" pitchFamily="34" charset="0"/>
              </a:rPr>
              <a:t>considérer que </a:t>
            </a:r>
            <a:r>
              <a:rPr lang="fr-FR" dirty="0">
                <a:latin typeface="Maiandra GD" pitchFamily="34" charset="0"/>
              </a:rPr>
              <a:t>c'est un peu l'exception qui </a:t>
            </a:r>
            <a:r>
              <a:rPr lang="fr-FR" dirty="0" smtClean="0">
                <a:latin typeface="Maiandra GD" pitchFamily="34" charset="0"/>
              </a:rPr>
              <a:t>confirme </a:t>
            </a:r>
            <a:r>
              <a:rPr lang="fr-FR" dirty="0">
                <a:latin typeface="Maiandra GD" pitchFamily="34" charset="0"/>
              </a:rPr>
              <a:t>la règle.</a:t>
            </a:r>
            <a:endParaRPr lang="fr-FR" dirty="0">
              <a:effectLst>
                <a:outerShdw blurRad="38100" dist="38100" dir="2700000" algn="tl">
                  <a:srgbClr val="000000">
                    <a:alpha val="43137"/>
                  </a:srgbClr>
                </a:outerShdw>
              </a:effectLst>
              <a:latin typeface="Maiandra GD" pitchFamily="34" charset="0"/>
            </a:endParaRPr>
          </a:p>
        </p:txBody>
      </p:sp>
      <p:cxnSp>
        <p:nvCxnSpPr>
          <p:cNvPr id="5" name="Connecteur droit 4"/>
          <p:cNvCxnSpPr/>
          <p:nvPr/>
        </p:nvCxnSpPr>
        <p:spPr>
          <a:xfrm>
            <a:off x="611560" y="1196752"/>
            <a:ext cx="0" cy="144016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910124666"/>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116632"/>
            <a:ext cx="8892480" cy="6347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880610" y="6464594"/>
            <a:ext cx="5499702" cy="400110"/>
          </a:xfrm>
          <a:prstGeom prst="rect">
            <a:avLst/>
          </a:prstGeom>
        </p:spPr>
        <p:txBody>
          <a:bodyPr wrap="square">
            <a:spAutoFit/>
          </a:bodyPr>
          <a:lstStyle/>
          <a:p>
            <a:r>
              <a:rPr lang="fr-FR" sz="2000" dirty="0">
                <a:effectLst>
                  <a:outerShdw blurRad="38100" dist="38100" dir="2700000" algn="tl">
                    <a:srgbClr val="000000">
                      <a:alpha val="43137"/>
                    </a:srgbClr>
                  </a:outerShdw>
                </a:effectLst>
                <a:latin typeface="Maiandra GD" pitchFamily="34" charset="0"/>
              </a:rPr>
              <a:t>Code HTML5 minimal dans Notepad++</a:t>
            </a:r>
          </a:p>
        </p:txBody>
      </p:sp>
    </p:spTree>
    <p:extLst>
      <p:ext uri="{BB962C8B-B14F-4D97-AF65-F5344CB8AC3E}">
        <p14:creationId xmlns:p14="http://schemas.microsoft.com/office/powerpoint/2010/main" val="2390279074"/>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72008" y="116632"/>
            <a:ext cx="8964488" cy="6669360"/>
          </a:xfrm>
        </p:spPr>
        <p:txBody>
          <a:bodyPr>
            <a:normAutofit/>
          </a:bodyPr>
          <a:lstStyle/>
          <a:p>
            <a:pPr marL="0" indent="0" algn="just">
              <a:buNone/>
            </a:pPr>
            <a:r>
              <a:rPr lang="fr-FR" dirty="0">
                <a:latin typeface="Maiandra GD" pitchFamily="34" charset="0"/>
              </a:rPr>
              <a:t>Cette ligne du doctype était autrefois incroyablement complexe. Il </a:t>
            </a:r>
            <a:r>
              <a:rPr lang="fr-FR" dirty="0" smtClean="0">
                <a:latin typeface="Maiandra GD" pitchFamily="34" charset="0"/>
              </a:rPr>
              <a:t>était impossible </a:t>
            </a:r>
            <a:r>
              <a:rPr lang="fr-FR" dirty="0">
                <a:latin typeface="Maiandra GD" pitchFamily="34" charset="0"/>
              </a:rPr>
              <a:t>de la retenir de tête. </a:t>
            </a:r>
            <a:endParaRPr lang="fr-FR" dirty="0" smtClean="0">
              <a:latin typeface="Maiandra GD" pitchFamily="34" charset="0"/>
            </a:endParaRPr>
          </a:p>
          <a:p>
            <a:pPr marL="0" indent="0" algn="just">
              <a:buNone/>
            </a:pPr>
            <a:r>
              <a:rPr lang="fr-FR" dirty="0" smtClean="0">
                <a:latin typeface="Maiandra GD" pitchFamily="34" charset="0"/>
              </a:rPr>
              <a:t>Pour </a:t>
            </a:r>
            <a:r>
              <a:rPr lang="fr-FR" dirty="0">
                <a:latin typeface="Maiandra GD" pitchFamily="34" charset="0"/>
              </a:rPr>
              <a:t>XHTML 1.0, il fallait écrire </a:t>
            </a:r>
            <a:r>
              <a:rPr lang="fr-FR" dirty="0" smtClean="0">
                <a:latin typeface="Maiandra GD" pitchFamily="34" charset="0"/>
              </a:rPr>
              <a:t>:</a:t>
            </a:r>
          </a:p>
          <a:p>
            <a:pPr marL="0" indent="0" algn="just">
              <a:buNone/>
            </a:pPr>
            <a:endParaRPr lang="fr-FR" sz="1400" dirty="0">
              <a:latin typeface="Maiandra GD" pitchFamily="34" charset="0"/>
            </a:endParaRPr>
          </a:p>
          <a:p>
            <a:pPr marL="0" indent="0">
              <a:buNone/>
            </a:pPr>
            <a:r>
              <a:rPr lang="fr-FR" sz="2400" dirty="0">
                <a:latin typeface="Maiandra GD" pitchFamily="34" charset="0"/>
              </a:rPr>
              <a:t>&lt;!DOCTYPE html PUBLIC </a:t>
            </a:r>
            <a:r>
              <a:rPr lang="fr-FR" sz="2400" dirty="0" smtClean="0">
                <a:latin typeface="Maiandra GD" pitchFamily="34" charset="0"/>
              </a:rPr>
              <a:t>"//</a:t>
            </a:r>
            <a:r>
              <a:rPr lang="fr-FR" sz="2400" dirty="0">
                <a:latin typeface="Maiandra GD" pitchFamily="34" charset="0"/>
              </a:rPr>
              <a:t>W3C//</a:t>
            </a:r>
            <a:r>
              <a:rPr lang="fr-FR" sz="2400" dirty="0" smtClean="0">
                <a:latin typeface="Maiandra GD" pitchFamily="34" charset="0"/>
              </a:rPr>
              <a:t>DTD  XHTML 1.0 Strict//EN</a:t>
            </a:r>
            <a:r>
              <a:rPr lang="fr-FR" sz="2400" dirty="0">
                <a:latin typeface="Maiandra GD" pitchFamily="34" charset="0"/>
              </a:rPr>
              <a:t>"</a:t>
            </a:r>
            <a:r>
              <a:rPr lang="fr-FR" sz="2400" dirty="0" smtClean="0">
                <a:latin typeface="Maiandra GD" pitchFamily="34" charset="0"/>
              </a:rPr>
              <a:t>    "</a:t>
            </a:r>
            <a:r>
              <a:rPr lang="fr-FR" sz="2400" dirty="0">
                <a:latin typeface="Maiandra GD" pitchFamily="34" charset="0"/>
              </a:rPr>
              <a:t>http://www.w3.org/TR/xhtml1/DTD/xhtml1-strict.dtd"&gt;. </a:t>
            </a:r>
            <a:endParaRPr lang="fr-FR" sz="2400" dirty="0" smtClean="0">
              <a:latin typeface="Maiandra GD" pitchFamily="34" charset="0"/>
            </a:endParaRPr>
          </a:p>
          <a:p>
            <a:pPr marL="0" indent="0">
              <a:buNone/>
            </a:pPr>
            <a:endParaRPr lang="fr-FR" sz="1400" dirty="0" smtClean="0">
              <a:latin typeface="Maiandra GD" pitchFamily="34" charset="0"/>
            </a:endParaRPr>
          </a:p>
          <a:p>
            <a:pPr marL="0" indent="0" algn="just">
              <a:buNone/>
            </a:pPr>
            <a:r>
              <a:rPr lang="fr-FR" dirty="0" smtClean="0">
                <a:latin typeface="Maiandra GD" pitchFamily="34" charset="0"/>
              </a:rPr>
              <a:t>Dans le cadre </a:t>
            </a:r>
            <a:r>
              <a:rPr lang="fr-FR" dirty="0">
                <a:latin typeface="Maiandra GD" pitchFamily="34" charset="0"/>
              </a:rPr>
              <a:t>de HTML5, il a été décidé de la </a:t>
            </a:r>
            <a:r>
              <a:rPr lang="fr-FR" dirty="0" smtClean="0">
                <a:latin typeface="Maiandra GD" pitchFamily="34" charset="0"/>
              </a:rPr>
              <a:t>simplifier</a:t>
            </a:r>
            <a:r>
              <a:rPr lang="fr-FR" dirty="0">
                <a:latin typeface="Maiandra GD" pitchFamily="34" charset="0"/>
              </a:rPr>
              <a:t>, pour le plus grand </a:t>
            </a:r>
            <a:r>
              <a:rPr lang="fr-FR" dirty="0" smtClean="0">
                <a:latin typeface="Maiandra GD" pitchFamily="34" charset="0"/>
              </a:rPr>
              <a:t>bonheur des </a:t>
            </a:r>
            <a:r>
              <a:rPr lang="fr-FR" dirty="0">
                <a:latin typeface="Maiandra GD" pitchFamily="34" charset="0"/>
              </a:rPr>
              <a:t>webmasters. Quand vous voyez une balise doctype courte (&lt;!</a:t>
            </a:r>
            <a:r>
              <a:rPr lang="fr-FR" dirty="0" smtClean="0">
                <a:latin typeface="Maiandra GD" pitchFamily="34" charset="0"/>
              </a:rPr>
              <a:t>DOCTYPE html</a:t>
            </a:r>
            <a:r>
              <a:rPr lang="fr-FR" dirty="0">
                <a:latin typeface="Maiandra GD" pitchFamily="34" charset="0"/>
              </a:rPr>
              <a:t>&gt;), cela </a:t>
            </a:r>
            <a:r>
              <a:rPr lang="fr-FR" dirty="0" smtClean="0">
                <a:latin typeface="Maiandra GD" pitchFamily="34" charset="0"/>
              </a:rPr>
              <a:t>signifie </a:t>
            </a:r>
            <a:r>
              <a:rPr lang="fr-FR" dirty="0">
                <a:latin typeface="Maiandra GD" pitchFamily="34" charset="0"/>
              </a:rPr>
              <a:t>que la page est écrite en HTML5</a:t>
            </a:r>
            <a:r>
              <a:rPr lang="fr-FR" dirty="0" smtClean="0">
                <a:latin typeface="Maiandra GD" pitchFamily="34" charset="0"/>
              </a:rPr>
              <a:t>. </a:t>
            </a:r>
            <a:endParaRPr lang="fr-FR" dirty="0">
              <a:latin typeface="Maiandra GD" pitchFamily="34" charset="0"/>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40352" y="5877272"/>
            <a:ext cx="979165" cy="763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84976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randombar(horizontal)">
                                      <p:cBhvr>
                                        <p:cTn id="25" dur="500"/>
                                        <p:tgtEl>
                                          <p:spTgt spid="3">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6" presetClass="entr" presetSubtype="0" fill="hold"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Effect transition="in" filter="wipe(down)">
                                      <p:cBhvr>
                                        <p:cTn id="30" dur="580">
                                          <p:stCondLst>
                                            <p:cond delay="0"/>
                                          </p:stCondLst>
                                        </p:cTn>
                                        <p:tgtEl>
                                          <p:spTgt spid="3">
                                            <p:txEl>
                                              <p:pRg st="3" end="3"/>
                                            </p:txEl>
                                          </p:spTgt>
                                        </p:tgtEl>
                                      </p:cBhvr>
                                    </p:animEffect>
                                    <p:anim calcmode="lin" valueType="num">
                                      <p:cBhvr>
                                        <p:cTn id="31"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32"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33"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34"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35"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36" dur="26">
                                          <p:stCondLst>
                                            <p:cond delay="650"/>
                                          </p:stCondLst>
                                        </p:cTn>
                                        <p:tgtEl>
                                          <p:spTgt spid="3">
                                            <p:txEl>
                                              <p:pRg st="3" end="3"/>
                                            </p:txEl>
                                          </p:spTgt>
                                        </p:tgtEl>
                                      </p:cBhvr>
                                      <p:to x="100000" y="60000"/>
                                    </p:animScale>
                                    <p:animScale>
                                      <p:cBhvr>
                                        <p:cTn id="37" dur="166" decel="50000">
                                          <p:stCondLst>
                                            <p:cond delay="676"/>
                                          </p:stCondLst>
                                        </p:cTn>
                                        <p:tgtEl>
                                          <p:spTgt spid="3">
                                            <p:txEl>
                                              <p:pRg st="3" end="3"/>
                                            </p:txEl>
                                          </p:spTgt>
                                        </p:tgtEl>
                                      </p:cBhvr>
                                      <p:to x="100000" y="100000"/>
                                    </p:animScale>
                                    <p:animScale>
                                      <p:cBhvr>
                                        <p:cTn id="38" dur="26">
                                          <p:stCondLst>
                                            <p:cond delay="1312"/>
                                          </p:stCondLst>
                                        </p:cTn>
                                        <p:tgtEl>
                                          <p:spTgt spid="3">
                                            <p:txEl>
                                              <p:pRg st="3" end="3"/>
                                            </p:txEl>
                                          </p:spTgt>
                                        </p:tgtEl>
                                      </p:cBhvr>
                                      <p:to x="100000" y="80000"/>
                                    </p:animScale>
                                    <p:animScale>
                                      <p:cBhvr>
                                        <p:cTn id="39" dur="166" decel="50000">
                                          <p:stCondLst>
                                            <p:cond delay="1338"/>
                                          </p:stCondLst>
                                        </p:cTn>
                                        <p:tgtEl>
                                          <p:spTgt spid="3">
                                            <p:txEl>
                                              <p:pRg st="3" end="3"/>
                                            </p:txEl>
                                          </p:spTgt>
                                        </p:tgtEl>
                                      </p:cBhvr>
                                      <p:to x="100000" y="100000"/>
                                    </p:animScale>
                                    <p:animScale>
                                      <p:cBhvr>
                                        <p:cTn id="40" dur="26">
                                          <p:stCondLst>
                                            <p:cond delay="1642"/>
                                          </p:stCondLst>
                                        </p:cTn>
                                        <p:tgtEl>
                                          <p:spTgt spid="3">
                                            <p:txEl>
                                              <p:pRg st="3" end="3"/>
                                            </p:txEl>
                                          </p:spTgt>
                                        </p:tgtEl>
                                      </p:cBhvr>
                                      <p:to x="100000" y="90000"/>
                                    </p:animScale>
                                    <p:animScale>
                                      <p:cBhvr>
                                        <p:cTn id="41" dur="166" decel="50000">
                                          <p:stCondLst>
                                            <p:cond delay="1668"/>
                                          </p:stCondLst>
                                        </p:cTn>
                                        <p:tgtEl>
                                          <p:spTgt spid="3">
                                            <p:txEl>
                                              <p:pRg st="3" end="3"/>
                                            </p:txEl>
                                          </p:spTgt>
                                        </p:tgtEl>
                                      </p:cBhvr>
                                      <p:to x="100000" y="100000"/>
                                    </p:animScale>
                                    <p:animScale>
                                      <p:cBhvr>
                                        <p:cTn id="42" dur="26">
                                          <p:stCondLst>
                                            <p:cond delay="1808"/>
                                          </p:stCondLst>
                                        </p:cTn>
                                        <p:tgtEl>
                                          <p:spTgt spid="3">
                                            <p:txEl>
                                              <p:pRg st="3" end="3"/>
                                            </p:txEl>
                                          </p:spTgt>
                                        </p:tgtEl>
                                      </p:cBhvr>
                                      <p:to x="100000" y="95000"/>
                                    </p:animScale>
                                    <p:animScale>
                                      <p:cBhvr>
                                        <p:cTn id="43" dur="166" decel="50000">
                                          <p:stCondLst>
                                            <p:cond delay="1834"/>
                                          </p:stCondLst>
                                        </p:cTn>
                                        <p:tgtEl>
                                          <p:spTgt spid="3">
                                            <p:txEl>
                                              <p:pRg st="3" end="3"/>
                                            </p:txEl>
                                          </p:spTgt>
                                        </p:tgtEl>
                                      </p:cBhvr>
                                      <p:to x="100000" y="100000"/>
                                    </p:animScale>
                                  </p:childTnLst>
                                </p:cTn>
                              </p:par>
                            </p:childTnLst>
                          </p:cTn>
                        </p:par>
                      </p:childTnLst>
                    </p:cTn>
                  </p:par>
                  <p:par>
                    <p:cTn id="44" fill="hold">
                      <p:stCondLst>
                        <p:cond delay="indefinite"/>
                      </p:stCondLst>
                      <p:childTnLst>
                        <p:par>
                          <p:cTn id="45" fill="hold">
                            <p:stCondLst>
                              <p:cond delay="0"/>
                            </p:stCondLst>
                            <p:childTnLst>
                              <p:par>
                                <p:cTn id="46" presetID="31" presetClass="entr" presetSubtype="0" fill="hold" nodeType="clickEffect">
                                  <p:stCondLst>
                                    <p:cond delay="0"/>
                                  </p:stCondLst>
                                  <p:childTnLst>
                                    <p:set>
                                      <p:cBhvr>
                                        <p:cTn id="47" dur="1" fill="hold">
                                          <p:stCondLst>
                                            <p:cond delay="0"/>
                                          </p:stCondLst>
                                        </p:cTn>
                                        <p:tgtEl>
                                          <p:spTgt spid="3">
                                            <p:txEl>
                                              <p:pRg st="5" end="5"/>
                                            </p:txEl>
                                          </p:spTgt>
                                        </p:tgtEl>
                                        <p:attrNameLst>
                                          <p:attrName>style.visibility</p:attrName>
                                        </p:attrNameLst>
                                      </p:cBhvr>
                                      <p:to>
                                        <p:strVal val="visible"/>
                                      </p:to>
                                    </p:set>
                                    <p:anim calcmode="lin" valueType="num">
                                      <p:cBhvr>
                                        <p:cTn id="48" dur="1000" fill="hold"/>
                                        <p:tgtEl>
                                          <p:spTgt spid="3">
                                            <p:txEl>
                                              <p:pRg st="5" end="5"/>
                                            </p:txEl>
                                          </p:spTgt>
                                        </p:tgtEl>
                                        <p:attrNameLst>
                                          <p:attrName>ppt_w</p:attrName>
                                        </p:attrNameLst>
                                      </p:cBhvr>
                                      <p:tavLst>
                                        <p:tav tm="0">
                                          <p:val>
                                            <p:fltVal val="0"/>
                                          </p:val>
                                        </p:tav>
                                        <p:tav tm="100000">
                                          <p:val>
                                            <p:strVal val="#ppt_w"/>
                                          </p:val>
                                        </p:tav>
                                      </p:tavLst>
                                    </p:anim>
                                    <p:anim calcmode="lin" valueType="num">
                                      <p:cBhvr>
                                        <p:cTn id="49" dur="1000" fill="hold"/>
                                        <p:tgtEl>
                                          <p:spTgt spid="3">
                                            <p:txEl>
                                              <p:pRg st="5" end="5"/>
                                            </p:txEl>
                                          </p:spTgt>
                                        </p:tgtEl>
                                        <p:attrNameLst>
                                          <p:attrName>ppt_h</p:attrName>
                                        </p:attrNameLst>
                                      </p:cBhvr>
                                      <p:tavLst>
                                        <p:tav tm="0">
                                          <p:val>
                                            <p:fltVal val="0"/>
                                          </p:val>
                                        </p:tav>
                                        <p:tav tm="100000">
                                          <p:val>
                                            <p:strVal val="#ppt_h"/>
                                          </p:val>
                                        </p:tav>
                                      </p:tavLst>
                                    </p:anim>
                                    <p:anim calcmode="lin" valueType="num">
                                      <p:cBhvr>
                                        <p:cTn id="50" dur="1000" fill="hold"/>
                                        <p:tgtEl>
                                          <p:spTgt spid="3">
                                            <p:txEl>
                                              <p:pRg st="5" end="5"/>
                                            </p:txEl>
                                          </p:spTgt>
                                        </p:tgtEl>
                                        <p:attrNameLst>
                                          <p:attrName>style.rotation</p:attrName>
                                        </p:attrNameLst>
                                      </p:cBhvr>
                                      <p:tavLst>
                                        <p:tav tm="0">
                                          <p:val>
                                            <p:fltVal val="90"/>
                                          </p:val>
                                        </p:tav>
                                        <p:tav tm="100000">
                                          <p:val>
                                            <p:fltVal val="0"/>
                                          </p:val>
                                        </p:tav>
                                      </p:tavLst>
                                    </p:anim>
                                    <p:animEffect transition="in" filter="fade">
                                      <p:cBhvr>
                                        <p:cTn id="51" dur="1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994122"/>
          </a:xfrm>
        </p:spPr>
        <p:txBody>
          <a:bodyPr>
            <a:normAutofit/>
          </a:bodyPr>
          <a:lstStyle/>
          <a:p>
            <a:r>
              <a:rPr lang="fr-FR" sz="4800" dirty="0">
                <a:effectLst>
                  <a:outerShdw blurRad="38100" dist="38100" dir="2700000" algn="tl">
                    <a:srgbClr val="000000">
                      <a:alpha val="43137"/>
                    </a:srgbClr>
                  </a:outerShdw>
                </a:effectLst>
                <a:latin typeface="Maiandra GD" pitchFamily="34" charset="0"/>
              </a:rPr>
              <a:t>La balise &lt;/html&gt;</a:t>
            </a:r>
          </a:p>
        </p:txBody>
      </p:sp>
      <p:sp>
        <p:nvSpPr>
          <p:cNvPr id="3" name="Espace réservé du contenu 2"/>
          <p:cNvSpPr>
            <a:spLocks noGrp="1"/>
          </p:cNvSpPr>
          <p:nvPr>
            <p:ph idx="1"/>
          </p:nvPr>
        </p:nvSpPr>
        <p:spPr>
          <a:xfrm>
            <a:off x="179512" y="1196752"/>
            <a:ext cx="8712968" cy="5472608"/>
          </a:xfrm>
        </p:spPr>
        <p:txBody>
          <a:bodyPr/>
          <a:lstStyle/>
          <a:p>
            <a:pPr marL="0" indent="0">
              <a:buNone/>
            </a:pPr>
            <a:endParaRPr lang="fr-FR" dirty="0" smtClean="0">
              <a:latin typeface="Maiandra GD" pitchFamily="34" charset="0"/>
            </a:endParaRPr>
          </a:p>
          <a:p>
            <a:pPr marL="0" indent="0">
              <a:buNone/>
            </a:pPr>
            <a:r>
              <a:rPr lang="fr-FR" dirty="0" smtClean="0">
                <a:latin typeface="Maiandra GD" pitchFamily="34" charset="0"/>
              </a:rPr>
              <a:t>1     &lt;</a:t>
            </a:r>
            <a:r>
              <a:rPr lang="fr-FR" dirty="0">
                <a:latin typeface="Maiandra GD" pitchFamily="34" charset="0"/>
              </a:rPr>
              <a:t>html &gt;</a:t>
            </a:r>
          </a:p>
          <a:p>
            <a:pPr marL="0" indent="0">
              <a:buNone/>
            </a:pPr>
            <a:r>
              <a:rPr lang="fr-FR" dirty="0">
                <a:latin typeface="Maiandra GD" pitchFamily="34" charset="0"/>
              </a:rPr>
              <a:t>2</a:t>
            </a:r>
          </a:p>
          <a:p>
            <a:pPr marL="514350" indent="-514350">
              <a:buAutoNum type="arabicPlain" startAt="3"/>
            </a:pPr>
            <a:r>
              <a:rPr lang="fr-FR" dirty="0" smtClean="0">
                <a:latin typeface="Maiandra GD" pitchFamily="34" charset="0"/>
              </a:rPr>
              <a:t>  &lt;/ </a:t>
            </a:r>
            <a:r>
              <a:rPr lang="fr-FR" dirty="0">
                <a:latin typeface="Maiandra GD" pitchFamily="34" charset="0"/>
              </a:rPr>
              <a:t>html </a:t>
            </a:r>
            <a:r>
              <a:rPr lang="fr-FR" dirty="0" smtClean="0">
                <a:latin typeface="Maiandra GD" pitchFamily="34" charset="0"/>
              </a:rPr>
              <a:t>&gt;</a:t>
            </a:r>
          </a:p>
          <a:p>
            <a:pPr marL="0" indent="0">
              <a:buNone/>
            </a:pPr>
            <a:endParaRPr lang="fr-FR" dirty="0">
              <a:latin typeface="Maiandra GD" pitchFamily="34" charset="0"/>
            </a:endParaRPr>
          </a:p>
          <a:p>
            <a:pPr marL="0" indent="0" algn="just">
              <a:buNone/>
            </a:pPr>
            <a:r>
              <a:rPr lang="fr-FR" dirty="0">
                <a:latin typeface="Maiandra GD" pitchFamily="34" charset="0"/>
              </a:rPr>
              <a:t>C'est la balise principale du code. Elle englobe tout le contenu de votre page. </a:t>
            </a:r>
            <a:r>
              <a:rPr lang="fr-FR" dirty="0" smtClean="0">
                <a:latin typeface="Maiandra GD" pitchFamily="34" charset="0"/>
              </a:rPr>
              <a:t>Comme vous </a:t>
            </a:r>
            <a:r>
              <a:rPr lang="fr-FR" dirty="0">
                <a:latin typeface="Maiandra GD" pitchFamily="34" charset="0"/>
              </a:rPr>
              <a:t>pouvez le voir, la balise fermante &lt;/html&gt; se trouve tout à la </a:t>
            </a:r>
            <a:r>
              <a:rPr lang="fr-FR" dirty="0" smtClean="0">
                <a:latin typeface="Maiandra GD" pitchFamily="34" charset="0"/>
              </a:rPr>
              <a:t>fin </a:t>
            </a:r>
            <a:r>
              <a:rPr lang="fr-FR" dirty="0">
                <a:latin typeface="Maiandra GD" pitchFamily="34" charset="0"/>
              </a:rPr>
              <a:t>du code !</a:t>
            </a:r>
          </a:p>
        </p:txBody>
      </p:sp>
      <p:cxnSp>
        <p:nvCxnSpPr>
          <p:cNvPr id="4" name="Connecteur droit 3"/>
          <p:cNvCxnSpPr/>
          <p:nvPr/>
        </p:nvCxnSpPr>
        <p:spPr>
          <a:xfrm>
            <a:off x="755576" y="1772816"/>
            <a:ext cx="0" cy="1872208"/>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0531413"/>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9512" y="44624"/>
            <a:ext cx="8712968" cy="1143000"/>
          </a:xfrm>
        </p:spPr>
        <p:txBody>
          <a:bodyPr>
            <a:normAutofit fontScale="90000"/>
          </a:bodyPr>
          <a:lstStyle/>
          <a:p>
            <a:r>
              <a:rPr lang="fr-FR" dirty="0">
                <a:effectLst>
                  <a:outerShdw blurRad="38100" dist="38100" dir="2700000" algn="tl">
                    <a:srgbClr val="000000">
                      <a:alpha val="43137"/>
                    </a:srgbClr>
                  </a:outerShdw>
                </a:effectLst>
                <a:latin typeface="Maiandra GD" pitchFamily="34" charset="0"/>
              </a:rPr>
              <a:t>L'en-tête &lt;head&gt; et le corps &lt;body&gt;</a:t>
            </a:r>
          </a:p>
        </p:txBody>
      </p:sp>
      <p:sp>
        <p:nvSpPr>
          <p:cNvPr id="3" name="Espace réservé du contenu 2"/>
          <p:cNvSpPr>
            <a:spLocks noGrp="1"/>
          </p:cNvSpPr>
          <p:nvPr>
            <p:ph idx="1"/>
          </p:nvPr>
        </p:nvSpPr>
        <p:spPr>
          <a:xfrm>
            <a:off x="179512" y="1124744"/>
            <a:ext cx="8784976" cy="5544616"/>
          </a:xfrm>
        </p:spPr>
        <p:txBody>
          <a:bodyPr>
            <a:normAutofit lnSpcReduction="10000"/>
          </a:bodyPr>
          <a:lstStyle/>
          <a:p>
            <a:pPr marL="0" indent="0" algn="just">
              <a:buNone/>
            </a:pPr>
            <a:r>
              <a:rPr lang="fr-FR" dirty="0">
                <a:latin typeface="Maiandra GD" pitchFamily="34" charset="0"/>
              </a:rPr>
              <a:t>Une page web est constituée de deux parties :</a:t>
            </a:r>
          </a:p>
          <a:p>
            <a:pPr marL="0" indent="0" algn="just">
              <a:buNone/>
            </a:pPr>
            <a:r>
              <a:rPr lang="fr-FR" dirty="0" smtClean="0">
                <a:latin typeface="Maiandra GD" pitchFamily="34" charset="0"/>
              </a:rPr>
              <a:t>- L'en-tête </a:t>
            </a:r>
            <a:r>
              <a:rPr lang="fr-FR" dirty="0">
                <a:latin typeface="Maiandra GD" pitchFamily="34" charset="0"/>
              </a:rPr>
              <a:t>&lt;head&gt; : cette section donne quelques informations générales sur la </a:t>
            </a:r>
            <a:r>
              <a:rPr lang="fr-FR" dirty="0" smtClean="0">
                <a:latin typeface="Maiandra GD" pitchFamily="34" charset="0"/>
              </a:rPr>
              <a:t>page comme </a:t>
            </a:r>
            <a:r>
              <a:rPr lang="fr-FR" dirty="0">
                <a:latin typeface="Maiandra GD" pitchFamily="34" charset="0"/>
              </a:rPr>
              <a:t>son titre, l'encodage (pour la gestion des caractères spéciaux), etc</a:t>
            </a:r>
            <a:r>
              <a:rPr lang="fr-FR" dirty="0" smtClean="0">
                <a:latin typeface="Maiandra GD" pitchFamily="34" charset="0"/>
              </a:rPr>
              <a:t>. </a:t>
            </a:r>
          </a:p>
          <a:p>
            <a:pPr marL="0" indent="0" algn="just">
              <a:buNone/>
            </a:pPr>
            <a:r>
              <a:rPr lang="fr-FR" dirty="0" smtClean="0">
                <a:latin typeface="Maiandra GD" pitchFamily="34" charset="0"/>
              </a:rPr>
              <a:t>Cette section </a:t>
            </a:r>
            <a:r>
              <a:rPr lang="fr-FR" dirty="0">
                <a:latin typeface="Maiandra GD" pitchFamily="34" charset="0"/>
              </a:rPr>
              <a:t>est généralement assez courte. Les informations que contient l'en-tête ne </a:t>
            </a:r>
            <a:r>
              <a:rPr lang="fr-FR" dirty="0" smtClean="0">
                <a:latin typeface="Maiandra GD" pitchFamily="34" charset="0"/>
              </a:rPr>
              <a:t>sont pas affichées </a:t>
            </a:r>
            <a:r>
              <a:rPr lang="fr-FR" dirty="0">
                <a:latin typeface="Maiandra GD" pitchFamily="34" charset="0"/>
              </a:rPr>
              <a:t>sur la page, ce sont simplement des informations générales à </a:t>
            </a:r>
            <a:r>
              <a:rPr lang="fr-FR" dirty="0" smtClean="0">
                <a:latin typeface="Maiandra GD" pitchFamily="34" charset="0"/>
              </a:rPr>
              <a:t>destination de </a:t>
            </a:r>
            <a:r>
              <a:rPr lang="fr-FR" dirty="0">
                <a:latin typeface="Maiandra GD" pitchFamily="34" charset="0"/>
              </a:rPr>
              <a:t>l'ordinateur. Elles sont cependant très importantes !</a:t>
            </a:r>
          </a:p>
        </p:txBody>
      </p:sp>
    </p:spTree>
    <p:extLst>
      <p:ext uri="{BB962C8B-B14F-4D97-AF65-F5344CB8AC3E}">
        <p14:creationId xmlns:p14="http://schemas.microsoft.com/office/powerpoint/2010/main" val="699255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barn(inVertical)">
                                      <p:cBhvr>
                                        <p:cTn id="25" dur="500"/>
                                        <p:tgtEl>
                                          <p:spTgt spid="3">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nodeType="clickEffect">
                                  <p:stCondLst>
                                    <p:cond delay="0"/>
                                  </p:stCondLst>
                                  <p:childTnLst>
                                    <p:set>
                                      <p:cBhvr>
                                        <p:cTn id="29" dur="1" fill="hold">
                                          <p:stCondLst>
                                            <p:cond delay="0"/>
                                          </p:stCondLst>
                                        </p:cTn>
                                        <p:tgtEl>
                                          <p:spTgt spid="3">
                                            <p:txEl>
                                              <p:pRg st="2" end="2"/>
                                            </p:txEl>
                                          </p:spTgt>
                                        </p:tgtEl>
                                        <p:attrNameLst>
                                          <p:attrName>style.visibility</p:attrName>
                                        </p:attrNameLst>
                                      </p:cBhvr>
                                      <p:to>
                                        <p:strVal val="visible"/>
                                      </p:to>
                                    </p:set>
                                    <p:animEffect transition="in" filter="randombar(horizontal)">
                                      <p:cBhvr>
                                        <p:cTn id="30"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260648"/>
            <a:ext cx="8640960" cy="6336704"/>
          </a:xfrm>
        </p:spPr>
        <p:txBody>
          <a:bodyPr>
            <a:normAutofit/>
          </a:bodyPr>
          <a:lstStyle/>
          <a:p>
            <a:pPr marL="0" indent="0" algn="just">
              <a:buNone/>
            </a:pPr>
            <a:r>
              <a:rPr lang="fr-FR" sz="3600" dirty="0">
                <a:latin typeface="Maiandra GD" pitchFamily="34" charset="0"/>
              </a:rPr>
              <a:t> </a:t>
            </a:r>
            <a:r>
              <a:rPr lang="fr-FR" sz="3600" dirty="0" smtClean="0">
                <a:latin typeface="Maiandra GD" pitchFamily="34" charset="0"/>
              </a:rPr>
              <a:t>- Le </a:t>
            </a:r>
            <a:r>
              <a:rPr lang="fr-FR" sz="3600" dirty="0">
                <a:latin typeface="Maiandra GD" pitchFamily="34" charset="0"/>
              </a:rPr>
              <a:t>corps &lt;body&gt; : c'est là que se trouve la partie principale de la page. Tout ce </a:t>
            </a:r>
            <a:r>
              <a:rPr lang="fr-FR" sz="3600" dirty="0" smtClean="0">
                <a:latin typeface="Maiandra GD" pitchFamily="34" charset="0"/>
              </a:rPr>
              <a:t>que nous </a:t>
            </a:r>
            <a:r>
              <a:rPr lang="fr-FR" sz="3600" dirty="0">
                <a:latin typeface="Maiandra GD" pitchFamily="34" charset="0"/>
              </a:rPr>
              <a:t>écrirons ici sera </a:t>
            </a:r>
            <a:r>
              <a:rPr lang="fr-FR" sz="3600" dirty="0" smtClean="0">
                <a:latin typeface="Maiandra GD" pitchFamily="34" charset="0"/>
              </a:rPr>
              <a:t>affiché </a:t>
            </a:r>
            <a:r>
              <a:rPr lang="fr-FR" sz="3600" dirty="0">
                <a:latin typeface="Maiandra GD" pitchFamily="34" charset="0"/>
              </a:rPr>
              <a:t>à l'écran. C'est à l'intérieur du corps </a:t>
            </a:r>
            <a:r>
              <a:rPr lang="fr-FR" sz="3600" dirty="0" smtClean="0">
                <a:latin typeface="Maiandra GD" pitchFamily="34" charset="0"/>
              </a:rPr>
              <a:t>que </a:t>
            </a:r>
            <a:r>
              <a:rPr lang="fr-FR" sz="3600" dirty="0">
                <a:latin typeface="Maiandra GD" pitchFamily="34" charset="0"/>
              </a:rPr>
              <a:t>nous </a:t>
            </a:r>
            <a:r>
              <a:rPr lang="fr-FR" sz="3600" dirty="0" smtClean="0">
                <a:latin typeface="Maiandra GD" pitchFamily="34" charset="0"/>
              </a:rPr>
              <a:t>écrirons la </a:t>
            </a:r>
            <a:r>
              <a:rPr lang="fr-FR" sz="3600" dirty="0">
                <a:latin typeface="Maiandra GD" pitchFamily="34" charset="0"/>
              </a:rPr>
              <a:t>majeure partie de notre code</a:t>
            </a:r>
            <a:r>
              <a:rPr lang="fr-FR" sz="3600" dirty="0" smtClean="0">
                <a:latin typeface="Maiandra GD" pitchFamily="34" charset="0"/>
              </a:rPr>
              <a:t>.</a:t>
            </a:r>
          </a:p>
          <a:p>
            <a:pPr marL="0" indent="0" algn="just">
              <a:buNone/>
            </a:pPr>
            <a:r>
              <a:rPr lang="fr-FR" sz="3600" dirty="0">
                <a:latin typeface="Maiandra GD" pitchFamily="34" charset="0"/>
              </a:rPr>
              <a:t>Pour le moment, le corps est vide (nous </a:t>
            </a:r>
            <a:r>
              <a:rPr lang="fr-FR" sz="3600" dirty="0" smtClean="0">
                <a:latin typeface="Maiandra GD" pitchFamily="34" charset="0"/>
              </a:rPr>
              <a:t>y reviendrons </a:t>
            </a:r>
            <a:r>
              <a:rPr lang="fr-FR" sz="3600" dirty="0">
                <a:latin typeface="Maiandra GD" pitchFamily="34" charset="0"/>
              </a:rPr>
              <a:t>plus loin). Intéressons-nous </a:t>
            </a:r>
            <a:r>
              <a:rPr lang="fr-FR" sz="3600" dirty="0" smtClean="0">
                <a:latin typeface="Maiandra GD" pitchFamily="34" charset="0"/>
              </a:rPr>
              <a:t>par contre </a:t>
            </a:r>
            <a:r>
              <a:rPr lang="fr-FR" sz="3600" dirty="0">
                <a:latin typeface="Maiandra GD" pitchFamily="34" charset="0"/>
              </a:rPr>
              <a:t>aux deux balises contenues dans l'en-tête. . .</a:t>
            </a:r>
          </a:p>
        </p:txBody>
      </p:sp>
    </p:spTree>
    <p:extLst>
      <p:ext uri="{BB962C8B-B14F-4D97-AF65-F5344CB8AC3E}">
        <p14:creationId xmlns:p14="http://schemas.microsoft.com/office/powerpoint/2010/main" val="197395855"/>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188640"/>
            <a:ext cx="8229600" cy="940966"/>
          </a:xfrm>
        </p:spPr>
        <p:txBody>
          <a:bodyPr/>
          <a:lstStyle/>
          <a:p>
            <a:r>
              <a:rPr lang="fr-FR" dirty="0">
                <a:effectLst>
                  <a:outerShdw blurRad="38100" dist="38100" dir="2700000" algn="tl">
                    <a:srgbClr val="000000">
                      <a:alpha val="43137"/>
                    </a:srgbClr>
                  </a:outerShdw>
                </a:effectLst>
                <a:latin typeface="Maiandra GD" pitchFamily="34" charset="0"/>
              </a:rPr>
              <a:t>L'encodage (charset)</a:t>
            </a:r>
          </a:p>
        </p:txBody>
      </p:sp>
      <p:sp>
        <p:nvSpPr>
          <p:cNvPr id="3" name="Espace réservé du contenu 2"/>
          <p:cNvSpPr>
            <a:spLocks noGrp="1"/>
          </p:cNvSpPr>
          <p:nvPr>
            <p:ph idx="1"/>
          </p:nvPr>
        </p:nvSpPr>
        <p:spPr>
          <a:xfrm>
            <a:off x="179512" y="1124744"/>
            <a:ext cx="8712968" cy="5472608"/>
          </a:xfrm>
        </p:spPr>
        <p:txBody>
          <a:bodyPr>
            <a:normAutofit/>
          </a:bodyPr>
          <a:lstStyle/>
          <a:p>
            <a:pPr marL="0" indent="0">
              <a:buNone/>
            </a:pPr>
            <a:r>
              <a:rPr lang="sv-SE" dirty="0">
                <a:latin typeface="Maiandra GD" pitchFamily="34" charset="0"/>
              </a:rPr>
              <a:t>1 &lt;meta charset ="utf -8" </a:t>
            </a:r>
            <a:r>
              <a:rPr lang="sv-SE" dirty="0" smtClean="0">
                <a:latin typeface="Maiandra GD" pitchFamily="34" charset="0"/>
              </a:rPr>
              <a:t>/&gt;</a:t>
            </a:r>
          </a:p>
          <a:p>
            <a:pPr marL="0" indent="0">
              <a:buNone/>
            </a:pPr>
            <a:endParaRPr lang="sv-SE" sz="1600" dirty="0">
              <a:latin typeface="Maiandra GD" pitchFamily="34" charset="0"/>
            </a:endParaRPr>
          </a:p>
          <a:p>
            <a:pPr marL="0" indent="0" algn="just">
              <a:buNone/>
            </a:pPr>
            <a:r>
              <a:rPr lang="fr-FR" dirty="0">
                <a:latin typeface="Maiandra GD" pitchFamily="34" charset="0"/>
              </a:rPr>
              <a:t>Cette balise indique l'encodage utilisé dans votre </a:t>
            </a:r>
            <a:r>
              <a:rPr lang="fr-FR" dirty="0" smtClean="0">
                <a:latin typeface="Maiandra GD" pitchFamily="34" charset="0"/>
              </a:rPr>
              <a:t>fichier </a:t>
            </a:r>
            <a:r>
              <a:rPr lang="fr-FR" dirty="0">
                <a:latin typeface="Maiandra GD" pitchFamily="34" charset="0"/>
              </a:rPr>
              <a:t>.html.</a:t>
            </a:r>
          </a:p>
          <a:p>
            <a:pPr marL="0" indent="0" algn="just">
              <a:buNone/>
            </a:pPr>
            <a:r>
              <a:rPr lang="fr-FR" dirty="0">
                <a:latin typeface="Maiandra GD" pitchFamily="34" charset="0"/>
              </a:rPr>
              <a:t>Sans rentrer dans les détails, car cela pourrait vite devenir compliqué, l'encodage </a:t>
            </a:r>
            <a:r>
              <a:rPr lang="fr-FR" dirty="0" smtClean="0">
                <a:latin typeface="Maiandra GD" pitchFamily="34" charset="0"/>
              </a:rPr>
              <a:t>indique la </a:t>
            </a:r>
            <a:r>
              <a:rPr lang="fr-FR" dirty="0">
                <a:latin typeface="Maiandra GD" pitchFamily="34" charset="0"/>
              </a:rPr>
              <a:t>façon dont le </a:t>
            </a:r>
            <a:r>
              <a:rPr lang="fr-FR" dirty="0" smtClean="0">
                <a:latin typeface="Maiandra GD" pitchFamily="34" charset="0"/>
              </a:rPr>
              <a:t>fichier </a:t>
            </a:r>
            <a:r>
              <a:rPr lang="fr-FR" dirty="0">
                <a:latin typeface="Maiandra GD" pitchFamily="34" charset="0"/>
              </a:rPr>
              <a:t>est enregistré. C'est lui qui détermine comment les </a:t>
            </a:r>
            <a:r>
              <a:rPr lang="fr-FR" dirty="0" smtClean="0">
                <a:latin typeface="Maiandra GD" pitchFamily="34" charset="0"/>
              </a:rPr>
              <a:t>caractères </a:t>
            </a:r>
            <a:r>
              <a:rPr lang="fr-FR" dirty="0">
                <a:latin typeface="Maiandra GD" pitchFamily="34" charset="0"/>
              </a:rPr>
              <a:t>spéciaux vont </a:t>
            </a:r>
            <a:r>
              <a:rPr lang="fr-FR" dirty="0" smtClean="0">
                <a:latin typeface="Maiandra GD" pitchFamily="34" charset="0"/>
              </a:rPr>
              <a:t>s'afficher </a:t>
            </a:r>
            <a:r>
              <a:rPr lang="fr-FR" dirty="0">
                <a:latin typeface="Maiandra GD" pitchFamily="34" charset="0"/>
              </a:rPr>
              <a:t>(accents, idéogrammes chinois et japonais, </a:t>
            </a:r>
            <a:r>
              <a:rPr lang="fr-FR" dirty="0" smtClean="0">
                <a:latin typeface="Maiandra GD" pitchFamily="34" charset="0"/>
              </a:rPr>
              <a:t>caractères arabes</a:t>
            </a:r>
            <a:r>
              <a:rPr lang="fr-FR" dirty="0">
                <a:latin typeface="Maiandra GD" pitchFamily="34" charset="0"/>
              </a:rPr>
              <a:t>, etc.).</a:t>
            </a:r>
          </a:p>
        </p:txBody>
      </p:sp>
      <p:cxnSp>
        <p:nvCxnSpPr>
          <p:cNvPr id="5" name="Connecteur droit 4"/>
          <p:cNvCxnSpPr/>
          <p:nvPr/>
        </p:nvCxnSpPr>
        <p:spPr>
          <a:xfrm>
            <a:off x="467544" y="1124744"/>
            <a:ext cx="0" cy="576064"/>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073777067"/>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332656"/>
            <a:ext cx="8640960" cy="6192688"/>
          </a:xfrm>
        </p:spPr>
        <p:txBody>
          <a:bodyPr>
            <a:normAutofit/>
          </a:bodyPr>
          <a:lstStyle/>
          <a:p>
            <a:pPr marL="0" indent="0" algn="just">
              <a:buNone/>
            </a:pPr>
            <a:r>
              <a:rPr lang="fr-FR" dirty="0">
                <a:latin typeface="Maiandra GD" pitchFamily="34" charset="0"/>
              </a:rPr>
              <a:t>Il y a plusieurs techniques d'encodage portant des noms bizarres et utilisées en </a:t>
            </a:r>
            <a:r>
              <a:rPr lang="fr-FR" dirty="0" smtClean="0">
                <a:latin typeface="Maiandra GD" pitchFamily="34" charset="0"/>
              </a:rPr>
              <a:t>fonction des </a:t>
            </a:r>
            <a:r>
              <a:rPr lang="fr-FR" dirty="0">
                <a:latin typeface="Maiandra GD" pitchFamily="34" charset="0"/>
              </a:rPr>
              <a:t>langues : ISO-8859-1, OEM 775, Windows-1253. . . Une seule cependant devrait </a:t>
            </a:r>
            <a:r>
              <a:rPr lang="fr-FR" dirty="0" smtClean="0">
                <a:latin typeface="Maiandra GD" pitchFamily="34" charset="0"/>
              </a:rPr>
              <a:t>être utilisée </a:t>
            </a:r>
            <a:r>
              <a:rPr lang="fr-FR" dirty="0">
                <a:latin typeface="Maiandra GD" pitchFamily="34" charset="0"/>
              </a:rPr>
              <a:t>aujourd'hui autant que possible : UTF-8</a:t>
            </a:r>
            <a:r>
              <a:rPr lang="fr-FR" dirty="0" smtClean="0">
                <a:latin typeface="Maiandra GD" pitchFamily="34" charset="0"/>
              </a:rPr>
              <a:t>.</a:t>
            </a:r>
          </a:p>
          <a:p>
            <a:pPr marL="0" indent="0" algn="just">
              <a:buNone/>
            </a:pPr>
            <a:r>
              <a:rPr lang="fr-FR" dirty="0">
                <a:latin typeface="Maiandra GD" pitchFamily="34" charset="0"/>
              </a:rPr>
              <a:t>Cette méthode d'encodage </a:t>
            </a:r>
            <a:r>
              <a:rPr lang="fr-FR" dirty="0" smtClean="0">
                <a:latin typeface="Maiandra GD" pitchFamily="34" charset="0"/>
              </a:rPr>
              <a:t>permet d'afficher </a:t>
            </a:r>
            <a:r>
              <a:rPr lang="fr-FR" dirty="0">
                <a:latin typeface="Maiandra GD" pitchFamily="34" charset="0"/>
              </a:rPr>
              <a:t>sans aucun problème pratiquement tous les symboles de toutes les </a:t>
            </a:r>
            <a:r>
              <a:rPr lang="fr-FR" dirty="0" smtClean="0">
                <a:latin typeface="Maiandra GD" pitchFamily="34" charset="0"/>
              </a:rPr>
              <a:t>langues de </a:t>
            </a:r>
            <a:r>
              <a:rPr lang="fr-FR" dirty="0">
                <a:latin typeface="Maiandra GD" pitchFamily="34" charset="0"/>
              </a:rPr>
              <a:t>notre planète ! C'est pour cela que j'ai indiqué utf-8 dans cette balise.</a:t>
            </a:r>
          </a:p>
        </p:txBody>
      </p:sp>
    </p:spTree>
    <p:extLst>
      <p:ext uri="{BB962C8B-B14F-4D97-AF65-F5344CB8AC3E}">
        <p14:creationId xmlns:p14="http://schemas.microsoft.com/office/powerpoint/2010/main" val="522589989"/>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404664"/>
            <a:ext cx="8640960" cy="6120680"/>
          </a:xfrm>
        </p:spPr>
        <p:txBody>
          <a:bodyPr/>
          <a:lstStyle/>
          <a:p>
            <a:pPr marL="0" indent="0" algn="just">
              <a:buNone/>
            </a:pPr>
            <a:r>
              <a:rPr lang="fr-FR" dirty="0">
                <a:latin typeface="Maiandra GD" pitchFamily="34" charset="0"/>
              </a:rPr>
              <a:t>Il faut aussi que votre </a:t>
            </a:r>
            <a:r>
              <a:rPr lang="fr-FR" dirty="0" smtClean="0">
                <a:latin typeface="Maiandra GD" pitchFamily="34" charset="0"/>
              </a:rPr>
              <a:t>fichier </a:t>
            </a:r>
            <a:r>
              <a:rPr lang="fr-FR" dirty="0">
                <a:latin typeface="Maiandra GD" pitchFamily="34" charset="0"/>
              </a:rPr>
              <a:t>soit bien enregistré en UTF-8. C'est le cas le plus </a:t>
            </a:r>
            <a:r>
              <a:rPr lang="fr-FR" dirty="0" smtClean="0">
                <a:latin typeface="Maiandra GD" pitchFamily="34" charset="0"/>
              </a:rPr>
              <a:t>souvent sous </a:t>
            </a:r>
            <a:r>
              <a:rPr lang="fr-FR" dirty="0">
                <a:latin typeface="Maiandra GD" pitchFamily="34" charset="0"/>
              </a:rPr>
              <a:t>Linux par défaut mais, sous Windows, il faut généralement le dire au logiciel</a:t>
            </a:r>
            <a:r>
              <a:rPr lang="fr-FR" dirty="0"/>
              <a:t>.</a:t>
            </a:r>
          </a:p>
        </p:txBody>
      </p:sp>
    </p:spTree>
    <p:extLst>
      <p:ext uri="{BB962C8B-B14F-4D97-AF65-F5344CB8AC3E}">
        <p14:creationId xmlns:p14="http://schemas.microsoft.com/office/powerpoint/2010/main" val="1296919903"/>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318978"/>
            <a:ext cx="8640960" cy="6206366"/>
          </a:xfrm>
        </p:spPr>
        <p:txBody>
          <a:bodyPr>
            <a:normAutofit/>
          </a:bodyPr>
          <a:lstStyle/>
          <a:p>
            <a:pPr marL="0" indent="0" algn="just">
              <a:buNone/>
            </a:pPr>
            <a:r>
              <a:rPr lang="fr-FR" dirty="0">
                <a:latin typeface="Maiandra GD" pitchFamily="34" charset="0"/>
              </a:rPr>
              <a:t>Sous Notepad++, allez dans le menu Encodage &gt; Encoder en </a:t>
            </a:r>
            <a:r>
              <a:rPr lang="fr-FR" dirty="0" smtClean="0">
                <a:latin typeface="Maiandra GD" pitchFamily="34" charset="0"/>
              </a:rPr>
              <a:t>UTF-8 (sans </a:t>
            </a:r>
            <a:r>
              <a:rPr lang="fr-FR" dirty="0">
                <a:latin typeface="Maiandra GD" pitchFamily="34" charset="0"/>
              </a:rPr>
              <a:t>BOM) pour que votre chier soit enregistré en UTF-8 dès le </a:t>
            </a:r>
            <a:r>
              <a:rPr lang="fr-FR" dirty="0" smtClean="0">
                <a:latin typeface="Maiandra GD" pitchFamily="34" charset="0"/>
              </a:rPr>
              <a:t>début. Cela </a:t>
            </a:r>
            <a:r>
              <a:rPr lang="fr-FR" dirty="0">
                <a:latin typeface="Maiandra GD" pitchFamily="34" charset="0"/>
              </a:rPr>
              <a:t>ne s'applique qu'au </a:t>
            </a:r>
            <a:r>
              <a:rPr lang="fr-FR" dirty="0" smtClean="0">
                <a:latin typeface="Maiandra GD" pitchFamily="34" charset="0"/>
              </a:rPr>
              <a:t>fichier </a:t>
            </a:r>
            <a:r>
              <a:rPr lang="fr-FR" dirty="0">
                <a:latin typeface="Maiandra GD" pitchFamily="34" charset="0"/>
              </a:rPr>
              <a:t>actuellement ouvert. Pour ne pas avoir </a:t>
            </a:r>
            <a:r>
              <a:rPr lang="fr-FR" dirty="0" smtClean="0">
                <a:latin typeface="Maiandra GD" pitchFamily="34" charset="0"/>
              </a:rPr>
              <a:t>à le </a:t>
            </a:r>
            <a:r>
              <a:rPr lang="fr-FR" dirty="0">
                <a:latin typeface="Maiandra GD" pitchFamily="34" charset="0"/>
              </a:rPr>
              <a:t>faire pour chaque nouveau </a:t>
            </a:r>
            <a:r>
              <a:rPr lang="fr-FR" dirty="0" smtClean="0">
                <a:latin typeface="Maiandra GD" pitchFamily="34" charset="0"/>
              </a:rPr>
              <a:t>fichier</a:t>
            </a:r>
            <a:r>
              <a:rPr lang="fr-FR" dirty="0">
                <a:latin typeface="Maiandra GD" pitchFamily="34" charset="0"/>
              </a:rPr>
              <a:t>, je vous conseille d'aller dans le </a:t>
            </a:r>
            <a:r>
              <a:rPr lang="fr-FR" dirty="0" smtClean="0">
                <a:latin typeface="Maiandra GD" pitchFamily="34" charset="0"/>
              </a:rPr>
              <a:t>menu Paramétrage </a:t>
            </a:r>
            <a:r>
              <a:rPr lang="fr-FR" dirty="0">
                <a:latin typeface="Maiandra GD" pitchFamily="34" charset="0"/>
              </a:rPr>
              <a:t>&gt; </a:t>
            </a:r>
            <a:r>
              <a:rPr lang="fr-FR" dirty="0" smtClean="0">
                <a:latin typeface="Maiandra GD" pitchFamily="34" charset="0"/>
              </a:rPr>
              <a:t>Préférences, onglet </a:t>
            </a:r>
            <a:r>
              <a:rPr lang="fr-FR" dirty="0">
                <a:latin typeface="Maiandra GD" pitchFamily="34" charset="0"/>
              </a:rPr>
              <a:t>Nouveau document/Dossier. </a:t>
            </a:r>
            <a:r>
              <a:rPr lang="fr-FR" dirty="0" smtClean="0">
                <a:latin typeface="Maiandra GD" pitchFamily="34" charset="0"/>
              </a:rPr>
              <a:t>Sélectionnez UTF-8 </a:t>
            </a:r>
            <a:r>
              <a:rPr lang="fr-FR" dirty="0">
                <a:latin typeface="Maiandra GD" pitchFamily="34" charset="0"/>
              </a:rPr>
              <a:t>sans BOM dans la liste.</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4208" y="5157192"/>
            <a:ext cx="1958330" cy="1382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38798262"/>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476672"/>
            <a:ext cx="8435280" cy="6048672"/>
          </a:xfrm>
        </p:spPr>
        <p:txBody>
          <a:bodyPr>
            <a:normAutofit/>
          </a:bodyPr>
          <a:lstStyle/>
          <a:p>
            <a:pPr marL="0" indent="0" algn="just">
              <a:buNone/>
            </a:pPr>
            <a:r>
              <a:rPr lang="fr-FR" sz="3400" dirty="0">
                <a:solidFill>
                  <a:srgbClr val="FF0000"/>
                </a:solidFill>
                <a:latin typeface="Maiandra GD" pitchFamily="34" charset="0"/>
              </a:rPr>
              <a:t>Si vous avez un problème </a:t>
            </a:r>
            <a:r>
              <a:rPr lang="fr-FR" sz="3400" dirty="0" smtClean="0">
                <a:solidFill>
                  <a:srgbClr val="FF0000"/>
                </a:solidFill>
                <a:latin typeface="Maiandra GD" pitchFamily="34" charset="0"/>
              </a:rPr>
              <a:t>d'affichage </a:t>
            </a:r>
            <a:r>
              <a:rPr lang="fr-FR" sz="3400" dirty="0">
                <a:solidFill>
                  <a:srgbClr val="FF0000"/>
                </a:solidFill>
                <a:latin typeface="Maiandra GD" pitchFamily="34" charset="0"/>
              </a:rPr>
              <a:t>des accents plus tard sur votre page </a:t>
            </a:r>
            <a:r>
              <a:rPr lang="fr-FR" sz="3400" dirty="0" smtClean="0">
                <a:solidFill>
                  <a:srgbClr val="FF0000"/>
                </a:solidFill>
                <a:latin typeface="Maiandra GD" pitchFamily="34" charset="0"/>
              </a:rPr>
              <a:t>web, c'est </a:t>
            </a:r>
            <a:r>
              <a:rPr lang="fr-FR" sz="3400" dirty="0">
                <a:solidFill>
                  <a:srgbClr val="FF0000"/>
                </a:solidFill>
                <a:latin typeface="Maiandra GD" pitchFamily="34" charset="0"/>
              </a:rPr>
              <a:t>qu'il y a un problème avec l'encodage. </a:t>
            </a:r>
            <a:r>
              <a:rPr lang="fr-FR" sz="3400" dirty="0" smtClean="0">
                <a:solidFill>
                  <a:srgbClr val="FF0000"/>
                </a:solidFill>
                <a:latin typeface="Maiandra GD" pitchFamily="34" charset="0"/>
              </a:rPr>
              <a:t>Vérifiez </a:t>
            </a:r>
            <a:r>
              <a:rPr lang="fr-FR" sz="3400" dirty="0">
                <a:solidFill>
                  <a:srgbClr val="FF0000"/>
                </a:solidFill>
                <a:latin typeface="Maiandra GD" pitchFamily="34" charset="0"/>
              </a:rPr>
              <a:t>que la balise indique </a:t>
            </a:r>
            <a:r>
              <a:rPr lang="fr-FR" sz="3400" dirty="0" smtClean="0">
                <a:solidFill>
                  <a:srgbClr val="FF0000"/>
                </a:solidFill>
                <a:latin typeface="Maiandra GD" pitchFamily="34" charset="0"/>
              </a:rPr>
              <a:t>bien UTF-8 </a:t>
            </a:r>
            <a:r>
              <a:rPr lang="fr-FR" sz="3400" dirty="0">
                <a:solidFill>
                  <a:srgbClr val="FF0000"/>
                </a:solidFill>
                <a:latin typeface="Maiandra GD" pitchFamily="34" charset="0"/>
              </a:rPr>
              <a:t>et que votre </a:t>
            </a:r>
            <a:r>
              <a:rPr lang="fr-FR" sz="3400" dirty="0" smtClean="0">
                <a:solidFill>
                  <a:srgbClr val="FF0000"/>
                </a:solidFill>
                <a:latin typeface="Maiandra GD" pitchFamily="34" charset="0"/>
              </a:rPr>
              <a:t>fichier est enregistré </a:t>
            </a:r>
            <a:r>
              <a:rPr lang="fr-FR" sz="3400" dirty="0">
                <a:solidFill>
                  <a:srgbClr val="FF0000"/>
                </a:solidFill>
                <a:latin typeface="Maiandra GD" pitchFamily="34" charset="0"/>
              </a:rPr>
              <a:t>en UTF-8 (votre éditeur de </a:t>
            </a:r>
            <a:r>
              <a:rPr lang="fr-FR" sz="3400" dirty="0" smtClean="0">
                <a:solidFill>
                  <a:srgbClr val="FF0000"/>
                </a:solidFill>
                <a:latin typeface="Maiandra GD" pitchFamily="34" charset="0"/>
              </a:rPr>
              <a:t>texte est </a:t>
            </a:r>
            <a:r>
              <a:rPr lang="fr-FR" sz="3400" dirty="0">
                <a:solidFill>
                  <a:srgbClr val="FF0000"/>
                </a:solidFill>
                <a:latin typeface="Maiandra GD" pitchFamily="34" charset="0"/>
              </a:rPr>
              <a:t>capable de vous le dire, Notepad++ le fait dans le menu Encodage).</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16216" y="4509120"/>
            <a:ext cx="1872208" cy="1872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87137008"/>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4800" dirty="0">
                <a:effectLst>
                  <a:outerShdw blurRad="38100" dist="38100" dir="2700000" algn="tl">
                    <a:srgbClr val="000000">
                      <a:alpha val="43137"/>
                    </a:srgbClr>
                  </a:outerShdw>
                </a:effectLst>
                <a:latin typeface="Maiandra GD" pitchFamily="34" charset="0"/>
              </a:rPr>
              <a:t>Le titre principal de la page</a:t>
            </a:r>
          </a:p>
        </p:txBody>
      </p:sp>
      <p:sp>
        <p:nvSpPr>
          <p:cNvPr id="3" name="Espace réservé du contenu 2"/>
          <p:cNvSpPr>
            <a:spLocks noGrp="1"/>
          </p:cNvSpPr>
          <p:nvPr>
            <p:ph idx="1"/>
          </p:nvPr>
        </p:nvSpPr>
        <p:spPr>
          <a:xfrm>
            <a:off x="179512" y="1600200"/>
            <a:ext cx="8712968" cy="4997152"/>
          </a:xfrm>
        </p:spPr>
        <p:txBody>
          <a:bodyPr>
            <a:normAutofit/>
          </a:bodyPr>
          <a:lstStyle/>
          <a:p>
            <a:pPr marL="0" indent="0">
              <a:buNone/>
            </a:pPr>
            <a:endParaRPr lang="fr-FR" sz="1600" dirty="0" smtClean="0">
              <a:latin typeface="Maiandra GD" pitchFamily="34" charset="0"/>
            </a:endParaRPr>
          </a:p>
          <a:p>
            <a:pPr marL="514350" indent="-514350">
              <a:buAutoNum type="arabicPlain"/>
            </a:pPr>
            <a:r>
              <a:rPr lang="fr-FR" sz="3600" dirty="0" smtClean="0">
                <a:latin typeface="Maiandra GD" pitchFamily="34" charset="0"/>
              </a:rPr>
              <a:t>&lt;</a:t>
            </a:r>
            <a:r>
              <a:rPr lang="fr-FR" sz="3600" dirty="0">
                <a:latin typeface="Maiandra GD" pitchFamily="34" charset="0"/>
              </a:rPr>
              <a:t>title </a:t>
            </a:r>
            <a:r>
              <a:rPr lang="fr-FR" sz="3600" dirty="0" smtClean="0">
                <a:latin typeface="Maiandra GD" pitchFamily="34" charset="0"/>
              </a:rPr>
              <a:t>&gt;</a:t>
            </a:r>
          </a:p>
          <a:p>
            <a:pPr marL="0" indent="0">
              <a:buNone/>
            </a:pPr>
            <a:endParaRPr lang="fr-FR" sz="1600" dirty="0" smtClean="0">
              <a:latin typeface="Maiandra GD" pitchFamily="34" charset="0"/>
            </a:endParaRPr>
          </a:p>
          <a:p>
            <a:pPr marL="0" indent="0" algn="just">
              <a:buNone/>
            </a:pPr>
            <a:r>
              <a:rPr lang="fr-FR" sz="3600" dirty="0">
                <a:latin typeface="Maiandra GD" pitchFamily="34" charset="0"/>
              </a:rPr>
              <a:t>C'est le titre de votre page, probablement l'élément le plus important ! Toute page </a:t>
            </a:r>
            <a:r>
              <a:rPr lang="fr-FR" sz="3600" dirty="0" smtClean="0">
                <a:latin typeface="Maiandra GD" pitchFamily="34" charset="0"/>
              </a:rPr>
              <a:t>doit avoir un </a:t>
            </a:r>
            <a:r>
              <a:rPr lang="fr-FR" sz="3600" dirty="0">
                <a:latin typeface="Maiandra GD" pitchFamily="34" charset="0"/>
              </a:rPr>
              <a:t>titre qui décrit ce qu'elle contient. Il est conseillé de garder le titre assez </a:t>
            </a:r>
            <a:r>
              <a:rPr lang="fr-FR" sz="3600" dirty="0" smtClean="0">
                <a:latin typeface="Maiandra GD" pitchFamily="34" charset="0"/>
              </a:rPr>
              <a:t>court (moins </a:t>
            </a:r>
            <a:r>
              <a:rPr lang="fr-FR" sz="3600" dirty="0">
                <a:latin typeface="Maiandra GD" pitchFamily="34" charset="0"/>
              </a:rPr>
              <a:t>de 100 caractères en général).</a:t>
            </a:r>
          </a:p>
        </p:txBody>
      </p:sp>
      <p:cxnSp>
        <p:nvCxnSpPr>
          <p:cNvPr id="4" name="Connecteur droit 3"/>
          <p:cNvCxnSpPr/>
          <p:nvPr/>
        </p:nvCxnSpPr>
        <p:spPr>
          <a:xfrm>
            <a:off x="539552" y="1916832"/>
            <a:ext cx="0" cy="576064"/>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21778093"/>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260648"/>
            <a:ext cx="8640960" cy="6192688"/>
          </a:xfrm>
        </p:spPr>
        <p:txBody>
          <a:bodyPr>
            <a:normAutofit/>
          </a:bodyPr>
          <a:lstStyle/>
          <a:p>
            <a:pPr marL="0" indent="0" algn="just">
              <a:buNone/>
            </a:pPr>
            <a:r>
              <a:rPr lang="fr-FR" sz="3600" dirty="0">
                <a:latin typeface="Maiandra GD" pitchFamily="34" charset="0"/>
              </a:rPr>
              <a:t>Le titre ne </a:t>
            </a:r>
            <a:r>
              <a:rPr lang="fr-FR" sz="3600" dirty="0" smtClean="0">
                <a:latin typeface="Maiandra GD" pitchFamily="34" charset="0"/>
              </a:rPr>
              <a:t>s'affiche </a:t>
            </a:r>
            <a:r>
              <a:rPr lang="fr-FR" sz="3600" dirty="0">
                <a:latin typeface="Maiandra GD" pitchFamily="34" charset="0"/>
              </a:rPr>
              <a:t>pas dans votre page mais en haut de celle-ci (souvent dans </a:t>
            </a:r>
            <a:r>
              <a:rPr lang="fr-FR" sz="3600" dirty="0" smtClean="0">
                <a:latin typeface="Maiandra GD" pitchFamily="34" charset="0"/>
              </a:rPr>
              <a:t>l'onglet du </a:t>
            </a:r>
            <a:r>
              <a:rPr lang="fr-FR" sz="3600" dirty="0">
                <a:latin typeface="Maiandra GD" pitchFamily="34" charset="0"/>
              </a:rPr>
              <a:t>navigateur). Enregistrez votre page web et ouvrez-la dans votre navigateur. </a:t>
            </a:r>
            <a:r>
              <a:rPr lang="fr-FR" sz="3600" dirty="0" smtClean="0">
                <a:latin typeface="Maiandra GD" pitchFamily="34" charset="0"/>
              </a:rPr>
              <a:t>Vous verrez </a:t>
            </a:r>
            <a:r>
              <a:rPr lang="fr-FR" sz="3600" dirty="0">
                <a:latin typeface="Maiandra GD" pitchFamily="34" charset="0"/>
              </a:rPr>
              <a:t>que le titre </a:t>
            </a:r>
            <a:r>
              <a:rPr lang="fr-FR" sz="3600" dirty="0" smtClean="0">
                <a:latin typeface="Maiandra GD" pitchFamily="34" charset="0"/>
              </a:rPr>
              <a:t>s'affiche </a:t>
            </a:r>
            <a:r>
              <a:rPr lang="fr-FR" sz="3600" dirty="0">
                <a:latin typeface="Maiandra GD" pitchFamily="34" charset="0"/>
              </a:rPr>
              <a:t>dans l'onglet, comme sur la </a:t>
            </a:r>
            <a:r>
              <a:rPr lang="fr-FR" sz="3600" dirty="0" smtClean="0">
                <a:latin typeface="Maiandra GD" pitchFamily="34" charset="0"/>
              </a:rPr>
              <a:t>figure ci-dessous:</a:t>
            </a:r>
            <a:endParaRPr lang="fr-FR" sz="3600" dirty="0">
              <a:latin typeface="Maiandra GD" pitchFamily="34" charset="0"/>
            </a:endParaRPr>
          </a:p>
        </p:txBody>
      </p:sp>
    </p:spTree>
    <p:extLst>
      <p:ext uri="{BB962C8B-B14F-4D97-AF65-F5344CB8AC3E}">
        <p14:creationId xmlns:p14="http://schemas.microsoft.com/office/powerpoint/2010/main" val="3469220147"/>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008" y="116632"/>
            <a:ext cx="8964488" cy="6480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925960" y="6372036"/>
            <a:ext cx="6318448" cy="400110"/>
          </a:xfrm>
          <a:prstGeom prst="rect">
            <a:avLst/>
          </a:prstGeom>
        </p:spPr>
        <p:txBody>
          <a:bodyPr wrap="square">
            <a:spAutoFit/>
          </a:bodyPr>
          <a:lstStyle/>
          <a:p>
            <a:r>
              <a:rPr lang="fr-FR" sz="2000" dirty="0">
                <a:effectLst>
                  <a:outerShdw blurRad="38100" dist="38100" dir="2700000" algn="tl">
                    <a:srgbClr val="000000">
                      <a:alpha val="43137"/>
                    </a:srgbClr>
                  </a:outerShdw>
                </a:effectLst>
                <a:latin typeface="Maiandra GD" pitchFamily="34" charset="0"/>
              </a:rPr>
              <a:t>Le titre de la page apparaît en haut du navigateur</a:t>
            </a:r>
          </a:p>
        </p:txBody>
      </p:sp>
    </p:spTree>
    <p:extLst>
      <p:ext uri="{BB962C8B-B14F-4D97-AF65-F5344CB8AC3E}">
        <p14:creationId xmlns:p14="http://schemas.microsoft.com/office/powerpoint/2010/main" val="939532102"/>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9512" y="332656"/>
            <a:ext cx="8784976" cy="6264696"/>
          </a:xfrm>
        </p:spPr>
        <p:txBody>
          <a:bodyPr/>
          <a:lstStyle/>
          <a:p>
            <a:pPr marL="0" indent="0" algn="just">
              <a:buNone/>
            </a:pPr>
            <a:r>
              <a:rPr lang="fr-FR" dirty="0" smtClean="0">
                <a:latin typeface="Maiandra GD" pitchFamily="34" charset="0"/>
              </a:rPr>
              <a:t>Il faut savoir que le titre apparaît aussi dans les résultats de recherche, comme sur Google (figure ci-dessous).</a:t>
            </a:r>
            <a:endParaRPr lang="fr-FR" dirty="0">
              <a:latin typeface="Maiandra GD" pitchFamily="34" charset="0"/>
            </a:endParaRP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2060848"/>
            <a:ext cx="8784976" cy="3960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539552" y="6177498"/>
            <a:ext cx="8064896" cy="461665"/>
          </a:xfrm>
          <a:prstGeom prst="rect">
            <a:avLst/>
          </a:prstGeom>
        </p:spPr>
        <p:txBody>
          <a:bodyPr wrap="square">
            <a:spAutoFit/>
          </a:bodyPr>
          <a:lstStyle/>
          <a:p>
            <a:pPr algn="ctr"/>
            <a:r>
              <a:rPr lang="fr-FR" sz="2400" dirty="0">
                <a:effectLst>
                  <a:outerShdw blurRad="38100" dist="38100" dir="2700000" algn="tl">
                    <a:srgbClr val="000000">
                      <a:alpha val="43137"/>
                    </a:srgbClr>
                  </a:outerShdw>
                </a:effectLst>
                <a:latin typeface="Maiandra GD" pitchFamily="34" charset="0"/>
              </a:rPr>
              <a:t>Le titre de la page apparaît dans les recherches </a:t>
            </a:r>
            <a:r>
              <a:rPr lang="fr-FR" sz="2400" dirty="0" smtClean="0">
                <a:effectLst>
                  <a:outerShdw blurRad="38100" dist="38100" dir="2700000" algn="tl">
                    <a:srgbClr val="000000">
                      <a:alpha val="43137"/>
                    </a:srgbClr>
                  </a:outerShdw>
                </a:effectLst>
                <a:latin typeface="Maiandra GD" pitchFamily="34" charset="0"/>
              </a:rPr>
              <a:t>Google </a:t>
            </a:r>
            <a:endParaRPr lang="fr-FR" sz="2400" dirty="0">
              <a:effectLst>
                <a:outerShdw blurRad="38100" dist="38100" dir="2700000" algn="tl">
                  <a:srgbClr val="000000">
                    <a:alpha val="43137"/>
                  </a:srgbClr>
                </a:outerShdw>
              </a:effectLst>
              <a:latin typeface="Maiandra GD" pitchFamily="34" charset="0"/>
            </a:endParaRPr>
          </a:p>
        </p:txBody>
      </p:sp>
    </p:spTree>
    <p:extLst>
      <p:ext uri="{BB962C8B-B14F-4D97-AF65-F5344CB8AC3E}">
        <p14:creationId xmlns:p14="http://schemas.microsoft.com/office/powerpoint/2010/main" val="828798920"/>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188640"/>
            <a:ext cx="8229600" cy="940966"/>
          </a:xfrm>
        </p:spPr>
        <p:txBody>
          <a:bodyPr>
            <a:normAutofit/>
          </a:bodyPr>
          <a:lstStyle/>
          <a:p>
            <a:r>
              <a:rPr lang="fr-FR" sz="5400" dirty="0">
                <a:effectLst>
                  <a:outerShdw blurRad="38100" dist="38100" dir="2700000" algn="tl">
                    <a:srgbClr val="000000">
                      <a:alpha val="43137"/>
                    </a:srgbClr>
                  </a:outerShdw>
                </a:effectLst>
                <a:latin typeface="Maiandra GD" pitchFamily="34" charset="0"/>
              </a:rPr>
              <a:t>Les commentaires</a:t>
            </a:r>
          </a:p>
        </p:txBody>
      </p:sp>
      <p:sp>
        <p:nvSpPr>
          <p:cNvPr id="3" name="Espace réservé du contenu 2"/>
          <p:cNvSpPr>
            <a:spLocks noGrp="1"/>
          </p:cNvSpPr>
          <p:nvPr>
            <p:ph idx="1"/>
          </p:nvPr>
        </p:nvSpPr>
        <p:spPr>
          <a:xfrm>
            <a:off x="179512" y="1196752"/>
            <a:ext cx="8784976" cy="5256584"/>
          </a:xfrm>
        </p:spPr>
        <p:txBody>
          <a:bodyPr>
            <a:normAutofit/>
          </a:bodyPr>
          <a:lstStyle/>
          <a:p>
            <a:pPr marL="0" indent="0" algn="just">
              <a:buNone/>
            </a:pPr>
            <a:r>
              <a:rPr lang="fr-FR" sz="3600" dirty="0">
                <a:latin typeface="Maiandra GD" pitchFamily="34" charset="0"/>
              </a:rPr>
              <a:t>Nous avons appris à créer notre première vraie page HTML dans ce chapitre. Avant </a:t>
            </a:r>
            <a:r>
              <a:rPr lang="fr-FR" sz="3600" dirty="0" smtClean="0">
                <a:latin typeface="Maiandra GD" pitchFamily="34" charset="0"/>
              </a:rPr>
              <a:t>de terminer</a:t>
            </a:r>
            <a:r>
              <a:rPr lang="fr-FR" sz="3600" dirty="0">
                <a:latin typeface="Maiandra GD" pitchFamily="34" charset="0"/>
              </a:rPr>
              <a:t>, j'aimerais vous présenter le principe des commentaires.</a:t>
            </a:r>
          </a:p>
          <a:p>
            <a:pPr marL="0" indent="0" algn="just">
              <a:buNone/>
            </a:pPr>
            <a:r>
              <a:rPr lang="fr-FR" sz="3600" dirty="0">
                <a:latin typeface="Maiandra GD" pitchFamily="34" charset="0"/>
              </a:rPr>
              <a:t>Un commentaire en HTML est un texte qui sert simplement de mémo. Il n'est </a:t>
            </a:r>
            <a:r>
              <a:rPr lang="fr-FR" sz="3600" dirty="0" smtClean="0">
                <a:latin typeface="Maiandra GD" pitchFamily="34" charset="0"/>
              </a:rPr>
              <a:t>pas affiché</a:t>
            </a:r>
            <a:r>
              <a:rPr lang="fr-FR" sz="3600" dirty="0">
                <a:latin typeface="Maiandra GD" pitchFamily="34" charset="0"/>
              </a:rPr>
              <a:t>, il n'est pas lu par l'ordinateur, cela ne change rien à </a:t>
            </a:r>
            <a:r>
              <a:rPr lang="fr-FR" sz="3600" dirty="0" smtClean="0">
                <a:latin typeface="Maiandra GD" pitchFamily="34" charset="0"/>
              </a:rPr>
              <a:t>l'affichage </a:t>
            </a:r>
            <a:r>
              <a:rPr lang="fr-FR" sz="3600" dirty="0">
                <a:latin typeface="Maiandra GD" pitchFamily="34" charset="0"/>
              </a:rPr>
              <a:t>de la page.</a:t>
            </a:r>
          </a:p>
        </p:txBody>
      </p:sp>
    </p:spTree>
    <p:extLst>
      <p:ext uri="{BB962C8B-B14F-4D97-AF65-F5344CB8AC3E}">
        <p14:creationId xmlns:p14="http://schemas.microsoft.com/office/powerpoint/2010/main" val="3213166116"/>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9512" y="260648"/>
            <a:ext cx="8712968" cy="6336704"/>
          </a:xfrm>
        </p:spPr>
        <p:txBody>
          <a:bodyPr>
            <a:normAutofit/>
          </a:bodyPr>
          <a:lstStyle/>
          <a:p>
            <a:pPr marL="0" indent="0" algn="just">
              <a:buNone/>
            </a:pPr>
            <a:r>
              <a:rPr lang="fr-FR" sz="3400" dirty="0" smtClean="0">
                <a:latin typeface="Maiandra GD" pitchFamily="34" charset="0"/>
              </a:rPr>
              <a:t>Cela </a:t>
            </a:r>
            <a:r>
              <a:rPr lang="fr-FR" sz="3400" dirty="0">
                <a:latin typeface="Maiandra GD" pitchFamily="34" charset="0"/>
              </a:rPr>
              <a:t>sert à vous et aux personnes qui liront le code source de votre page.</a:t>
            </a:r>
          </a:p>
          <a:p>
            <a:pPr marL="0" indent="0" algn="just">
              <a:buNone/>
            </a:pPr>
            <a:r>
              <a:rPr lang="fr-FR" sz="3400" dirty="0">
                <a:latin typeface="Maiandra GD" pitchFamily="34" charset="0"/>
              </a:rPr>
              <a:t>Vous pouvez utiliser les commentaires pour laisser des indications sur le </a:t>
            </a:r>
            <a:r>
              <a:rPr lang="fr-FR" sz="3400" dirty="0" smtClean="0">
                <a:latin typeface="Maiandra GD" pitchFamily="34" charset="0"/>
              </a:rPr>
              <a:t>fonctionnement de </a:t>
            </a:r>
            <a:r>
              <a:rPr lang="fr-FR" sz="3400" dirty="0">
                <a:latin typeface="Maiandra GD" pitchFamily="34" charset="0"/>
              </a:rPr>
              <a:t>votre </a:t>
            </a:r>
            <a:r>
              <a:rPr lang="fr-FR" sz="3400" dirty="0" smtClean="0">
                <a:latin typeface="Maiandra GD" pitchFamily="34" charset="0"/>
              </a:rPr>
              <a:t>page. Quel </a:t>
            </a:r>
            <a:r>
              <a:rPr lang="fr-FR" sz="3400" dirty="0">
                <a:latin typeface="Maiandra GD" pitchFamily="34" charset="0"/>
              </a:rPr>
              <a:t>intérêt ? Cela vous permettra de vous rappeler comment fonctionne votre page </a:t>
            </a:r>
            <a:r>
              <a:rPr lang="fr-FR" sz="3400" dirty="0" smtClean="0">
                <a:latin typeface="Maiandra GD" pitchFamily="34" charset="0"/>
              </a:rPr>
              <a:t>si vous </a:t>
            </a:r>
            <a:r>
              <a:rPr lang="fr-FR" sz="3400" dirty="0">
                <a:latin typeface="Maiandra GD" pitchFamily="34" charset="0"/>
              </a:rPr>
              <a:t>revenez sur votre code source après un long moment d'absence. Ne rigolez </a:t>
            </a:r>
            <a:r>
              <a:rPr lang="fr-FR" sz="3400" dirty="0" smtClean="0">
                <a:latin typeface="Maiandra GD" pitchFamily="34" charset="0"/>
              </a:rPr>
              <a:t>pas, cela </a:t>
            </a:r>
            <a:r>
              <a:rPr lang="fr-FR" sz="3400" dirty="0">
                <a:latin typeface="Maiandra GD" pitchFamily="34" charset="0"/>
              </a:rPr>
              <a:t>arrive à tous les webmasters.</a:t>
            </a:r>
          </a:p>
        </p:txBody>
      </p:sp>
    </p:spTree>
    <p:extLst>
      <p:ext uri="{BB962C8B-B14F-4D97-AF65-F5344CB8AC3E}">
        <p14:creationId xmlns:p14="http://schemas.microsoft.com/office/powerpoint/2010/main" val="355869022"/>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23528" y="111770"/>
            <a:ext cx="8229600" cy="940966"/>
          </a:xfrm>
        </p:spPr>
        <p:txBody>
          <a:bodyPr>
            <a:normAutofit/>
          </a:bodyPr>
          <a:lstStyle/>
          <a:p>
            <a:r>
              <a:rPr lang="fr-FR" sz="4800" dirty="0">
                <a:effectLst>
                  <a:outerShdw blurRad="38100" dist="38100" dir="2700000" algn="tl">
                    <a:srgbClr val="000000">
                      <a:alpha val="43137"/>
                    </a:srgbClr>
                  </a:outerShdw>
                </a:effectLst>
                <a:latin typeface="Maiandra GD" pitchFamily="34" charset="0"/>
              </a:rPr>
              <a:t>Insérer un </a:t>
            </a:r>
            <a:r>
              <a:rPr lang="fr-FR" sz="4800" dirty="0" smtClean="0">
                <a:effectLst>
                  <a:outerShdw blurRad="38100" dist="38100" dir="2700000" algn="tl">
                    <a:srgbClr val="000000">
                      <a:alpha val="43137"/>
                    </a:srgbClr>
                  </a:outerShdw>
                </a:effectLst>
                <a:latin typeface="Maiandra GD" pitchFamily="34" charset="0"/>
              </a:rPr>
              <a:t>commentaire</a:t>
            </a:r>
            <a:endParaRPr lang="fr-FR" sz="4800" dirty="0">
              <a:effectLst>
                <a:outerShdw blurRad="38100" dist="38100" dir="2700000" algn="tl">
                  <a:srgbClr val="000000">
                    <a:alpha val="43137"/>
                  </a:srgbClr>
                </a:outerShdw>
              </a:effectLst>
              <a:latin typeface="Maiandra GD" pitchFamily="34" charset="0"/>
            </a:endParaRPr>
          </a:p>
        </p:txBody>
      </p:sp>
      <p:sp>
        <p:nvSpPr>
          <p:cNvPr id="3" name="Espace réservé du contenu 2"/>
          <p:cNvSpPr>
            <a:spLocks noGrp="1"/>
          </p:cNvSpPr>
          <p:nvPr>
            <p:ph idx="1"/>
          </p:nvPr>
        </p:nvSpPr>
        <p:spPr>
          <a:xfrm>
            <a:off x="179512" y="1196752"/>
            <a:ext cx="8712968" cy="5328592"/>
          </a:xfrm>
        </p:spPr>
        <p:txBody>
          <a:bodyPr>
            <a:normAutofit lnSpcReduction="10000"/>
          </a:bodyPr>
          <a:lstStyle/>
          <a:p>
            <a:pPr marL="0" indent="0" algn="just">
              <a:buNone/>
            </a:pPr>
            <a:r>
              <a:rPr lang="fr-FR" dirty="0" smtClean="0">
                <a:latin typeface="Maiandra GD" pitchFamily="34" charset="0"/>
              </a:rPr>
              <a:t>Un </a:t>
            </a:r>
            <a:r>
              <a:rPr lang="fr-FR" dirty="0">
                <a:latin typeface="Maiandra GD" pitchFamily="34" charset="0"/>
              </a:rPr>
              <a:t>commentaire est une balise HTML avec une forme bien spéciale :</a:t>
            </a:r>
          </a:p>
          <a:p>
            <a:pPr marL="0" indent="0" algn="just">
              <a:buNone/>
            </a:pPr>
            <a:endParaRPr lang="fr-FR" dirty="0" smtClean="0">
              <a:latin typeface="Maiandra GD" pitchFamily="34" charset="0"/>
            </a:endParaRPr>
          </a:p>
          <a:p>
            <a:pPr marL="514350" indent="-514350" algn="just">
              <a:buAutoNum type="arabicPlain"/>
            </a:pPr>
            <a:r>
              <a:rPr lang="fr-FR" dirty="0" smtClean="0">
                <a:latin typeface="Maiandra GD" pitchFamily="34" charset="0"/>
              </a:rPr>
              <a:t>&lt;!-- </a:t>
            </a:r>
            <a:r>
              <a:rPr lang="fr-FR" dirty="0">
                <a:latin typeface="Maiandra GD" pitchFamily="34" charset="0"/>
              </a:rPr>
              <a:t>Ceci est un commentaire </a:t>
            </a:r>
            <a:r>
              <a:rPr lang="fr-FR" dirty="0" smtClean="0">
                <a:latin typeface="Maiandra GD" pitchFamily="34" charset="0"/>
              </a:rPr>
              <a:t>--&gt;</a:t>
            </a:r>
          </a:p>
          <a:p>
            <a:pPr marL="0" indent="0" algn="just">
              <a:buNone/>
            </a:pPr>
            <a:endParaRPr lang="fr-FR" dirty="0">
              <a:latin typeface="Maiandra GD" pitchFamily="34" charset="0"/>
            </a:endParaRPr>
          </a:p>
          <a:p>
            <a:pPr marL="0" indent="0" algn="just">
              <a:buNone/>
            </a:pPr>
            <a:r>
              <a:rPr lang="fr-FR" dirty="0">
                <a:latin typeface="Maiandra GD" pitchFamily="34" charset="0"/>
              </a:rPr>
              <a:t>Vous pouvez le mettre où vous voulez au sein de votre code source : il n'a aucun </a:t>
            </a:r>
            <a:r>
              <a:rPr lang="fr-FR" dirty="0" smtClean="0">
                <a:latin typeface="Maiandra GD" pitchFamily="34" charset="0"/>
              </a:rPr>
              <a:t>impact sur </a:t>
            </a:r>
            <a:r>
              <a:rPr lang="fr-FR" dirty="0">
                <a:latin typeface="Maiandra GD" pitchFamily="34" charset="0"/>
              </a:rPr>
              <a:t>votre page, mais vous pouvez vous en servir pour vous aider à vous repérer </a:t>
            </a:r>
            <a:r>
              <a:rPr lang="fr-FR" dirty="0" smtClean="0">
                <a:latin typeface="Maiandra GD" pitchFamily="34" charset="0"/>
              </a:rPr>
              <a:t>dans votre </a:t>
            </a:r>
            <a:r>
              <a:rPr lang="fr-FR" dirty="0">
                <a:latin typeface="Maiandra GD" pitchFamily="34" charset="0"/>
              </a:rPr>
              <a:t>code source (surtout s'il est long).</a:t>
            </a:r>
          </a:p>
        </p:txBody>
      </p:sp>
      <p:cxnSp>
        <p:nvCxnSpPr>
          <p:cNvPr id="4" name="Connecteur droit 3"/>
          <p:cNvCxnSpPr/>
          <p:nvPr/>
        </p:nvCxnSpPr>
        <p:spPr>
          <a:xfrm>
            <a:off x="539552" y="2636912"/>
            <a:ext cx="0" cy="576064"/>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81199932"/>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07504" y="116632"/>
            <a:ext cx="8964488" cy="6552728"/>
          </a:xfrm>
        </p:spPr>
        <p:txBody>
          <a:bodyPr>
            <a:normAutofit fontScale="92500" lnSpcReduction="10000"/>
          </a:bodyPr>
          <a:lstStyle/>
          <a:p>
            <a:pPr marL="0" indent="0">
              <a:buNone/>
            </a:pPr>
            <a:r>
              <a:rPr lang="fr-FR" dirty="0">
                <a:latin typeface="Maiandra GD" pitchFamily="34" charset="0"/>
              </a:rPr>
              <a:t>1 </a:t>
            </a:r>
            <a:r>
              <a:rPr lang="fr-FR" dirty="0" smtClean="0">
                <a:latin typeface="Maiandra GD" pitchFamily="34" charset="0"/>
              </a:rPr>
              <a:t>       &lt;! </a:t>
            </a:r>
            <a:r>
              <a:rPr lang="fr-FR" dirty="0">
                <a:solidFill>
                  <a:srgbClr val="92D050"/>
                </a:solidFill>
                <a:latin typeface="Maiandra GD" pitchFamily="34" charset="0"/>
              </a:rPr>
              <a:t>DOCTYPE html </a:t>
            </a:r>
            <a:r>
              <a:rPr lang="fr-FR" dirty="0">
                <a:latin typeface="Maiandra GD" pitchFamily="34" charset="0"/>
              </a:rPr>
              <a:t>&gt;</a:t>
            </a:r>
          </a:p>
          <a:p>
            <a:pPr marL="0" indent="0">
              <a:buNone/>
            </a:pPr>
            <a:r>
              <a:rPr lang="fr-FR" dirty="0">
                <a:latin typeface="Maiandra GD" pitchFamily="34" charset="0"/>
              </a:rPr>
              <a:t>2 </a:t>
            </a:r>
            <a:r>
              <a:rPr lang="fr-FR" dirty="0" smtClean="0">
                <a:latin typeface="Maiandra GD" pitchFamily="34" charset="0"/>
              </a:rPr>
              <a:t>       &lt;</a:t>
            </a:r>
            <a:r>
              <a:rPr lang="fr-FR" dirty="0">
                <a:solidFill>
                  <a:srgbClr val="92D050"/>
                </a:solidFill>
                <a:latin typeface="Maiandra GD" pitchFamily="34" charset="0"/>
              </a:rPr>
              <a:t>html</a:t>
            </a:r>
            <a:r>
              <a:rPr lang="fr-FR" dirty="0">
                <a:latin typeface="Maiandra GD" pitchFamily="34" charset="0"/>
              </a:rPr>
              <a:t> &gt;</a:t>
            </a:r>
          </a:p>
          <a:p>
            <a:pPr marL="0" indent="0">
              <a:buNone/>
            </a:pPr>
            <a:r>
              <a:rPr lang="fr-FR" dirty="0">
                <a:latin typeface="Maiandra GD" pitchFamily="34" charset="0"/>
              </a:rPr>
              <a:t>3 </a:t>
            </a:r>
            <a:r>
              <a:rPr lang="fr-FR" dirty="0" smtClean="0">
                <a:latin typeface="Maiandra GD" pitchFamily="34" charset="0"/>
              </a:rPr>
              <a:t>               &lt;</a:t>
            </a:r>
            <a:r>
              <a:rPr lang="fr-FR" dirty="0">
                <a:solidFill>
                  <a:srgbClr val="92D050"/>
                </a:solidFill>
                <a:latin typeface="Maiandra GD" pitchFamily="34" charset="0"/>
              </a:rPr>
              <a:t>head</a:t>
            </a:r>
            <a:r>
              <a:rPr lang="fr-FR" dirty="0">
                <a:latin typeface="Maiandra GD" pitchFamily="34" charset="0"/>
              </a:rPr>
              <a:t> &gt;</a:t>
            </a:r>
          </a:p>
          <a:p>
            <a:pPr marL="0" indent="0">
              <a:buNone/>
            </a:pPr>
            <a:r>
              <a:rPr lang="fr-FR" dirty="0">
                <a:latin typeface="Maiandra GD" pitchFamily="34" charset="0"/>
              </a:rPr>
              <a:t>4 </a:t>
            </a:r>
            <a:r>
              <a:rPr lang="fr-FR" dirty="0" smtClean="0">
                <a:latin typeface="Maiandra GD" pitchFamily="34" charset="0"/>
              </a:rPr>
              <a:t>                       </a:t>
            </a:r>
            <a:r>
              <a:rPr lang="fr-FR" dirty="0" smtClean="0">
                <a:solidFill>
                  <a:srgbClr val="00B0F0"/>
                </a:solidFill>
                <a:latin typeface="Maiandra GD" pitchFamily="34" charset="0"/>
              </a:rPr>
              <a:t>&lt;!-- </a:t>
            </a:r>
            <a:r>
              <a:rPr lang="fr-FR" dirty="0">
                <a:solidFill>
                  <a:srgbClr val="00B0F0"/>
                </a:solidFill>
                <a:latin typeface="Maiandra GD" pitchFamily="34" charset="0"/>
              </a:rPr>
              <a:t>En -tête de la page --&gt;</a:t>
            </a:r>
          </a:p>
          <a:p>
            <a:pPr marL="0" indent="0">
              <a:buNone/>
            </a:pPr>
            <a:r>
              <a:rPr lang="sv-SE" dirty="0">
                <a:latin typeface="Maiandra GD" pitchFamily="34" charset="0"/>
              </a:rPr>
              <a:t>5 </a:t>
            </a:r>
            <a:r>
              <a:rPr lang="sv-SE" dirty="0" smtClean="0">
                <a:latin typeface="Maiandra GD" pitchFamily="34" charset="0"/>
              </a:rPr>
              <a:t>                       &lt;</a:t>
            </a:r>
            <a:r>
              <a:rPr lang="sv-SE" dirty="0">
                <a:solidFill>
                  <a:srgbClr val="92D050"/>
                </a:solidFill>
                <a:latin typeface="Maiandra GD" pitchFamily="34" charset="0"/>
              </a:rPr>
              <a:t>meta charset </a:t>
            </a:r>
            <a:r>
              <a:rPr lang="sv-SE" dirty="0">
                <a:latin typeface="Maiandra GD" pitchFamily="34" charset="0"/>
              </a:rPr>
              <a:t>=</a:t>
            </a:r>
            <a:r>
              <a:rPr lang="sv-SE" dirty="0">
                <a:solidFill>
                  <a:srgbClr val="FF0000"/>
                </a:solidFill>
                <a:latin typeface="Maiandra GD" pitchFamily="34" charset="0"/>
              </a:rPr>
              <a:t>"utf -8"</a:t>
            </a:r>
            <a:r>
              <a:rPr lang="sv-SE" dirty="0">
                <a:latin typeface="Maiandra GD" pitchFamily="34" charset="0"/>
              </a:rPr>
              <a:t> /&gt;</a:t>
            </a:r>
          </a:p>
          <a:p>
            <a:pPr marL="0" indent="0">
              <a:buNone/>
            </a:pPr>
            <a:r>
              <a:rPr lang="fr-FR" dirty="0">
                <a:latin typeface="Maiandra GD" pitchFamily="34" charset="0"/>
              </a:rPr>
              <a:t>6 </a:t>
            </a:r>
            <a:r>
              <a:rPr lang="fr-FR" dirty="0" smtClean="0">
                <a:latin typeface="Maiandra GD" pitchFamily="34" charset="0"/>
              </a:rPr>
              <a:t>                       &lt;</a:t>
            </a:r>
            <a:r>
              <a:rPr lang="fr-FR" dirty="0">
                <a:solidFill>
                  <a:srgbClr val="92D050"/>
                </a:solidFill>
                <a:latin typeface="Maiandra GD" pitchFamily="34" charset="0"/>
              </a:rPr>
              <a:t>title</a:t>
            </a:r>
            <a:r>
              <a:rPr lang="fr-FR" dirty="0">
                <a:latin typeface="Maiandra GD" pitchFamily="34" charset="0"/>
              </a:rPr>
              <a:t> &gt;Titre &lt;/ </a:t>
            </a:r>
            <a:r>
              <a:rPr lang="fr-FR" dirty="0">
                <a:solidFill>
                  <a:srgbClr val="92D050"/>
                </a:solidFill>
                <a:latin typeface="Maiandra GD" pitchFamily="34" charset="0"/>
              </a:rPr>
              <a:t>title</a:t>
            </a:r>
            <a:r>
              <a:rPr lang="fr-FR" dirty="0">
                <a:latin typeface="Maiandra GD" pitchFamily="34" charset="0"/>
              </a:rPr>
              <a:t> &gt;</a:t>
            </a:r>
          </a:p>
          <a:p>
            <a:pPr marL="0" indent="0">
              <a:buNone/>
            </a:pPr>
            <a:r>
              <a:rPr lang="fr-FR" dirty="0" smtClean="0">
                <a:latin typeface="Maiandra GD" pitchFamily="34" charset="0"/>
              </a:rPr>
              <a:t>7                &lt;/ </a:t>
            </a:r>
            <a:r>
              <a:rPr lang="fr-FR" dirty="0">
                <a:solidFill>
                  <a:srgbClr val="92D050"/>
                </a:solidFill>
                <a:latin typeface="Maiandra GD" pitchFamily="34" charset="0"/>
              </a:rPr>
              <a:t>head</a:t>
            </a:r>
            <a:r>
              <a:rPr lang="fr-FR" dirty="0">
                <a:latin typeface="Maiandra GD" pitchFamily="34" charset="0"/>
              </a:rPr>
              <a:t> &gt;</a:t>
            </a:r>
          </a:p>
          <a:p>
            <a:pPr marL="0" indent="0">
              <a:buNone/>
            </a:pPr>
            <a:r>
              <a:rPr lang="fr-FR" dirty="0">
                <a:latin typeface="Maiandra GD" pitchFamily="34" charset="0"/>
              </a:rPr>
              <a:t>8</a:t>
            </a:r>
          </a:p>
          <a:p>
            <a:pPr marL="0" indent="0">
              <a:buNone/>
            </a:pPr>
            <a:r>
              <a:rPr lang="fr-FR" dirty="0">
                <a:latin typeface="Maiandra GD" pitchFamily="34" charset="0"/>
              </a:rPr>
              <a:t>9 </a:t>
            </a:r>
            <a:r>
              <a:rPr lang="fr-FR" dirty="0" smtClean="0">
                <a:latin typeface="Maiandra GD" pitchFamily="34" charset="0"/>
              </a:rPr>
              <a:t>              &lt;</a:t>
            </a:r>
            <a:r>
              <a:rPr lang="fr-FR" dirty="0">
                <a:solidFill>
                  <a:srgbClr val="92D050"/>
                </a:solidFill>
                <a:latin typeface="Maiandra GD" pitchFamily="34" charset="0"/>
              </a:rPr>
              <a:t>body</a:t>
            </a:r>
            <a:r>
              <a:rPr lang="fr-FR" dirty="0">
                <a:latin typeface="Maiandra GD" pitchFamily="34" charset="0"/>
              </a:rPr>
              <a:t> &gt;</a:t>
            </a:r>
          </a:p>
          <a:p>
            <a:pPr marL="0" indent="0">
              <a:buNone/>
            </a:pPr>
            <a:r>
              <a:rPr lang="fr-FR" dirty="0">
                <a:latin typeface="Maiandra GD" pitchFamily="34" charset="0"/>
              </a:rPr>
              <a:t>10 </a:t>
            </a:r>
            <a:r>
              <a:rPr lang="fr-FR" dirty="0" smtClean="0">
                <a:latin typeface="Maiandra GD" pitchFamily="34" charset="0"/>
              </a:rPr>
              <a:t>            </a:t>
            </a:r>
            <a:r>
              <a:rPr lang="fr-FR" dirty="0" smtClean="0">
                <a:solidFill>
                  <a:srgbClr val="00B0F0"/>
                </a:solidFill>
                <a:latin typeface="Maiandra GD" pitchFamily="34" charset="0"/>
              </a:rPr>
              <a:t>&lt;!-- </a:t>
            </a:r>
            <a:r>
              <a:rPr lang="fr-FR" dirty="0">
                <a:solidFill>
                  <a:srgbClr val="00B0F0"/>
                </a:solidFill>
                <a:latin typeface="Maiandra GD" pitchFamily="34" charset="0"/>
              </a:rPr>
              <a:t>Corps de la page --&gt;</a:t>
            </a:r>
          </a:p>
          <a:p>
            <a:pPr marL="0" indent="0">
              <a:buNone/>
            </a:pPr>
            <a:r>
              <a:rPr lang="fr-FR" dirty="0">
                <a:latin typeface="Maiandra GD" pitchFamily="34" charset="0"/>
              </a:rPr>
              <a:t>11 </a:t>
            </a:r>
            <a:r>
              <a:rPr lang="fr-FR" dirty="0" smtClean="0">
                <a:latin typeface="Maiandra GD" pitchFamily="34" charset="0"/>
              </a:rPr>
              <a:t>             &lt;/ </a:t>
            </a:r>
            <a:r>
              <a:rPr lang="fr-FR" dirty="0">
                <a:solidFill>
                  <a:srgbClr val="92D050"/>
                </a:solidFill>
                <a:latin typeface="Maiandra GD" pitchFamily="34" charset="0"/>
              </a:rPr>
              <a:t>body</a:t>
            </a:r>
            <a:r>
              <a:rPr lang="fr-FR" dirty="0">
                <a:latin typeface="Maiandra GD" pitchFamily="34" charset="0"/>
              </a:rPr>
              <a:t> &gt;</a:t>
            </a:r>
          </a:p>
          <a:p>
            <a:pPr marL="0" indent="0">
              <a:buNone/>
            </a:pPr>
            <a:r>
              <a:rPr lang="fr-FR" dirty="0">
                <a:latin typeface="Maiandra GD" pitchFamily="34" charset="0"/>
              </a:rPr>
              <a:t>12 </a:t>
            </a:r>
            <a:r>
              <a:rPr lang="fr-FR" dirty="0" smtClean="0">
                <a:latin typeface="Maiandra GD" pitchFamily="34" charset="0"/>
              </a:rPr>
              <a:t>      &lt;/ </a:t>
            </a:r>
            <a:r>
              <a:rPr lang="fr-FR" dirty="0">
                <a:solidFill>
                  <a:srgbClr val="92D050"/>
                </a:solidFill>
                <a:latin typeface="Maiandra GD" pitchFamily="34" charset="0"/>
              </a:rPr>
              <a:t>html</a:t>
            </a:r>
            <a:r>
              <a:rPr lang="fr-FR" dirty="0">
                <a:latin typeface="Maiandra GD" pitchFamily="34" charset="0"/>
              </a:rPr>
              <a:t> &gt;</a:t>
            </a:r>
          </a:p>
        </p:txBody>
      </p:sp>
      <p:cxnSp>
        <p:nvCxnSpPr>
          <p:cNvPr id="5" name="Connecteur droit 4"/>
          <p:cNvCxnSpPr/>
          <p:nvPr/>
        </p:nvCxnSpPr>
        <p:spPr>
          <a:xfrm>
            <a:off x="683568" y="144016"/>
            <a:ext cx="0" cy="6237312"/>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11216163"/>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636912"/>
            <a:ext cx="8229600" cy="1944216"/>
          </a:xfrm>
        </p:spPr>
        <p:txBody>
          <a:bodyPr>
            <a:noAutofit/>
          </a:bodyPr>
          <a:lstStyle/>
          <a:p>
            <a:r>
              <a:rPr lang="fr-FR" sz="4000" dirty="0">
                <a:effectLst>
                  <a:outerShdw blurRad="38100" dist="38100" dir="2700000" algn="tl">
                    <a:srgbClr val="000000">
                      <a:alpha val="43137"/>
                    </a:srgbClr>
                  </a:outerShdw>
                </a:effectLst>
                <a:latin typeface="Maiandra GD" pitchFamily="34" charset="0"/>
              </a:rPr>
              <a:t>Tout le monde peut voir vos commentaires. . . et tout votre code</a:t>
            </a:r>
            <a:br>
              <a:rPr lang="fr-FR" sz="4000" dirty="0">
                <a:effectLst>
                  <a:outerShdw blurRad="38100" dist="38100" dir="2700000" algn="tl">
                    <a:srgbClr val="000000">
                      <a:alpha val="43137"/>
                    </a:srgbClr>
                  </a:outerShdw>
                </a:effectLst>
                <a:latin typeface="Maiandra GD" pitchFamily="34" charset="0"/>
              </a:rPr>
            </a:br>
            <a:r>
              <a:rPr lang="fr-FR" sz="4000" dirty="0">
                <a:effectLst>
                  <a:outerShdw blurRad="38100" dist="38100" dir="2700000" algn="tl">
                    <a:srgbClr val="000000">
                      <a:alpha val="43137"/>
                    </a:srgbClr>
                  </a:outerShdw>
                </a:effectLst>
                <a:latin typeface="Maiandra GD" pitchFamily="34" charset="0"/>
              </a:rPr>
              <a:t>HTML!</a:t>
            </a:r>
          </a:p>
        </p:txBody>
      </p:sp>
    </p:spTree>
    <p:extLst>
      <p:ext uri="{BB962C8B-B14F-4D97-AF65-F5344CB8AC3E}">
        <p14:creationId xmlns:p14="http://schemas.microsoft.com/office/powerpoint/2010/main" val="163878662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404664"/>
            <a:ext cx="8640960" cy="6048672"/>
          </a:xfrm>
        </p:spPr>
        <p:txBody>
          <a:bodyPr>
            <a:normAutofit/>
          </a:bodyPr>
          <a:lstStyle/>
          <a:p>
            <a:pPr marL="0" indent="0" algn="just">
              <a:buNone/>
            </a:pPr>
            <a:r>
              <a:rPr lang="fr-FR" sz="3600" dirty="0">
                <a:latin typeface="Maiandra GD" pitchFamily="34" charset="0"/>
              </a:rPr>
              <a:t>Terminons par une remarque importante : tout le monde peut voir le code HTML de</a:t>
            </a:r>
          </a:p>
          <a:p>
            <a:pPr marL="0" indent="0" algn="just">
              <a:buNone/>
            </a:pPr>
            <a:r>
              <a:rPr lang="fr-FR" sz="3600" dirty="0">
                <a:latin typeface="Maiandra GD" pitchFamily="34" charset="0"/>
              </a:rPr>
              <a:t>votre page une fois celle-ci mise en ligne sur le Web. Il </a:t>
            </a:r>
            <a:r>
              <a:rPr lang="fr-FR" sz="3600" dirty="0" smtClean="0">
                <a:latin typeface="Maiandra GD" pitchFamily="34" charset="0"/>
              </a:rPr>
              <a:t>suffit </a:t>
            </a:r>
            <a:r>
              <a:rPr lang="fr-FR" sz="3600" dirty="0">
                <a:latin typeface="Maiandra GD" pitchFamily="34" charset="0"/>
              </a:rPr>
              <a:t>de faire un clic droit </a:t>
            </a:r>
            <a:r>
              <a:rPr lang="fr-FR" sz="3600" dirty="0" smtClean="0">
                <a:latin typeface="Maiandra GD" pitchFamily="34" charset="0"/>
              </a:rPr>
              <a:t>sur la </a:t>
            </a:r>
            <a:r>
              <a:rPr lang="fr-FR" sz="3600" dirty="0">
                <a:latin typeface="Maiandra GD" pitchFamily="34" charset="0"/>
              </a:rPr>
              <a:t>page et de sélectionner  </a:t>
            </a:r>
            <a:r>
              <a:rPr lang="fr-FR" sz="3600" dirty="0" smtClean="0">
                <a:latin typeface="Maiandra GD" pitchFamily="34" charset="0"/>
              </a:rPr>
              <a:t>Afficher </a:t>
            </a:r>
            <a:r>
              <a:rPr lang="fr-FR" sz="3600" dirty="0">
                <a:latin typeface="Maiandra GD" pitchFamily="34" charset="0"/>
              </a:rPr>
              <a:t>le code source de la page  (l'intitulé peut </a:t>
            </a:r>
            <a:r>
              <a:rPr lang="fr-FR" sz="3600" dirty="0" smtClean="0">
                <a:latin typeface="Maiandra GD" pitchFamily="34" charset="0"/>
              </a:rPr>
              <a:t>changer selon </a:t>
            </a:r>
            <a:r>
              <a:rPr lang="fr-FR" sz="3600" dirty="0">
                <a:latin typeface="Maiandra GD" pitchFamily="34" charset="0"/>
              </a:rPr>
              <a:t>votre navigateur), comme le montre la </a:t>
            </a:r>
            <a:r>
              <a:rPr lang="fr-FR" sz="3600" dirty="0" smtClean="0">
                <a:latin typeface="Maiandra GD" pitchFamily="34" charset="0"/>
              </a:rPr>
              <a:t>figure ci-dessous:</a:t>
            </a:r>
            <a:endParaRPr lang="fr-FR" sz="3600" dirty="0">
              <a:latin typeface="Maiandra GD" pitchFamily="34" charset="0"/>
            </a:endParaRPr>
          </a:p>
        </p:txBody>
      </p:sp>
    </p:spTree>
    <p:extLst>
      <p:ext uri="{BB962C8B-B14F-4D97-AF65-F5344CB8AC3E}">
        <p14:creationId xmlns:p14="http://schemas.microsoft.com/office/powerpoint/2010/main" val="3285044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646040"/>
            <a:ext cx="8229600" cy="1143000"/>
          </a:xfrm>
        </p:spPr>
        <p:txBody>
          <a:bodyPr>
            <a:noAutofit/>
          </a:bodyPr>
          <a:lstStyle/>
          <a:p>
            <a:r>
              <a:rPr lang="fr-FR" sz="7200" dirty="0">
                <a:effectLst>
                  <a:outerShdw blurRad="38100" dist="38100" dir="2700000" algn="tl">
                    <a:srgbClr val="000000">
                      <a:alpha val="43137"/>
                    </a:srgbClr>
                  </a:outerShdw>
                </a:effectLst>
                <a:latin typeface="Maiandra GD" pitchFamily="34" charset="0"/>
              </a:rPr>
              <a:t>En résumé</a:t>
            </a:r>
          </a:p>
        </p:txBody>
      </p:sp>
    </p:spTree>
    <p:extLst>
      <p:ext uri="{BB962C8B-B14F-4D97-AF65-F5344CB8AC3E}">
        <p14:creationId xmlns:p14="http://schemas.microsoft.com/office/powerpoint/2010/main" val="3236583836"/>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260648"/>
            <a:ext cx="8712968" cy="5832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115616" y="6147301"/>
            <a:ext cx="7488832" cy="954107"/>
          </a:xfrm>
          <a:prstGeom prst="rect">
            <a:avLst/>
          </a:prstGeom>
        </p:spPr>
        <p:txBody>
          <a:bodyPr wrap="square">
            <a:spAutoFit/>
          </a:bodyPr>
          <a:lstStyle/>
          <a:p>
            <a:pPr algn="ctr"/>
            <a:r>
              <a:rPr lang="fr-FR" sz="2800" dirty="0">
                <a:effectLst>
                  <a:outerShdw blurRad="38100" dist="38100" dir="2700000" algn="tl">
                    <a:srgbClr val="000000">
                      <a:alpha val="43137"/>
                    </a:srgbClr>
                  </a:outerShdw>
                </a:effectLst>
                <a:latin typeface="Maiandra GD" pitchFamily="34" charset="0"/>
              </a:rPr>
              <a:t>Menu </a:t>
            </a:r>
            <a:r>
              <a:rPr lang="fr-FR" sz="2800" dirty="0" smtClean="0">
                <a:effectLst>
                  <a:outerShdw blurRad="38100" dist="38100" dir="2700000" algn="tl">
                    <a:srgbClr val="000000">
                      <a:alpha val="43137"/>
                    </a:srgbClr>
                  </a:outerShdw>
                </a:effectLst>
                <a:latin typeface="Maiandra GD" pitchFamily="34" charset="0"/>
              </a:rPr>
              <a:t>afficher </a:t>
            </a:r>
            <a:r>
              <a:rPr lang="fr-FR" sz="2800" dirty="0">
                <a:effectLst>
                  <a:outerShdw blurRad="38100" dist="38100" dir="2700000" algn="tl">
                    <a:srgbClr val="000000">
                      <a:alpha val="43137"/>
                    </a:srgbClr>
                  </a:outerShdw>
                </a:effectLst>
                <a:latin typeface="Maiandra GD" pitchFamily="34" charset="0"/>
              </a:rPr>
              <a:t>le code source</a:t>
            </a:r>
          </a:p>
          <a:p>
            <a:endParaRPr lang="fr-FR" sz="2800" dirty="0">
              <a:latin typeface="Maiandra GD" pitchFamily="34" charset="0"/>
            </a:endParaRPr>
          </a:p>
        </p:txBody>
      </p:sp>
    </p:spTree>
    <p:extLst>
      <p:ext uri="{BB962C8B-B14F-4D97-AF65-F5344CB8AC3E}">
        <p14:creationId xmlns:p14="http://schemas.microsoft.com/office/powerpoint/2010/main" val="285123465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188640"/>
            <a:ext cx="8712968" cy="6480720"/>
          </a:xfrm>
        </p:spPr>
        <p:txBody>
          <a:bodyPr>
            <a:normAutofit/>
          </a:bodyPr>
          <a:lstStyle/>
          <a:p>
            <a:pPr marL="0" indent="0" algn="just">
              <a:buNone/>
            </a:pPr>
            <a:r>
              <a:rPr lang="fr-FR" sz="3600" dirty="0" smtClean="0">
                <a:latin typeface="Maiandra GD" pitchFamily="34" charset="0"/>
              </a:rPr>
              <a:t>- On </a:t>
            </a:r>
            <a:r>
              <a:rPr lang="fr-FR" sz="3600" dirty="0">
                <a:latin typeface="Maiandra GD" pitchFamily="34" charset="0"/>
              </a:rPr>
              <a:t>utilise l'éditeur de texte (Notepad++, jEdit, vim. . .) pour créer un </a:t>
            </a:r>
            <a:r>
              <a:rPr lang="fr-FR" sz="3600" dirty="0" smtClean="0">
                <a:latin typeface="Maiandra GD" pitchFamily="34" charset="0"/>
              </a:rPr>
              <a:t>fichier ayant l'extension </a:t>
            </a:r>
            <a:r>
              <a:rPr lang="fr-FR" sz="3600" dirty="0">
                <a:latin typeface="Maiandra GD" pitchFamily="34" charset="0"/>
              </a:rPr>
              <a:t>.html (par exemple : test.html). Ce sera notre page web.</a:t>
            </a:r>
          </a:p>
          <a:p>
            <a:pPr marL="0" indent="0" algn="just">
              <a:buNone/>
            </a:pPr>
            <a:r>
              <a:rPr lang="fr-FR" sz="3600" dirty="0" smtClean="0">
                <a:latin typeface="Maiandra GD" pitchFamily="34" charset="0"/>
              </a:rPr>
              <a:t>- Ce fichier </a:t>
            </a:r>
            <a:r>
              <a:rPr lang="fr-FR" sz="3600" dirty="0">
                <a:latin typeface="Maiandra GD" pitchFamily="34" charset="0"/>
              </a:rPr>
              <a:t>peut être ouvert dans le navigateur web simplement en faisant un </a:t>
            </a:r>
            <a:r>
              <a:rPr lang="fr-FR" sz="3600" dirty="0" smtClean="0">
                <a:latin typeface="Maiandra GD" pitchFamily="34" charset="0"/>
              </a:rPr>
              <a:t>double clic</a:t>
            </a:r>
            <a:r>
              <a:rPr lang="fr-FR" sz="3600" dirty="0">
                <a:latin typeface="Maiandra GD" pitchFamily="34" charset="0"/>
              </a:rPr>
              <a:t> </a:t>
            </a:r>
            <a:r>
              <a:rPr lang="fr-FR" sz="3600" dirty="0" smtClean="0">
                <a:latin typeface="Maiandra GD" pitchFamily="34" charset="0"/>
              </a:rPr>
              <a:t>dessus</a:t>
            </a:r>
            <a:r>
              <a:rPr lang="fr-FR" sz="3600" dirty="0">
                <a:latin typeface="Maiandra GD" pitchFamily="34" charset="0"/>
              </a:rPr>
              <a:t>.</a:t>
            </a:r>
          </a:p>
          <a:p>
            <a:pPr marL="0" indent="0" algn="just">
              <a:buNone/>
            </a:pPr>
            <a:r>
              <a:rPr lang="fr-FR" sz="3600" dirty="0" smtClean="0">
                <a:latin typeface="Maiandra GD" pitchFamily="34" charset="0"/>
              </a:rPr>
              <a:t>- À </a:t>
            </a:r>
            <a:r>
              <a:rPr lang="fr-FR" sz="3600" dirty="0">
                <a:latin typeface="Maiandra GD" pitchFamily="34" charset="0"/>
              </a:rPr>
              <a:t>l'intérieur du </a:t>
            </a:r>
            <a:r>
              <a:rPr lang="fr-FR" sz="3600" dirty="0" smtClean="0">
                <a:latin typeface="Maiandra GD" pitchFamily="34" charset="0"/>
              </a:rPr>
              <a:t>fichier</a:t>
            </a:r>
            <a:r>
              <a:rPr lang="fr-FR" sz="3600" dirty="0">
                <a:latin typeface="Maiandra GD" pitchFamily="34" charset="0"/>
              </a:rPr>
              <a:t>, nous écrirons le contenu de notre page, accompagné de </a:t>
            </a:r>
            <a:r>
              <a:rPr lang="fr-FR" sz="3600" dirty="0" smtClean="0">
                <a:latin typeface="Maiandra GD" pitchFamily="34" charset="0"/>
              </a:rPr>
              <a:t>balises HTML</a:t>
            </a:r>
            <a:r>
              <a:rPr lang="fr-FR" sz="3600" dirty="0">
                <a:latin typeface="Maiandra GD" pitchFamily="34" charset="0"/>
              </a:rPr>
              <a:t>.</a:t>
            </a:r>
          </a:p>
        </p:txBody>
      </p:sp>
    </p:spTree>
    <p:extLst>
      <p:ext uri="{BB962C8B-B14F-4D97-AF65-F5344CB8AC3E}">
        <p14:creationId xmlns:p14="http://schemas.microsoft.com/office/powerpoint/2010/main" val="2409647558"/>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404664"/>
            <a:ext cx="8640960" cy="6048672"/>
          </a:xfrm>
        </p:spPr>
        <p:txBody>
          <a:bodyPr>
            <a:normAutofit/>
          </a:bodyPr>
          <a:lstStyle/>
          <a:p>
            <a:pPr marL="0" indent="0" algn="just">
              <a:buNone/>
            </a:pPr>
            <a:r>
              <a:rPr lang="fr-FR" sz="3600" dirty="0" smtClean="0">
                <a:latin typeface="Maiandra GD" pitchFamily="34" charset="0"/>
              </a:rPr>
              <a:t>- Les </a:t>
            </a:r>
            <a:r>
              <a:rPr lang="fr-FR" sz="3600" dirty="0">
                <a:latin typeface="Maiandra GD" pitchFamily="34" charset="0"/>
              </a:rPr>
              <a:t>balises peuvent avoir plusieurs formes :</a:t>
            </a:r>
          </a:p>
          <a:p>
            <a:pPr marL="0" indent="0" algn="just">
              <a:buNone/>
            </a:pPr>
            <a:r>
              <a:rPr lang="fr-FR" sz="3600" dirty="0" smtClean="0">
                <a:latin typeface="Maiandra GD" pitchFamily="34" charset="0"/>
              </a:rPr>
              <a:t>- &lt;</a:t>
            </a:r>
            <a:r>
              <a:rPr lang="fr-FR" sz="3600" dirty="0">
                <a:latin typeface="Maiandra GD" pitchFamily="34" charset="0"/>
              </a:rPr>
              <a:t>balise&gt; &lt;/balise&gt; : elles s'ouvrent et se ferment pour délimiter le </a:t>
            </a:r>
            <a:r>
              <a:rPr lang="fr-FR" sz="3600" dirty="0" smtClean="0">
                <a:latin typeface="Maiandra GD" pitchFamily="34" charset="0"/>
              </a:rPr>
              <a:t>contenu (début </a:t>
            </a:r>
            <a:r>
              <a:rPr lang="fr-FR" sz="3600" dirty="0">
                <a:latin typeface="Maiandra GD" pitchFamily="34" charset="0"/>
              </a:rPr>
              <a:t>et </a:t>
            </a:r>
            <a:r>
              <a:rPr lang="fr-FR" sz="3600" dirty="0" smtClean="0">
                <a:latin typeface="Maiandra GD" pitchFamily="34" charset="0"/>
              </a:rPr>
              <a:t>fin </a:t>
            </a:r>
            <a:r>
              <a:rPr lang="fr-FR" sz="3600" dirty="0">
                <a:latin typeface="Maiandra GD" pitchFamily="34" charset="0"/>
              </a:rPr>
              <a:t>d'un titre, par exemple).</a:t>
            </a:r>
          </a:p>
          <a:p>
            <a:pPr marL="0" indent="0" algn="just">
              <a:buNone/>
            </a:pPr>
            <a:r>
              <a:rPr lang="fr-FR" sz="3600" dirty="0" smtClean="0">
                <a:latin typeface="Maiandra GD" pitchFamily="34" charset="0"/>
              </a:rPr>
              <a:t>- &lt;</a:t>
            </a:r>
            <a:r>
              <a:rPr lang="fr-FR" sz="3600" dirty="0">
                <a:latin typeface="Maiandra GD" pitchFamily="34" charset="0"/>
              </a:rPr>
              <a:t>balise /&gt; : balises orphelines (on ne les insère qu'en un seul exemplaire), </a:t>
            </a:r>
            <a:r>
              <a:rPr lang="fr-FR" sz="3600" dirty="0" smtClean="0">
                <a:latin typeface="Maiandra GD" pitchFamily="34" charset="0"/>
              </a:rPr>
              <a:t>elles permettent </a:t>
            </a:r>
            <a:r>
              <a:rPr lang="fr-FR" sz="3600" dirty="0">
                <a:latin typeface="Maiandra GD" pitchFamily="34" charset="0"/>
              </a:rPr>
              <a:t>d'insérer un élément à un endroit précis (par exemple une image).</a:t>
            </a:r>
          </a:p>
        </p:txBody>
      </p:sp>
    </p:spTree>
    <p:extLst>
      <p:ext uri="{BB962C8B-B14F-4D97-AF65-F5344CB8AC3E}">
        <p14:creationId xmlns:p14="http://schemas.microsoft.com/office/powerpoint/2010/main" val="333863153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404664"/>
            <a:ext cx="8640960" cy="6120680"/>
          </a:xfrm>
        </p:spPr>
        <p:txBody>
          <a:bodyPr/>
          <a:lstStyle/>
          <a:p>
            <a:pPr marL="0" indent="0" algn="just">
              <a:buNone/>
            </a:pPr>
            <a:r>
              <a:rPr lang="fr-FR" dirty="0" smtClean="0">
                <a:latin typeface="Maiandra GD" pitchFamily="34" charset="0"/>
              </a:rPr>
              <a:t>- Les </a:t>
            </a:r>
            <a:r>
              <a:rPr lang="fr-FR" dirty="0">
                <a:latin typeface="Maiandra GD" pitchFamily="34" charset="0"/>
              </a:rPr>
              <a:t>balises sont parfois accompagnées d'attributs pour donner des indications </a:t>
            </a:r>
            <a:r>
              <a:rPr lang="fr-FR" dirty="0" smtClean="0">
                <a:latin typeface="Maiandra GD" pitchFamily="34" charset="0"/>
              </a:rPr>
              <a:t>supplémentaires </a:t>
            </a:r>
            <a:r>
              <a:rPr lang="fr-FR" dirty="0">
                <a:latin typeface="Maiandra GD" pitchFamily="34" charset="0"/>
              </a:rPr>
              <a:t>(exemple : &lt;image nom="photo.jpg" /&gt;).</a:t>
            </a:r>
          </a:p>
          <a:p>
            <a:pPr marL="0" indent="0" algn="just">
              <a:buNone/>
            </a:pPr>
            <a:r>
              <a:rPr lang="fr-FR" dirty="0" smtClean="0">
                <a:latin typeface="Maiandra GD" pitchFamily="34" charset="0"/>
              </a:rPr>
              <a:t>- Une </a:t>
            </a:r>
            <a:r>
              <a:rPr lang="fr-FR" dirty="0">
                <a:latin typeface="Maiandra GD" pitchFamily="34" charset="0"/>
              </a:rPr>
              <a:t>page web est constituée de deux sections principales : un en-tête (&lt;head&gt;) et </a:t>
            </a:r>
            <a:r>
              <a:rPr lang="fr-FR" dirty="0" smtClean="0">
                <a:latin typeface="Maiandra GD" pitchFamily="34" charset="0"/>
              </a:rPr>
              <a:t>un corps </a:t>
            </a:r>
            <a:r>
              <a:rPr lang="fr-FR" dirty="0">
                <a:latin typeface="Maiandra GD" pitchFamily="34" charset="0"/>
              </a:rPr>
              <a:t>(&lt;body&gt;).</a:t>
            </a:r>
          </a:p>
          <a:p>
            <a:pPr marL="0" indent="0" algn="just">
              <a:buNone/>
            </a:pPr>
            <a:r>
              <a:rPr lang="fr-FR" dirty="0" smtClean="0">
                <a:latin typeface="Maiandra GD" pitchFamily="34" charset="0"/>
              </a:rPr>
              <a:t>- On </a:t>
            </a:r>
            <a:r>
              <a:rPr lang="fr-FR" dirty="0">
                <a:latin typeface="Maiandra GD" pitchFamily="34" charset="0"/>
              </a:rPr>
              <a:t>peut </a:t>
            </a:r>
            <a:r>
              <a:rPr lang="fr-FR" dirty="0" smtClean="0">
                <a:latin typeface="Maiandra GD" pitchFamily="34" charset="0"/>
              </a:rPr>
              <a:t>afficher </a:t>
            </a:r>
            <a:r>
              <a:rPr lang="fr-FR" dirty="0">
                <a:latin typeface="Maiandra GD" pitchFamily="34" charset="0"/>
              </a:rPr>
              <a:t>le code source de n'importe quelle page web en faisant un clic </a:t>
            </a:r>
            <a:r>
              <a:rPr lang="fr-FR" dirty="0" smtClean="0">
                <a:latin typeface="Maiandra GD" pitchFamily="34" charset="0"/>
              </a:rPr>
              <a:t>droit puis </a:t>
            </a:r>
            <a:r>
              <a:rPr lang="fr-FR" dirty="0">
                <a:latin typeface="Maiandra GD" pitchFamily="34" charset="0"/>
              </a:rPr>
              <a:t>en sélectionnant Afficher le code source de la page.</a:t>
            </a:r>
          </a:p>
        </p:txBody>
      </p:sp>
    </p:spTree>
    <p:extLst>
      <p:ext uri="{BB962C8B-B14F-4D97-AF65-F5344CB8AC3E}">
        <p14:creationId xmlns:p14="http://schemas.microsoft.com/office/powerpoint/2010/main" val="131718902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22313" y="2564904"/>
            <a:ext cx="7772400" cy="1362075"/>
          </a:xfrm>
        </p:spPr>
        <p:txBody>
          <a:bodyPr>
            <a:normAutofit/>
          </a:bodyPr>
          <a:lstStyle/>
          <a:p>
            <a:pPr algn="ctr"/>
            <a:r>
              <a:rPr lang="fr-FR" sz="4800" b="0" dirty="0">
                <a:effectLst>
                  <a:outerShdw blurRad="38100" dist="38100" dir="2700000" algn="tl">
                    <a:srgbClr val="000000">
                      <a:alpha val="43137"/>
                    </a:srgbClr>
                  </a:outerShdw>
                </a:effectLst>
                <a:latin typeface="Maiandra GD" pitchFamily="34" charset="0"/>
              </a:rPr>
              <a:t>Organiser son </a:t>
            </a:r>
            <a:r>
              <a:rPr lang="fr-FR" sz="4800" b="0" dirty="0" smtClean="0">
                <a:effectLst>
                  <a:outerShdw blurRad="38100" dist="38100" dir="2700000" algn="tl">
                    <a:srgbClr val="000000">
                      <a:alpha val="43137"/>
                    </a:srgbClr>
                  </a:outerShdw>
                </a:effectLst>
                <a:latin typeface="Maiandra GD" pitchFamily="34" charset="0"/>
              </a:rPr>
              <a:t>texte</a:t>
            </a:r>
            <a:endParaRPr lang="fr-FR" sz="4800" dirty="0">
              <a:effectLst>
                <a:outerShdw blurRad="38100" dist="38100" dir="2700000" algn="tl">
                  <a:srgbClr val="000000">
                    <a:alpha val="43137"/>
                  </a:srgbClr>
                </a:outerShdw>
              </a:effectLst>
              <a:latin typeface="Maiandra GD" pitchFamily="34" charset="0"/>
            </a:endParaRPr>
          </a:p>
        </p:txBody>
      </p:sp>
    </p:spTree>
    <p:extLst>
      <p:ext uri="{BB962C8B-B14F-4D97-AF65-F5344CB8AC3E}">
        <p14:creationId xmlns:p14="http://schemas.microsoft.com/office/powerpoint/2010/main" val="3792277766"/>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620688"/>
            <a:ext cx="8229600" cy="5505475"/>
          </a:xfrm>
        </p:spPr>
        <p:txBody>
          <a:bodyPr>
            <a:normAutofit/>
          </a:bodyPr>
          <a:lstStyle/>
          <a:p>
            <a:pPr marL="0" indent="0" algn="just">
              <a:buNone/>
            </a:pPr>
            <a:endParaRPr lang="fr-FR" sz="3600" dirty="0" smtClean="0">
              <a:latin typeface="Maiandra GD" pitchFamily="34" charset="0"/>
            </a:endParaRPr>
          </a:p>
          <a:p>
            <a:pPr marL="0" indent="0" algn="just">
              <a:buNone/>
            </a:pPr>
            <a:r>
              <a:rPr lang="fr-FR" sz="3600" dirty="0" smtClean="0">
                <a:latin typeface="Maiandra GD" pitchFamily="34" charset="0"/>
              </a:rPr>
              <a:t>Nous </a:t>
            </a:r>
            <a:r>
              <a:rPr lang="fr-FR" sz="3600" dirty="0">
                <a:latin typeface="Maiandra GD" pitchFamily="34" charset="0"/>
              </a:rPr>
              <a:t>allons découvrir de nombreuses balises HTML dans ce chapitre. Certaines </a:t>
            </a:r>
            <a:r>
              <a:rPr lang="fr-FR" sz="3600" dirty="0" smtClean="0">
                <a:latin typeface="Maiandra GD" pitchFamily="34" charset="0"/>
              </a:rPr>
              <a:t>existent depuis </a:t>
            </a:r>
            <a:r>
              <a:rPr lang="fr-FR" sz="3600" dirty="0">
                <a:latin typeface="Maiandra GD" pitchFamily="34" charset="0"/>
              </a:rPr>
              <a:t>la toute </a:t>
            </a:r>
            <a:r>
              <a:rPr lang="fr-FR" sz="3600" dirty="0" smtClean="0">
                <a:latin typeface="Maiandra GD" pitchFamily="34" charset="0"/>
              </a:rPr>
              <a:t> première </a:t>
            </a:r>
            <a:r>
              <a:rPr lang="fr-FR" sz="3600" dirty="0">
                <a:latin typeface="Maiandra GD" pitchFamily="34" charset="0"/>
              </a:rPr>
              <a:t>version de HTML, d'autres ont été introduites plus </a:t>
            </a:r>
            <a:r>
              <a:rPr lang="fr-FR" sz="3600" dirty="0" smtClean="0">
                <a:latin typeface="Maiandra GD" pitchFamily="34" charset="0"/>
              </a:rPr>
              <a:t>récemment dans </a:t>
            </a:r>
            <a:r>
              <a:rPr lang="fr-FR" sz="3600" dirty="0">
                <a:latin typeface="Maiandra GD" pitchFamily="34" charset="0"/>
              </a:rPr>
              <a:t>HTML5.</a:t>
            </a:r>
          </a:p>
        </p:txBody>
      </p:sp>
    </p:spTree>
    <p:extLst>
      <p:ext uri="{BB962C8B-B14F-4D97-AF65-F5344CB8AC3E}">
        <p14:creationId xmlns:p14="http://schemas.microsoft.com/office/powerpoint/2010/main" val="99174208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23528" y="260648"/>
            <a:ext cx="8568952" cy="6264696"/>
          </a:xfrm>
        </p:spPr>
        <p:txBody>
          <a:bodyPr>
            <a:normAutofit/>
          </a:bodyPr>
          <a:lstStyle/>
          <a:p>
            <a:pPr marL="0" indent="0" algn="just">
              <a:buNone/>
            </a:pPr>
            <a:r>
              <a:rPr lang="fr-FR" sz="3600" dirty="0">
                <a:latin typeface="Maiandra GD" pitchFamily="34" charset="0"/>
              </a:rPr>
              <a:t>Nous allons voir successivement dans ce chapitre :</a:t>
            </a:r>
          </a:p>
          <a:p>
            <a:pPr marL="0" indent="0" algn="just">
              <a:buNone/>
            </a:pPr>
            <a:r>
              <a:rPr lang="fr-FR" sz="3600" dirty="0" smtClean="0">
                <a:latin typeface="Maiandra GD" pitchFamily="34" charset="0"/>
              </a:rPr>
              <a:t>-  Comment </a:t>
            </a:r>
            <a:r>
              <a:rPr lang="fr-FR" sz="3600" dirty="0">
                <a:latin typeface="Maiandra GD" pitchFamily="34" charset="0"/>
              </a:rPr>
              <a:t>rédiger des paragraphes ;</a:t>
            </a:r>
          </a:p>
          <a:p>
            <a:pPr marL="0" indent="0" algn="just">
              <a:buNone/>
            </a:pPr>
            <a:r>
              <a:rPr lang="fr-FR" sz="3600" dirty="0" smtClean="0">
                <a:latin typeface="Maiandra GD" pitchFamily="34" charset="0"/>
              </a:rPr>
              <a:t>- Comment </a:t>
            </a:r>
            <a:r>
              <a:rPr lang="fr-FR" sz="3600" dirty="0">
                <a:latin typeface="Maiandra GD" pitchFamily="34" charset="0"/>
              </a:rPr>
              <a:t>structurer sa page avec les titres ;</a:t>
            </a:r>
          </a:p>
          <a:p>
            <a:pPr marL="0" indent="0" algn="just">
              <a:buNone/>
            </a:pPr>
            <a:r>
              <a:rPr lang="fr-FR" sz="3600" dirty="0" smtClean="0">
                <a:latin typeface="Maiandra GD" pitchFamily="34" charset="0"/>
              </a:rPr>
              <a:t>- Comment </a:t>
            </a:r>
            <a:r>
              <a:rPr lang="fr-FR" sz="3600" dirty="0">
                <a:latin typeface="Maiandra GD" pitchFamily="34" charset="0"/>
              </a:rPr>
              <a:t>donner de l'importance à certains mots de son texte ;</a:t>
            </a:r>
          </a:p>
          <a:p>
            <a:pPr marL="0" indent="0" algn="just">
              <a:buNone/>
            </a:pPr>
            <a:r>
              <a:rPr lang="fr-FR" sz="3600" dirty="0" smtClean="0">
                <a:latin typeface="Maiandra GD" pitchFamily="34" charset="0"/>
              </a:rPr>
              <a:t>- Comment </a:t>
            </a:r>
            <a:r>
              <a:rPr lang="fr-FR" sz="3600" dirty="0">
                <a:latin typeface="Maiandra GD" pitchFamily="34" charset="0"/>
              </a:rPr>
              <a:t>organiser les informations sous forme de listes.</a:t>
            </a:r>
          </a:p>
        </p:txBody>
      </p:sp>
    </p:spTree>
    <p:extLst>
      <p:ext uri="{BB962C8B-B14F-4D97-AF65-F5344CB8AC3E}">
        <p14:creationId xmlns:p14="http://schemas.microsoft.com/office/powerpoint/2010/main" val="1591618299"/>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188640"/>
            <a:ext cx="8229600" cy="850106"/>
          </a:xfrm>
        </p:spPr>
        <p:txBody>
          <a:bodyPr>
            <a:noAutofit/>
          </a:bodyPr>
          <a:lstStyle/>
          <a:p>
            <a:r>
              <a:rPr lang="fr-FR" sz="5400" dirty="0">
                <a:effectLst>
                  <a:outerShdw blurRad="38100" dist="38100" dir="2700000" algn="tl">
                    <a:srgbClr val="000000">
                      <a:alpha val="43137"/>
                    </a:srgbClr>
                  </a:outerShdw>
                </a:effectLst>
              </a:rPr>
              <a:t>Les paragraphes</a:t>
            </a:r>
          </a:p>
        </p:txBody>
      </p:sp>
      <p:sp>
        <p:nvSpPr>
          <p:cNvPr id="3" name="Espace réservé du contenu 2"/>
          <p:cNvSpPr>
            <a:spLocks noGrp="1"/>
          </p:cNvSpPr>
          <p:nvPr>
            <p:ph idx="1"/>
          </p:nvPr>
        </p:nvSpPr>
        <p:spPr>
          <a:xfrm>
            <a:off x="179512" y="1124744"/>
            <a:ext cx="8784976" cy="5472608"/>
          </a:xfrm>
        </p:spPr>
        <p:txBody>
          <a:bodyPr/>
          <a:lstStyle/>
          <a:p>
            <a:pPr marL="0" indent="0" algn="just">
              <a:buNone/>
            </a:pPr>
            <a:r>
              <a:rPr lang="fr-FR" dirty="0" smtClean="0">
                <a:latin typeface="Maiandra GD" pitchFamily="34" charset="0"/>
              </a:rPr>
              <a:t>La plupart </a:t>
            </a:r>
            <a:r>
              <a:rPr lang="fr-FR" dirty="0">
                <a:latin typeface="Maiandra GD" pitchFamily="34" charset="0"/>
              </a:rPr>
              <a:t>du temps, lorsqu'on écrit du texte dans une page web, on le fait à </a:t>
            </a:r>
            <a:r>
              <a:rPr lang="fr-FR" dirty="0" smtClean="0">
                <a:latin typeface="Maiandra GD" pitchFamily="34" charset="0"/>
              </a:rPr>
              <a:t>l'intérieur de </a:t>
            </a:r>
            <a:r>
              <a:rPr lang="fr-FR" dirty="0">
                <a:latin typeface="Maiandra GD" pitchFamily="34" charset="0"/>
              </a:rPr>
              <a:t>paragraphes. Le langage HTML propose justement la balise &lt;p&gt; pour délimiter </a:t>
            </a:r>
            <a:r>
              <a:rPr lang="fr-FR" dirty="0" smtClean="0">
                <a:latin typeface="Maiandra GD" pitchFamily="34" charset="0"/>
              </a:rPr>
              <a:t>les paragraphes</a:t>
            </a:r>
            <a:r>
              <a:rPr lang="fr-FR" dirty="0">
                <a:latin typeface="Maiandra GD" pitchFamily="34" charset="0"/>
              </a:rPr>
              <a:t>.</a:t>
            </a:r>
          </a:p>
          <a:p>
            <a:pPr marL="0" indent="0">
              <a:buNone/>
            </a:pPr>
            <a:endParaRPr lang="fr-FR" sz="2000" dirty="0" smtClean="0">
              <a:latin typeface="Maiandra GD" pitchFamily="34" charset="0"/>
            </a:endParaRPr>
          </a:p>
          <a:p>
            <a:pPr marL="0" indent="0">
              <a:buNone/>
            </a:pPr>
            <a:r>
              <a:rPr lang="fr-FR" dirty="0" smtClean="0">
                <a:latin typeface="Maiandra GD" pitchFamily="34" charset="0"/>
              </a:rPr>
              <a:t>1 </a:t>
            </a:r>
            <a:r>
              <a:rPr lang="fr-FR" dirty="0">
                <a:latin typeface="Maiandra GD" pitchFamily="34" charset="0"/>
              </a:rPr>
              <a:t>&lt;p&gt;Bonjour et bienvenue sur mon site !&lt;/p</a:t>
            </a:r>
            <a:r>
              <a:rPr lang="fr-FR" dirty="0" smtClean="0">
                <a:latin typeface="Maiandra GD" pitchFamily="34" charset="0"/>
              </a:rPr>
              <a:t>&gt;</a:t>
            </a:r>
          </a:p>
          <a:p>
            <a:pPr marL="0" indent="0">
              <a:buNone/>
            </a:pPr>
            <a:endParaRPr lang="fr-FR" sz="1800" dirty="0">
              <a:latin typeface="Maiandra GD" pitchFamily="34" charset="0"/>
            </a:endParaRPr>
          </a:p>
          <a:p>
            <a:pPr marL="0" indent="0">
              <a:buNone/>
            </a:pPr>
            <a:r>
              <a:rPr lang="fr-FR" dirty="0">
                <a:latin typeface="Maiandra GD" pitchFamily="34" charset="0"/>
              </a:rPr>
              <a:t> &lt;p&gt; </a:t>
            </a:r>
            <a:r>
              <a:rPr lang="fr-FR" dirty="0" smtClean="0">
                <a:latin typeface="Maiandra GD" pitchFamily="34" charset="0"/>
              </a:rPr>
              <a:t>signifie  </a:t>
            </a:r>
            <a:r>
              <a:rPr lang="fr-FR" dirty="0">
                <a:latin typeface="Maiandra GD" pitchFamily="34" charset="0"/>
              </a:rPr>
              <a:t>Début du paragraphe  ;</a:t>
            </a:r>
          </a:p>
          <a:p>
            <a:pPr marL="0" indent="0">
              <a:buNone/>
            </a:pPr>
            <a:r>
              <a:rPr lang="fr-FR" dirty="0">
                <a:latin typeface="Maiandra GD" pitchFamily="34" charset="0"/>
              </a:rPr>
              <a:t> &lt;/p&gt; </a:t>
            </a:r>
            <a:r>
              <a:rPr lang="fr-FR" dirty="0" smtClean="0">
                <a:latin typeface="Maiandra GD" pitchFamily="34" charset="0"/>
              </a:rPr>
              <a:t>signifie  </a:t>
            </a:r>
            <a:r>
              <a:rPr lang="fr-FR" dirty="0">
                <a:latin typeface="Maiandra GD" pitchFamily="34" charset="0"/>
              </a:rPr>
              <a:t>Fin du paragraphe .</a:t>
            </a:r>
          </a:p>
        </p:txBody>
      </p:sp>
      <p:cxnSp>
        <p:nvCxnSpPr>
          <p:cNvPr id="5" name="Connecteur droit 4"/>
          <p:cNvCxnSpPr/>
          <p:nvPr/>
        </p:nvCxnSpPr>
        <p:spPr>
          <a:xfrm>
            <a:off x="467544" y="3789040"/>
            <a:ext cx="0" cy="108012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96780174"/>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404664"/>
            <a:ext cx="8568952" cy="6048672"/>
          </a:xfrm>
        </p:spPr>
        <p:txBody>
          <a:bodyPr>
            <a:normAutofit/>
          </a:bodyPr>
          <a:lstStyle/>
          <a:p>
            <a:pPr marL="0" indent="0" algn="just">
              <a:buNone/>
            </a:pPr>
            <a:r>
              <a:rPr lang="fr-FR" sz="3600" dirty="0">
                <a:latin typeface="Maiandra GD" pitchFamily="34" charset="0"/>
              </a:rPr>
              <a:t>Comme je vous l'ai dit au chapitre précédent, on écrit le contenu du site web entre </a:t>
            </a:r>
            <a:r>
              <a:rPr lang="fr-FR" sz="3600" dirty="0" smtClean="0">
                <a:latin typeface="Maiandra GD" pitchFamily="34" charset="0"/>
              </a:rPr>
              <a:t>les balises </a:t>
            </a:r>
            <a:r>
              <a:rPr lang="fr-FR" sz="3600" dirty="0">
                <a:latin typeface="Maiandra GD" pitchFamily="34" charset="0"/>
              </a:rPr>
              <a:t>&lt;body&gt;&lt;/body&gt;. Il nous </a:t>
            </a:r>
            <a:r>
              <a:rPr lang="fr-FR" sz="3600" dirty="0" smtClean="0">
                <a:latin typeface="Maiandra GD" pitchFamily="34" charset="0"/>
              </a:rPr>
              <a:t>suffit </a:t>
            </a:r>
            <a:r>
              <a:rPr lang="fr-FR" sz="3600" dirty="0">
                <a:latin typeface="Maiandra GD" pitchFamily="34" charset="0"/>
              </a:rPr>
              <a:t>donc de mettre notre paragraphe entre ces </a:t>
            </a:r>
            <a:r>
              <a:rPr lang="fr-FR" sz="3600" dirty="0" smtClean="0">
                <a:latin typeface="Maiandra GD" pitchFamily="34" charset="0"/>
              </a:rPr>
              <a:t>deux balises </a:t>
            </a:r>
            <a:r>
              <a:rPr lang="fr-FR" sz="3600" dirty="0">
                <a:latin typeface="Maiandra GD" pitchFamily="34" charset="0"/>
              </a:rPr>
              <a:t>et nous aurons </a:t>
            </a:r>
            <a:r>
              <a:rPr lang="fr-FR" sz="3600" dirty="0" smtClean="0">
                <a:latin typeface="Maiandra GD" pitchFamily="34" charset="0"/>
              </a:rPr>
              <a:t>enfin </a:t>
            </a:r>
            <a:r>
              <a:rPr lang="fr-FR" sz="3600" dirty="0">
                <a:latin typeface="Maiandra GD" pitchFamily="34" charset="0"/>
              </a:rPr>
              <a:t>notre première vraie page web avec du texte </a:t>
            </a:r>
            <a:r>
              <a:rPr lang="fr-FR" sz="3600" dirty="0" smtClean="0">
                <a:latin typeface="Maiandra GD" pitchFamily="34" charset="0"/>
              </a:rPr>
              <a:t>! Je </a:t>
            </a:r>
            <a:r>
              <a:rPr lang="fr-FR" sz="3600" dirty="0">
                <a:latin typeface="Maiandra GD" pitchFamily="34" charset="0"/>
              </a:rPr>
              <a:t>reprends donc exactement le même code qu'au chapitre précédent et j'y ajoute </a:t>
            </a:r>
            <a:r>
              <a:rPr lang="fr-FR" sz="3600" dirty="0" smtClean="0">
                <a:latin typeface="Maiandra GD" pitchFamily="34" charset="0"/>
              </a:rPr>
              <a:t>mon paragraphe </a:t>
            </a:r>
            <a:r>
              <a:rPr lang="fr-FR" sz="3600" dirty="0">
                <a:latin typeface="Maiandra GD" pitchFamily="34" charset="0"/>
              </a:rPr>
              <a:t>:</a:t>
            </a:r>
          </a:p>
        </p:txBody>
      </p:sp>
    </p:spTree>
    <p:extLst>
      <p:ext uri="{BB962C8B-B14F-4D97-AF65-F5344CB8AC3E}">
        <p14:creationId xmlns:p14="http://schemas.microsoft.com/office/powerpoint/2010/main" val="292414792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07504" y="116632"/>
            <a:ext cx="8964488" cy="6552728"/>
          </a:xfrm>
        </p:spPr>
        <p:txBody>
          <a:bodyPr>
            <a:normAutofit fontScale="92500" lnSpcReduction="10000"/>
          </a:bodyPr>
          <a:lstStyle/>
          <a:p>
            <a:pPr marL="0" indent="0">
              <a:buNone/>
            </a:pPr>
            <a:r>
              <a:rPr lang="fr-FR" dirty="0">
                <a:latin typeface="Maiandra GD" pitchFamily="34" charset="0"/>
              </a:rPr>
              <a:t>1 </a:t>
            </a:r>
            <a:r>
              <a:rPr lang="fr-FR" dirty="0" smtClean="0">
                <a:latin typeface="Maiandra GD" pitchFamily="34" charset="0"/>
              </a:rPr>
              <a:t>       &lt;! </a:t>
            </a:r>
            <a:r>
              <a:rPr lang="fr-FR" dirty="0">
                <a:solidFill>
                  <a:srgbClr val="92D050"/>
                </a:solidFill>
                <a:latin typeface="Maiandra GD" pitchFamily="34" charset="0"/>
              </a:rPr>
              <a:t>DOCTYPE html </a:t>
            </a:r>
            <a:r>
              <a:rPr lang="fr-FR" dirty="0">
                <a:latin typeface="Maiandra GD" pitchFamily="34" charset="0"/>
              </a:rPr>
              <a:t>&gt;</a:t>
            </a:r>
          </a:p>
          <a:p>
            <a:pPr marL="0" indent="0">
              <a:buNone/>
            </a:pPr>
            <a:r>
              <a:rPr lang="fr-FR" dirty="0">
                <a:latin typeface="Maiandra GD" pitchFamily="34" charset="0"/>
              </a:rPr>
              <a:t>2 </a:t>
            </a:r>
            <a:r>
              <a:rPr lang="fr-FR" dirty="0" smtClean="0">
                <a:latin typeface="Maiandra GD" pitchFamily="34" charset="0"/>
              </a:rPr>
              <a:t>       &lt;</a:t>
            </a:r>
            <a:r>
              <a:rPr lang="fr-FR" dirty="0">
                <a:solidFill>
                  <a:srgbClr val="92D050"/>
                </a:solidFill>
                <a:latin typeface="Maiandra GD" pitchFamily="34" charset="0"/>
              </a:rPr>
              <a:t>html</a:t>
            </a:r>
            <a:r>
              <a:rPr lang="fr-FR" dirty="0">
                <a:latin typeface="Maiandra GD" pitchFamily="34" charset="0"/>
              </a:rPr>
              <a:t> &gt;</a:t>
            </a:r>
          </a:p>
          <a:p>
            <a:pPr marL="0" indent="0">
              <a:buNone/>
            </a:pPr>
            <a:r>
              <a:rPr lang="fr-FR" dirty="0">
                <a:latin typeface="Maiandra GD" pitchFamily="34" charset="0"/>
              </a:rPr>
              <a:t>3 </a:t>
            </a:r>
            <a:r>
              <a:rPr lang="fr-FR" dirty="0" smtClean="0">
                <a:latin typeface="Maiandra GD" pitchFamily="34" charset="0"/>
              </a:rPr>
              <a:t>               &lt;</a:t>
            </a:r>
            <a:r>
              <a:rPr lang="fr-FR" dirty="0">
                <a:solidFill>
                  <a:srgbClr val="92D050"/>
                </a:solidFill>
                <a:latin typeface="Maiandra GD" pitchFamily="34" charset="0"/>
              </a:rPr>
              <a:t>head</a:t>
            </a:r>
            <a:r>
              <a:rPr lang="fr-FR" dirty="0">
                <a:latin typeface="Maiandra GD" pitchFamily="34" charset="0"/>
              </a:rPr>
              <a:t> &gt;</a:t>
            </a:r>
          </a:p>
          <a:p>
            <a:pPr marL="0" indent="0">
              <a:buNone/>
            </a:pPr>
            <a:r>
              <a:rPr lang="fr-FR" dirty="0" smtClean="0">
                <a:latin typeface="Maiandra GD" pitchFamily="34" charset="0"/>
              </a:rPr>
              <a:t>4                        </a:t>
            </a:r>
            <a:r>
              <a:rPr lang="sv-SE" dirty="0" smtClean="0">
                <a:latin typeface="Maiandra GD" pitchFamily="34" charset="0"/>
              </a:rPr>
              <a:t>&lt;</a:t>
            </a:r>
            <a:r>
              <a:rPr lang="sv-SE" dirty="0">
                <a:solidFill>
                  <a:srgbClr val="92D050"/>
                </a:solidFill>
                <a:latin typeface="Maiandra GD" pitchFamily="34" charset="0"/>
              </a:rPr>
              <a:t>meta charset </a:t>
            </a:r>
            <a:r>
              <a:rPr lang="sv-SE" dirty="0">
                <a:latin typeface="Maiandra GD" pitchFamily="34" charset="0"/>
              </a:rPr>
              <a:t>=</a:t>
            </a:r>
            <a:r>
              <a:rPr lang="sv-SE" dirty="0">
                <a:solidFill>
                  <a:srgbClr val="FF0000"/>
                </a:solidFill>
                <a:latin typeface="Maiandra GD" pitchFamily="34" charset="0"/>
              </a:rPr>
              <a:t>"utf -8"</a:t>
            </a:r>
            <a:r>
              <a:rPr lang="sv-SE" dirty="0">
                <a:latin typeface="Maiandra GD" pitchFamily="34" charset="0"/>
              </a:rPr>
              <a:t> /&gt;</a:t>
            </a:r>
            <a:endParaRPr lang="fr-FR" dirty="0" smtClean="0">
              <a:solidFill>
                <a:srgbClr val="00B0F0"/>
              </a:solidFill>
              <a:latin typeface="Maiandra GD" pitchFamily="34" charset="0"/>
            </a:endParaRPr>
          </a:p>
          <a:p>
            <a:pPr marL="0" indent="0">
              <a:buNone/>
            </a:pPr>
            <a:r>
              <a:rPr lang="sv-SE" dirty="0" smtClean="0">
                <a:latin typeface="Maiandra GD" pitchFamily="34" charset="0"/>
              </a:rPr>
              <a:t>5                        </a:t>
            </a:r>
            <a:r>
              <a:rPr lang="fr-FR" dirty="0" smtClean="0">
                <a:latin typeface="Maiandra GD" pitchFamily="34" charset="0"/>
              </a:rPr>
              <a:t>&lt;</a:t>
            </a:r>
            <a:r>
              <a:rPr lang="fr-FR" dirty="0">
                <a:solidFill>
                  <a:srgbClr val="92D050"/>
                </a:solidFill>
                <a:latin typeface="Maiandra GD" pitchFamily="34" charset="0"/>
              </a:rPr>
              <a:t>title</a:t>
            </a:r>
            <a:r>
              <a:rPr lang="fr-FR" dirty="0">
                <a:latin typeface="Maiandra GD" pitchFamily="34" charset="0"/>
              </a:rPr>
              <a:t> </a:t>
            </a:r>
            <a:r>
              <a:rPr lang="fr-FR" dirty="0" smtClean="0">
                <a:latin typeface="Maiandra GD" pitchFamily="34" charset="0"/>
              </a:rPr>
              <a:t>&gt; Paragraphe </a:t>
            </a:r>
            <a:r>
              <a:rPr lang="fr-FR" dirty="0">
                <a:latin typeface="Maiandra GD" pitchFamily="34" charset="0"/>
              </a:rPr>
              <a:t>&lt;/ </a:t>
            </a:r>
            <a:r>
              <a:rPr lang="fr-FR" dirty="0">
                <a:solidFill>
                  <a:srgbClr val="92D050"/>
                </a:solidFill>
                <a:latin typeface="Maiandra GD" pitchFamily="34" charset="0"/>
              </a:rPr>
              <a:t>title</a:t>
            </a:r>
            <a:r>
              <a:rPr lang="fr-FR" dirty="0">
                <a:latin typeface="Maiandra GD" pitchFamily="34" charset="0"/>
              </a:rPr>
              <a:t> </a:t>
            </a:r>
            <a:r>
              <a:rPr lang="fr-FR" dirty="0" smtClean="0">
                <a:latin typeface="Maiandra GD" pitchFamily="34" charset="0"/>
              </a:rPr>
              <a:t>&gt;</a:t>
            </a:r>
            <a:endParaRPr lang="sv-SE" dirty="0">
              <a:latin typeface="Maiandra GD" pitchFamily="34" charset="0"/>
            </a:endParaRPr>
          </a:p>
          <a:p>
            <a:pPr marL="0" indent="0">
              <a:buNone/>
            </a:pPr>
            <a:r>
              <a:rPr lang="fr-FR" dirty="0">
                <a:latin typeface="Maiandra GD" pitchFamily="34" charset="0"/>
              </a:rPr>
              <a:t>6 </a:t>
            </a:r>
            <a:r>
              <a:rPr lang="fr-FR" dirty="0" smtClean="0">
                <a:latin typeface="Maiandra GD" pitchFamily="34" charset="0"/>
              </a:rPr>
              <a:t>               &lt;/ </a:t>
            </a:r>
            <a:r>
              <a:rPr lang="fr-FR" dirty="0">
                <a:solidFill>
                  <a:srgbClr val="92D050"/>
                </a:solidFill>
                <a:latin typeface="Maiandra GD" pitchFamily="34" charset="0"/>
              </a:rPr>
              <a:t>head</a:t>
            </a:r>
            <a:r>
              <a:rPr lang="fr-FR" dirty="0">
                <a:latin typeface="Maiandra GD" pitchFamily="34" charset="0"/>
              </a:rPr>
              <a:t> &gt;</a:t>
            </a:r>
            <a:endParaRPr lang="fr-FR" dirty="0" smtClean="0">
              <a:latin typeface="Maiandra GD" pitchFamily="34" charset="0"/>
            </a:endParaRPr>
          </a:p>
          <a:p>
            <a:pPr marL="0" indent="0">
              <a:buNone/>
            </a:pPr>
            <a:r>
              <a:rPr lang="fr-FR" dirty="0" smtClean="0">
                <a:latin typeface="Maiandra GD" pitchFamily="34" charset="0"/>
              </a:rPr>
              <a:t>7</a:t>
            </a:r>
          </a:p>
          <a:p>
            <a:pPr marL="0" indent="0">
              <a:buNone/>
            </a:pPr>
            <a:r>
              <a:rPr lang="fr-FR" dirty="0">
                <a:latin typeface="Maiandra GD" pitchFamily="34" charset="0"/>
              </a:rPr>
              <a:t>8 </a:t>
            </a:r>
            <a:r>
              <a:rPr lang="fr-FR" dirty="0" smtClean="0">
                <a:latin typeface="Maiandra GD" pitchFamily="34" charset="0"/>
              </a:rPr>
              <a:t>               &lt;</a:t>
            </a:r>
            <a:r>
              <a:rPr lang="fr-FR" dirty="0">
                <a:solidFill>
                  <a:srgbClr val="92D050"/>
                </a:solidFill>
                <a:latin typeface="Maiandra GD" pitchFamily="34" charset="0"/>
              </a:rPr>
              <a:t>body</a:t>
            </a:r>
            <a:r>
              <a:rPr lang="fr-FR" dirty="0">
                <a:latin typeface="Maiandra GD" pitchFamily="34" charset="0"/>
              </a:rPr>
              <a:t> &gt;</a:t>
            </a:r>
          </a:p>
          <a:p>
            <a:pPr marL="0" indent="0">
              <a:buNone/>
            </a:pPr>
            <a:r>
              <a:rPr lang="fr-FR" dirty="0">
                <a:latin typeface="Maiandra GD" pitchFamily="34" charset="0"/>
              </a:rPr>
              <a:t>9 </a:t>
            </a:r>
            <a:r>
              <a:rPr lang="fr-FR" dirty="0" smtClean="0">
                <a:latin typeface="Maiandra GD" pitchFamily="34" charset="0"/>
              </a:rPr>
              <a:t>     &lt;</a:t>
            </a:r>
            <a:r>
              <a:rPr lang="fr-FR" dirty="0">
                <a:latin typeface="Maiandra GD" pitchFamily="34" charset="0"/>
              </a:rPr>
              <a:t>p&gt;Bonjour et bienvenue sur mon site !&lt;/p&gt;</a:t>
            </a:r>
          </a:p>
          <a:p>
            <a:pPr marL="0" indent="0">
              <a:buNone/>
            </a:pPr>
            <a:r>
              <a:rPr lang="fr-FR" dirty="0">
                <a:latin typeface="Maiandra GD" pitchFamily="34" charset="0"/>
              </a:rPr>
              <a:t>10 </a:t>
            </a:r>
            <a:r>
              <a:rPr lang="fr-FR" dirty="0" smtClean="0">
                <a:latin typeface="Maiandra GD" pitchFamily="34" charset="0"/>
              </a:rPr>
              <a:t>             &lt;/</a:t>
            </a:r>
            <a:r>
              <a:rPr lang="fr-FR" dirty="0">
                <a:solidFill>
                  <a:srgbClr val="92D050"/>
                </a:solidFill>
                <a:latin typeface="Maiandra GD" pitchFamily="34" charset="0"/>
              </a:rPr>
              <a:t>body</a:t>
            </a:r>
            <a:r>
              <a:rPr lang="fr-FR" dirty="0" smtClean="0">
                <a:latin typeface="Maiandra GD" pitchFamily="34" charset="0"/>
              </a:rPr>
              <a:t> </a:t>
            </a:r>
            <a:r>
              <a:rPr lang="fr-FR" dirty="0">
                <a:latin typeface="Maiandra GD" pitchFamily="34" charset="0"/>
              </a:rPr>
              <a:t>&gt;</a:t>
            </a:r>
            <a:endParaRPr lang="fr-FR" dirty="0">
              <a:solidFill>
                <a:srgbClr val="00B0F0"/>
              </a:solidFill>
              <a:latin typeface="Maiandra GD" pitchFamily="34" charset="0"/>
            </a:endParaRPr>
          </a:p>
          <a:p>
            <a:pPr marL="0" indent="0">
              <a:buNone/>
            </a:pPr>
            <a:r>
              <a:rPr lang="fr-FR" dirty="0">
                <a:latin typeface="Maiandra GD" pitchFamily="34" charset="0"/>
              </a:rPr>
              <a:t>11 </a:t>
            </a:r>
            <a:r>
              <a:rPr lang="fr-FR" dirty="0" smtClean="0">
                <a:latin typeface="Maiandra GD" pitchFamily="34" charset="0"/>
              </a:rPr>
              <a:t>    &lt;/</a:t>
            </a:r>
            <a:r>
              <a:rPr lang="fr-FR" dirty="0" smtClean="0">
                <a:solidFill>
                  <a:srgbClr val="92D050"/>
                </a:solidFill>
                <a:latin typeface="Maiandra GD" pitchFamily="34" charset="0"/>
              </a:rPr>
              <a:t>html</a:t>
            </a:r>
            <a:r>
              <a:rPr lang="fr-FR" dirty="0">
                <a:latin typeface="Maiandra GD" pitchFamily="34" charset="0"/>
              </a:rPr>
              <a:t>&gt;</a:t>
            </a:r>
          </a:p>
          <a:p>
            <a:pPr marL="0" indent="0">
              <a:buNone/>
            </a:pPr>
            <a:endParaRPr lang="fr-FR" dirty="0" smtClean="0">
              <a:latin typeface="Maiandra GD" pitchFamily="34" charset="0"/>
            </a:endParaRPr>
          </a:p>
          <a:p>
            <a:pPr marL="0" indent="0">
              <a:buNone/>
            </a:pPr>
            <a:r>
              <a:rPr lang="fr-FR" dirty="0" smtClean="0">
                <a:solidFill>
                  <a:srgbClr val="92D050"/>
                </a:solidFill>
                <a:latin typeface="Maiandra GD" pitchFamily="34" charset="0"/>
              </a:rPr>
              <a:t>         </a:t>
            </a:r>
            <a:endParaRPr lang="fr-FR" dirty="0">
              <a:latin typeface="Maiandra GD" pitchFamily="34" charset="0"/>
            </a:endParaRPr>
          </a:p>
        </p:txBody>
      </p:sp>
      <p:cxnSp>
        <p:nvCxnSpPr>
          <p:cNvPr id="5" name="Connecteur droit 4"/>
          <p:cNvCxnSpPr/>
          <p:nvPr/>
        </p:nvCxnSpPr>
        <p:spPr>
          <a:xfrm>
            <a:off x="683568" y="144016"/>
            <a:ext cx="0" cy="6237312"/>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764958486"/>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5400" dirty="0">
                <a:effectLst>
                  <a:outerShdw blurRad="38100" dist="38100" dir="2700000" algn="tl">
                    <a:srgbClr val="000000">
                      <a:alpha val="43137"/>
                    </a:srgbClr>
                  </a:outerShdw>
                </a:effectLst>
                <a:latin typeface="Maiandra GD" pitchFamily="34" charset="0"/>
              </a:rPr>
              <a:t>Sauter une ligne</a:t>
            </a:r>
          </a:p>
        </p:txBody>
      </p:sp>
      <p:sp>
        <p:nvSpPr>
          <p:cNvPr id="3" name="Espace réservé du contenu 2"/>
          <p:cNvSpPr>
            <a:spLocks noGrp="1"/>
          </p:cNvSpPr>
          <p:nvPr>
            <p:ph idx="1"/>
          </p:nvPr>
        </p:nvSpPr>
        <p:spPr>
          <a:xfrm>
            <a:off x="251520" y="1595933"/>
            <a:ext cx="8435280" cy="4785395"/>
          </a:xfrm>
        </p:spPr>
        <p:txBody>
          <a:bodyPr>
            <a:normAutofit/>
          </a:bodyPr>
          <a:lstStyle/>
          <a:p>
            <a:pPr marL="0" indent="0" algn="just">
              <a:buNone/>
            </a:pPr>
            <a:r>
              <a:rPr lang="fr-FR" sz="3600" dirty="0" smtClean="0">
                <a:latin typeface="Maiandra GD" pitchFamily="34" charset="0"/>
              </a:rPr>
              <a:t>En </a:t>
            </a:r>
            <a:r>
              <a:rPr lang="fr-FR" sz="3600" dirty="0">
                <a:latin typeface="Maiandra GD" pitchFamily="34" charset="0"/>
              </a:rPr>
              <a:t>HTML, si vous appuyez sur la </a:t>
            </a:r>
            <a:r>
              <a:rPr lang="fr-FR" sz="3600" dirty="0" smtClean="0">
                <a:latin typeface="Maiandra GD" pitchFamily="34" charset="0"/>
              </a:rPr>
              <a:t>touche</a:t>
            </a:r>
          </a:p>
          <a:p>
            <a:pPr marL="0" indent="0" algn="just">
              <a:buNone/>
            </a:pPr>
            <a:r>
              <a:rPr lang="fr-FR" sz="3600" dirty="0"/>
              <a:t> </a:t>
            </a:r>
            <a:r>
              <a:rPr lang="fr-FR" sz="3600" dirty="0" smtClean="0"/>
              <a:t>                        </a:t>
            </a:r>
            <a:r>
              <a:rPr lang="fr-FR" sz="3600" dirty="0" smtClean="0">
                <a:latin typeface="Maiandra GD" pitchFamily="34" charset="0"/>
              </a:rPr>
              <a:t>, </a:t>
            </a:r>
            <a:r>
              <a:rPr lang="fr-FR" sz="3600" dirty="0">
                <a:latin typeface="Maiandra GD" pitchFamily="34" charset="0"/>
              </a:rPr>
              <a:t>cela ne crée pas une nouvelle ligne comme vous en avez l'habitude. Essayez donc ce code :</a:t>
            </a:r>
          </a:p>
          <a:p>
            <a:pPr marL="0" indent="0">
              <a:buNone/>
            </a:pPr>
            <a:endParaRPr lang="fr-FR" sz="3600" dirty="0" smtClean="0"/>
          </a:p>
          <a:p>
            <a:pPr marL="0" indent="0">
              <a:buNone/>
            </a:pPr>
            <a:endParaRPr lang="fr-FR" sz="3600" dirty="0"/>
          </a:p>
          <a:p>
            <a:pPr marL="0" indent="0">
              <a:buNone/>
            </a:pPr>
            <a:r>
              <a:rPr lang="fr-FR" sz="3600" dirty="0" smtClean="0"/>
              <a:t> </a:t>
            </a:r>
            <a:endParaRPr lang="fr-FR" sz="3600" dirty="0">
              <a:latin typeface="Maiandra GD" pitchFamily="34" charset="0"/>
            </a:endParaRPr>
          </a:p>
        </p:txBody>
      </p:sp>
      <p:sp>
        <p:nvSpPr>
          <p:cNvPr id="4" name="Rectangle 3"/>
          <p:cNvSpPr/>
          <p:nvPr/>
        </p:nvSpPr>
        <p:spPr>
          <a:xfrm>
            <a:off x="611560" y="2276872"/>
            <a:ext cx="1728192" cy="57606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fr-FR" sz="3600" dirty="0">
                <a:effectLst>
                  <a:outerShdw blurRad="38100" dist="38100" dir="2700000" algn="tl">
                    <a:srgbClr val="000000">
                      <a:alpha val="43137"/>
                    </a:srgbClr>
                  </a:outerShdw>
                </a:effectLst>
              </a:rPr>
              <a:t>Entrée</a:t>
            </a:r>
            <a:r>
              <a:rPr lang="fr-FR" sz="2400" dirty="0"/>
              <a:t> </a:t>
            </a:r>
            <a:endParaRPr lang="fr-FR" sz="2400" dirty="0">
              <a:latin typeface="Maiandra GD" pitchFamily="34" charset="0"/>
            </a:endParaRPr>
          </a:p>
          <a:p>
            <a:pPr algn="ctr"/>
            <a:endParaRPr lang="fr-FR" dirty="0"/>
          </a:p>
        </p:txBody>
      </p:sp>
    </p:spTree>
    <p:extLst>
      <p:ext uri="{BB962C8B-B14F-4D97-AF65-F5344CB8AC3E}">
        <p14:creationId xmlns:p14="http://schemas.microsoft.com/office/powerpoint/2010/main" val="3204914299"/>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520" y="188640"/>
            <a:ext cx="8712968" cy="6480720"/>
          </a:xfrm>
          <a:prstGeom prst="rect">
            <a:avLst/>
          </a:prstGeom>
        </p:spPr>
      </p:pic>
    </p:spTree>
    <p:extLst>
      <p:ext uri="{BB962C8B-B14F-4D97-AF65-F5344CB8AC3E}">
        <p14:creationId xmlns:p14="http://schemas.microsoft.com/office/powerpoint/2010/main" val="4152085946"/>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512" y="188640"/>
            <a:ext cx="8784976" cy="6597352"/>
          </a:xfrm>
          <a:prstGeom prst="rect">
            <a:avLst/>
          </a:prstGeom>
        </p:spPr>
      </p:pic>
    </p:spTree>
    <p:extLst>
      <p:ext uri="{BB962C8B-B14F-4D97-AF65-F5344CB8AC3E}">
        <p14:creationId xmlns:p14="http://schemas.microsoft.com/office/powerpoint/2010/main" val="2939080722"/>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188640"/>
            <a:ext cx="8640960" cy="6408712"/>
          </a:xfrm>
        </p:spPr>
        <p:txBody>
          <a:bodyPr>
            <a:normAutofit lnSpcReduction="10000"/>
          </a:bodyPr>
          <a:lstStyle/>
          <a:p>
            <a:pPr marL="0" indent="0" algn="just">
              <a:buNone/>
            </a:pPr>
            <a:r>
              <a:rPr lang="fr-FR" dirty="0">
                <a:latin typeface="Maiandra GD" pitchFamily="34" charset="0"/>
              </a:rPr>
              <a:t>Tout le texte </a:t>
            </a:r>
            <a:r>
              <a:rPr lang="fr-FR" dirty="0" smtClean="0">
                <a:latin typeface="Maiandra GD" pitchFamily="34" charset="0"/>
              </a:rPr>
              <a:t>s'affiche </a:t>
            </a:r>
            <a:r>
              <a:rPr lang="fr-FR" dirty="0">
                <a:latin typeface="Maiandra GD" pitchFamily="34" charset="0"/>
              </a:rPr>
              <a:t>sur la même ligne alors qu'on est bien allé à la ligne dans </a:t>
            </a:r>
            <a:r>
              <a:rPr lang="fr-FR" dirty="0" smtClean="0">
                <a:latin typeface="Maiandra GD" pitchFamily="34" charset="0"/>
              </a:rPr>
              <a:t>le code </a:t>
            </a:r>
            <a:r>
              <a:rPr lang="fr-FR" dirty="0">
                <a:latin typeface="Maiandra GD" pitchFamily="34" charset="0"/>
              </a:rPr>
              <a:t>! Taper frénétiquement sur la </a:t>
            </a:r>
            <a:r>
              <a:rPr lang="fr-FR" dirty="0" smtClean="0">
                <a:solidFill>
                  <a:srgbClr val="FF0000"/>
                </a:solidFill>
                <a:latin typeface="Maiandra GD" pitchFamily="34" charset="0"/>
              </a:rPr>
              <a:t>touche Entrée</a:t>
            </a:r>
            <a:r>
              <a:rPr lang="fr-FR" dirty="0" smtClean="0">
                <a:latin typeface="Maiandra GD" pitchFamily="34" charset="0"/>
              </a:rPr>
              <a:t> </a:t>
            </a:r>
            <a:r>
              <a:rPr lang="fr-FR" dirty="0">
                <a:latin typeface="Maiandra GD" pitchFamily="34" charset="0"/>
              </a:rPr>
              <a:t>dans l'éditeur de texte ne sert </a:t>
            </a:r>
            <a:r>
              <a:rPr lang="fr-FR" dirty="0" smtClean="0">
                <a:latin typeface="Maiandra GD" pitchFamily="34" charset="0"/>
              </a:rPr>
              <a:t>donc strictement </a:t>
            </a:r>
            <a:r>
              <a:rPr lang="fr-FR" dirty="0">
                <a:latin typeface="Maiandra GD" pitchFamily="34" charset="0"/>
              </a:rPr>
              <a:t>à </a:t>
            </a:r>
            <a:r>
              <a:rPr lang="fr-FR" dirty="0" smtClean="0">
                <a:latin typeface="Maiandra GD" pitchFamily="34" charset="0"/>
              </a:rPr>
              <a:t>rien. </a:t>
            </a:r>
          </a:p>
          <a:p>
            <a:pPr marL="0" indent="0" algn="just">
              <a:buNone/>
            </a:pPr>
            <a:r>
              <a:rPr lang="fr-FR" dirty="0" smtClean="0">
                <a:latin typeface="Maiandra GD" pitchFamily="34" charset="0"/>
              </a:rPr>
              <a:t>Comme </a:t>
            </a:r>
            <a:r>
              <a:rPr lang="fr-FR" dirty="0">
                <a:latin typeface="Maiandra GD" pitchFamily="34" charset="0"/>
              </a:rPr>
              <a:t>vous devez vous en douter, il y a pourtant bien un moyen de faire des sauts </a:t>
            </a:r>
            <a:r>
              <a:rPr lang="fr-FR" dirty="0" smtClean="0">
                <a:latin typeface="Maiandra GD" pitchFamily="34" charset="0"/>
              </a:rPr>
              <a:t>de ligne </a:t>
            </a:r>
            <a:r>
              <a:rPr lang="fr-FR" dirty="0">
                <a:latin typeface="Maiandra GD" pitchFamily="34" charset="0"/>
              </a:rPr>
              <a:t>en </a:t>
            </a:r>
            <a:r>
              <a:rPr lang="fr-FR" dirty="0" smtClean="0">
                <a:latin typeface="Maiandra GD" pitchFamily="34" charset="0"/>
              </a:rPr>
              <a:t>HTML. </a:t>
            </a:r>
          </a:p>
          <a:p>
            <a:pPr marL="0" indent="0" algn="just">
              <a:buNone/>
            </a:pPr>
            <a:r>
              <a:rPr lang="fr-FR" dirty="0" smtClean="0">
                <a:latin typeface="Maiandra GD" pitchFamily="34" charset="0"/>
              </a:rPr>
              <a:t>En </a:t>
            </a:r>
            <a:r>
              <a:rPr lang="fr-FR" dirty="0">
                <a:latin typeface="Maiandra GD" pitchFamily="34" charset="0"/>
              </a:rPr>
              <a:t>fait, si vous voulez écrire un deuxième paragraphe, il vous </a:t>
            </a:r>
            <a:r>
              <a:rPr lang="fr-FR" dirty="0" smtClean="0">
                <a:latin typeface="Maiandra GD" pitchFamily="34" charset="0"/>
              </a:rPr>
              <a:t>suffit </a:t>
            </a:r>
            <a:r>
              <a:rPr lang="fr-FR" dirty="0">
                <a:latin typeface="Maiandra GD" pitchFamily="34" charset="0"/>
              </a:rPr>
              <a:t>d'utiliser </a:t>
            </a:r>
            <a:r>
              <a:rPr lang="fr-FR" dirty="0" smtClean="0">
                <a:latin typeface="Maiandra GD" pitchFamily="34" charset="0"/>
              </a:rPr>
              <a:t>une deuxième </a:t>
            </a:r>
            <a:r>
              <a:rPr lang="fr-FR" dirty="0">
                <a:latin typeface="Maiandra GD" pitchFamily="34" charset="0"/>
              </a:rPr>
              <a:t>balise &lt;p&gt;. Votre code HTML devrait donc être au </a:t>
            </a:r>
            <a:r>
              <a:rPr lang="fr-FR" dirty="0" smtClean="0">
                <a:latin typeface="Maiandra GD" pitchFamily="34" charset="0"/>
              </a:rPr>
              <a:t>final </a:t>
            </a:r>
            <a:r>
              <a:rPr lang="fr-FR" dirty="0">
                <a:latin typeface="Maiandra GD" pitchFamily="34" charset="0"/>
              </a:rPr>
              <a:t>rempli de balises </a:t>
            </a:r>
            <a:r>
              <a:rPr lang="fr-FR" dirty="0" smtClean="0">
                <a:latin typeface="Maiandra GD" pitchFamily="34" charset="0"/>
              </a:rPr>
              <a:t>de paragraphe </a:t>
            </a:r>
            <a:r>
              <a:rPr lang="fr-FR" dirty="0">
                <a:latin typeface="Maiandra GD" pitchFamily="34" charset="0"/>
              </a:rPr>
              <a:t>!</a:t>
            </a:r>
          </a:p>
        </p:txBody>
      </p:sp>
    </p:spTree>
    <p:extLst>
      <p:ext uri="{BB962C8B-B14F-4D97-AF65-F5344CB8AC3E}">
        <p14:creationId xmlns:p14="http://schemas.microsoft.com/office/powerpoint/2010/main" val="62933154"/>
      </p:ext>
    </p:ext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512" y="188640"/>
            <a:ext cx="8784975" cy="6597352"/>
          </a:xfrm>
          <a:prstGeom prst="rect">
            <a:avLst/>
          </a:prstGeom>
        </p:spPr>
      </p:pic>
    </p:spTree>
    <p:extLst>
      <p:ext uri="{BB962C8B-B14F-4D97-AF65-F5344CB8AC3E}">
        <p14:creationId xmlns:p14="http://schemas.microsoft.com/office/powerpoint/2010/main" val="4228978596"/>
      </p:ext>
    </p:extLst>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84358534"/>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260648"/>
            <a:ext cx="8640960" cy="6336704"/>
          </a:xfrm>
        </p:spPr>
        <p:txBody>
          <a:bodyPr>
            <a:normAutofit/>
          </a:bodyPr>
          <a:lstStyle/>
          <a:p>
            <a:pPr marL="0" indent="0" algn="just">
              <a:buNone/>
            </a:pPr>
            <a:endParaRPr lang="fr-FR" sz="800" dirty="0" smtClean="0">
              <a:latin typeface="Maiandra GD" pitchFamily="34" charset="0"/>
            </a:endParaRPr>
          </a:p>
          <a:p>
            <a:pPr marL="0" indent="0" algn="just">
              <a:buNone/>
            </a:pPr>
            <a:r>
              <a:rPr lang="fr-FR" sz="3600" dirty="0" smtClean="0">
                <a:latin typeface="Maiandra GD" pitchFamily="34" charset="0"/>
              </a:rPr>
              <a:t>si </a:t>
            </a:r>
            <a:r>
              <a:rPr lang="fr-FR" sz="3600" dirty="0">
                <a:latin typeface="Maiandra GD" pitchFamily="34" charset="0"/>
              </a:rPr>
              <a:t>je veux juste aller à la ligne dans un paragraphe et non pas </a:t>
            </a:r>
            <a:r>
              <a:rPr lang="fr-FR" sz="3600" dirty="0" smtClean="0">
                <a:latin typeface="Maiandra GD" pitchFamily="34" charset="0"/>
              </a:rPr>
              <a:t>sauter une </a:t>
            </a:r>
            <a:r>
              <a:rPr lang="fr-FR" sz="3600" dirty="0">
                <a:latin typeface="Maiandra GD" pitchFamily="34" charset="0"/>
              </a:rPr>
              <a:t>ligne </a:t>
            </a:r>
            <a:r>
              <a:rPr lang="fr-FR" sz="3600" dirty="0" smtClean="0">
                <a:latin typeface="Maiandra GD" pitchFamily="34" charset="0"/>
              </a:rPr>
              <a:t>?</a:t>
            </a:r>
          </a:p>
          <a:p>
            <a:pPr marL="0" indent="0" algn="just">
              <a:buNone/>
            </a:pPr>
            <a:endParaRPr lang="fr-FR" sz="3600" dirty="0">
              <a:latin typeface="Maiandra GD" pitchFamily="34" charset="0"/>
            </a:endParaRPr>
          </a:p>
          <a:p>
            <a:pPr marL="0" indent="0" algn="just">
              <a:buNone/>
            </a:pPr>
            <a:endParaRPr lang="fr-FR" sz="2000" dirty="0" smtClean="0">
              <a:latin typeface="Maiandra GD" pitchFamily="34" charset="0"/>
            </a:endParaRPr>
          </a:p>
          <a:p>
            <a:pPr marL="0" indent="0" algn="just">
              <a:buNone/>
            </a:pPr>
            <a:r>
              <a:rPr lang="fr-FR" sz="3600" dirty="0">
                <a:latin typeface="Maiandra GD" pitchFamily="34" charset="0"/>
              </a:rPr>
              <a:t>Eh bien devinez quoi : il existe une balise  Aller à la ligne  ! C'est une balise orpheline</a:t>
            </a:r>
          </a:p>
          <a:p>
            <a:pPr marL="0" indent="0" algn="just">
              <a:buNone/>
            </a:pPr>
            <a:r>
              <a:rPr lang="fr-FR" sz="3600" dirty="0">
                <a:latin typeface="Maiandra GD" pitchFamily="34" charset="0"/>
              </a:rPr>
              <a:t>qui sert juste à indiquer qu'on doit aller à la ligne : &lt;</a:t>
            </a:r>
            <a:r>
              <a:rPr lang="fr-FR" sz="3600" dirty="0" smtClean="0">
                <a:latin typeface="Maiandra GD" pitchFamily="34" charset="0"/>
              </a:rPr>
              <a:t>br /&gt;. </a:t>
            </a:r>
            <a:r>
              <a:rPr lang="fr-FR" sz="3600" dirty="0">
                <a:latin typeface="Maiandra GD" pitchFamily="34" charset="0"/>
              </a:rPr>
              <a:t>Vous </a:t>
            </a:r>
            <a:r>
              <a:rPr lang="fr-FR" sz="3600" dirty="0" smtClean="0">
                <a:latin typeface="Maiandra GD" pitchFamily="34" charset="0"/>
              </a:rPr>
              <a:t>devez obligatoirement la </a:t>
            </a:r>
            <a:r>
              <a:rPr lang="fr-FR" sz="3600" dirty="0">
                <a:latin typeface="Maiandra GD" pitchFamily="34" charset="0"/>
              </a:rPr>
              <a:t>mettre à l'intérieur d'un paragraphe.</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0312" y="1844824"/>
            <a:ext cx="1238250" cy="7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9702545"/>
      </p:ext>
    </p:extLst>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04" y="144016"/>
            <a:ext cx="8964488" cy="6597352"/>
          </a:xfrm>
          <a:prstGeom prst="rect">
            <a:avLst/>
          </a:prstGeom>
        </p:spPr>
      </p:pic>
    </p:spTree>
    <p:extLst>
      <p:ext uri="{BB962C8B-B14F-4D97-AF65-F5344CB8AC3E}">
        <p14:creationId xmlns:p14="http://schemas.microsoft.com/office/powerpoint/2010/main" val="1055348235"/>
      </p:ext>
    </p:extLst>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476672"/>
            <a:ext cx="8229600" cy="5649491"/>
          </a:xfrm>
        </p:spPr>
        <p:txBody>
          <a:bodyPr/>
          <a:lstStyle/>
          <a:p>
            <a:pPr marL="0" indent="0" algn="just">
              <a:buNone/>
            </a:pPr>
            <a:r>
              <a:rPr lang="fr-FR" dirty="0">
                <a:latin typeface="Maiandra GD" pitchFamily="34" charset="0"/>
              </a:rPr>
              <a:t>Vous pouvez théoriquement mettre plusieurs balises &lt;br /&gt; </a:t>
            </a:r>
            <a:r>
              <a:rPr lang="fr-FR" dirty="0" smtClean="0">
                <a:latin typeface="Maiandra GD" pitchFamily="34" charset="0"/>
              </a:rPr>
              <a:t>d'affilée pour faire </a:t>
            </a:r>
            <a:r>
              <a:rPr lang="fr-FR" dirty="0">
                <a:latin typeface="Maiandra GD" pitchFamily="34" charset="0"/>
              </a:rPr>
              <a:t>plusieurs sauts de lignes, mais on considère que c'est une </a:t>
            </a:r>
            <a:r>
              <a:rPr lang="fr-FR" dirty="0" smtClean="0">
                <a:latin typeface="Maiandra GD" pitchFamily="34" charset="0"/>
              </a:rPr>
              <a:t>mauvaise pratique </a:t>
            </a:r>
            <a:r>
              <a:rPr lang="fr-FR" dirty="0">
                <a:latin typeface="Maiandra GD" pitchFamily="34" charset="0"/>
              </a:rPr>
              <a:t>qui rend le code délicat à maintenir. Pour décaler un texte avec </a:t>
            </a:r>
            <a:r>
              <a:rPr lang="fr-FR" dirty="0" smtClean="0">
                <a:latin typeface="Maiandra GD" pitchFamily="34" charset="0"/>
              </a:rPr>
              <a:t>plus de </a:t>
            </a:r>
            <a:r>
              <a:rPr lang="fr-FR" dirty="0">
                <a:latin typeface="Maiandra GD" pitchFamily="34" charset="0"/>
              </a:rPr>
              <a:t>précision, on utilisera le CSS, ce langage qui vient compléter le HTML </a:t>
            </a:r>
            <a:r>
              <a:rPr lang="fr-FR" dirty="0" smtClean="0">
                <a:latin typeface="Maiandra GD" pitchFamily="34" charset="0"/>
              </a:rPr>
              <a:t>et dont </a:t>
            </a:r>
            <a:r>
              <a:rPr lang="fr-FR" dirty="0">
                <a:latin typeface="Maiandra GD" pitchFamily="34" charset="0"/>
              </a:rPr>
              <a:t>je vous parlerai un peu plus loin.</a:t>
            </a:r>
          </a:p>
        </p:txBody>
      </p:sp>
    </p:spTree>
    <p:extLst>
      <p:ext uri="{BB962C8B-B14F-4D97-AF65-F5344CB8AC3E}">
        <p14:creationId xmlns:p14="http://schemas.microsoft.com/office/powerpoint/2010/main" val="1704688624"/>
      </p:ext>
    </p:extLst>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476672"/>
            <a:ext cx="8640960" cy="6048672"/>
          </a:xfrm>
        </p:spPr>
        <p:txBody>
          <a:bodyPr>
            <a:normAutofit/>
          </a:bodyPr>
          <a:lstStyle/>
          <a:p>
            <a:pPr marL="0" indent="0" algn="just">
              <a:buNone/>
            </a:pPr>
            <a:r>
              <a:rPr lang="fr-FR" sz="3600" dirty="0">
                <a:latin typeface="Maiandra GD" pitchFamily="34" charset="0"/>
              </a:rPr>
              <a:t>Donc c'est compris </a:t>
            </a:r>
            <a:r>
              <a:rPr lang="fr-FR" sz="3600" dirty="0" smtClean="0">
                <a:latin typeface="Maiandra GD" pitchFamily="34" charset="0"/>
              </a:rPr>
              <a:t>?</a:t>
            </a:r>
          </a:p>
          <a:p>
            <a:pPr marL="0" indent="0" algn="just">
              <a:buNone/>
            </a:pPr>
            <a:r>
              <a:rPr lang="fr-FR" sz="3600" dirty="0" smtClean="0">
                <a:latin typeface="Maiandra GD" pitchFamily="34" charset="0"/>
              </a:rPr>
              <a:t>&lt;p&gt; &lt;/p&gt; : pour organiser son texte en paragraphes ;</a:t>
            </a:r>
          </a:p>
          <a:p>
            <a:pPr marL="0" indent="0" algn="just">
              <a:buNone/>
            </a:pPr>
            <a:r>
              <a:rPr lang="fr-FR" sz="3600" dirty="0" smtClean="0">
                <a:latin typeface="Maiandra GD" pitchFamily="34" charset="0"/>
              </a:rPr>
              <a:t>&lt;</a:t>
            </a:r>
            <a:r>
              <a:rPr lang="fr-FR" sz="3600" dirty="0">
                <a:latin typeface="Maiandra GD" pitchFamily="34" charset="0"/>
              </a:rPr>
              <a:t>br /&gt; : pour aller à la ligne.</a:t>
            </a:r>
          </a:p>
          <a:p>
            <a:pPr marL="0" indent="0" algn="just">
              <a:buNone/>
            </a:pPr>
            <a:r>
              <a:rPr lang="fr-FR" sz="3600" dirty="0">
                <a:latin typeface="Maiandra GD" pitchFamily="34" charset="0"/>
              </a:rPr>
              <a:t>Maintenant qu'on sait écrire des paragraphes, voyons voir comment on crée des titres.</a:t>
            </a:r>
          </a:p>
        </p:txBody>
      </p:sp>
    </p:spTree>
    <p:extLst>
      <p:ext uri="{BB962C8B-B14F-4D97-AF65-F5344CB8AC3E}">
        <p14:creationId xmlns:p14="http://schemas.microsoft.com/office/powerpoint/2010/main" val="1815623134"/>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22313" y="2708920"/>
            <a:ext cx="7772400" cy="1362075"/>
          </a:xfrm>
        </p:spPr>
        <p:txBody>
          <a:bodyPr>
            <a:normAutofit/>
          </a:bodyPr>
          <a:lstStyle/>
          <a:p>
            <a:pPr algn="ctr"/>
            <a:r>
              <a:rPr lang="fr-FR" sz="7200" b="0" dirty="0">
                <a:effectLst>
                  <a:outerShdw blurRad="38100" dist="38100" dir="2700000" algn="tl">
                    <a:srgbClr val="000000">
                      <a:alpha val="43137"/>
                    </a:srgbClr>
                  </a:outerShdw>
                </a:effectLst>
                <a:latin typeface="Maiandra GD" pitchFamily="34" charset="0"/>
              </a:rPr>
              <a:t>Les titres</a:t>
            </a:r>
            <a:endParaRPr lang="fr-FR" sz="7200" dirty="0">
              <a:effectLst>
                <a:outerShdw blurRad="38100" dist="38100" dir="2700000" algn="tl">
                  <a:srgbClr val="000000">
                    <a:alpha val="43137"/>
                  </a:srgbClr>
                </a:outerShdw>
              </a:effectLst>
              <a:latin typeface="Maiandra GD" pitchFamily="34" charset="0"/>
            </a:endParaRPr>
          </a:p>
        </p:txBody>
      </p:sp>
    </p:spTree>
    <p:extLst>
      <p:ext uri="{BB962C8B-B14F-4D97-AF65-F5344CB8AC3E}">
        <p14:creationId xmlns:p14="http://schemas.microsoft.com/office/powerpoint/2010/main" val="478437427"/>
      </p:ext>
    </p:extLst>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260648"/>
            <a:ext cx="8568952" cy="6336704"/>
          </a:xfrm>
        </p:spPr>
        <p:txBody>
          <a:bodyPr>
            <a:normAutofit/>
          </a:bodyPr>
          <a:lstStyle/>
          <a:p>
            <a:pPr marL="0" indent="0" algn="just">
              <a:buNone/>
            </a:pPr>
            <a:r>
              <a:rPr lang="fr-FR" dirty="0">
                <a:latin typeface="Maiandra GD" pitchFamily="34" charset="0"/>
              </a:rPr>
              <a:t>Lorsque le contenu de votre page va </a:t>
            </a:r>
            <a:r>
              <a:rPr lang="fr-FR" dirty="0" smtClean="0">
                <a:latin typeface="Maiandra GD" pitchFamily="34" charset="0"/>
              </a:rPr>
              <a:t>s'étoffer </a:t>
            </a:r>
            <a:r>
              <a:rPr lang="fr-FR" dirty="0">
                <a:latin typeface="Maiandra GD" pitchFamily="34" charset="0"/>
              </a:rPr>
              <a:t>avec de nombreux paragraphes, il </a:t>
            </a:r>
            <a:r>
              <a:rPr lang="fr-FR" dirty="0" smtClean="0">
                <a:latin typeface="Maiandra GD" pitchFamily="34" charset="0"/>
              </a:rPr>
              <a:t>va devenir difficile </a:t>
            </a:r>
            <a:r>
              <a:rPr lang="fr-FR" dirty="0">
                <a:latin typeface="Maiandra GD" pitchFamily="34" charset="0"/>
              </a:rPr>
              <a:t>pour vos visiteurs de se repérer. C'est là que les titres </a:t>
            </a:r>
            <a:r>
              <a:rPr lang="fr-FR" dirty="0" smtClean="0">
                <a:latin typeface="Maiandra GD" pitchFamily="34" charset="0"/>
              </a:rPr>
              <a:t>deviennent utiles</a:t>
            </a:r>
            <a:r>
              <a:rPr lang="fr-FR" dirty="0">
                <a:latin typeface="Maiandra GD" pitchFamily="34" charset="0"/>
              </a:rPr>
              <a:t>.</a:t>
            </a:r>
          </a:p>
          <a:p>
            <a:pPr marL="0" indent="0" algn="just">
              <a:buNone/>
            </a:pPr>
            <a:r>
              <a:rPr lang="fr-FR" dirty="0">
                <a:latin typeface="Maiandra GD" pitchFamily="34" charset="0"/>
              </a:rPr>
              <a:t>En HTML, on est verni, on a le droit d'utiliser six niveaux de titres </a:t>
            </a:r>
            <a:r>
              <a:rPr lang="fr-FR" dirty="0" smtClean="0">
                <a:latin typeface="Maiandra GD" pitchFamily="34" charset="0"/>
              </a:rPr>
              <a:t>différents</a:t>
            </a:r>
            <a:r>
              <a:rPr lang="fr-FR" dirty="0">
                <a:latin typeface="Maiandra GD" pitchFamily="34" charset="0"/>
              </a:rPr>
              <a:t>. Je </a:t>
            </a:r>
            <a:r>
              <a:rPr lang="fr-FR" dirty="0" smtClean="0">
                <a:latin typeface="Maiandra GD" pitchFamily="34" charset="0"/>
              </a:rPr>
              <a:t>veux dire </a:t>
            </a:r>
            <a:r>
              <a:rPr lang="fr-FR" dirty="0">
                <a:latin typeface="Maiandra GD" pitchFamily="34" charset="0"/>
              </a:rPr>
              <a:t>par là qu'on peut dire  Ceci est un titre très important ,  Ceci est un titre </a:t>
            </a:r>
            <a:r>
              <a:rPr lang="fr-FR" dirty="0" smtClean="0">
                <a:latin typeface="Maiandra GD" pitchFamily="34" charset="0"/>
              </a:rPr>
              <a:t>un peu </a:t>
            </a:r>
            <a:r>
              <a:rPr lang="fr-FR" dirty="0">
                <a:latin typeface="Maiandra GD" pitchFamily="34" charset="0"/>
              </a:rPr>
              <a:t>moins important ,  Ceci est un titre encore moins important , etc. On a </a:t>
            </a:r>
            <a:r>
              <a:rPr lang="fr-FR" dirty="0" smtClean="0">
                <a:latin typeface="Maiandra GD" pitchFamily="34" charset="0"/>
              </a:rPr>
              <a:t>donc six </a:t>
            </a:r>
            <a:r>
              <a:rPr lang="fr-FR" dirty="0">
                <a:latin typeface="Maiandra GD" pitchFamily="34" charset="0"/>
              </a:rPr>
              <a:t>balises de titres </a:t>
            </a:r>
            <a:r>
              <a:rPr lang="fr-FR" dirty="0" smtClean="0">
                <a:latin typeface="Maiandra GD" pitchFamily="34" charset="0"/>
              </a:rPr>
              <a:t>différentes </a:t>
            </a:r>
            <a:r>
              <a:rPr lang="fr-FR" dirty="0">
                <a:latin typeface="Maiandra GD" pitchFamily="34" charset="0"/>
              </a:rPr>
              <a:t>:</a:t>
            </a:r>
          </a:p>
        </p:txBody>
      </p:sp>
    </p:spTree>
    <p:extLst>
      <p:ext uri="{BB962C8B-B14F-4D97-AF65-F5344CB8AC3E}">
        <p14:creationId xmlns:p14="http://schemas.microsoft.com/office/powerpoint/2010/main" val="2829612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randombar(horizontal)">
                                      <p:cBhvr>
                                        <p:cTn id="25"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404664"/>
            <a:ext cx="8640960" cy="6192688"/>
          </a:xfrm>
        </p:spPr>
        <p:txBody>
          <a:bodyPr>
            <a:normAutofit/>
          </a:bodyPr>
          <a:lstStyle/>
          <a:p>
            <a:pPr marL="0" indent="0" algn="just">
              <a:buNone/>
            </a:pPr>
            <a:r>
              <a:rPr lang="fr-FR" dirty="0" smtClean="0">
                <a:latin typeface="Maiandra GD" pitchFamily="34" charset="0"/>
              </a:rPr>
              <a:t>- &lt;</a:t>
            </a:r>
            <a:r>
              <a:rPr lang="fr-FR" dirty="0">
                <a:latin typeface="Maiandra GD" pitchFamily="34" charset="0"/>
              </a:rPr>
              <a:t>h1&gt; &lt;/h1&gt; : </a:t>
            </a:r>
            <a:r>
              <a:rPr lang="fr-FR" dirty="0" smtClean="0">
                <a:latin typeface="Maiandra GD" pitchFamily="34" charset="0"/>
              </a:rPr>
              <a:t>signifie  </a:t>
            </a:r>
            <a:r>
              <a:rPr lang="fr-FR" dirty="0">
                <a:latin typeface="Maiandra GD" pitchFamily="34" charset="0"/>
              </a:rPr>
              <a:t>titre très important . En général, on s'en sert pour </a:t>
            </a:r>
            <a:r>
              <a:rPr lang="fr-FR" dirty="0" smtClean="0">
                <a:latin typeface="Maiandra GD" pitchFamily="34" charset="0"/>
              </a:rPr>
              <a:t>afficher</a:t>
            </a:r>
            <a:r>
              <a:rPr lang="fr-FR" dirty="0">
                <a:latin typeface="Maiandra GD" pitchFamily="34" charset="0"/>
              </a:rPr>
              <a:t> </a:t>
            </a:r>
            <a:r>
              <a:rPr lang="fr-FR" dirty="0" smtClean="0">
                <a:latin typeface="Maiandra GD" pitchFamily="34" charset="0"/>
              </a:rPr>
              <a:t>le </a:t>
            </a:r>
            <a:r>
              <a:rPr lang="fr-FR" dirty="0">
                <a:latin typeface="Maiandra GD" pitchFamily="34" charset="0"/>
              </a:rPr>
              <a:t>titre de la page au début de celle-ci.</a:t>
            </a:r>
          </a:p>
          <a:p>
            <a:pPr marL="0" indent="0" algn="just">
              <a:buNone/>
            </a:pPr>
            <a:r>
              <a:rPr lang="fr-FR" dirty="0" smtClean="0">
                <a:latin typeface="Maiandra GD" pitchFamily="34" charset="0"/>
              </a:rPr>
              <a:t>- &lt;</a:t>
            </a:r>
            <a:r>
              <a:rPr lang="fr-FR" dirty="0">
                <a:latin typeface="Maiandra GD" pitchFamily="34" charset="0"/>
              </a:rPr>
              <a:t>h2&gt; &lt;/h2&gt; : </a:t>
            </a:r>
            <a:r>
              <a:rPr lang="fr-FR" dirty="0" smtClean="0">
                <a:latin typeface="Maiandra GD" pitchFamily="34" charset="0"/>
              </a:rPr>
              <a:t>signifie  </a:t>
            </a:r>
            <a:r>
              <a:rPr lang="fr-FR" dirty="0">
                <a:latin typeface="Maiandra GD" pitchFamily="34" charset="0"/>
              </a:rPr>
              <a:t>titre important .</a:t>
            </a:r>
          </a:p>
          <a:p>
            <a:pPr marL="0" indent="0" algn="just">
              <a:buNone/>
            </a:pPr>
            <a:r>
              <a:rPr lang="fr-FR" dirty="0" smtClean="0">
                <a:latin typeface="Maiandra GD" pitchFamily="34" charset="0"/>
              </a:rPr>
              <a:t>- &lt;</a:t>
            </a:r>
            <a:r>
              <a:rPr lang="fr-FR" dirty="0">
                <a:latin typeface="Maiandra GD" pitchFamily="34" charset="0"/>
              </a:rPr>
              <a:t>h3&gt; &lt;/h3&gt; : pareil, c'est un titre un peu moins important (on peut dire un  </a:t>
            </a:r>
            <a:r>
              <a:rPr lang="fr-FR" dirty="0" smtClean="0">
                <a:latin typeface="Maiandra GD" pitchFamily="34" charset="0"/>
              </a:rPr>
              <a:t>« sous-titre » si </a:t>
            </a:r>
            <a:r>
              <a:rPr lang="fr-FR" dirty="0">
                <a:latin typeface="Maiandra GD" pitchFamily="34" charset="0"/>
              </a:rPr>
              <a:t>vous voulez).</a:t>
            </a:r>
          </a:p>
          <a:p>
            <a:pPr marL="0" indent="0" algn="just">
              <a:buNone/>
            </a:pPr>
            <a:r>
              <a:rPr lang="fr-FR" dirty="0" smtClean="0">
                <a:latin typeface="Maiandra GD" pitchFamily="34" charset="0"/>
              </a:rPr>
              <a:t>- &lt;</a:t>
            </a:r>
            <a:r>
              <a:rPr lang="fr-FR" dirty="0">
                <a:latin typeface="Maiandra GD" pitchFamily="34" charset="0"/>
              </a:rPr>
              <a:t>h4&gt; &lt;/h4&gt; : titre encore </a:t>
            </a:r>
            <a:r>
              <a:rPr lang="fr-FR" dirty="0" smtClean="0">
                <a:latin typeface="Maiandra GD" pitchFamily="34" charset="0"/>
              </a:rPr>
              <a:t>moins important</a:t>
            </a:r>
            <a:r>
              <a:rPr lang="fr-FR" dirty="0">
                <a:latin typeface="Maiandra GD" pitchFamily="34" charset="0"/>
              </a:rPr>
              <a:t>.</a:t>
            </a:r>
          </a:p>
          <a:p>
            <a:pPr marL="0" indent="0" algn="just">
              <a:buNone/>
            </a:pPr>
            <a:r>
              <a:rPr lang="fr-FR" dirty="0" smtClean="0">
                <a:latin typeface="Maiandra GD" pitchFamily="34" charset="0"/>
              </a:rPr>
              <a:t>- &lt;</a:t>
            </a:r>
            <a:r>
              <a:rPr lang="fr-FR" dirty="0">
                <a:latin typeface="Maiandra GD" pitchFamily="34" charset="0"/>
              </a:rPr>
              <a:t>h5&gt; &lt;/h5&gt; : titre pas important.</a:t>
            </a:r>
          </a:p>
          <a:p>
            <a:pPr marL="0" indent="0" algn="just">
              <a:buNone/>
            </a:pPr>
            <a:r>
              <a:rPr lang="fr-FR" dirty="0" smtClean="0">
                <a:latin typeface="Maiandra GD" pitchFamily="34" charset="0"/>
              </a:rPr>
              <a:t>- &lt;</a:t>
            </a:r>
            <a:r>
              <a:rPr lang="fr-FR" dirty="0">
                <a:latin typeface="Maiandra GD" pitchFamily="34" charset="0"/>
              </a:rPr>
              <a:t>h6&gt; &lt;/h6&gt; : titre vraiment, mais alors là vraiment pas important du tout.</a:t>
            </a:r>
          </a:p>
        </p:txBody>
      </p:sp>
    </p:spTree>
    <p:extLst>
      <p:ext uri="{BB962C8B-B14F-4D97-AF65-F5344CB8AC3E}">
        <p14:creationId xmlns:p14="http://schemas.microsoft.com/office/powerpoint/2010/main" val="541321125"/>
      </p:ext>
    </p:extLst>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9512" y="476672"/>
            <a:ext cx="8784976" cy="5976664"/>
          </a:xfrm>
        </p:spPr>
        <p:txBody>
          <a:bodyPr/>
          <a:lstStyle/>
          <a:p>
            <a:pPr marL="0" indent="0" algn="just">
              <a:buNone/>
            </a:pPr>
            <a:r>
              <a:rPr lang="fr-FR" sz="3600" u="sng" dirty="0">
                <a:effectLst>
                  <a:outerShdw blurRad="38100" dist="38100" dir="2700000" algn="tl">
                    <a:srgbClr val="000000">
                      <a:alpha val="43137"/>
                    </a:srgbClr>
                  </a:outerShdw>
                </a:effectLst>
                <a:latin typeface="Maiandra GD" pitchFamily="34" charset="0"/>
              </a:rPr>
              <a:t>Attention</a:t>
            </a:r>
            <a:r>
              <a:rPr lang="fr-FR" dirty="0">
                <a:latin typeface="Maiandra GD" pitchFamily="34" charset="0"/>
              </a:rPr>
              <a:t> : </a:t>
            </a:r>
            <a:r>
              <a:rPr lang="fr-FR" sz="3600" dirty="0">
                <a:latin typeface="Maiandra GD" pitchFamily="34" charset="0"/>
              </a:rPr>
              <a:t>ne confondez pas avec la balise &lt;title&gt; ! La balise &lt;</a:t>
            </a:r>
            <a:r>
              <a:rPr lang="fr-FR" sz="3600" dirty="0" smtClean="0">
                <a:latin typeface="Maiandra GD" pitchFamily="34" charset="0"/>
              </a:rPr>
              <a:t>title&gt; affiche </a:t>
            </a:r>
            <a:r>
              <a:rPr lang="fr-FR" sz="3600" dirty="0">
                <a:latin typeface="Maiandra GD" pitchFamily="34" charset="0"/>
              </a:rPr>
              <a:t>le titre de la page dans la barre de titre du navigateur comme </a:t>
            </a:r>
            <a:r>
              <a:rPr lang="fr-FR" sz="3600" dirty="0" smtClean="0">
                <a:latin typeface="Maiandra GD" pitchFamily="34" charset="0"/>
              </a:rPr>
              <a:t>nous l'avons </a:t>
            </a:r>
            <a:r>
              <a:rPr lang="fr-FR" sz="3600" dirty="0">
                <a:latin typeface="Maiandra GD" pitchFamily="34" charset="0"/>
              </a:rPr>
              <a:t>vu. Les titres &lt;h1&gt; et compagnie, eux, servent à créer des titres </a:t>
            </a:r>
            <a:r>
              <a:rPr lang="fr-FR" sz="3600" dirty="0" smtClean="0">
                <a:latin typeface="Maiandra GD" pitchFamily="34" charset="0"/>
              </a:rPr>
              <a:t>qui seront affichés </a:t>
            </a:r>
            <a:r>
              <a:rPr lang="fr-FR" sz="3600" dirty="0">
                <a:latin typeface="Maiandra GD" pitchFamily="34" charset="0"/>
              </a:rPr>
              <a:t>dans la page web.</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7291" y="4509120"/>
            <a:ext cx="1512168" cy="1872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05038561"/>
      </p:ext>
    </p:extLst>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476672"/>
            <a:ext cx="8640960" cy="6048672"/>
          </a:xfrm>
        </p:spPr>
        <p:txBody>
          <a:bodyPr>
            <a:normAutofit fontScale="92500"/>
          </a:bodyPr>
          <a:lstStyle/>
          <a:p>
            <a:pPr marL="0" indent="0" algn="just">
              <a:buNone/>
            </a:pPr>
            <a:r>
              <a:rPr lang="fr-FR" sz="3600" dirty="0">
                <a:latin typeface="Maiandra GD" pitchFamily="34" charset="0"/>
              </a:rPr>
              <a:t>Ne vous laissez pas impressionner par toutes ces balises. En fait, six niveaux de </a:t>
            </a:r>
            <a:r>
              <a:rPr lang="fr-FR" sz="3600" dirty="0" smtClean="0">
                <a:latin typeface="Maiandra GD" pitchFamily="34" charset="0"/>
              </a:rPr>
              <a:t>titres, c'est </a:t>
            </a:r>
            <a:r>
              <a:rPr lang="fr-FR" sz="3600" dirty="0">
                <a:latin typeface="Maiandra GD" pitchFamily="34" charset="0"/>
              </a:rPr>
              <a:t>beaucoup. </a:t>
            </a:r>
            <a:endParaRPr lang="fr-FR" sz="3600" dirty="0" smtClean="0">
              <a:latin typeface="Maiandra GD" pitchFamily="34" charset="0"/>
            </a:endParaRPr>
          </a:p>
          <a:p>
            <a:pPr marL="0" indent="0" algn="just">
              <a:buNone/>
            </a:pPr>
            <a:r>
              <a:rPr lang="fr-FR" sz="3600" dirty="0" smtClean="0">
                <a:latin typeface="Maiandra GD" pitchFamily="34" charset="0"/>
              </a:rPr>
              <a:t>Dans </a:t>
            </a:r>
            <a:r>
              <a:rPr lang="fr-FR" sz="3600" dirty="0">
                <a:latin typeface="Maiandra GD" pitchFamily="34" charset="0"/>
              </a:rPr>
              <a:t>la pratique, personnellement, je n'utilise que les balises &lt;h1</a:t>
            </a:r>
            <a:r>
              <a:rPr lang="fr-FR" sz="3600" dirty="0" smtClean="0">
                <a:latin typeface="Maiandra GD" pitchFamily="34" charset="0"/>
              </a:rPr>
              <a:t>&gt;, &lt;</a:t>
            </a:r>
            <a:r>
              <a:rPr lang="fr-FR" sz="3600" dirty="0">
                <a:latin typeface="Maiandra GD" pitchFamily="34" charset="0"/>
              </a:rPr>
              <a:t>h2&gt; et &lt;h3&gt;, et très rarement les autres (je n'ai pas souvent besoin de six niveaux </a:t>
            </a:r>
            <a:r>
              <a:rPr lang="fr-FR" sz="3600" dirty="0" smtClean="0">
                <a:latin typeface="Maiandra GD" pitchFamily="34" charset="0"/>
              </a:rPr>
              <a:t>de titres différents</a:t>
            </a:r>
            <a:r>
              <a:rPr lang="fr-FR" sz="3600" dirty="0">
                <a:latin typeface="Maiandra GD" pitchFamily="34" charset="0"/>
              </a:rPr>
              <a:t>). </a:t>
            </a:r>
            <a:endParaRPr lang="fr-FR" sz="3600" dirty="0" smtClean="0">
              <a:latin typeface="Maiandra GD" pitchFamily="34" charset="0"/>
            </a:endParaRPr>
          </a:p>
          <a:p>
            <a:pPr marL="0" indent="0" algn="just">
              <a:buNone/>
            </a:pPr>
            <a:r>
              <a:rPr lang="fr-FR" sz="3600" dirty="0" smtClean="0">
                <a:latin typeface="Maiandra GD" pitchFamily="34" charset="0"/>
              </a:rPr>
              <a:t>Votre </a:t>
            </a:r>
            <a:r>
              <a:rPr lang="fr-FR" sz="3600" dirty="0">
                <a:latin typeface="Maiandra GD" pitchFamily="34" charset="0"/>
              </a:rPr>
              <a:t>navigateur </a:t>
            </a:r>
            <a:r>
              <a:rPr lang="fr-FR" sz="3600" dirty="0" smtClean="0">
                <a:latin typeface="Maiandra GD" pitchFamily="34" charset="0"/>
              </a:rPr>
              <a:t>affiche </a:t>
            </a:r>
            <a:r>
              <a:rPr lang="fr-FR" sz="3600" dirty="0">
                <a:latin typeface="Maiandra GD" pitchFamily="34" charset="0"/>
              </a:rPr>
              <a:t>le titre très important en très gros, le </a:t>
            </a:r>
            <a:r>
              <a:rPr lang="fr-FR" sz="3600" dirty="0" smtClean="0">
                <a:latin typeface="Maiandra GD" pitchFamily="34" charset="0"/>
              </a:rPr>
              <a:t>titre un </a:t>
            </a:r>
            <a:r>
              <a:rPr lang="fr-FR" sz="3600" dirty="0">
                <a:latin typeface="Maiandra GD" pitchFamily="34" charset="0"/>
              </a:rPr>
              <a:t>peu moins important en un peu moins gros, etc.</a:t>
            </a:r>
          </a:p>
        </p:txBody>
      </p:sp>
    </p:spTree>
    <p:extLst>
      <p:ext uri="{BB962C8B-B14F-4D97-AF65-F5344CB8AC3E}">
        <p14:creationId xmlns:p14="http://schemas.microsoft.com/office/powerpoint/2010/main" val="2688166101"/>
      </p:ext>
    </p:extLst>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332656"/>
            <a:ext cx="8712968" cy="6336704"/>
          </a:xfrm>
        </p:spPr>
        <p:txBody>
          <a:bodyPr>
            <a:normAutofit/>
          </a:bodyPr>
          <a:lstStyle/>
          <a:p>
            <a:pPr marL="0" indent="0" algn="just">
              <a:buNone/>
            </a:pPr>
            <a:r>
              <a:rPr lang="fr-FR" sz="3600" dirty="0">
                <a:solidFill>
                  <a:srgbClr val="FF0000"/>
                </a:solidFill>
                <a:latin typeface="Maiandra GD" pitchFamily="34" charset="0"/>
              </a:rPr>
              <a:t>Ne choisissez pas votre balise de titre en fonction de la taille qu'elle </a:t>
            </a:r>
            <a:r>
              <a:rPr lang="fr-FR" sz="3600" dirty="0" smtClean="0">
                <a:solidFill>
                  <a:srgbClr val="FF0000"/>
                </a:solidFill>
                <a:latin typeface="Maiandra GD" pitchFamily="34" charset="0"/>
              </a:rPr>
              <a:t>applique au </a:t>
            </a:r>
            <a:r>
              <a:rPr lang="fr-FR" sz="3600" dirty="0">
                <a:solidFill>
                  <a:srgbClr val="FF0000"/>
                </a:solidFill>
                <a:latin typeface="Maiandra GD" pitchFamily="34" charset="0"/>
              </a:rPr>
              <a:t>texte ! Il faut impérativement bien structurer sa page en commençant </a:t>
            </a:r>
            <a:r>
              <a:rPr lang="fr-FR" sz="3600" dirty="0" smtClean="0">
                <a:solidFill>
                  <a:srgbClr val="FF0000"/>
                </a:solidFill>
                <a:latin typeface="Maiandra GD" pitchFamily="34" charset="0"/>
              </a:rPr>
              <a:t>par un </a:t>
            </a:r>
            <a:r>
              <a:rPr lang="fr-FR" sz="3600" dirty="0">
                <a:solidFill>
                  <a:srgbClr val="FF0000"/>
                </a:solidFill>
                <a:latin typeface="Maiandra GD" pitchFamily="34" charset="0"/>
              </a:rPr>
              <a:t>titre de niveau 1 (&lt;h1&gt;), puis un titre de niveau 2 (&lt;h2&gt;), etc. </a:t>
            </a:r>
            <a:endParaRPr lang="fr-FR" sz="3600" dirty="0" smtClean="0">
              <a:solidFill>
                <a:srgbClr val="FF0000"/>
              </a:solidFill>
              <a:latin typeface="Maiandra GD" pitchFamily="34" charset="0"/>
            </a:endParaRPr>
          </a:p>
          <a:p>
            <a:pPr marL="0" indent="0" algn="just">
              <a:buNone/>
            </a:pPr>
            <a:r>
              <a:rPr lang="fr-FR" sz="3600" dirty="0" smtClean="0">
                <a:solidFill>
                  <a:srgbClr val="FF0000"/>
                </a:solidFill>
                <a:latin typeface="Maiandra GD" pitchFamily="34" charset="0"/>
              </a:rPr>
              <a:t>Il </a:t>
            </a:r>
            <a:r>
              <a:rPr lang="fr-FR" sz="3600" dirty="0">
                <a:solidFill>
                  <a:srgbClr val="FF0000"/>
                </a:solidFill>
                <a:latin typeface="Maiandra GD" pitchFamily="34" charset="0"/>
              </a:rPr>
              <a:t>ne </a:t>
            </a:r>
            <a:r>
              <a:rPr lang="fr-FR" sz="3600" dirty="0" smtClean="0">
                <a:solidFill>
                  <a:srgbClr val="FF0000"/>
                </a:solidFill>
                <a:latin typeface="Maiandra GD" pitchFamily="34" charset="0"/>
              </a:rPr>
              <a:t>devrait pas </a:t>
            </a:r>
            <a:r>
              <a:rPr lang="fr-FR" sz="3600" dirty="0">
                <a:solidFill>
                  <a:srgbClr val="FF0000"/>
                </a:solidFill>
                <a:latin typeface="Maiandra GD" pitchFamily="34" charset="0"/>
              </a:rPr>
              <a:t>y avoir de sous-titre sans titre principal ! Si vous voulez </a:t>
            </a:r>
            <a:r>
              <a:rPr lang="fr-FR" sz="3600" dirty="0" smtClean="0">
                <a:solidFill>
                  <a:srgbClr val="FF0000"/>
                </a:solidFill>
                <a:latin typeface="Maiandra GD" pitchFamily="34" charset="0"/>
              </a:rPr>
              <a:t>modifier </a:t>
            </a:r>
            <a:r>
              <a:rPr lang="fr-FR" sz="3600" dirty="0">
                <a:solidFill>
                  <a:srgbClr val="FF0000"/>
                </a:solidFill>
                <a:latin typeface="Maiandra GD" pitchFamily="34" charset="0"/>
              </a:rPr>
              <a:t>la </a:t>
            </a:r>
            <a:r>
              <a:rPr lang="fr-FR" sz="3600" dirty="0" smtClean="0">
                <a:solidFill>
                  <a:srgbClr val="FF0000"/>
                </a:solidFill>
                <a:latin typeface="Maiandra GD" pitchFamily="34" charset="0"/>
              </a:rPr>
              <a:t>taille du </a:t>
            </a:r>
            <a:r>
              <a:rPr lang="fr-FR" sz="3600" dirty="0">
                <a:solidFill>
                  <a:srgbClr val="FF0000"/>
                </a:solidFill>
                <a:latin typeface="Maiandra GD" pitchFamily="34" charset="0"/>
              </a:rPr>
              <a:t>texte, sachez que nous apprendrons à faire cela en CSS un peu plus tard.</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44408" y="6094859"/>
            <a:ext cx="619125" cy="6465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63460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randombar(horizontal)">
                                      <p:cBhvr>
                                        <p:cTn id="25"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512" y="188640"/>
            <a:ext cx="8748464" cy="6597352"/>
          </a:xfrm>
          <a:prstGeom prst="rect">
            <a:avLst/>
          </a:prstGeom>
        </p:spPr>
      </p:pic>
    </p:spTree>
    <p:extLst>
      <p:ext uri="{BB962C8B-B14F-4D97-AF65-F5344CB8AC3E}">
        <p14:creationId xmlns:p14="http://schemas.microsoft.com/office/powerpoint/2010/main" val="1757304848"/>
      </p:ext>
    </p:extLst>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008" y="116632"/>
            <a:ext cx="8964488" cy="6597352"/>
          </a:xfrm>
          <a:prstGeom prst="rect">
            <a:avLst/>
          </a:prstGeom>
        </p:spPr>
      </p:pic>
    </p:spTree>
    <p:extLst>
      <p:ext uri="{BB962C8B-B14F-4D97-AF65-F5344CB8AC3E}">
        <p14:creationId xmlns:p14="http://schemas.microsoft.com/office/powerpoint/2010/main" val="3012865974"/>
      </p:ext>
    </p:extLst>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90872" y="1844824"/>
            <a:ext cx="8229600" cy="3024336"/>
          </a:xfrm>
        </p:spPr>
        <p:txBody>
          <a:bodyPr>
            <a:normAutofit fontScale="90000"/>
          </a:bodyPr>
          <a:lstStyle/>
          <a:p>
            <a:pPr algn="just"/>
            <a:r>
              <a:rPr lang="fr-FR" dirty="0">
                <a:effectLst>
                  <a:outerShdw blurRad="38100" dist="38100" dir="2700000" algn="tl">
                    <a:srgbClr val="000000">
                      <a:alpha val="43137"/>
                    </a:srgbClr>
                  </a:outerShdw>
                </a:effectLst>
                <a:latin typeface="Maiandra GD" pitchFamily="34" charset="0"/>
              </a:rPr>
              <a:t>Allez, je vous donne un exemple d'utilisation des titres dans une page web (vous </a:t>
            </a:r>
            <a:r>
              <a:rPr lang="fr-FR" dirty="0" smtClean="0">
                <a:effectLst>
                  <a:outerShdw blurRad="38100" dist="38100" dir="2700000" algn="tl">
                    <a:srgbClr val="000000">
                      <a:alpha val="43137"/>
                    </a:srgbClr>
                  </a:outerShdw>
                </a:effectLst>
                <a:latin typeface="Maiandra GD" pitchFamily="34" charset="0"/>
              </a:rPr>
              <a:t>allez voir </a:t>
            </a:r>
            <a:r>
              <a:rPr lang="fr-FR" dirty="0">
                <a:effectLst>
                  <a:outerShdw blurRad="38100" dist="38100" dir="2700000" algn="tl">
                    <a:srgbClr val="000000">
                      <a:alpha val="43137"/>
                    </a:srgbClr>
                  </a:outerShdw>
                </a:effectLst>
                <a:latin typeface="Maiandra GD" pitchFamily="34" charset="0"/>
              </a:rPr>
              <a:t>que je ne me sers pas de toutes les balises) :</a:t>
            </a:r>
          </a:p>
        </p:txBody>
      </p:sp>
    </p:spTree>
    <p:extLst>
      <p:ext uri="{BB962C8B-B14F-4D97-AF65-F5344CB8AC3E}">
        <p14:creationId xmlns:p14="http://schemas.microsoft.com/office/powerpoint/2010/main" val="3014557238"/>
      </p:ext>
    </p:extLst>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016" y="188640"/>
            <a:ext cx="8748464" cy="6597352"/>
          </a:xfrm>
          <a:prstGeom prst="rect">
            <a:avLst/>
          </a:prstGeom>
        </p:spPr>
      </p:pic>
    </p:spTree>
    <p:extLst>
      <p:ext uri="{BB962C8B-B14F-4D97-AF65-F5344CB8AC3E}">
        <p14:creationId xmlns:p14="http://schemas.microsoft.com/office/powerpoint/2010/main" val="455328465"/>
      </p:ext>
    </p:extLst>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008" y="116632"/>
            <a:ext cx="8964488" cy="6408712"/>
          </a:xfrm>
          <a:prstGeom prst="rect">
            <a:avLst/>
          </a:prstGeom>
        </p:spPr>
      </p:pic>
      <p:sp>
        <p:nvSpPr>
          <p:cNvPr id="5" name="Rectangle 4"/>
          <p:cNvSpPr/>
          <p:nvPr/>
        </p:nvSpPr>
        <p:spPr>
          <a:xfrm>
            <a:off x="2708701" y="6444044"/>
            <a:ext cx="4456926" cy="400110"/>
          </a:xfrm>
          <a:prstGeom prst="rect">
            <a:avLst/>
          </a:prstGeom>
        </p:spPr>
        <p:txBody>
          <a:bodyPr wrap="none">
            <a:spAutoFit/>
          </a:bodyPr>
          <a:lstStyle/>
          <a:p>
            <a:r>
              <a:rPr lang="fr-FR" sz="2000" dirty="0">
                <a:effectLst>
                  <a:outerShdw blurRad="38100" dist="38100" dir="2700000" algn="tl">
                    <a:srgbClr val="000000">
                      <a:alpha val="43137"/>
                    </a:srgbClr>
                  </a:outerShdw>
                </a:effectLst>
                <a:latin typeface="Maiandra GD" pitchFamily="34" charset="0"/>
              </a:rPr>
              <a:t>Voilà une page web qui prend forme !</a:t>
            </a:r>
          </a:p>
        </p:txBody>
      </p:sp>
    </p:spTree>
    <p:extLst>
      <p:ext uri="{BB962C8B-B14F-4D97-AF65-F5344CB8AC3E}">
        <p14:creationId xmlns:p14="http://schemas.microsoft.com/office/powerpoint/2010/main" val="1000186000"/>
      </p:ext>
    </p:extLst>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9512" y="332656"/>
            <a:ext cx="8712968" cy="6192688"/>
          </a:xfrm>
        </p:spPr>
        <p:txBody>
          <a:bodyPr>
            <a:normAutofit/>
          </a:bodyPr>
          <a:lstStyle/>
          <a:p>
            <a:pPr marL="0" indent="0">
              <a:buNone/>
            </a:pPr>
            <a:endParaRPr lang="fr-FR" sz="3600" dirty="0" smtClean="0">
              <a:latin typeface="Maiandra GD" pitchFamily="34" charset="0"/>
            </a:endParaRPr>
          </a:p>
          <a:p>
            <a:pPr marL="0" indent="0">
              <a:buNone/>
            </a:pPr>
            <a:endParaRPr lang="fr-FR" sz="3600" dirty="0">
              <a:latin typeface="Maiandra GD" pitchFamily="34" charset="0"/>
            </a:endParaRPr>
          </a:p>
          <a:p>
            <a:pPr marL="0" indent="0">
              <a:buNone/>
            </a:pPr>
            <a:endParaRPr lang="fr-FR" sz="3600" dirty="0">
              <a:latin typeface="Maiandra GD" pitchFamily="34" charset="0"/>
            </a:endParaRPr>
          </a:p>
          <a:p>
            <a:pPr marL="0" indent="0">
              <a:buNone/>
            </a:pPr>
            <a:r>
              <a:rPr lang="fr-FR" sz="3600" dirty="0" smtClean="0">
                <a:latin typeface="Maiandra GD" pitchFamily="34" charset="0"/>
              </a:rPr>
              <a:t>Oui</a:t>
            </a:r>
            <a:r>
              <a:rPr lang="fr-FR" sz="3600" dirty="0">
                <a:latin typeface="Maiandra GD" pitchFamily="34" charset="0"/>
              </a:rPr>
              <a:t>, mais moi je veux centrer mon titre, l'écrire en rouge et le souligner !</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05583" y="3760093"/>
            <a:ext cx="1238250" cy="1238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9984845"/>
      </p:ext>
    </p:extLst>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260648"/>
            <a:ext cx="8640960" cy="6192688"/>
          </a:xfrm>
        </p:spPr>
        <p:txBody>
          <a:bodyPr/>
          <a:lstStyle/>
          <a:p>
            <a:pPr marL="0" indent="0" algn="just">
              <a:buNone/>
            </a:pPr>
            <a:r>
              <a:rPr lang="fr-FR" dirty="0">
                <a:latin typeface="Maiandra GD" pitchFamily="34" charset="0"/>
              </a:rPr>
              <a:t>Nous ferons tout cela lorsque nous apprendrons le CSS (dès la deuxième partie </a:t>
            </a:r>
            <a:r>
              <a:rPr lang="fr-FR" dirty="0" smtClean="0">
                <a:latin typeface="Maiandra GD" pitchFamily="34" charset="0"/>
              </a:rPr>
              <a:t>du cours</a:t>
            </a:r>
            <a:r>
              <a:rPr lang="fr-FR" dirty="0">
                <a:latin typeface="Maiandra GD" pitchFamily="34" charset="0"/>
              </a:rPr>
              <a:t>). Il faut savoir que &lt;h1&gt; ne </a:t>
            </a:r>
            <a:r>
              <a:rPr lang="fr-FR" dirty="0" smtClean="0">
                <a:latin typeface="Maiandra GD" pitchFamily="34" charset="0"/>
              </a:rPr>
              <a:t>signifie </a:t>
            </a:r>
            <a:r>
              <a:rPr lang="fr-FR" dirty="0">
                <a:latin typeface="Maiandra GD" pitchFamily="34" charset="0"/>
              </a:rPr>
              <a:t>pas </a:t>
            </a:r>
            <a:r>
              <a:rPr lang="fr-FR" dirty="0" smtClean="0">
                <a:latin typeface="Maiandra GD" pitchFamily="34" charset="0"/>
              </a:rPr>
              <a:t>«  </a:t>
            </a:r>
            <a:r>
              <a:rPr lang="fr-FR" dirty="0">
                <a:latin typeface="Maiandra GD" pitchFamily="34" charset="0"/>
              </a:rPr>
              <a:t>Times New </a:t>
            </a:r>
            <a:r>
              <a:rPr lang="fr-FR" dirty="0" smtClean="0">
                <a:latin typeface="Maiandra GD" pitchFamily="34" charset="0"/>
              </a:rPr>
              <a:t>Roman , </a:t>
            </a:r>
            <a:r>
              <a:rPr lang="fr-FR" dirty="0">
                <a:latin typeface="Maiandra GD" pitchFamily="34" charset="0"/>
              </a:rPr>
              <a:t>taille 16 </a:t>
            </a:r>
            <a:r>
              <a:rPr lang="fr-FR" dirty="0" smtClean="0">
                <a:latin typeface="Maiandra GD" pitchFamily="34" charset="0"/>
              </a:rPr>
              <a:t>pt » </a:t>
            </a:r>
            <a:r>
              <a:rPr lang="fr-FR" dirty="0">
                <a:latin typeface="Maiandra GD" pitchFamily="34" charset="0"/>
              </a:rPr>
              <a:t>, </a:t>
            </a:r>
            <a:r>
              <a:rPr lang="fr-FR" dirty="0" smtClean="0">
                <a:latin typeface="Maiandra GD" pitchFamily="34" charset="0"/>
              </a:rPr>
              <a:t>mais « Titre important » .</a:t>
            </a:r>
          </a:p>
          <a:p>
            <a:pPr marL="0" indent="0" algn="just">
              <a:buNone/>
            </a:pPr>
            <a:r>
              <a:rPr lang="fr-FR" dirty="0">
                <a:latin typeface="Maiandra GD" pitchFamily="34" charset="0"/>
              </a:rPr>
              <a:t>Grâce au langage CSS, vous pourrez dire  Je veux que mes titres importants </a:t>
            </a:r>
            <a:r>
              <a:rPr lang="fr-FR" dirty="0" smtClean="0">
                <a:latin typeface="Maiandra GD" pitchFamily="34" charset="0"/>
              </a:rPr>
              <a:t>soient centrés</a:t>
            </a:r>
            <a:r>
              <a:rPr lang="fr-FR" dirty="0">
                <a:latin typeface="Maiandra GD" pitchFamily="34" charset="0"/>
              </a:rPr>
              <a:t>, rouges et soulignés . </a:t>
            </a:r>
            <a:endParaRPr lang="fr-FR" dirty="0" smtClean="0">
              <a:latin typeface="Maiandra GD" pitchFamily="34" charset="0"/>
            </a:endParaRPr>
          </a:p>
          <a:p>
            <a:pPr marL="0" indent="0" algn="just">
              <a:buNone/>
            </a:pPr>
            <a:r>
              <a:rPr lang="fr-FR" dirty="0" smtClean="0">
                <a:latin typeface="Maiandra GD" pitchFamily="34" charset="0"/>
              </a:rPr>
              <a:t>Pour </a:t>
            </a:r>
            <a:r>
              <a:rPr lang="fr-FR" dirty="0">
                <a:latin typeface="Maiandra GD" pitchFamily="34" charset="0"/>
              </a:rPr>
              <a:t>le moment, en HTML, nous ne faisons que </a:t>
            </a:r>
            <a:r>
              <a:rPr lang="fr-FR" dirty="0" smtClean="0">
                <a:latin typeface="Maiandra GD" pitchFamily="34" charset="0"/>
              </a:rPr>
              <a:t>structurer notre </a:t>
            </a:r>
            <a:r>
              <a:rPr lang="fr-FR" dirty="0">
                <a:latin typeface="Maiandra GD" pitchFamily="34" charset="0"/>
              </a:rPr>
              <a:t>page. Nous rédigeons le contenu avant de nous amuser à le mettre en forme.</a:t>
            </a:r>
          </a:p>
        </p:txBody>
      </p:sp>
    </p:spTree>
    <p:extLst>
      <p:ext uri="{BB962C8B-B14F-4D97-AF65-F5344CB8AC3E}">
        <p14:creationId xmlns:p14="http://schemas.microsoft.com/office/powerpoint/2010/main" val="1118422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wipe(down)">
                                      <p:cBhvr>
                                        <p:cTn id="25" dur="580">
                                          <p:stCondLst>
                                            <p:cond delay="0"/>
                                          </p:stCondLst>
                                        </p:cTn>
                                        <p:tgtEl>
                                          <p:spTgt spid="3">
                                            <p:txEl>
                                              <p:pRg st="1" end="1"/>
                                            </p:txEl>
                                          </p:spTgt>
                                        </p:tgtEl>
                                      </p:cBhvr>
                                    </p:animEffect>
                                    <p:anim calcmode="lin" valueType="num">
                                      <p:cBhvr>
                                        <p:cTn id="26"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1" end="1"/>
                                            </p:txEl>
                                          </p:spTgt>
                                        </p:tgtEl>
                                      </p:cBhvr>
                                      <p:to x="100000" y="60000"/>
                                    </p:animScale>
                                    <p:animScale>
                                      <p:cBhvr>
                                        <p:cTn id="32" dur="166" decel="50000">
                                          <p:stCondLst>
                                            <p:cond delay="676"/>
                                          </p:stCondLst>
                                        </p:cTn>
                                        <p:tgtEl>
                                          <p:spTgt spid="3">
                                            <p:txEl>
                                              <p:pRg st="1" end="1"/>
                                            </p:txEl>
                                          </p:spTgt>
                                        </p:tgtEl>
                                      </p:cBhvr>
                                      <p:to x="100000" y="100000"/>
                                    </p:animScale>
                                    <p:animScale>
                                      <p:cBhvr>
                                        <p:cTn id="33" dur="26">
                                          <p:stCondLst>
                                            <p:cond delay="1312"/>
                                          </p:stCondLst>
                                        </p:cTn>
                                        <p:tgtEl>
                                          <p:spTgt spid="3">
                                            <p:txEl>
                                              <p:pRg st="1" end="1"/>
                                            </p:txEl>
                                          </p:spTgt>
                                        </p:tgtEl>
                                      </p:cBhvr>
                                      <p:to x="100000" y="80000"/>
                                    </p:animScale>
                                    <p:animScale>
                                      <p:cBhvr>
                                        <p:cTn id="34" dur="166" decel="50000">
                                          <p:stCondLst>
                                            <p:cond delay="1338"/>
                                          </p:stCondLst>
                                        </p:cTn>
                                        <p:tgtEl>
                                          <p:spTgt spid="3">
                                            <p:txEl>
                                              <p:pRg st="1" end="1"/>
                                            </p:txEl>
                                          </p:spTgt>
                                        </p:tgtEl>
                                      </p:cBhvr>
                                      <p:to x="100000" y="100000"/>
                                    </p:animScale>
                                    <p:animScale>
                                      <p:cBhvr>
                                        <p:cTn id="35" dur="26">
                                          <p:stCondLst>
                                            <p:cond delay="1642"/>
                                          </p:stCondLst>
                                        </p:cTn>
                                        <p:tgtEl>
                                          <p:spTgt spid="3">
                                            <p:txEl>
                                              <p:pRg st="1" end="1"/>
                                            </p:txEl>
                                          </p:spTgt>
                                        </p:tgtEl>
                                      </p:cBhvr>
                                      <p:to x="100000" y="90000"/>
                                    </p:animScale>
                                    <p:animScale>
                                      <p:cBhvr>
                                        <p:cTn id="36" dur="166" decel="50000">
                                          <p:stCondLst>
                                            <p:cond delay="1668"/>
                                          </p:stCondLst>
                                        </p:cTn>
                                        <p:tgtEl>
                                          <p:spTgt spid="3">
                                            <p:txEl>
                                              <p:pRg st="1" end="1"/>
                                            </p:txEl>
                                          </p:spTgt>
                                        </p:tgtEl>
                                      </p:cBhvr>
                                      <p:to x="100000" y="100000"/>
                                    </p:animScale>
                                    <p:animScale>
                                      <p:cBhvr>
                                        <p:cTn id="37" dur="26">
                                          <p:stCondLst>
                                            <p:cond delay="1808"/>
                                          </p:stCondLst>
                                        </p:cTn>
                                        <p:tgtEl>
                                          <p:spTgt spid="3">
                                            <p:txEl>
                                              <p:pRg st="1" end="1"/>
                                            </p:txEl>
                                          </p:spTgt>
                                        </p:tgtEl>
                                      </p:cBhvr>
                                      <p:to x="100000" y="95000"/>
                                    </p:animScale>
                                    <p:animScale>
                                      <p:cBhvr>
                                        <p:cTn id="38" dur="166" decel="50000">
                                          <p:stCondLst>
                                            <p:cond delay="1834"/>
                                          </p:stCondLst>
                                        </p:cTn>
                                        <p:tgtEl>
                                          <p:spTgt spid="3">
                                            <p:txEl>
                                              <p:pRg st="1" end="1"/>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14" presetClass="entr" presetSubtype="10" fill="hold" nodeType="clickEffect">
                                  <p:stCondLst>
                                    <p:cond delay="0"/>
                                  </p:stCondLst>
                                  <p:childTnLst>
                                    <p:set>
                                      <p:cBhvr>
                                        <p:cTn id="42" dur="1" fill="hold">
                                          <p:stCondLst>
                                            <p:cond delay="0"/>
                                          </p:stCondLst>
                                        </p:cTn>
                                        <p:tgtEl>
                                          <p:spTgt spid="3">
                                            <p:txEl>
                                              <p:pRg st="2" end="2"/>
                                            </p:txEl>
                                          </p:spTgt>
                                        </p:tgtEl>
                                        <p:attrNameLst>
                                          <p:attrName>style.visibility</p:attrName>
                                        </p:attrNameLst>
                                      </p:cBhvr>
                                      <p:to>
                                        <p:strVal val="visible"/>
                                      </p:to>
                                    </p:set>
                                    <p:animEffect transition="in" filter="randombar(horizontal)">
                                      <p:cBhvr>
                                        <p:cTn id="4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934072"/>
            <a:ext cx="8229600" cy="1143000"/>
          </a:xfrm>
        </p:spPr>
        <p:txBody>
          <a:bodyPr>
            <a:normAutofit/>
          </a:bodyPr>
          <a:lstStyle/>
          <a:p>
            <a:r>
              <a:rPr lang="fr-FR" sz="6600" dirty="0">
                <a:effectLst>
                  <a:outerShdw blurRad="38100" dist="38100" dir="2700000" algn="tl">
                    <a:srgbClr val="000000">
                      <a:alpha val="43137"/>
                    </a:srgbClr>
                  </a:outerShdw>
                </a:effectLst>
                <a:latin typeface="Maiandra GD" pitchFamily="34" charset="0"/>
              </a:rPr>
              <a:t>La mise en valeur</a:t>
            </a:r>
          </a:p>
        </p:txBody>
      </p:sp>
    </p:spTree>
    <p:extLst>
      <p:ext uri="{BB962C8B-B14F-4D97-AF65-F5344CB8AC3E}">
        <p14:creationId xmlns:p14="http://schemas.microsoft.com/office/powerpoint/2010/main" val="1742173275"/>
      </p:ext>
    </p:extLst>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332656"/>
            <a:ext cx="8568952" cy="6120680"/>
          </a:xfrm>
        </p:spPr>
        <p:txBody>
          <a:bodyPr>
            <a:normAutofit/>
          </a:bodyPr>
          <a:lstStyle/>
          <a:p>
            <a:pPr marL="0" indent="0" algn="just">
              <a:buNone/>
            </a:pPr>
            <a:r>
              <a:rPr lang="fr-FR" sz="4000" dirty="0">
                <a:latin typeface="Maiandra GD" pitchFamily="34" charset="0"/>
              </a:rPr>
              <a:t>Au sein de vos paragraphes, certains mots sont parfois plus importants que d'autres </a:t>
            </a:r>
            <a:r>
              <a:rPr lang="fr-FR" sz="4000" dirty="0" smtClean="0">
                <a:latin typeface="Maiandra GD" pitchFamily="34" charset="0"/>
              </a:rPr>
              <a:t>et vous </a:t>
            </a:r>
            <a:r>
              <a:rPr lang="fr-FR" sz="4000" dirty="0">
                <a:latin typeface="Maiandra GD" pitchFamily="34" charset="0"/>
              </a:rPr>
              <a:t>aimeriez les faire ressortir. HTML vous propose </a:t>
            </a:r>
            <a:r>
              <a:rPr lang="fr-FR" sz="4000" dirty="0" smtClean="0">
                <a:latin typeface="Maiandra GD" pitchFamily="34" charset="0"/>
              </a:rPr>
              <a:t>différents </a:t>
            </a:r>
            <a:r>
              <a:rPr lang="fr-FR" sz="4000" dirty="0">
                <a:latin typeface="Maiandra GD" pitchFamily="34" charset="0"/>
              </a:rPr>
              <a:t>moyens de mettre </a:t>
            </a:r>
            <a:r>
              <a:rPr lang="fr-FR" sz="4000" dirty="0" smtClean="0">
                <a:latin typeface="Maiandra GD" pitchFamily="34" charset="0"/>
              </a:rPr>
              <a:t>en valeur </a:t>
            </a:r>
            <a:r>
              <a:rPr lang="fr-FR" sz="4000" dirty="0">
                <a:latin typeface="Maiandra GD" pitchFamily="34" charset="0"/>
              </a:rPr>
              <a:t>le texte de votre page.</a:t>
            </a:r>
          </a:p>
        </p:txBody>
      </p:sp>
    </p:spTree>
    <p:extLst>
      <p:ext uri="{BB962C8B-B14F-4D97-AF65-F5344CB8AC3E}">
        <p14:creationId xmlns:p14="http://schemas.microsoft.com/office/powerpoint/2010/main" val="1018093051"/>
      </p:ext>
    </p:extLst>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4800" dirty="0">
                <a:effectLst>
                  <a:outerShdw blurRad="38100" dist="38100" dir="2700000" algn="tl">
                    <a:srgbClr val="000000">
                      <a:alpha val="43137"/>
                    </a:srgbClr>
                  </a:outerShdw>
                </a:effectLst>
                <a:latin typeface="Maiandra GD" pitchFamily="34" charset="0"/>
              </a:rPr>
              <a:t>Mettre un peu en valeur</a:t>
            </a:r>
          </a:p>
        </p:txBody>
      </p:sp>
      <p:sp>
        <p:nvSpPr>
          <p:cNvPr id="3" name="Espace réservé du contenu 2"/>
          <p:cNvSpPr>
            <a:spLocks noGrp="1"/>
          </p:cNvSpPr>
          <p:nvPr>
            <p:ph idx="1"/>
          </p:nvPr>
        </p:nvSpPr>
        <p:spPr>
          <a:xfrm>
            <a:off x="179512" y="1600200"/>
            <a:ext cx="8507288" cy="4525963"/>
          </a:xfrm>
        </p:spPr>
        <p:txBody>
          <a:bodyPr>
            <a:noAutofit/>
          </a:bodyPr>
          <a:lstStyle/>
          <a:p>
            <a:pPr marL="0" indent="0" algn="just">
              <a:buNone/>
            </a:pPr>
            <a:r>
              <a:rPr lang="fr-FR" sz="3600" dirty="0">
                <a:latin typeface="Maiandra GD" pitchFamily="34" charset="0"/>
              </a:rPr>
              <a:t>Pour mettre un peu en valeur votre texte, vous devez utiliser la balise &lt;em&gt; &lt;/em&gt;.</a:t>
            </a:r>
          </a:p>
          <a:p>
            <a:pPr marL="0" indent="0" algn="just">
              <a:buNone/>
            </a:pPr>
            <a:r>
              <a:rPr lang="fr-FR" sz="3600" dirty="0">
                <a:latin typeface="Maiandra GD" pitchFamily="34" charset="0"/>
              </a:rPr>
              <a:t>Son utilisation est très simple : encadrez les mots à mettre en valeur avec ces </a:t>
            </a:r>
            <a:r>
              <a:rPr lang="fr-FR" sz="3600" dirty="0" smtClean="0">
                <a:latin typeface="Maiandra GD" pitchFamily="34" charset="0"/>
              </a:rPr>
              <a:t>balises et </a:t>
            </a:r>
            <a:r>
              <a:rPr lang="fr-FR" sz="3600" dirty="0">
                <a:latin typeface="Maiandra GD" pitchFamily="34" charset="0"/>
              </a:rPr>
              <a:t>c'est bon ! Je reprends un peu l'exemple de tout à </a:t>
            </a:r>
            <a:r>
              <a:rPr lang="fr-FR" sz="3600" dirty="0" smtClean="0">
                <a:latin typeface="Maiandra GD" pitchFamily="34" charset="0"/>
              </a:rPr>
              <a:t>l'heure </a:t>
            </a:r>
            <a:r>
              <a:rPr lang="fr-FR" sz="3600" dirty="0">
                <a:latin typeface="Maiandra GD" pitchFamily="34" charset="0"/>
              </a:rPr>
              <a:t>et j'y mets quelques </a:t>
            </a:r>
            <a:r>
              <a:rPr lang="fr-FR" sz="3600" dirty="0" smtClean="0">
                <a:latin typeface="Maiandra GD" pitchFamily="34" charset="0"/>
              </a:rPr>
              <a:t>mots en évidence </a:t>
            </a:r>
            <a:r>
              <a:rPr lang="fr-FR" sz="3600" dirty="0">
                <a:latin typeface="Maiandra GD" pitchFamily="34" charset="0"/>
              </a:rPr>
              <a:t>:</a:t>
            </a:r>
          </a:p>
        </p:txBody>
      </p:sp>
    </p:spTree>
    <p:extLst>
      <p:ext uri="{BB962C8B-B14F-4D97-AF65-F5344CB8AC3E}">
        <p14:creationId xmlns:p14="http://schemas.microsoft.com/office/powerpoint/2010/main" val="716493592"/>
      </p:ext>
    </p:extLst>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520" y="260648"/>
            <a:ext cx="8712968" cy="6525344"/>
          </a:xfrm>
          <a:prstGeom prst="rect">
            <a:avLst/>
          </a:prstGeom>
        </p:spPr>
      </p:pic>
    </p:spTree>
    <p:extLst>
      <p:ext uri="{BB962C8B-B14F-4D97-AF65-F5344CB8AC3E}">
        <p14:creationId xmlns:p14="http://schemas.microsoft.com/office/powerpoint/2010/main" val="1953021579"/>
      </p:ext>
    </p:extLst>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9512" y="332656"/>
            <a:ext cx="8784976" cy="6264696"/>
          </a:xfrm>
        </p:spPr>
        <p:txBody>
          <a:bodyPr>
            <a:noAutofit/>
          </a:bodyPr>
          <a:lstStyle/>
          <a:p>
            <a:pPr marL="0" indent="0" algn="just">
              <a:buNone/>
            </a:pPr>
            <a:r>
              <a:rPr lang="fr-FR" sz="4000" dirty="0">
                <a:latin typeface="Maiandra GD" pitchFamily="34" charset="0"/>
              </a:rPr>
              <a:t>Comme vous pouvez le voir, utiliser la balise </a:t>
            </a:r>
            <a:r>
              <a:rPr lang="fr-FR" sz="4000" dirty="0">
                <a:solidFill>
                  <a:srgbClr val="FF0000"/>
                </a:solidFill>
                <a:latin typeface="Maiandra GD" pitchFamily="34" charset="0"/>
              </a:rPr>
              <a:t>&lt;em&gt; </a:t>
            </a:r>
            <a:r>
              <a:rPr lang="fr-FR" sz="4000" dirty="0">
                <a:latin typeface="Maiandra GD" pitchFamily="34" charset="0"/>
              </a:rPr>
              <a:t>a pour conséquence de mettre </a:t>
            </a:r>
            <a:r>
              <a:rPr lang="fr-FR" sz="4000" dirty="0" smtClean="0">
                <a:latin typeface="Maiandra GD" pitchFamily="34" charset="0"/>
              </a:rPr>
              <a:t>le texte </a:t>
            </a:r>
            <a:r>
              <a:rPr lang="fr-FR" sz="4000" dirty="0">
                <a:latin typeface="Maiandra GD" pitchFamily="34" charset="0"/>
              </a:rPr>
              <a:t>en italique. </a:t>
            </a:r>
            <a:endParaRPr lang="fr-FR" sz="4000" dirty="0" smtClean="0">
              <a:latin typeface="Maiandra GD" pitchFamily="34" charset="0"/>
            </a:endParaRPr>
          </a:p>
          <a:p>
            <a:pPr marL="0" indent="0" algn="just">
              <a:buNone/>
            </a:pPr>
            <a:r>
              <a:rPr lang="fr-FR" sz="4000" dirty="0" smtClean="0">
                <a:latin typeface="Maiandra GD" pitchFamily="34" charset="0"/>
              </a:rPr>
              <a:t>En </a:t>
            </a:r>
            <a:r>
              <a:rPr lang="fr-FR" sz="4000" dirty="0">
                <a:latin typeface="Maiandra GD" pitchFamily="34" charset="0"/>
              </a:rPr>
              <a:t>fait, c'est le navigateur qui choisit comment </a:t>
            </a:r>
            <a:r>
              <a:rPr lang="fr-FR" sz="4000" dirty="0" smtClean="0">
                <a:latin typeface="Maiandra GD" pitchFamily="34" charset="0"/>
              </a:rPr>
              <a:t>afficher </a:t>
            </a:r>
            <a:r>
              <a:rPr lang="fr-FR" sz="4000" dirty="0">
                <a:latin typeface="Maiandra GD" pitchFamily="34" charset="0"/>
              </a:rPr>
              <a:t>les mots. </a:t>
            </a:r>
            <a:endParaRPr lang="fr-FR" sz="4000" dirty="0" smtClean="0">
              <a:latin typeface="Maiandra GD" pitchFamily="34" charset="0"/>
            </a:endParaRPr>
          </a:p>
          <a:p>
            <a:pPr marL="0" indent="0" algn="just">
              <a:buNone/>
            </a:pPr>
            <a:r>
              <a:rPr lang="fr-FR" sz="4000" dirty="0" smtClean="0">
                <a:latin typeface="Maiandra GD" pitchFamily="34" charset="0"/>
              </a:rPr>
              <a:t>On lui </a:t>
            </a:r>
            <a:r>
              <a:rPr lang="fr-FR" sz="4000" dirty="0">
                <a:latin typeface="Maiandra GD" pitchFamily="34" charset="0"/>
              </a:rPr>
              <a:t>dit que les mots sont assez importants et, pour faire ressortir cette information, </a:t>
            </a:r>
            <a:r>
              <a:rPr lang="fr-FR" sz="4000" dirty="0" smtClean="0">
                <a:latin typeface="Maiandra GD" pitchFamily="34" charset="0"/>
              </a:rPr>
              <a:t>il change </a:t>
            </a:r>
            <a:r>
              <a:rPr lang="fr-FR" sz="4000" dirty="0">
                <a:latin typeface="Maiandra GD" pitchFamily="34" charset="0"/>
              </a:rPr>
              <a:t>l'apparence du texte en utilisant l'italique.</a:t>
            </a:r>
          </a:p>
        </p:txBody>
      </p:sp>
    </p:spTree>
    <p:extLst>
      <p:ext uri="{BB962C8B-B14F-4D97-AF65-F5344CB8AC3E}">
        <p14:creationId xmlns:p14="http://schemas.microsoft.com/office/powerpoint/2010/main" val="866335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wipe(down)">
                                      <p:cBhvr>
                                        <p:cTn id="25" dur="580">
                                          <p:stCondLst>
                                            <p:cond delay="0"/>
                                          </p:stCondLst>
                                        </p:cTn>
                                        <p:tgtEl>
                                          <p:spTgt spid="3">
                                            <p:txEl>
                                              <p:pRg st="1" end="1"/>
                                            </p:txEl>
                                          </p:spTgt>
                                        </p:tgtEl>
                                      </p:cBhvr>
                                    </p:animEffect>
                                    <p:anim calcmode="lin" valueType="num">
                                      <p:cBhvr>
                                        <p:cTn id="26"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1" end="1"/>
                                            </p:txEl>
                                          </p:spTgt>
                                        </p:tgtEl>
                                      </p:cBhvr>
                                      <p:to x="100000" y="60000"/>
                                    </p:animScale>
                                    <p:animScale>
                                      <p:cBhvr>
                                        <p:cTn id="32" dur="166" decel="50000">
                                          <p:stCondLst>
                                            <p:cond delay="676"/>
                                          </p:stCondLst>
                                        </p:cTn>
                                        <p:tgtEl>
                                          <p:spTgt spid="3">
                                            <p:txEl>
                                              <p:pRg st="1" end="1"/>
                                            </p:txEl>
                                          </p:spTgt>
                                        </p:tgtEl>
                                      </p:cBhvr>
                                      <p:to x="100000" y="100000"/>
                                    </p:animScale>
                                    <p:animScale>
                                      <p:cBhvr>
                                        <p:cTn id="33" dur="26">
                                          <p:stCondLst>
                                            <p:cond delay="1312"/>
                                          </p:stCondLst>
                                        </p:cTn>
                                        <p:tgtEl>
                                          <p:spTgt spid="3">
                                            <p:txEl>
                                              <p:pRg st="1" end="1"/>
                                            </p:txEl>
                                          </p:spTgt>
                                        </p:tgtEl>
                                      </p:cBhvr>
                                      <p:to x="100000" y="80000"/>
                                    </p:animScale>
                                    <p:animScale>
                                      <p:cBhvr>
                                        <p:cTn id="34" dur="166" decel="50000">
                                          <p:stCondLst>
                                            <p:cond delay="1338"/>
                                          </p:stCondLst>
                                        </p:cTn>
                                        <p:tgtEl>
                                          <p:spTgt spid="3">
                                            <p:txEl>
                                              <p:pRg st="1" end="1"/>
                                            </p:txEl>
                                          </p:spTgt>
                                        </p:tgtEl>
                                      </p:cBhvr>
                                      <p:to x="100000" y="100000"/>
                                    </p:animScale>
                                    <p:animScale>
                                      <p:cBhvr>
                                        <p:cTn id="35" dur="26">
                                          <p:stCondLst>
                                            <p:cond delay="1642"/>
                                          </p:stCondLst>
                                        </p:cTn>
                                        <p:tgtEl>
                                          <p:spTgt spid="3">
                                            <p:txEl>
                                              <p:pRg st="1" end="1"/>
                                            </p:txEl>
                                          </p:spTgt>
                                        </p:tgtEl>
                                      </p:cBhvr>
                                      <p:to x="100000" y="90000"/>
                                    </p:animScale>
                                    <p:animScale>
                                      <p:cBhvr>
                                        <p:cTn id="36" dur="166" decel="50000">
                                          <p:stCondLst>
                                            <p:cond delay="1668"/>
                                          </p:stCondLst>
                                        </p:cTn>
                                        <p:tgtEl>
                                          <p:spTgt spid="3">
                                            <p:txEl>
                                              <p:pRg st="1" end="1"/>
                                            </p:txEl>
                                          </p:spTgt>
                                        </p:tgtEl>
                                      </p:cBhvr>
                                      <p:to x="100000" y="100000"/>
                                    </p:animScale>
                                    <p:animScale>
                                      <p:cBhvr>
                                        <p:cTn id="37" dur="26">
                                          <p:stCondLst>
                                            <p:cond delay="1808"/>
                                          </p:stCondLst>
                                        </p:cTn>
                                        <p:tgtEl>
                                          <p:spTgt spid="3">
                                            <p:txEl>
                                              <p:pRg st="1" end="1"/>
                                            </p:txEl>
                                          </p:spTgt>
                                        </p:tgtEl>
                                      </p:cBhvr>
                                      <p:to x="100000" y="95000"/>
                                    </p:animScale>
                                    <p:animScale>
                                      <p:cBhvr>
                                        <p:cTn id="38" dur="166" decel="50000">
                                          <p:stCondLst>
                                            <p:cond delay="1834"/>
                                          </p:stCondLst>
                                        </p:cTn>
                                        <p:tgtEl>
                                          <p:spTgt spid="3">
                                            <p:txEl>
                                              <p:pRg st="1" end="1"/>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14" presetClass="entr" presetSubtype="10" fill="hold" nodeType="clickEffect">
                                  <p:stCondLst>
                                    <p:cond delay="0"/>
                                  </p:stCondLst>
                                  <p:childTnLst>
                                    <p:set>
                                      <p:cBhvr>
                                        <p:cTn id="42" dur="1" fill="hold">
                                          <p:stCondLst>
                                            <p:cond delay="0"/>
                                          </p:stCondLst>
                                        </p:cTn>
                                        <p:tgtEl>
                                          <p:spTgt spid="3">
                                            <p:txEl>
                                              <p:pRg st="2" end="2"/>
                                            </p:txEl>
                                          </p:spTgt>
                                        </p:tgtEl>
                                        <p:attrNameLst>
                                          <p:attrName>style.visibility</p:attrName>
                                        </p:attrNameLst>
                                      </p:cBhvr>
                                      <p:to>
                                        <p:strVal val="visible"/>
                                      </p:to>
                                    </p:set>
                                    <p:animEffect transition="in" filter="randombar(horizontal)">
                                      <p:cBhvr>
                                        <p:cTn id="4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5400" dirty="0">
                <a:effectLst>
                  <a:outerShdw blurRad="38100" dist="38100" dir="2700000" algn="tl">
                    <a:srgbClr val="000000">
                      <a:alpha val="43137"/>
                    </a:srgbClr>
                  </a:outerShdw>
                </a:effectLst>
                <a:latin typeface="Maiandra GD" pitchFamily="34" charset="0"/>
              </a:rPr>
              <a:t>Mettre bien en valeur</a:t>
            </a:r>
          </a:p>
        </p:txBody>
      </p:sp>
      <p:sp>
        <p:nvSpPr>
          <p:cNvPr id="3" name="Espace réservé du contenu 2"/>
          <p:cNvSpPr>
            <a:spLocks noGrp="1"/>
          </p:cNvSpPr>
          <p:nvPr>
            <p:ph idx="1"/>
          </p:nvPr>
        </p:nvSpPr>
        <p:spPr/>
        <p:txBody>
          <a:bodyPr>
            <a:normAutofit/>
          </a:bodyPr>
          <a:lstStyle/>
          <a:p>
            <a:pPr marL="0" indent="0" algn="just">
              <a:buNone/>
            </a:pPr>
            <a:r>
              <a:rPr lang="fr-FR" sz="4000" dirty="0">
                <a:latin typeface="Maiandra GD" pitchFamily="34" charset="0"/>
              </a:rPr>
              <a:t>Pour mettre un texte bien en valeur, on utilise la balise </a:t>
            </a:r>
            <a:r>
              <a:rPr lang="fr-FR" sz="4000" dirty="0">
                <a:solidFill>
                  <a:srgbClr val="FF0000"/>
                </a:solidFill>
                <a:latin typeface="Maiandra GD" pitchFamily="34" charset="0"/>
              </a:rPr>
              <a:t>&lt;strong&gt; </a:t>
            </a:r>
            <a:r>
              <a:rPr lang="fr-FR" sz="4000" dirty="0">
                <a:latin typeface="Maiandra GD" pitchFamily="34" charset="0"/>
              </a:rPr>
              <a:t>qui </a:t>
            </a:r>
            <a:r>
              <a:rPr lang="fr-FR" sz="4000" dirty="0" smtClean="0">
                <a:latin typeface="Maiandra GD" pitchFamily="34" charset="0"/>
              </a:rPr>
              <a:t>signifie  </a:t>
            </a:r>
            <a:r>
              <a:rPr lang="fr-FR" sz="4000" dirty="0">
                <a:latin typeface="Maiandra GD" pitchFamily="34" charset="0"/>
              </a:rPr>
              <a:t>fort </a:t>
            </a:r>
            <a:r>
              <a:rPr lang="fr-FR" sz="4000" dirty="0" smtClean="0">
                <a:latin typeface="Maiandra GD" pitchFamily="34" charset="0"/>
              </a:rPr>
              <a:t>, ou  </a:t>
            </a:r>
            <a:r>
              <a:rPr lang="fr-FR" sz="4000" dirty="0">
                <a:latin typeface="Maiandra GD" pitchFamily="34" charset="0"/>
              </a:rPr>
              <a:t>important  si vous préférez. </a:t>
            </a:r>
            <a:endParaRPr lang="fr-FR" sz="4000" dirty="0" smtClean="0">
              <a:latin typeface="Maiandra GD" pitchFamily="34" charset="0"/>
            </a:endParaRPr>
          </a:p>
          <a:p>
            <a:pPr marL="0" indent="0" algn="just">
              <a:buNone/>
            </a:pPr>
            <a:r>
              <a:rPr lang="fr-FR" sz="4000" dirty="0" smtClean="0">
                <a:latin typeface="Maiandra GD" pitchFamily="34" charset="0"/>
              </a:rPr>
              <a:t>Elle </a:t>
            </a:r>
            <a:r>
              <a:rPr lang="fr-FR" sz="4000" dirty="0">
                <a:latin typeface="Maiandra GD" pitchFamily="34" charset="0"/>
              </a:rPr>
              <a:t>s'utilise exactement de la même manière </a:t>
            </a:r>
            <a:r>
              <a:rPr lang="fr-FR" sz="4000" dirty="0" smtClean="0">
                <a:latin typeface="Maiandra GD" pitchFamily="34" charset="0"/>
              </a:rPr>
              <a:t>que &lt;em</a:t>
            </a:r>
            <a:r>
              <a:rPr lang="fr-FR" sz="4000" dirty="0">
                <a:latin typeface="Maiandra GD" pitchFamily="34" charset="0"/>
              </a:rPr>
              <a:t>&gt; :</a:t>
            </a:r>
          </a:p>
        </p:txBody>
      </p:sp>
    </p:spTree>
    <p:extLst>
      <p:ext uri="{BB962C8B-B14F-4D97-AF65-F5344CB8AC3E}">
        <p14:creationId xmlns:p14="http://schemas.microsoft.com/office/powerpoint/2010/main" val="2993125269"/>
      </p:ext>
    </p:extLst>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008" y="0"/>
            <a:ext cx="8964488" cy="6858000"/>
          </a:xfrm>
          <a:prstGeom prst="rect">
            <a:avLst/>
          </a:prstGeom>
        </p:spPr>
      </p:pic>
    </p:spTree>
    <p:extLst>
      <p:ext uri="{BB962C8B-B14F-4D97-AF65-F5344CB8AC3E}">
        <p14:creationId xmlns:p14="http://schemas.microsoft.com/office/powerpoint/2010/main" val="3840994190"/>
      </p:ext>
    </p:extLst>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9512" y="332656"/>
            <a:ext cx="8712968" cy="6192688"/>
          </a:xfrm>
        </p:spPr>
        <p:txBody>
          <a:bodyPr>
            <a:normAutofit/>
          </a:bodyPr>
          <a:lstStyle/>
          <a:p>
            <a:pPr marL="0" indent="0" algn="just">
              <a:buNone/>
            </a:pPr>
            <a:r>
              <a:rPr lang="fr-FR" sz="3600" dirty="0">
                <a:latin typeface="Maiandra GD" pitchFamily="34" charset="0"/>
              </a:rPr>
              <a:t>Vous voyez sûrement le texte </a:t>
            </a:r>
            <a:r>
              <a:rPr lang="fr-FR" sz="3600" dirty="0" smtClean="0">
                <a:latin typeface="Maiandra GD" pitchFamily="34" charset="0"/>
              </a:rPr>
              <a:t>s'afficher </a:t>
            </a:r>
            <a:r>
              <a:rPr lang="fr-FR" sz="3600" dirty="0">
                <a:latin typeface="Maiandra GD" pitchFamily="34" charset="0"/>
              </a:rPr>
              <a:t>en gras. Là encore, le gras n'est qu'une </a:t>
            </a:r>
            <a:r>
              <a:rPr lang="fr-FR" sz="3600" dirty="0" smtClean="0">
                <a:latin typeface="Maiandra GD" pitchFamily="34" charset="0"/>
              </a:rPr>
              <a:t>conséquence</a:t>
            </a:r>
            <a:r>
              <a:rPr lang="fr-FR" sz="3600" dirty="0">
                <a:latin typeface="Maiandra GD" pitchFamily="34" charset="0"/>
              </a:rPr>
              <a:t>. Le navigateur a choisi </a:t>
            </a:r>
            <a:r>
              <a:rPr lang="fr-FR" sz="3600" dirty="0" smtClean="0">
                <a:latin typeface="Maiandra GD" pitchFamily="34" charset="0"/>
              </a:rPr>
              <a:t>d'afficher </a:t>
            </a:r>
            <a:r>
              <a:rPr lang="fr-FR" sz="3600" dirty="0">
                <a:latin typeface="Maiandra GD" pitchFamily="34" charset="0"/>
              </a:rPr>
              <a:t>en gras les mots </a:t>
            </a:r>
            <a:r>
              <a:rPr lang="fr-FR" sz="3600" dirty="0" smtClean="0">
                <a:latin typeface="Maiandra GD" pitchFamily="34" charset="0"/>
              </a:rPr>
              <a:t>importants </a:t>
            </a:r>
            <a:r>
              <a:rPr lang="fr-FR" sz="3600" dirty="0">
                <a:latin typeface="Maiandra GD" pitchFamily="34" charset="0"/>
              </a:rPr>
              <a:t>pour les </a:t>
            </a:r>
            <a:r>
              <a:rPr lang="fr-FR" sz="3600" dirty="0" smtClean="0">
                <a:latin typeface="Maiandra GD" pitchFamily="34" charset="0"/>
              </a:rPr>
              <a:t>faire ressortir d’avantage.</a:t>
            </a:r>
          </a:p>
          <a:p>
            <a:pPr marL="0" indent="0" algn="just">
              <a:buNone/>
            </a:pPr>
            <a:r>
              <a:rPr lang="fr-FR" sz="3600" dirty="0">
                <a:latin typeface="Maiandra GD" pitchFamily="34" charset="0"/>
              </a:rPr>
              <a:t>La balise &lt;strong&gt; ne </a:t>
            </a:r>
            <a:r>
              <a:rPr lang="fr-FR" sz="3600" dirty="0" smtClean="0">
                <a:latin typeface="Maiandra GD" pitchFamily="34" charset="0"/>
              </a:rPr>
              <a:t>signifie </a:t>
            </a:r>
            <a:r>
              <a:rPr lang="fr-FR" sz="3600" dirty="0">
                <a:latin typeface="Maiandra GD" pitchFamily="34" charset="0"/>
              </a:rPr>
              <a:t>pas  mettre en gras  mais  important . </a:t>
            </a:r>
            <a:endParaRPr lang="fr-FR" sz="3600" dirty="0" smtClean="0">
              <a:latin typeface="Maiandra GD" pitchFamily="34" charset="0"/>
            </a:endParaRPr>
          </a:p>
          <a:p>
            <a:pPr marL="0" indent="0" algn="just">
              <a:buNone/>
            </a:pPr>
            <a:r>
              <a:rPr lang="fr-FR" sz="3600" dirty="0" smtClean="0">
                <a:latin typeface="Maiandra GD" pitchFamily="34" charset="0"/>
              </a:rPr>
              <a:t>On pourra décider </a:t>
            </a:r>
            <a:r>
              <a:rPr lang="fr-FR" sz="3600" dirty="0">
                <a:latin typeface="Maiandra GD" pitchFamily="34" charset="0"/>
              </a:rPr>
              <a:t>plus tard, en CSS, </a:t>
            </a:r>
            <a:r>
              <a:rPr lang="fr-FR" sz="3600" dirty="0" smtClean="0">
                <a:latin typeface="Maiandra GD" pitchFamily="34" charset="0"/>
              </a:rPr>
              <a:t>d'afficher </a:t>
            </a:r>
            <a:r>
              <a:rPr lang="fr-FR" sz="3600" dirty="0">
                <a:latin typeface="Maiandra GD" pitchFamily="34" charset="0"/>
              </a:rPr>
              <a:t>les mots  importants  d'une autre façon que </a:t>
            </a:r>
            <a:r>
              <a:rPr lang="fr-FR" sz="3600" dirty="0" smtClean="0">
                <a:latin typeface="Maiandra GD" pitchFamily="34" charset="0"/>
              </a:rPr>
              <a:t>le gras </a:t>
            </a:r>
            <a:r>
              <a:rPr lang="fr-FR" sz="3600" dirty="0">
                <a:latin typeface="Maiandra GD" pitchFamily="34" charset="0"/>
              </a:rPr>
              <a:t>si on le souhaite.</a:t>
            </a:r>
          </a:p>
        </p:txBody>
      </p:sp>
    </p:spTree>
    <p:extLst>
      <p:ext uri="{BB962C8B-B14F-4D97-AF65-F5344CB8AC3E}">
        <p14:creationId xmlns:p14="http://schemas.microsoft.com/office/powerpoint/2010/main" val="1766978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wipe(down)">
                                      <p:cBhvr>
                                        <p:cTn id="25" dur="580">
                                          <p:stCondLst>
                                            <p:cond delay="0"/>
                                          </p:stCondLst>
                                        </p:cTn>
                                        <p:tgtEl>
                                          <p:spTgt spid="3">
                                            <p:txEl>
                                              <p:pRg st="1" end="1"/>
                                            </p:txEl>
                                          </p:spTgt>
                                        </p:tgtEl>
                                      </p:cBhvr>
                                    </p:animEffect>
                                    <p:anim calcmode="lin" valueType="num">
                                      <p:cBhvr>
                                        <p:cTn id="26"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1" end="1"/>
                                            </p:txEl>
                                          </p:spTgt>
                                        </p:tgtEl>
                                      </p:cBhvr>
                                      <p:to x="100000" y="60000"/>
                                    </p:animScale>
                                    <p:animScale>
                                      <p:cBhvr>
                                        <p:cTn id="32" dur="166" decel="50000">
                                          <p:stCondLst>
                                            <p:cond delay="676"/>
                                          </p:stCondLst>
                                        </p:cTn>
                                        <p:tgtEl>
                                          <p:spTgt spid="3">
                                            <p:txEl>
                                              <p:pRg st="1" end="1"/>
                                            </p:txEl>
                                          </p:spTgt>
                                        </p:tgtEl>
                                      </p:cBhvr>
                                      <p:to x="100000" y="100000"/>
                                    </p:animScale>
                                    <p:animScale>
                                      <p:cBhvr>
                                        <p:cTn id="33" dur="26">
                                          <p:stCondLst>
                                            <p:cond delay="1312"/>
                                          </p:stCondLst>
                                        </p:cTn>
                                        <p:tgtEl>
                                          <p:spTgt spid="3">
                                            <p:txEl>
                                              <p:pRg st="1" end="1"/>
                                            </p:txEl>
                                          </p:spTgt>
                                        </p:tgtEl>
                                      </p:cBhvr>
                                      <p:to x="100000" y="80000"/>
                                    </p:animScale>
                                    <p:animScale>
                                      <p:cBhvr>
                                        <p:cTn id="34" dur="166" decel="50000">
                                          <p:stCondLst>
                                            <p:cond delay="1338"/>
                                          </p:stCondLst>
                                        </p:cTn>
                                        <p:tgtEl>
                                          <p:spTgt spid="3">
                                            <p:txEl>
                                              <p:pRg st="1" end="1"/>
                                            </p:txEl>
                                          </p:spTgt>
                                        </p:tgtEl>
                                      </p:cBhvr>
                                      <p:to x="100000" y="100000"/>
                                    </p:animScale>
                                    <p:animScale>
                                      <p:cBhvr>
                                        <p:cTn id="35" dur="26">
                                          <p:stCondLst>
                                            <p:cond delay="1642"/>
                                          </p:stCondLst>
                                        </p:cTn>
                                        <p:tgtEl>
                                          <p:spTgt spid="3">
                                            <p:txEl>
                                              <p:pRg st="1" end="1"/>
                                            </p:txEl>
                                          </p:spTgt>
                                        </p:tgtEl>
                                      </p:cBhvr>
                                      <p:to x="100000" y="90000"/>
                                    </p:animScale>
                                    <p:animScale>
                                      <p:cBhvr>
                                        <p:cTn id="36" dur="166" decel="50000">
                                          <p:stCondLst>
                                            <p:cond delay="1668"/>
                                          </p:stCondLst>
                                        </p:cTn>
                                        <p:tgtEl>
                                          <p:spTgt spid="3">
                                            <p:txEl>
                                              <p:pRg st="1" end="1"/>
                                            </p:txEl>
                                          </p:spTgt>
                                        </p:tgtEl>
                                      </p:cBhvr>
                                      <p:to x="100000" y="100000"/>
                                    </p:animScale>
                                    <p:animScale>
                                      <p:cBhvr>
                                        <p:cTn id="37" dur="26">
                                          <p:stCondLst>
                                            <p:cond delay="1808"/>
                                          </p:stCondLst>
                                        </p:cTn>
                                        <p:tgtEl>
                                          <p:spTgt spid="3">
                                            <p:txEl>
                                              <p:pRg st="1" end="1"/>
                                            </p:txEl>
                                          </p:spTgt>
                                        </p:tgtEl>
                                      </p:cBhvr>
                                      <p:to x="100000" y="95000"/>
                                    </p:animScale>
                                    <p:animScale>
                                      <p:cBhvr>
                                        <p:cTn id="38" dur="166" decel="50000">
                                          <p:stCondLst>
                                            <p:cond delay="1834"/>
                                          </p:stCondLst>
                                        </p:cTn>
                                        <p:tgtEl>
                                          <p:spTgt spid="3">
                                            <p:txEl>
                                              <p:pRg st="1" end="1"/>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14" presetClass="entr" presetSubtype="10" fill="hold" nodeType="clickEffect">
                                  <p:stCondLst>
                                    <p:cond delay="0"/>
                                  </p:stCondLst>
                                  <p:childTnLst>
                                    <p:set>
                                      <p:cBhvr>
                                        <p:cTn id="42" dur="1" fill="hold">
                                          <p:stCondLst>
                                            <p:cond delay="0"/>
                                          </p:stCondLst>
                                        </p:cTn>
                                        <p:tgtEl>
                                          <p:spTgt spid="3">
                                            <p:txEl>
                                              <p:pRg st="2" end="2"/>
                                            </p:txEl>
                                          </p:spTgt>
                                        </p:tgtEl>
                                        <p:attrNameLst>
                                          <p:attrName>style.visibility</p:attrName>
                                        </p:attrNameLst>
                                      </p:cBhvr>
                                      <p:to>
                                        <p:strVal val="visible"/>
                                      </p:to>
                                    </p:set>
                                    <p:animEffect transition="in" filter="randombar(horizontal)">
                                      <p:cBhvr>
                                        <p:cTn id="4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5400" dirty="0">
                <a:effectLst>
                  <a:outerShdw blurRad="38100" dist="38100" dir="2700000" algn="tl">
                    <a:srgbClr val="000000">
                      <a:alpha val="43137"/>
                    </a:srgbClr>
                  </a:outerShdw>
                </a:effectLst>
                <a:latin typeface="Maiandra GD" pitchFamily="34" charset="0"/>
              </a:rPr>
              <a:t>Marquer le texte</a:t>
            </a:r>
          </a:p>
        </p:txBody>
      </p:sp>
      <p:sp>
        <p:nvSpPr>
          <p:cNvPr id="3" name="Espace réservé du contenu 2"/>
          <p:cNvSpPr>
            <a:spLocks noGrp="1"/>
          </p:cNvSpPr>
          <p:nvPr>
            <p:ph idx="1"/>
          </p:nvPr>
        </p:nvSpPr>
        <p:spPr>
          <a:xfrm>
            <a:off x="251520" y="1600200"/>
            <a:ext cx="8640960" cy="4997152"/>
          </a:xfrm>
        </p:spPr>
        <p:txBody>
          <a:bodyPr>
            <a:normAutofit/>
          </a:bodyPr>
          <a:lstStyle/>
          <a:p>
            <a:pPr marL="0" indent="0" algn="just">
              <a:buNone/>
            </a:pPr>
            <a:r>
              <a:rPr lang="fr-FR" sz="3600" dirty="0">
                <a:latin typeface="Maiandra GD" pitchFamily="34" charset="0"/>
              </a:rPr>
              <a:t>La balise &lt;mark&gt; permet de faire ressortir visuellement une portion de texte. </a:t>
            </a:r>
            <a:r>
              <a:rPr lang="fr-FR" sz="3600" dirty="0" smtClean="0">
                <a:latin typeface="Maiandra GD" pitchFamily="34" charset="0"/>
              </a:rPr>
              <a:t>L'extrait n'est </a:t>
            </a:r>
            <a:r>
              <a:rPr lang="fr-FR" sz="3600" dirty="0">
                <a:latin typeface="Maiandra GD" pitchFamily="34" charset="0"/>
              </a:rPr>
              <a:t>pas forcément considéré comme important mais on veut qu'il se distingue </a:t>
            </a:r>
            <a:r>
              <a:rPr lang="fr-FR" sz="3600" dirty="0" smtClean="0">
                <a:latin typeface="Maiandra GD" pitchFamily="34" charset="0"/>
              </a:rPr>
              <a:t>bien du </a:t>
            </a:r>
            <a:r>
              <a:rPr lang="fr-FR" sz="3600" dirty="0">
                <a:latin typeface="Maiandra GD" pitchFamily="34" charset="0"/>
              </a:rPr>
              <a:t>reste du texte. Cela peut être utile pour faire ressortir un texte pertinent après </a:t>
            </a:r>
            <a:r>
              <a:rPr lang="fr-FR" sz="3600" dirty="0" smtClean="0">
                <a:latin typeface="Maiandra GD" pitchFamily="34" charset="0"/>
              </a:rPr>
              <a:t>une recherche </a:t>
            </a:r>
            <a:r>
              <a:rPr lang="fr-FR" sz="3600" dirty="0">
                <a:latin typeface="Maiandra GD" pitchFamily="34" charset="0"/>
              </a:rPr>
              <a:t>sur votre site par exemple.</a:t>
            </a:r>
          </a:p>
        </p:txBody>
      </p:sp>
    </p:spTree>
    <p:extLst>
      <p:ext uri="{BB962C8B-B14F-4D97-AF65-F5344CB8AC3E}">
        <p14:creationId xmlns:p14="http://schemas.microsoft.com/office/powerpoint/2010/main" val="2115729830"/>
      </p:ext>
    </p:extLst>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04" y="188640"/>
            <a:ext cx="8892480" cy="6480720"/>
          </a:xfrm>
          <a:prstGeom prst="rect">
            <a:avLst/>
          </a:prstGeom>
        </p:spPr>
      </p:pic>
    </p:spTree>
    <p:extLst>
      <p:ext uri="{BB962C8B-B14F-4D97-AF65-F5344CB8AC3E}">
        <p14:creationId xmlns:p14="http://schemas.microsoft.com/office/powerpoint/2010/main" val="3789944910"/>
      </p:ext>
    </p:extLst>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332656"/>
            <a:ext cx="8640960" cy="6336704"/>
          </a:xfrm>
        </p:spPr>
        <p:txBody>
          <a:bodyPr>
            <a:normAutofit/>
          </a:bodyPr>
          <a:lstStyle/>
          <a:p>
            <a:pPr marL="0" indent="0" algn="just">
              <a:buNone/>
            </a:pPr>
            <a:r>
              <a:rPr lang="fr-FR" sz="3600" dirty="0">
                <a:latin typeface="Maiandra GD" pitchFamily="34" charset="0"/>
              </a:rPr>
              <a:t>Par défaut, &lt;mark&gt; a pour </a:t>
            </a:r>
            <a:r>
              <a:rPr lang="fr-FR" sz="3600" dirty="0" smtClean="0">
                <a:latin typeface="Maiandra GD" pitchFamily="34" charset="0"/>
              </a:rPr>
              <a:t>effet </a:t>
            </a:r>
            <a:r>
              <a:rPr lang="fr-FR" sz="3600" dirty="0">
                <a:latin typeface="Maiandra GD" pitchFamily="34" charset="0"/>
              </a:rPr>
              <a:t>de surligner le texte. On pourra changer </a:t>
            </a:r>
            <a:r>
              <a:rPr lang="fr-FR" sz="3600" dirty="0" smtClean="0">
                <a:latin typeface="Maiandra GD" pitchFamily="34" charset="0"/>
              </a:rPr>
              <a:t>l'affichage en CSS </a:t>
            </a:r>
            <a:r>
              <a:rPr lang="fr-FR" sz="3600" dirty="0">
                <a:latin typeface="Maiandra GD" pitchFamily="34" charset="0"/>
              </a:rPr>
              <a:t>(décider de surligner dans une autre couleur, d'encadrer le texte, etc.). C'est </a:t>
            </a:r>
            <a:r>
              <a:rPr lang="fr-FR" sz="3600" dirty="0" smtClean="0">
                <a:latin typeface="Maiandra GD" pitchFamily="34" charset="0"/>
              </a:rPr>
              <a:t>le même </a:t>
            </a:r>
            <a:r>
              <a:rPr lang="fr-FR" sz="3600" dirty="0">
                <a:latin typeface="Maiandra GD" pitchFamily="34" charset="0"/>
              </a:rPr>
              <a:t>principe que ce que je vous disais pour les balises précédentes : elles </a:t>
            </a:r>
            <a:r>
              <a:rPr lang="fr-FR" sz="3600" dirty="0" smtClean="0">
                <a:latin typeface="Maiandra GD" pitchFamily="34" charset="0"/>
              </a:rPr>
              <a:t>indiquent le sens </a:t>
            </a:r>
            <a:r>
              <a:rPr lang="fr-FR" sz="3600" dirty="0">
                <a:latin typeface="Maiandra GD" pitchFamily="34" charset="0"/>
              </a:rPr>
              <a:t>des mots et non pas comment ceux-ci doivent </a:t>
            </a:r>
            <a:r>
              <a:rPr lang="fr-FR" sz="3600" dirty="0" smtClean="0">
                <a:latin typeface="Maiandra GD" pitchFamily="34" charset="0"/>
              </a:rPr>
              <a:t>s'afficher</a:t>
            </a:r>
            <a:r>
              <a:rPr lang="fr-FR" sz="3600" dirty="0">
                <a:latin typeface="Maiandra GD" pitchFamily="34" charset="0"/>
              </a:rPr>
              <a:t>.</a:t>
            </a:r>
          </a:p>
        </p:txBody>
      </p:sp>
    </p:spTree>
    <p:extLst>
      <p:ext uri="{BB962C8B-B14F-4D97-AF65-F5344CB8AC3E}">
        <p14:creationId xmlns:p14="http://schemas.microsoft.com/office/powerpoint/2010/main" val="1793605788"/>
      </p:ext>
    </p:extLst>
  </p:cSld>
  <p:clrMapOvr>
    <a:masterClrMapping/>
  </p:clrMapOvr>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213992"/>
            <a:ext cx="8229600" cy="1503040"/>
          </a:xfrm>
        </p:spPr>
        <p:txBody>
          <a:bodyPr>
            <a:noAutofit/>
          </a:bodyPr>
          <a:lstStyle/>
          <a:p>
            <a:r>
              <a:rPr lang="fr-FR" dirty="0">
                <a:effectLst>
                  <a:outerShdw blurRad="38100" dist="38100" dir="2700000" algn="tl">
                    <a:srgbClr val="000000">
                      <a:alpha val="43137"/>
                    </a:srgbClr>
                  </a:outerShdw>
                </a:effectLst>
                <a:latin typeface="Maiandra GD" pitchFamily="34" charset="0"/>
              </a:rPr>
              <a:t>N'oubliez pas : </a:t>
            </a:r>
            <a:r>
              <a:rPr lang="fr-FR" dirty="0">
                <a:solidFill>
                  <a:srgbClr val="FF0000"/>
                </a:solidFill>
                <a:effectLst>
                  <a:outerShdw blurRad="38100" dist="38100" dir="2700000" algn="tl">
                    <a:srgbClr val="000000">
                      <a:alpha val="43137"/>
                    </a:srgbClr>
                  </a:outerShdw>
                </a:effectLst>
                <a:latin typeface="Maiandra GD" pitchFamily="34" charset="0"/>
              </a:rPr>
              <a:t>HTML</a:t>
            </a:r>
            <a:r>
              <a:rPr lang="fr-FR" dirty="0">
                <a:effectLst>
                  <a:outerShdw blurRad="38100" dist="38100" dir="2700000" algn="tl">
                    <a:srgbClr val="000000">
                      <a:alpha val="43137"/>
                    </a:srgbClr>
                  </a:outerShdw>
                </a:effectLst>
                <a:latin typeface="Maiandra GD" pitchFamily="34" charset="0"/>
              </a:rPr>
              <a:t> pour le fond, </a:t>
            </a:r>
            <a:r>
              <a:rPr lang="fr-FR" dirty="0">
                <a:solidFill>
                  <a:srgbClr val="FF0000"/>
                </a:solidFill>
                <a:effectLst>
                  <a:outerShdw blurRad="38100" dist="38100" dir="2700000" algn="tl">
                    <a:srgbClr val="000000">
                      <a:alpha val="43137"/>
                    </a:srgbClr>
                  </a:outerShdw>
                </a:effectLst>
                <a:latin typeface="Maiandra GD" pitchFamily="34" charset="0"/>
              </a:rPr>
              <a:t>CSS</a:t>
            </a:r>
            <a:r>
              <a:rPr lang="fr-FR" dirty="0">
                <a:effectLst>
                  <a:outerShdw blurRad="38100" dist="38100" dir="2700000" algn="tl">
                    <a:srgbClr val="000000">
                      <a:alpha val="43137"/>
                    </a:srgbClr>
                  </a:outerShdw>
                </a:effectLst>
                <a:latin typeface="Maiandra GD" pitchFamily="34" charset="0"/>
              </a:rPr>
              <a:t> pour la forme</a:t>
            </a:r>
          </a:p>
        </p:txBody>
      </p:sp>
    </p:spTree>
    <p:extLst>
      <p:ext uri="{BB962C8B-B14F-4D97-AF65-F5344CB8AC3E}">
        <p14:creationId xmlns:p14="http://schemas.microsoft.com/office/powerpoint/2010/main" val="2812475774"/>
      </p:ext>
    </p:extLst>
  </p:cSld>
  <p:clrMapOvr>
    <a:masterClrMapping/>
  </p:clrMapOvr>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23528" y="260648"/>
            <a:ext cx="8568952" cy="6264696"/>
          </a:xfrm>
        </p:spPr>
        <p:txBody>
          <a:bodyPr>
            <a:normAutofit/>
          </a:bodyPr>
          <a:lstStyle/>
          <a:p>
            <a:pPr marL="0" indent="0" algn="just">
              <a:buNone/>
            </a:pPr>
            <a:r>
              <a:rPr lang="fr-FR" sz="3600" dirty="0">
                <a:latin typeface="Maiandra GD" pitchFamily="34" charset="0"/>
              </a:rPr>
              <a:t>Je vais peut-être vous sembler un peu lourd mais il est très important qu'on se </a:t>
            </a:r>
            <a:r>
              <a:rPr lang="fr-FR" sz="3600" dirty="0" smtClean="0">
                <a:latin typeface="Maiandra GD" pitchFamily="34" charset="0"/>
              </a:rPr>
              <a:t>comprenne bien </a:t>
            </a:r>
            <a:r>
              <a:rPr lang="fr-FR" sz="3600" dirty="0">
                <a:latin typeface="Maiandra GD" pitchFamily="34" charset="0"/>
              </a:rPr>
              <a:t>car les débutants font souvent la même grosse erreur à ce stade</a:t>
            </a:r>
            <a:r>
              <a:rPr lang="fr-FR" sz="3600" dirty="0" smtClean="0">
                <a:latin typeface="Maiandra GD" pitchFamily="34" charset="0"/>
              </a:rPr>
              <a:t>.</a:t>
            </a:r>
          </a:p>
          <a:p>
            <a:pPr marL="0" indent="0" algn="just">
              <a:buNone/>
            </a:pPr>
            <a:r>
              <a:rPr lang="fr-FR" sz="3600" dirty="0" smtClean="0">
                <a:latin typeface="Maiandra GD" pitchFamily="34" charset="0"/>
              </a:rPr>
              <a:t> </a:t>
            </a:r>
          </a:p>
          <a:p>
            <a:pPr marL="0" indent="0" algn="just">
              <a:buNone/>
            </a:pPr>
            <a:r>
              <a:rPr lang="fr-FR" sz="3600" dirty="0" smtClean="0">
                <a:latin typeface="Maiandra GD" pitchFamily="34" charset="0"/>
              </a:rPr>
              <a:t>Ils ont vu </a:t>
            </a:r>
            <a:r>
              <a:rPr lang="fr-FR" sz="3600" dirty="0">
                <a:latin typeface="Maiandra GD" pitchFamily="34" charset="0"/>
              </a:rPr>
              <a:t>les balises &lt;em&gt;, &lt;strong&gt;, &lt;mark&gt;. . . et ils se disent :  Chouette, j'ai </a:t>
            </a:r>
            <a:r>
              <a:rPr lang="fr-FR" sz="3600" dirty="0" smtClean="0">
                <a:latin typeface="Maiandra GD" pitchFamily="34" charset="0"/>
              </a:rPr>
              <a:t>découvert comment </a:t>
            </a:r>
            <a:r>
              <a:rPr lang="fr-FR" sz="3600" dirty="0">
                <a:latin typeface="Maiandra GD" pitchFamily="34" charset="0"/>
              </a:rPr>
              <a:t>mettre en italique, en gras et comment surligner du texte en HTML! .</a:t>
            </a:r>
          </a:p>
        </p:txBody>
      </p:sp>
    </p:spTree>
    <p:extLst>
      <p:ext uri="{BB962C8B-B14F-4D97-AF65-F5344CB8AC3E}">
        <p14:creationId xmlns:p14="http://schemas.microsoft.com/office/powerpoint/2010/main" val="2119054976"/>
      </p:ext>
    </p:extLst>
  </p:cSld>
  <p:clrMapOvr>
    <a:masterClrMapping/>
  </p:clrMapOvr>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332656"/>
            <a:ext cx="8435280" cy="6192688"/>
          </a:xfrm>
        </p:spPr>
        <p:txBody>
          <a:bodyPr>
            <a:normAutofit lnSpcReduction="10000"/>
          </a:bodyPr>
          <a:lstStyle/>
          <a:p>
            <a:pPr marL="0" indent="0" algn="just">
              <a:buNone/>
            </a:pPr>
            <a:r>
              <a:rPr lang="fr-FR" sz="3600" dirty="0">
                <a:latin typeface="Maiandra GD" pitchFamily="34" charset="0"/>
              </a:rPr>
              <a:t>Le rôle des balises est d'indiquer le sens du texte. Ainsi, &lt;strong&gt; indique à </a:t>
            </a:r>
            <a:r>
              <a:rPr lang="fr-FR" sz="3600" dirty="0" smtClean="0">
                <a:latin typeface="Maiandra GD" pitchFamily="34" charset="0"/>
              </a:rPr>
              <a:t>l'ordinateur « Ce </a:t>
            </a:r>
            <a:r>
              <a:rPr lang="fr-FR" sz="3600" dirty="0">
                <a:latin typeface="Maiandra GD" pitchFamily="34" charset="0"/>
              </a:rPr>
              <a:t>texte est </a:t>
            </a:r>
            <a:r>
              <a:rPr lang="fr-FR" sz="3600" dirty="0" smtClean="0">
                <a:latin typeface="Maiandra GD" pitchFamily="34" charset="0"/>
              </a:rPr>
              <a:t>important » </a:t>
            </a:r>
            <a:r>
              <a:rPr lang="fr-FR" sz="3600" dirty="0">
                <a:latin typeface="Maiandra GD" pitchFamily="34" charset="0"/>
              </a:rPr>
              <a:t>. C'est tout. </a:t>
            </a:r>
            <a:endParaRPr lang="fr-FR" sz="3600" dirty="0" smtClean="0">
              <a:latin typeface="Maiandra GD" pitchFamily="34" charset="0"/>
            </a:endParaRPr>
          </a:p>
          <a:p>
            <a:pPr marL="0" indent="0" algn="just">
              <a:buNone/>
            </a:pPr>
            <a:r>
              <a:rPr lang="fr-FR" sz="3600" dirty="0" smtClean="0">
                <a:latin typeface="Maiandra GD" pitchFamily="34" charset="0"/>
              </a:rPr>
              <a:t>Et </a:t>
            </a:r>
            <a:r>
              <a:rPr lang="fr-FR" sz="3600" dirty="0">
                <a:latin typeface="Maiandra GD" pitchFamily="34" charset="0"/>
              </a:rPr>
              <a:t>pour montrer que le texte est </a:t>
            </a:r>
            <a:r>
              <a:rPr lang="fr-FR" sz="3600" dirty="0" smtClean="0">
                <a:latin typeface="Maiandra GD" pitchFamily="34" charset="0"/>
              </a:rPr>
              <a:t>important, l'ordinateur </a:t>
            </a:r>
            <a:r>
              <a:rPr lang="fr-FR" sz="3600" dirty="0">
                <a:latin typeface="Maiandra GD" pitchFamily="34" charset="0"/>
              </a:rPr>
              <a:t>décide de le mettre en gras (mais il pourrait aussi bien l'écrire en rouge !).</a:t>
            </a:r>
          </a:p>
          <a:p>
            <a:pPr marL="0" indent="0" algn="just">
              <a:buNone/>
            </a:pPr>
            <a:r>
              <a:rPr lang="fr-FR" sz="3600" dirty="0">
                <a:latin typeface="Maiandra GD" pitchFamily="34" charset="0"/>
              </a:rPr>
              <a:t>La plupart des navigateurs </a:t>
            </a:r>
            <a:r>
              <a:rPr lang="fr-FR" sz="3600" dirty="0" smtClean="0">
                <a:latin typeface="Maiandra GD" pitchFamily="34" charset="0"/>
              </a:rPr>
              <a:t>affichent </a:t>
            </a:r>
            <a:r>
              <a:rPr lang="fr-FR" sz="3600" dirty="0">
                <a:latin typeface="Maiandra GD" pitchFamily="34" charset="0"/>
              </a:rPr>
              <a:t>les textes importants en gras, mais rien ne les </a:t>
            </a:r>
            <a:r>
              <a:rPr lang="fr-FR" sz="3600" dirty="0" smtClean="0">
                <a:latin typeface="Maiandra GD" pitchFamily="34" charset="0"/>
              </a:rPr>
              <a:t>y oblige</a:t>
            </a:r>
            <a:r>
              <a:rPr lang="fr-FR" sz="3600" dirty="0">
                <a:latin typeface="Maiandra GD" pitchFamily="34" charset="0"/>
              </a:rPr>
              <a:t>.</a:t>
            </a:r>
          </a:p>
        </p:txBody>
      </p:sp>
    </p:spTree>
    <p:extLst>
      <p:ext uri="{BB962C8B-B14F-4D97-AF65-F5344CB8AC3E}">
        <p14:creationId xmlns:p14="http://schemas.microsoft.com/office/powerpoint/2010/main" val="3380106567"/>
      </p:ext>
    </p:extLst>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90872" y="1628800"/>
            <a:ext cx="8229600" cy="2520280"/>
          </a:xfrm>
        </p:spPr>
        <p:txBody>
          <a:bodyPr>
            <a:normAutofit fontScale="90000"/>
          </a:bodyPr>
          <a:lstStyle/>
          <a:p>
            <a:pPr algn="just"/>
            <a:r>
              <a:rPr lang="fr-FR" dirty="0">
                <a:effectLst>
                  <a:outerShdw blurRad="38100" dist="38100" dir="2700000" algn="tl">
                    <a:srgbClr val="000000">
                      <a:alpha val="43137"/>
                    </a:srgbClr>
                  </a:outerShdw>
                </a:effectLst>
                <a:latin typeface="Maiandra GD" pitchFamily="34" charset="0"/>
              </a:rPr>
              <a:t>Mais alors, comment fait-on pour mettre spéciquement en gras, pour </a:t>
            </a:r>
            <a:r>
              <a:rPr lang="fr-FR" dirty="0" smtClean="0">
                <a:effectLst>
                  <a:outerShdw blurRad="38100" dist="38100" dir="2700000" algn="tl">
                    <a:srgbClr val="000000">
                      <a:alpha val="43137"/>
                    </a:srgbClr>
                  </a:outerShdw>
                </a:effectLst>
                <a:latin typeface="Maiandra GD" pitchFamily="34" charset="0"/>
              </a:rPr>
              <a:t>écrire en </a:t>
            </a:r>
            <a:r>
              <a:rPr lang="fr-FR" dirty="0">
                <a:effectLst>
                  <a:outerShdw blurRad="38100" dist="38100" dir="2700000" algn="tl">
                    <a:srgbClr val="000000">
                      <a:alpha val="43137"/>
                    </a:srgbClr>
                  </a:outerShdw>
                </a:effectLst>
                <a:latin typeface="Maiandra GD" pitchFamily="34" charset="0"/>
              </a:rPr>
              <a:t>rouge, et tout et tout ?</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20272" y="4711030"/>
            <a:ext cx="1656184" cy="1598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49613235"/>
      </p:ext>
    </p:extLst>
  </p:cSld>
  <p:clrMapOvr>
    <a:masterClrMapping/>
  </p:clrMapOvr>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188640"/>
            <a:ext cx="9108504" cy="6480720"/>
          </a:xfrm>
        </p:spPr>
        <p:txBody>
          <a:bodyPr/>
          <a:lstStyle/>
          <a:p>
            <a:pPr marL="0" indent="0" algn="just">
              <a:buNone/>
            </a:pPr>
            <a:r>
              <a:rPr lang="fr-FR" sz="4000" dirty="0">
                <a:latin typeface="Maiandra GD" pitchFamily="34" charset="0"/>
              </a:rPr>
              <a:t>Tout cela se fait en </a:t>
            </a:r>
            <a:r>
              <a:rPr lang="fr-FR" sz="4000" dirty="0">
                <a:effectLst>
                  <a:outerShdw blurRad="38100" dist="38100" dir="2700000" algn="tl">
                    <a:srgbClr val="000000">
                      <a:alpha val="43137"/>
                    </a:srgbClr>
                  </a:outerShdw>
                </a:effectLst>
                <a:latin typeface="Maiandra GD" pitchFamily="34" charset="0"/>
              </a:rPr>
              <a:t>CSS</a:t>
            </a:r>
            <a:r>
              <a:rPr lang="fr-FR" sz="4000" dirty="0">
                <a:latin typeface="Maiandra GD" pitchFamily="34" charset="0"/>
              </a:rPr>
              <a:t>. Souvenez-vous :</a:t>
            </a:r>
          </a:p>
          <a:p>
            <a:pPr marL="0" indent="0" algn="just">
              <a:buNone/>
            </a:pPr>
            <a:r>
              <a:rPr lang="fr-FR" sz="4000" dirty="0" smtClean="0">
                <a:latin typeface="Maiandra GD" pitchFamily="34" charset="0"/>
              </a:rPr>
              <a:t>- le </a:t>
            </a:r>
            <a:r>
              <a:rPr lang="fr-FR" sz="4000" dirty="0">
                <a:effectLst>
                  <a:outerShdw blurRad="38100" dist="38100" dir="2700000" algn="tl">
                    <a:srgbClr val="000000">
                      <a:alpha val="43137"/>
                    </a:srgbClr>
                  </a:outerShdw>
                </a:effectLst>
                <a:latin typeface="Maiandra GD" pitchFamily="34" charset="0"/>
              </a:rPr>
              <a:t>HTML</a:t>
            </a:r>
            <a:r>
              <a:rPr lang="fr-FR" sz="4000" dirty="0">
                <a:latin typeface="Maiandra GD" pitchFamily="34" charset="0"/>
              </a:rPr>
              <a:t> </a:t>
            </a:r>
            <a:r>
              <a:rPr lang="fr-FR" sz="4000" dirty="0" smtClean="0">
                <a:latin typeface="Maiandra GD" pitchFamily="34" charset="0"/>
              </a:rPr>
              <a:t>définit </a:t>
            </a:r>
            <a:r>
              <a:rPr lang="fr-FR" sz="4000" dirty="0">
                <a:latin typeface="Maiandra GD" pitchFamily="34" charset="0"/>
              </a:rPr>
              <a:t>le fond (contenu, </a:t>
            </a:r>
            <a:r>
              <a:rPr lang="fr-FR" sz="4000" dirty="0" smtClean="0">
                <a:latin typeface="Maiandra GD" pitchFamily="34" charset="0"/>
              </a:rPr>
              <a:t>  </a:t>
            </a:r>
          </a:p>
          <a:p>
            <a:pPr marL="0" indent="0" algn="just">
              <a:buNone/>
            </a:pPr>
            <a:r>
              <a:rPr lang="fr-FR" sz="4000" dirty="0" smtClean="0">
                <a:latin typeface="Maiandra GD" pitchFamily="34" charset="0"/>
              </a:rPr>
              <a:t>   logique </a:t>
            </a:r>
            <a:r>
              <a:rPr lang="fr-FR" sz="4000" dirty="0">
                <a:latin typeface="Maiandra GD" pitchFamily="34" charset="0"/>
              </a:rPr>
              <a:t>des éléments) </a:t>
            </a:r>
            <a:r>
              <a:rPr lang="fr-FR" sz="4000" dirty="0" smtClean="0">
                <a:latin typeface="Maiandra GD" pitchFamily="34" charset="0"/>
              </a:rPr>
              <a:t>; </a:t>
            </a:r>
          </a:p>
          <a:p>
            <a:pPr algn="just">
              <a:buFontTx/>
              <a:buChar char="-"/>
            </a:pPr>
            <a:r>
              <a:rPr lang="fr-FR" sz="4000" dirty="0" smtClean="0">
                <a:latin typeface="Maiandra GD" pitchFamily="34" charset="0"/>
              </a:rPr>
              <a:t>le </a:t>
            </a:r>
            <a:r>
              <a:rPr lang="fr-FR" sz="4000" dirty="0">
                <a:effectLst>
                  <a:outerShdw blurRad="38100" dist="38100" dir="2700000" algn="tl">
                    <a:srgbClr val="000000">
                      <a:alpha val="43137"/>
                    </a:srgbClr>
                  </a:outerShdw>
                </a:effectLst>
                <a:latin typeface="Maiandra GD" pitchFamily="34" charset="0"/>
              </a:rPr>
              <a:t>CSS</a:t>
            </a:r>
            <a:r>
              <a:rPr lang="fr-FR" sz="4000" dirty="0">
                <a:latin typeface="Maiandra GD" pitchFamily="34" charset="0"/>
              </a:rPr>
              <a:t> </a:t>
            </a:r>
            <a:r>
              <a:rPr lang="fr-FR" sz="4000" dirty="0" smtClean="0">
                <a:latin typeface="Maiandra GD" pitchFamily="34" charset="0"/>
              </a:rPr>
              <a:t>définit </a:t>
            </a:r>
            <a:r>
              <a:rPr lang="fr-FR" sz="4000" dirty="0">
                <a:latin typeface="Maiandra GD" pitchFamily="34" charset="0"/>
              </a:rPr>
              <a:t>la forme (apparence</a:t>
            </a:r>
            <a:r>
              <a:rPr lang="fr-FR" sz="4000" dirty="0" smtClean="0">
                <a:latin typeface="Maiandra GD" pitchFamily="34" charset="0"/>
              </a:rPr>
              <a:t>).</a:t>
            </a:r>
          </a:p>
          <a:p>
            <a:pPr marL="0" indent="0" algn="just">
              <a:buNone/>
            </a:pPr>
            <a:endParaRPr lang="fr-FR" sz="1600" dirty="0">
              <a:latin typeface="Maiandra GD" pitchFamily="34" charset="0"/>
            </a:endParaRPr>
          </a:p>
          <a:p>
            <a:pPr marL="0" indent="0" algn="just">
              <a:buNone/>
            </a:pPr>
            <a:r>
              <a:rPr lang="fr-FR" sz="4000" dirty="0">
                <a:latin typeface="Maiandra GD" pitchFamily="34" charset="0"/>
              </a:rPr>
              <a:t>Nous verrons le </a:t>
            </a:r>
            <a:r>
              <a:rPr lang="fr-FR" sz="4000" dirty="0">
                <a:effectLst>
                  <a:outerShdw blurRad="38100" dist="38100" dir="2700000" algn="tl">
                    <a:srgbClr val="000000">
                      <a:alpha val="43137"/>
                    </a:srgbClr>
                  </a:outerShdw>
                </a:effectLst>
                <a:latin typeface="Maiandra GD" pitchFamily="34" charset="0"/>
              </a:rPr>
              <a:t>CSS</a:t>
            </a:r>
            <a:r>
              <a:rPr lang="fr-FR" sz="4000" dirty="0">
                <a:latin typeface="Maiandra GD" pitchFamily="34" charset="0"/>
              </a:rPr>
              <a:t> plus loin, pour l'instant nous nous concentrons sur le </a:t>
            </a:r>
            <a:r>
              <a:rPr lang="fr-FR" sz="4000" dirty="0">
                <a:effectLst>
                  <a:outerShdw blurRad="38100" dist="38100" dir="2700000" algn="tl">
                    <a:srgbClr val="000000">
                      <a:alpha val="43137"/>
                    </a:srgbClr>
                  </a:outerShdw>
                </a:effectLst>
                <a:latin typeface="Maiandra GD" pitchFamily="34" charset="0"/>
              </a:rPr>
              <a:t>HTML</a:t>
            </a:r>
            <a:r>
              <a:rPr lang="fr-FR" sz="4000" dirty="0">
                <a:latin typeface="Maiandra GD" pitchFamily="34" charset="0"/>
              </a:rPr>
              <a:t> </a:t>
            </a:r>
            <a:r>
              <a:rPr lang="fr-FR" sz="4000" dirty="0" smtClean="0">
                <a:latin typeface="Maiandra GD" pitchFamily="34" charset="0"/>
              </a:rPr>
              <a:t>et ses </a:t>
            </a:r>
            <a:r>
              <a:rPr lang="fr-FR" sz="4000" dirty="0">
                <a:latin typeface="Maiandra GD" pitchFamily="34" charset="0"/>
              </a:rPr>
              <a:t>balises, qui ont chacune un sens particulier.</a:t>
            </a:r>
          </a:p>
          <a:p>
            <a:pPr marL="0" indent="0">
              <a:buNone/>
            </a:pPr>
            <a:endParaRPr lang="fr-FR" dirty="0"/>
          </a:p>
        </p:txBody>
      </p:sp>
    </p:spTree>
    <p:extLst>
      <p:ext uri="{BB962C8B-B14F-4D97-AF65-F5344CB8AC3E}">
        <p14:creationId xmlns:p14="http://schemas.microsoft.com/office/powerpoint/2010/main" val="615287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wipe(down)">
                                      <p:cBhvr>
                                        <p:cTn id="25" dur="580">
                                          <p:stCondLst>
                                            <p:cond delay="0"/>
                                          </p:stCondLst>
                                        </p:cTn>
                                        <p:tgtEl>
                                          <p:spTgt spid="3">
                                            <p:txEl>
                                              <p:pRg st="1" end="1"/>
                                            </p:txEl>
                                          </p:spTgt>
                                        </p:tgtEl>
                                      </p:cBhvr>
                                    </p:animEffect>
                                    <p:anim calcmode="lin" valueType="num">
                                      <p:cBhvr>
                                        <p:cTn id="26"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1" end="1"/>
                                            </p:txEl>
                                          </p:spTgt>
                                        </p:tgtEl>
                                      </p:cBhvr>
                                      <p:to x="100000" y="60000"/>
                                    </p:animScale>
                                    <p:animScale>
                                      <p:cBhvr>
                                        <p:cTn id="32" dur="166" decel="50000">
                                          <p:stCondLst>
                                            <p:cond delay="676"/>
                                          </p:stCondLst>
                                        </p:cTn>
                                        <p:tgtEl>
                                          <p:spTgt spid="3">
                                            <p:txEl>
                                              <p:pRg st="1" end="1"/>
                                            </p:txEl>
                                          </p:spTgt>
                                        </p:tgtEl>
                                      </p:cBhvr>
                                      <p:to x="100000" y="100000"/>
                                    </p:animScale>
                                    <p:animScale>
                                      <p:cBhvr>
                                        <p:cTn id="33" dur="26">
                                          <p:stCondLst>
                                            <p:cond delay="1312"/>
                                          </p:stCondLst>
                                        </p:cTn>
                                        <p:tgtEl>
                                          <p:spTgt spid="3">
                                            <p:txEl>
                                              <p:pRg st="1" end="1"/>
                                            </p:txEl>
                                          </p:spTgt>
                                        </p:tgtEl>
                                      </p:cBhvr>
                                      <p:to x="100000" y="80000"/>
                                    </p:animScale>
                                    <p:animScale>
                                      <p:cBhvr>
                                        <p:cTn id="34" dur="166" decel="50000">
                                          <p:stCondLst>
                                            <p:cond delay="1338"/>
                                          </p:stCondLst>
                                        </p:cTn>
                                        <p:tgtEl>
                                          <p:spTgt spid="3">
                                            <p:txEl>
                                              <p:pRg st="1" end="1"/>
                                            </p:txEl>
                                          </p:spTgt>
                                        </p:tgtEl>
                                      </p:cBhvr>
                                      <p:to x="100000" y="100000"/>
                                    </p:animScale>
                                    <p:animScale>
                                      <p:cBhvr>
                                        <p:cTn id="35" dur="26">
                                          <p:stCondLst>
                                            <p:cond delay="1642"/>
                                          </p:stCondLst>
                                        </p:cTn>
                                        <p:tgtEl>
                                          <p:spTgt spid="3">
                                            <p:txEl>
                                              <p:pRg st="1" end="1"/>
                                            </p:txEl>
                                          </p:spTgt>
                                        </p:tgtEl>
                                      </p:cBhvr>
                                      <p:to x="100000" y="90000"/>
                                    </p:animScale>
                                    <p:animScale>
                                      <p:cBhvr>
                                        <p:cTn id="36" dur="166" decel="50000">
                                          <p:stCondLst>
                                            <p:cond delay="1668"/>
                                          </p:stCondLst>
                                        </p:cTn>
                                        <p:tgtEl>
                                          <p:spTgt spid="3">
                                            <p:txEl>
                                              <p:pRg st="1" end="1"/>
                                            </p:txEl>
                                          </p:spTgt>
                                        </p:tgtEl>
                                      </p:cBhvr>
                                      <p:to x="100000" y="100000"/>
                                    </p:animScale>
                                    <p:animScale>
                                      <p:cBhvr>
                                        <p:cTn id="37" dur="26">
                                          <p:stCondLst>
                                            <p:cond delay="1808"/>
                                          </p:stCondLst>
                                        </p:cTn>
                                        <p:tgtEl>
                                          <p:spTgt spid="3">
                                            <p:txEl>
                                              <p:pRg st="1" end="1"/>
                                            </p:txEl>
                                          </p:spTgt>
                                        </p:tgtEl>
                                      </p:cBhvr>
                                      <p:to x="100000" y="95000"/>
                                    </p:animScale>
                                    <p:animScale>
                                      <p:cBhvr>
                                        <p:cTn id="38" dur="166" decel="50000">
                                          <p:stCondLst>
                                            <p:cond delay="1834"/>
                                          </p:stCondLst>
                                        </p:cTn>
                                        <p:tgtEl>
                                          <p:spTgt spid="3">
                                            <p:txEl>
                                              <p:pRg st="1" end="1"/>
                                            </p:txEl>
                                          </p:spTgt>
                                        </p:tgtEl>
                                      </p:cBhvr>
                                      <p:to x="100000" y="100000"/>
                                    </p:animScale>
                                  </p:childTnLst>
                                </p:cTn>
                              </p:par>
                              <p:par>
                                <p:cTn id="39" presetID="26" presetClass="entr" presetSubtype="0" fill="hold" nodeType="withEffect">
                                  <p:stCondLst>
                                    <p:cond delay="0"/>
                                  </p:stCondLst>
                                  <p:childTnLst>
                                    <p:set>
                                      <p:cBhvr>
                                        <p:cTn id="40" dur="1" fill="hold">
                                          <p:stCondLst>
                                            <p:cond delay="0"/>
                                          </p:stCondLst>
                                        </p:cTn>
                                        <p:tgtEl>
                                          <p:spTgt spid="3">
                                            <p:txEl>
                                              <p:pRg st="2" end="2"/>
                                            </p:txEl>
                                          </p:spTgt>
                                        </p:tgtEl>
                                        <p:attrNameLst>
                                          <p:attrName>style.visibility</p:attrName>
                                        </p:attrNameLst>
                                      </p:cBhvr>
                                      <p:to>
                                        <p:strVal val="visible"/>
                                      </p:to>
                                    </p:set>
                                    <p:animEffect transition="in" filter="wipe(down)">
                                      <p:cBhvr>
                                        <p:cTn id="41" dur="580">
                                          <p:stCondLst>
                                            <p:cond delay="0"/>
                                          </p:stCondLst>
                                        </p:cTn>
                                        <p:tgtEl>
                                          <p:spTgt spid="3">
                                            <p:txEl>
                                              <p:pRg st="2" end="2"/>
                                            </p:txEl>
                                          </p:spTgt>
                                        </p:tgtEl>
                                      </p:cBhvr>
                                    </p:animEffect>
                                    <p:anim calcmode="lin" valueType="num">
                                      <p:cBhvr>
                                        <p:cTn id="42"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43"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44"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45"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46"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47" dur="26">
                                          <p:stCondLst>
                                            <p:cond delay="650"/>
                                          </p:stCondLst>
                                        </p:cTn>
                                        <p:tgtEl>
                                          <p:spTgt spid="3">
                                            <p:txEl>
                                              <p:pRg st="2" end="2"/>
                                            </p:txEl>
                                          </p:spTgt>
                                        </p:tgtEl>
                                      </p:cBhvr>
                                      <p:to x="100000" y="60000"/>
                                    </p:animScale>
                                    <p:animScale>
                                      <p:cBhvr>
                                        <p:cTn id="48" dur="166" decel="50000">
                                          <p:stCondLst>
                                            <p:cond delay="676"/>
                                          </p:stCondLst>
                                        </p:cTn>
                                        <p:tgtEl>
                                          <p:spTgt spid="3">
                                            <p:txEl>
                                              <p:pRg st="2" end="2"/>
                                            </p:txEl>
                                          </p:spTgt>
                                        </p:tgtEl>
                                      </p:cBhvr>
                                      <p:to x="100000" y="100000"/>
                                    </p:animScale>
                                    <p:animScale>
                                      <p:cBhvr>
                                        <p:cTn id="49" dur="26">
                                          <p:stCondLst>
                                            <p:cond delay="1312"/>
                                          </p:stCondLst>
                                        </p:cTn>
                                        <p:tgtEl>
                                          <p:spTgt spid="3">
                                            <p:txEl>
                                              <p:pRg st="2" end="2"/>
                                            </p:txEl>
                                          </p:spTgt>
                                        </p:tgtEl>
                                      </p:cBhvr>
                                      <p:to x="100000" y="80000"/>
                                    </p:animScale>
                                    <p:animScale>
                                      <p:cBhvr>
                                        <p:cTn id="50" dur="166" decel="50000">
                                          <p:stCondLst>
                                            <p:cond delay="1338"/>
                                          </p:stCondLst>
                                        </p:cTn>
                                        <p:tgtEl>
                                          <p:spTgt spid="3">
                                            <p:txEl>
                                              <p:pRg st="2" end="2"/>
                                            </p:txEl>
                                          </p:spTgt>
                                        </p:tgtEl>
                                      </p:cBhvr>
                                      <p:to x="100000" y="100000"/>
                                    </p:animScale>
                                    <p:animScale>
                                      <p:cBhvr>
                                        <p:cTn id="51" dur="26">
                                          <p:stCondLst>
                                            <p:cond delay="1642"/>
                                          </p:stCondLst>
                                        </p:cTn>
                                        <p:tgtEl>
                                          <p:spTgt spid="3">
                                            <p:txEl>
                                              <p:pRg st="2" end="2"/>
                                            </p:txEl>
                                          </p:spTgt>
                                        </p:tgtEl>
                                      </p:cBhvr>
                                      <p:to x="100000" y="90000"/>
                                    </p:animScale>
                                    <p:animScale>
                                      <p:cBhvr>
                                        <p:cTn id="52" dur="166" decel="50000">
                                          <p:stCondLst>
                                            <p:cond delay="1668"/>
                                          </p:stCondLst>
                                        </p:cTn>
                                        <p:tgtEl>
                                          <p:spTgt spid="3">
                                            <p:txEl>
                                              <p:pRg st="2" end="2"/>
                                            </p:txEl>
                                          </p:spTgt>
                                        </p:tgtEl>
                                      </p:cBhvr>
                                      <p:to x="100000" y="100000"/>
                                    </p:animScale>
                                    <p:animScale>
                                      <p:cBhvr>
                                        <p:cTn id="53" dur="26">
                                          <p:stCondLst>
                                            <p:cond delay="1808"/>
                                          </p:stCondLst>
                                        </p:cTn>
                                        <p:tgtEl>
                                          <p:spTgt spid="3">
                                            <p:txEl>
                                              <p:pRg st="2" end="2"/>
                                            </p:txEl>
                                          </p:spTgt>
                                        </p:tgtEl>
                                      </p:cBhvr>
                                      <p:to x="100000" y="95000"/>
                                    </p:animScale>
                                    <p:animScale>
                                      <p:cBhvr>
                                        <p:cTn id="54" dur="166" decel="50000">
                                          <p:stCondLst>
                                            <p:cond delay="1834"/>
                                          </p:stCondLst>
                                        </p:cTn>
                                        <p:tgtEl>
                                          <p:spTgt spid="3">
                                            <p:txEl>
                                              <p:pRg st="2" end="2"/>
                                            </p:txEl>
                                          </p:spTgt>
                                        </p:tgtEl>
                                      </p:cBhvr>
                                      <p:to x="100000" y="100000"/>
                                    </p:animScale>
                                  </p:childTnLst>
                                </p:cTn>
                              </p:par>
                            </p:childTnLst>
                          </p:cTn>
                        </p:par>
                      </p:childTnLst>
                    </p:cTn>
                  </p:par>
                  <p:par>
                    <p:cTn id="55" fill="hold">
                      <p:stCondLst>
                        <p:cond delay="indefinite"/>
                      </p:stCondLst>
                      <p:childTnLst>
                        <p:par>
                          <p:cTn id="56" fill="hold">
                            <p:stCondLst>
                              <p:cond delay="0"/>
                            </p:stCondLst>
                            <p:childTnLst>
                              <p:par>
                                <p:cTn id="57" presetID="26" presetClass="entr" presetSubtype="0" fill="hold" nodeType="clickEffect">
                                  <p:stCondLst>
                                    <p:cond delay="0"/>
                                  </p:stCondLst>
                                  <p:childTnLst>
                                    <p:set>
                                      <p:cBhvr>
                                        <p:cTn id="58" dur="1" fill="hold">
                                          <p:stCondLst>
                                            <p:cond delay="0"/>
                                          </p:stCondLst>
                                        </p:cTn>
                                        <p:tgtEl>
                                          <p:spTgt spid="3">
                                            <p:txEl>
                                              <p:pRg st="3" end="3"/>
                                            </p:txEl>
                                          </p:spTgt>
                                        </p:tgtEl>
                                        <p:attrNameLst>
                                          <p:attrName>style.visibility</p:attrName>
                                        </p:attrNameLst>
                                      </p:cBhvr>
                                      <p:to>
                                        <p:strVal val="visible"/>
                                      </p:to>
                                    </p:set>
                                    <p:animEffect transition="in" filter="wipe(down)">
                                      <p:cBhvr>
                                        <p:cTn id="59" dur="580">
                                          <p:stCondLst>
                                            <p:cond delay="0"/>
                                          </p:stCondLst>
                                        </p:cTn>
                                        <p:tgtEl>
                                          <p:spTgt spid="3">
                                            <p:txEl>
                                              <p:pRg st="3" end="3"/>
                                            </p:txEl>
                                          </p:spTgt>
                                        </p:tgtEl>
                                      </p:cBhvr>
                                    </p:animEffect>
                                    <p:anim calcmode="lin" valueType="num">
                                      <p:cBhvr>
                                        <p:cTn id="60"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61"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62"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63"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64"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65" dur="26">
                                          <p:stCondLst>
                                            <p:cond delay="650"/>
                                          </p:stCondLst>
                                        </p:cTn>
                                        <p:tgtEl>
                                          <p:spTgt spid="3">
                                            <p:txEl>
                                              <p:pRg st="3" end="3"/>
                                            </p:txEl>
                                          </p:spTgt>
                                        </p:tgtEl>
                                      </p:cBhvr>
                                      <p:to x="100000" y="60000"/>
                                    </p:animScale>
                                    <p:animScale>
                                      <p:cBhvr>
                                        <p:cTn id="66" dur="166" decel="50000">
                                          <p:stCondLst>
                                            <p:cond delay="676"/>
                                          </p:stCondLst>
                                        </p:cTn>
                                        <p:tgtEl>
                                          <p:spTgt spid="3">
                                            <p:txEl>
                                              <p:pRg st="3" end="3"/>
                                            </p:txEl>
                                          </p:spTgt>
                                        </p:tgtEl>
                                      </p:cBhvr>
                                      <p:to x="100000" y="100000"/>
                                    </p:animScale>
                                    <p:animScale>
                                      <p:cBhvr>
                                        <p:cTn id="67" dur="26">
                                          <p:stCondLst>
                                            <p:cond delay="1312"/>
                                          </p:stCondLst>
                                        </p:cTn>
                                        <p:tgtEl>
                                          <p:spTgt spid="3">
                                            <p:txEl>
                                              <p:pRg st="3" end="3"/>
                                            </p:txEl>
                                          </p:spTgt>
                                        </p:tgtEl>
                                      </p:cBhvr>
                                      <p:to x="100000" y="80000"/>
                                    </p:animScale>
                                    <p:animScale>
                                      <p:cBhvr>
                                        <p:cTn id="68" dur="166" decel="50000">
                                          <p:stCondLst>
                                            <p:cond delay="1338"/>
                                          </p:stCondLst>
                                        </p:cTn>
                                        <p:tgtEl>
                                          <p:spTgt spid="3">
                                            <p:txEl>
                                              <p:pRg st="3" end="3"/>
                                            </p:txEl>
                                          </p:spTgt>
                                        </p:tgtEl>
                                      </p:cBhvr>
                                      <p:to x="100000" y="100000"/>
                                    </p:animScale>
                                    <p:animScale>
                                      <p:cBhvr>
                                        <p:cTn id="69" dur="26">
                                          <p:stCondLst>
                                            <p:cond delay="1642"/>
                                          </p:stCondLst>
                                        </p:cTn>
                                        <p:tgtEl>
                                          <p:spTgt spid="3">
                                            <p:txEl>
                                              <p:pRg st="3" end="3"/>
                                            </p:txEl>
                                          </p:spTgt>
                                        </p:tgtEl>
                                      </p:cBhvr>
                                      <p:to x="100000" y="90000"/>
                                    </p:animScale>
                                    <p:animScale>
                                      <p:cBhvr>
                                        <p:cTn id="70" dur="166" decel="50000">
                                          <p:stCondLst>
                                            <p:cond delay="1668"/>
                                          </p:stCondLst>
                                        </p:cTn>
                                        <p:tgtEl>
                                          <p:spTgt spid="3">
                                            <p:txEl>
                                              <p:pRg st="3" end="3"/>
                                            </p:txEl>
                                          </p:spTgt>
                                        </p:tgtEl>
                                      </p:cBhvr>
                                      <p:to x="100000" y="100000"/>
                                    </p:animScale>
                                    <p:animScale>
                                      <p:cBhvr>
                                        <p:cTn id="71" dur="26">
                                          <p:stCondLst>
                                            <p:cond delay="1808"/>
                                          </p:stCondLst>
                                        </p:cTn>
                                        <p:tgtEl>
                                          <p:spTgt spid="3">
                                            <p:txEl>
                                              <p:pRg st="3" end="3"/>
                                            </p:txEl>
                                          </p:spTgt>
                                        </p:tgtEl>
                                      </p:cBhvr>
                                      <p:to x="100000" y="95000"/>
                                    </p:animScale>
                                    <p:animScale>
                                      <p:cBhvr>
                                        <p:cTn id="72" dur="166" decel="50000">
                                          <p:stCondLst>
                                            <p:cond delay="1834"/>
                                          </p:stCondLst>
                                        </p:cTn>
                                        <p:tgtEl>
                                          <p:spTgt spid="3">
                                            <p:txEl>
                                              <p:pRg st="3" end="3"/>
                                            </p:txEl>
                                          </p:spTgt>
                                        </p:tgtEl>
                                      </p:cBhvr>
                                      <p:to x="100000" y="100000"/>
                                    </p:animScale>
                                  </p:childTnLst>
                                </p:cTn>
                              </p:par>
                            </p:childTnLst>
                          </p:cTn>
                        </p:par>
                      </p:childTnLst>
                    </p:cTn>
                  </p:par>
                  <p:par>
                    <p:cTn id="73" fill="hold">
                      <p:stCondLst>
                        <p:cond delay="indefinite"/>
                      </p:stCondLst>
                      <p:childTnLst>
                        <p:par>
                          <p:cTn id="74" fill="hold">
                            <p:stCondLst>
                              <p:cond delay="0"/>
                            </p:stCondLst>
                            <p:childTnLst>
                              <p:par>
                                <p:cTn id="75" presetID="14" presetClass="entr" presetSubtype="10" fill="hold" nodeType="clickEffect">
                                  <p:stCondLst>
                                    <p:cond delay="0"/>
                                  </p:stCondLst>
                                  <p:childTnLst>
                                    <p:set>
                                      <p:cBhvr>
                                        <p:cTn id="76" dur="1" fill="hold">
                                          <p:stCondLst>
                                            <p:cond delay="0"/>
                                          </p:stCondLst>
                                        </p:cTn>
                                        <p:tgtEl>
                                          <p:spTgt spid="3">
                                            <p:txEl>
                                              <p:pRg st="5" end="5"/>
                                            </p:txEl>
                                          </p:spTgt>
                                        </p:tgtEl>
                                        <p:attrNameLst>
                                          <p:attrName>style.visibility</p:attrName>
                                        </p:attrNameLst>
                                      </p:cBhvr>
                                      <p:to>
                                        <p:strVal val="visible"/>
                                      </p:to>
                                    </p:set>
                                    <p:animEffect transition="in" filter="randombar(horizontal)">
                                      <p:cBhvr>
                                        <p:cTn id="7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924944"/>
            <a:ext cx="8229600" cy="1143000"/>
          </a:xfrm>
        </p:spPr>
        <p:txBody>
          <a:bodyPr>
            <a:noAutofit/>
          </a:bodyPr>
          <a:lstStyle/>
          <a:p>
            <a:r>
              <a:rPr lang="fr-FR" sz="8000" dirty="0">
                <a:effectLst>
                  <a:outerShdw blurRad="38100" dist="38100" dir="2700000" algn="tl">
                    <a:srgbClr val="000000">
                      <a:alpha val="43137"/>
                    </a:srgbClr>
                  </a:outerShdw>
                </a:effectLst>
                <a:latin typeface="Maiandra GD" pitchFamily="34" charset="0"/>
              </a:rPr>
              <a:t>Les listes</a:t>
            </a:r>
          </a:p>
        </p:txBody>
      </p:sp>
    </p:spTree>
    <p:extLst>
      <p:ext uri="{BB962C8B-B14F-4D97-AF65-F5344CB8AC3E}">
        <p14:creationId xmlns:p14="http://schemas.microsoft.com/office/powerpoint/2010/main" val="3038832273"/>
      </p:ext>
    </p:extLst>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23528" y="260648"/>
            <a:ext cx="8640960" cy="6264696"/>
          </a:xfrm>
        </p:spPr>
        <p:txBody>
          <a:bodyPr>
            <a:normAutofit/>
          </a:bodyPr>
          <a:lstStyle/>
          <a:p>
            <a:pPr marL="0" indent="0" algn="just">
              <a:buNone/>
            </a:pPr>
            <a:r>
              <a:rPr lang="fr-FR" sz="4000" dirty="0">
                <a:latin typeface="Maiandra GD" pitchFamily="34" charset="0"/>
              </a:rPr>
              <a:t>Les listes nous permettent souvent de mieux structurer notre texte et d'ordonner </a:t>
            </a:r>
            <a:r>
              <a:rPr lang="fr-FR" sz="4000" dirty="0" smtClean="0">
                <a:latin typeface="Maiandra GD" pitchFamily="34" charset="0"/>
              </a:rPr>
              <a:t>nos informations</a:t>
            </a:r>
            <a:r>
              <a:rPr lang="fr-FR" sz="4000" dirty="0">
                <a:latin typeface="Maiandra GD" pitchFamily="34" charset="0"/>
              </a:rPr>
              <a:t>. </a:t>
            </a:r>
            <a:endParaRPr lang="fr-FR" sz="4000" dirty="0" smtClean="0">
              <a:latin typeface="Maiandra GD" pitchFamily="34" charset="0"/>
            </a:endParaRPr>
          </a:p>
          <a:p>
            <a:pPr marL="0" indent="0" algn="just">
              <a:buNone/>
            </a:pPr>
            <a:r>
              <a:rPr lang="fr-FR" sz="4000" dirty="0" smtClean="0">
                <a:latin typeface="Maiandra GD" pitchFamily="34" charset="0"/>
              </a:rPr>
              <a:t>Nous </a:t>
            </a:r>
            <a:r>
              <a:rPr lang="fr-FR" sz="4000" dirty="0">
                <a:latin typeface="Maiandra GD" pitchFamily="34" charset="0"/>
              </a:rPr>
              <a:t>allons découvrir ici deux types de listes :</a:t>
            </a:r>
          </a:p>
          <a:p>
            <a:pPr marL="0" indent="0" algn="just">
              <a:buNone/>
            </a:pPr>
            <a:r>
              <a:rPr lang="fr-FR" sz="4000" dirty="0" smtClean="0">
                <a:latin typeface="Maiandra GD" pitchFamily="34" charset="0"/>
              </a:rPr>
              <a:t>- </a:t>
            </a:r>
            <a:r>
              <a:rPr lang="fr-FR" sz="4000" dirty="0">
                <a:latin typeface="Maiandra GD" pitchFamily="34" charset="0"/>
              </a:rPr>
              <a:t>les listes non ordonnées ou listes à puces ;</a:t>
            </a:r>
          </a:p>
          <a:p>
            <a:pPr marL="0" indent="0" algn="just">
              <a:buNone/>
            </a:pPr>
            <a:r>
              <a:rPr lang="fr-FR" sz="4000" dirty="0" smtClean="0">
                <a:latin typeface="Maiandra GD" pitchFamily="34" charset="0"/>
              </a:rPr>
              <a:t>- les </a:t>
            </a:r>
            <a:r>
              <a:rPr lang="fr-FR" sz="4000" dirty="0">
                <a:latin typeface="Maiandra GD" pitchFamily="34" charset="0"/>
              </a:rPr>
              <a:t>listes ordonnées ou listes numérotées ou encore énumérations.</a:t>
            </a:r>
          </a:p>
        </p:txBody>
      </p:sp>
    </p:spTree>
    <p:extLst>
      <p:ext uri="{BB962C8B-B14F-4D97-AF65-F5344CB8AC3E}">
        <p14:creationId xmlns:p14="http://schemas.microsoft.com/office/powerpoint/2010/main" val="1798134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randombar(horizontal)">
                                      <p:cBhvr>
                                        <p:cTn id="25" dur="500"/>
                                        <p:tgtEl>
                                          <p:spTgt spid="3">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6" presetClass="entr" presetSubtype="0" fill="hold" nodeType="clickEffect">
                                  <p:stCondLst>
                                    <p:cond delay="0"/>
                                  </p:stCondLst>
                                  <p:childTnLst>
                                    <p:set>
                                      <p:cBhvr>
                                        <p:cTn id="29" dur="1" fill="hold">
                                          <p:stCondLst>
                                            <p:cond delay="0"/>
                                          </p:stCondLst>
                                        </p:cTn>
                                        <p:tgtEl>
                                          <p:spTgt spid="3">
                                            <p:txEl>
                                              <p:pRg st="2" end="2"/>
                                            </p:txEl>
                                          </p:spTgt>
                                        </p:tgtEl>
                                        <p:attrNameLst>
                                          <p:attrName>style.visibility</p:attrName>
                                        </p:attrNameLst>
                                      </p:cBhvr>
                                      <p:to>
                                        <p:strVal val="visible"/>
                                      </p:to>
                                    </p:set>
                                    <p:animEffect transition="in" filter="wipe(down)">
                                      <p:cBhvr>
                                        <p:cTn id="30" dur="580">
                                          <p:stCondLst>
                                            <p:cond delay="0"/>
                                          </p:stCondLst>
                                        </p:cTn>
                                        <p:tgtEl>
                                          <p:spTgt spid="3">
                                            <p:txEl>
                                              <p:pRg st="2" end="2"/>
                                            </p:txEl>
                                          </p:spTgt>
                                        </p:tgtEl>
                                      </p:cBhvr>
                                    </p:animEffect>
                                    <p:anim calcmode="lin" valueType="num">
                                      <p:cBhvr>
                                        <p:cTn id="31"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32"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33"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34"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35"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36" dur="26">
                                          <p:stCondLst>
                                            <p:cond delay="650"/>
                                          </p:stCondLst>
                                        </p:cTn>
                                        <p:tgtEl>
                                          <p:spTgt spid="3">
                                            <p:txEl>
                                              <p:pRg st="2" end="2"/>
                                            </p:txEl>
                                          </p:spTgt>
                                        </p:tgtEl>
                                      </p:cBhvr>
                                      <p:to x="100000" y="60000"/>
                                    </p:animScale>
                                    <p:animScale>
                                      <p:cBhvr>
                                        <p:cTn id="37" dur="166" decel="50000">
                                          <p:stCondLst>
                                            <p:cond delay="676"/>
                                          </p:stCondLst>
                                        </p:cTn>
                                        <p:tgtEl>
                                          <p:spTgt spid="3">
                                            <p:txEl>
                                              <p:pRg st="2" end="2"/>
                                            </p:txEl>
                                          </p:spTgt>
                                        </p:tgtEl>
                                      </p:cBhvr>
                                      <p:to x="100000" y="100000"/>
                                    </p:animScale>
                                    <p:animScale>
                                      <p:cBhvr>
                                        <p:cTn id="38" dur="26">
                                          <p:stCondLst>
                                            <p:cond delay="1312"/>
                                          </p:stCondLst>
                                        </p:cTn>
                                        <p:tgtEl>
                                          <p:spTgt spid="3">
                                            <p:txEl>
                                              <p:pRg st="2" end="2"/>
                                            </p:txEl>
                                          </p:spTgt>
                                        </p:tgtEl>
                                      </p:cBhvr>
                                      <p:to x="100000" y="80000"/>
                                    </p:animScale>
                                    <p:animScale>
                                      <p:cBhvr>
                                        <p:cTn id="39" dur="166" decel="50000">
                                          <p:stCondLst>
                                            <p:cond delay="1338"/>
                                          </p:stCondLst>
                                        </p:cTn>
                                        <p:tgtEl>
                                          <p:spTgt spid="3">
                                            <p:txEl>
                                              <p:pRg st="2" end="2"/>
                                            </p:txEl>
                                          </p:spTgt>
                                        </p:tgtEl>
                                      </p:cBhvr>
                                      <p:to x="100000" y="100000"/>
                                    </p:animScale>
                                    <p:animScale>
                                      <p:cBhvr>
                                        <p:cTn id="40" dur="26">
                                          <p:stCondLst>
                                            <p:cond delay="1642"/>
                                          </p:stCondLst>
                                        </p:cTn>
                                        <p:tgtEl>
                                          <p:spTgt spid="3">
                                            <p:txEl>
                                              <p:pRg st="2" end="2"/>
                                            </p:txEl>
                                          </p:spTgt>
                                        </p:tgtEl>
                                      </p:cBhvr>
                                      <p:to x="100000" y="90000"/>
                                    </p:animScale>
                                    <p:animScale>
                                      <p:cBhvr>
                                        <p:cTn id="41" dur="166" decel="50000">
                                          <p:stCondLst>
                                            <p:cond delay="1668"/>
                                          </p:stCondLst>
                                        </p:cTn>
                                        <p:tgtEl>
                                          <p:spTgt spid="3">
                                            <p:txEl>
                                              <p:pRg st="2" end="2"/>
                                            </p:txEl>
                                          </p:spTgt>
                                        </p:tgtEl>
                                      </p:cBhvr>
                                      <p:to x="100000" y="100000"/>
                                    </p:animScale>
                                    <p:animScale>
                                      <p:cBhvr>
                                        <p:cTn id="42" dur="26">
                                          <p:stCondLst>
                                            <p:cond delay="1808"/>
                                          </p:stCondLst>
                                        </p:cTn>
                                        <p:tgtEl>
                                          <p:spTgt spid="3">
                                            <p:txEl>
                                              <p:pRg st="2" end="2"/>
                                            </p:txEl>
                                          </p:spTgt>
                                        </p:tgtEl>
                                      </p:cBhvr>
                                      <p:to x="100000" y="95000"/>
                                    </p:animScale>
                                    <p:animScale>
                                      <p:cBhvr>
                                        <p:cTn id="43" dur="166" decel="50000">
                                          <p:stCondLst>
                                            <p:cond delay="1834"/>
                                          </p:stCondLst>
                                        </p:cTn>
                                        <p:tgtEl>
                                          <p:spTgt spid="3">
                                            <p:txEl>
                                              <p:pRg st="2" end="2"/>
                                            </p:txEl>
                                          </p:spTgt>
                                        </p:tgtEl>
                                      </p:cBhvr>
                                      <p:to x="100000" y="100000"/>
                                    </p:animScale>
                                  </p:childTnLst>
                                </p:cTn>
                              </p:par>
                            </p:childTnLst>
                          </p:cTn>
                        </p:par>
                      </p:childTnLst>
                    </p:cTn>
                  </p:par>
                  <p:par>
                    <p:cTn id="44" fill="hold">
                      <p:stCondLst>
                        <p:cond delay="indefinite"/>
                      </p:stCondLst>
                      <p:childTnLst>
                        <p:par>
                          <p:cTn id="45" fill="hold">
                            <p:stCondLst>
                              <p:cond delay="0"/>
                            </p:stCondLst>
                            <p:childTnLst>
                              <p:par>
                                <p:cTn id="46" presetID="26" presetClass="entr" presetSubtype="0" fill="hold" nodeType="clickEffect">
                                  <p:stCondLst>
                                    <p:cond delay="0"/>
                                  </p:stCondLst>
                                  <p:childTnLst>
                                    <p:set>
                                      <p:cBhvr>
                                        <p:cTn id="47" dur="1" fill="hold">
                                          <p:stCondLst>
                                            <p:cond delay="0"/>
                                          </p:stCondLst>
                                        </p:cTn>
                                        <p:tgtEl>
                                          <p:spTgt spid="3">
                                            <p:txEl>
                                              <p:pRg st="3" end="3"/>
                                            </p:txEl>
                                          </p:spTgt>
                                        </p:tgtEl>
                                        <p:attrNameLst>
                                          <p:attrName>style.visibility</p:attrName>
                                        </p:attrNameLst>
                                      </p:cBhvr>
                                      <p:to>
                                        <p:strVal val="visible"/>
                                      </p:to>
                                    </p:set>
                                    <p:animEffect transition="in" filter="wipe(down)">
                                      <p:cBhvr>
                                        <p:cTn id="48" dur="580">
                                          <p:stCondLst>
                                            <p:cond delay="0"/>
                                          </p:stCondLst>
                                        </p:cTn>
                                        <p:tgtEl>
                                          <p:spTgt spid="3">
                                            <p:txEl>
                                              <p:pRg st="3" end="3"/>
                                            </p:txEl>
                                          </p:spTgt>
                                        </p:tgtEl>
                                      </p:cBhvr>
                                    </p:animEffect>
                                    <p:anim calcmode="lin" valueType="num">
                                      <p:cBhvr>
                                        <p:cTn id="49"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50"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51"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52"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53"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54" dur="26">
                                          <p:stCondLst>
                                            <p:cond delay="650"/>
                                          </p:stCondLst>
                                        </p:cTn>
                                        <p:tgtEl>
                                          <p:spTgt spid="3">
                                            <p:txEl>
                                              <p:pRg st="3" end="3"/>
                                            </p:txEl>
                                          </p:spTgt>
                                        </p:tgtEl>
                                      </p:cBhvr>
                                      <p:to x="100000" y="60000"/>
                                    </p:animScale>
                                    <p:animScale>
                                      <p:cBhvr>
                                        <p:cTn id="55" dur="166" decel="50000">
                                          <p:stCondLst>
                                            <p:cond delay="676"/>
                                          </p:stCondLst>
                                        </p:cTn>
                                        <p:tgtEl>
                                          <p:spTgt spid="3">
                                            <p:txEl>
                                              <p:pRg st="3" end="3"/>
                                            </p:txEl>
                                          </p:spTgt>
                                        </p:tgtEl>
                                      </p:cBhvr>
                                      <p:to x="100000" y="100000"/>
                                    </p:animScale>
                                    <p:animScale>
                                      <p:cBhvr>
                                        <p:cTn id="56" dur="26">
                                          <p:stCondLst>
                                            <p:cond delay="1312"/>
                                          </p:stCondLst>
                                        </p:cTn>
                                        <p:tgtEl>
                                          <p:spTgt spid="3">
                                            <p:txEl>
                                              <p:pRg st="3" end="3"/>
                                            </p:txEl>
                                          </p:spTgt>
                                        </p:tgtEl>
                                      </p:cBhvr>
                                      <p:to x="100000" y="80000"/>
                                    </p:animScale>
                                    <p:animScale>
                                      <p:cBhvr>
                                        <p:cTn id="57" dur="166" decel="50000">
                                          <p:stCondLst>
                                            <p:cond delay="1338"/>
                                          </p:stCondLst>
                                        </p:cTn>
                                        <p:tgtEl>
                                          <p:spTgt spid="3">
                                            <p:txEl>
                                              <p:pRg st="3" end="3"/>
                                            </p:txEl>
                                          </p:spTgt>
                                        </p:tgtEl>
                                      </p:cBhvr>
                                      <p:to x="100000" y="100000"/>
                                    </p:animScale>
                                    <p:animScale>
                                      <p:cBhvr>
                                        <p:cTn id="58" dur="26">
                                          <p:stCondLst>
                                            <p:cond delay="1642"/>
                                          </p:stCondLst>
                                        </p:cTn>
                                        <p:tgtEl>
                                          <p:spTgt spid="3">
                                            <p:txEl>
                                              <p:pRg st="3" end="3"/>
                                            </p:txEl>
                                          </p:spTgt>
                                        </p:tgtEl>
                                      </p:cBhvr>
                                      <p:to x="100000" y="90000"/>
                                    </p:animScale>
                                    <p:animScale>
                                      <p:cBhvr>
                                        <p:cTn id="59" dur="166" decel="50000">
                                          <p:stCondLst>
                                            <p:cond delay="1668"/>
                                          </p:stCondLst>
                                        </p:cTn>
                                        <p:tgtEl>
                                          <p:spTgt spid="3">
                                            <p:txEl>
                                              <p:pRg st="3" end="3"/>
                                            </p:txEl>
                                          </p:spTgt>
                                        </p:tgtEl>
                                      </p:cBhvr>
                                      <p:to x="100000" y="100000"/>
                                    </p:animScale>
                                    <p:animScale>
                                      <p:cBhvr>
                                        <p:cTn id="60" dur="26">
                                          <p:stCondLst>
                                            <p:cond delay="1808"/>
                                          </p:stCondLst>
                                        </p:cTn>
                                        <p:tgtEl>
                                          <p:spTgt spid="3">
                                            <p:txEl>
                                              <p:pRg st="3" end="3"/>
                                            </p:txEl>
                                          </p:spTgt>
                                        </p:tgtEl>
                                      </p:cBhvr>
                                      <p:to x="100000" y="95000"/>
                                    </p:animScale>
                                    <p:animScale>
                                      <p:cBhvr>
                                        <p:cTn id="61" dur="166" decel="50000">
                                          <p:stCondLst>
                                            <p:cond delay="1834"/>
                                          </p:stCondLst>
                                        </p:cTn>
                                        <p:tgtEl>
                                          <p:spTgt spid="3">
                                            <p:txEl>
                                              <p:pRg st="3" end="3"/>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5400" dirty="0">
                <a:effectLst>
                  <a:outerShdw blurRad="38100" dist="38100" dir="2700000" algn="tl">
                    <a:srgbClr val="000000">
                      <a:alpha val="43137"/>
                    </a:srgbClr>
                  </a:outerShdw>
                </a:effectLst>
                <a:latin typeface="Maiandra GD" pitchFamily="34" charset="0"/>
              </a:rPr>
              <a:t>Liste non ordonnée</a:t>
            </a:r>
          </a:p>
        </p:txBody>
      </p:sp>
      <p:sp>
        <p:nvSpPr>
          <p:cNvPr id="3" name="Espace réservé du contenu 2"/>
          <p:cNvSpPr>
            <a:spLocks noGrp="1"/>
          </p:cNvSpPr>
          <p:nvPr>
            <p:ph idx="1"/>
          </p:nvPr>
        </p:nvSpPr>
        <p:spPr>
          <a:xfrm>
            <a:off x="251520" y="1600200"/>
            <a:ext cx="8712968" cy="4925144"/>
          </a:xfrm>
        </p:spPr>
        <p:txBody>
          <a:bodyPr>
            <a:normAutofit/>
          </a:bodyPr>
          <a:lstStyle/>
          <a:p>
            <a:pPr marL="0" indent="0" algn="just">
              <a:buNone/>
            </a:pPr>
            <a:r>
              <a:rPr lang="fr-FR" sz="3600" dirty="0">
                <a:latin typeface="Maiandra GD" pitchFamily="34" charset="0"/>
              </a:rPr>
              <a:t>C'est un système qui nous permet de créer une liste d'éléments sans notion </a:t>
            </a:r>
            <a:r>
              <a:rPr lang="fr-FR" sz="3600" dirty="0" smtClean="0">
                <a:latin typeface="Maiandra GD" pitchFamily="34" charset="0"/>
              </a:rPr>
              <a:t>d'ordre (il </a:t>
            </a:r>
            <a:r>
              <a:rPr lang="fr-FR" sz="3600" dirty="0">
                <a:latin typeface="Maiandra GD" pitchFamily="34" charset="0"/>
              </a:rPr>
              <a:t>n'y a pas de  premier  ni de  dernier ). Créer une liste non ordonnée est </a:t>
            </a:r>
            <a:r>
              <a:rPr lang="fr-FR" sz="3600" dirty="0" smtClean="0">
                <a:latin typeface="Maiandra GD" pitchFamily="34" charset="0"/>
              </a:rPr>
              <a:t>très simple</a:t>
            </a:r>
            <a:r>
              <a:rPr lang="fr-FR" sz="3600" dirty="0">
                <a:latin typeface="Maiandra GD" pitchFamily="34" charset="0"/>
              </a:rPr>
              <a:t>. Il </a:t>
            </a:r>
            <a:r>
              <a:rPr lang="fr-FR" sz="3600" dirty="0" smtClean="0">
                <a:latin typeface="Maiandra GD" pitchFamily="34" charset="0"/>
              </a:rPr>
              <a:t>suffit </a:t>
            </a:r>
            <a:r>
              <a:rPr lang="fr-FR" sz="3600" dirty="0">
                <a:latin typeface="Maiandra GD" pitchFamily="34" charset="0"/>
              </a:rPr>
              <a:t>d'utiliser la balise &lt;ul&gt; que l'on referme un peu plus loin avec &lt;/ul</a:t>
            </a:r>
            <a:r>
              <a:rPr lang="fr-FR" sz="3600" dirty="0" smtClean="0">
                <a:latin typeface="Maiandra GD" pitchFamily="34" charset="0"/>
              </a:rPr>
              <a:t>&gt;. </a:t>
            </a:r>
            <a:endParaRPr lang="fr-FR" sz="3600" dirty="0">
              <a:latin typeface="Maiandra GD" pitchFamily="34" charset="0"/>
            </a:endParaRPr>
          </a:p>
        </p:txBody>
      </p:sp>
    </p:spTree>
    <p:extLst>
      <p:ext uri="{BB962C8B-B14F-4D97-AF65-F5344CB8AC3E}">
        <p14:creationId xmlns:p14="http://schemas.microsoft.com/office/powerpoint/2010/main" val="2027064886"/>
      </p:ext>
    </p:extLst>
  </p:cSld>
  <p:clrMapOvr>
    <a:masterClrMapping/>
  </p:clrMapOvr>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07504" y="548680"/>
            <a:ext cx="8964488" cy="5904656"/>
          </a:xfrm>
        </p:spPr>
        <p:txBody>
          <a:bodyPr>
            <a:normAutofit/>
          </a:bodyPr>
          <a:lstStyle/>
          <a:p>
            <a:pPr marL="0" indent="0" algn="just">
              <a:buNone/>
            </a:pPr>
            <a:r>
              <a:rPr lang="fr-FR" sz="4000" dirty="0">
                <a:latin typeface="Maiandra GD" pitchFamily="34" charset="0"/>
              </a:rPr>
              <a:t>Et maintenant, voilà ce qu'on va faire : on va écrire chacun des éléments de la </a:t>
            </a:r>
            <a:r>
              <a:rPr lang="fr-FR" sz="4000" dirty="0" smtClean="0">
                <a:latin typeface="Maiandra GD" pitchFamily="34" charset="0"/>
              </a:rPr>
              <a:t>liste entre </a:t>
            </a:r>
            <a:r>
              <a:rPr lang="fr-FR" sz="4000" dirty="0">
                <a:latin typeface="Maiandra GD" pitchFamily="34" charset="0"/>
              </a:rPr>
              <a:t>deux balises &lt;li&gt;&lt;/li&gt;. Chacune de ces balises doit se trouver entre &lt;ul&gt; </a:t>
            </a:r>
            <a:r>
              <a:rPr lang="fr-FR" sz="4000" dirty="0" smtClean="0">
                <a:latin typeface="Maiandra GD" pitchFamily="34" charset="0"/>
              </a:rPr>
              <a:t>et &lt;/</a:t>
            </a:r>
            <a:r>
              <a:rPr lang="fr-FR" sz="4000" dirty="0">
                <a:latin typeface="Maiandra GD" pitchFamily="34" charset="0"/>
              </a:rPr>
              <a:t>ul&gt;. Vous allez comprendre de suite avec cet exemple :</a:t>
            </a:r>
          </a:p>
        </p:txBody>
      </p:sp>
    </p:spTree>
    <p:extLst>
      <p:ext uri="{BB962C8B-B14F-4D97-AF65-F5344CB8AC3E}">
        <p14:creationId xmlns:p14="http://schemas.microsoft.com/office/powerpoint/2010/main" val="412107024"/>
      </p:ext>
    </p:extLst>
  </p:cSld>
  <p:clrMapOvr>
    <a:masterClrMapping/>
  </p:clrMapOvr>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008" y="404664"/>
            <a:ext cx="8892480" cy="6192688"/>
          </a:xfrm>
          <a:prstGeom prst="rect">
            <a:avLst/>
          </a:prstGeom>
        </p:spPr>
      </p:pic>
    </p:spTree>
    <p:extLst>
      <p:ext uri="{BB962C8B-B14F-4D97-AF65-F5344CB8AC3E}">
        <p14:creationId xmlns:p14="http://schemas.microsoft.com/office/powerpoint/2010/main" val="2192587084"/>
      </p:ext>
    </p:extLst>
  </p:cSld>
  <p:clrMapOvr>
    <a:masterClrMapping/>
  </p:clrMapOvr>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9171133" cy="6602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2795961" y="6372099"/>
            <a:ext cx="3360215" cy="461665"/>
          </a:xfrm>
          <a:prstGeom prst="rect">
            <a:avLst/>
          </a:prstGeom>
        </p:spPr>
        <p:txBody>
          <a:bodyPr wrap="none">
            <a:spAutoFit/>
          </a:bodyPr>
          <a:lstStyle/>
          <a:p>
            <a:r>
              <a:rPr lang="fr-FR" sz="2400" dirty="0">
                <a:effectLst>
                  <a:outerShdw blurRad="38100" dist="38100" dir="2700000" algn="tl">
                    <a:srgbClr val="000000">
                      <a:alpha val="43137"/>
                    </a:srgbClr>
                  </a:outerShdw>
                </a:effectLst>
                <a:latin typeface="Maiandra GD" pitchFamily="34" charset="0"/>
              </a:rPr>
              <a:t>Une liste non ordonnée</a:t>
            </a:r>
          </a:p>
        </p:txBody>
      </p:sp>
    </p:spTree>
    <p:extLst>
      <p:ext uri="{BB962C8B-B14F-4D97-AF65-F5344CB8AC3E}">
        <p14:creationId xmlns:p14="http://schemas.microsoft.com/office/powerpoint/2010/main" val="1061431842"/>
      </p:ext>
    </p:extLst>
  </p:cSld>
  <p:clrMapOvr>
    <a:masterClrMapping/>
  </p:clrMapOvr>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9512" y="332656"/>
            <a:ext cx="8784976" cy="6336704"/>
          </a:xfrm>
        </p:spPr>
        <p:txBody>
          <a:bodyPr>
            <a:noAutofit/>
          </a:bodyPr>
          <a:lstStyle/>
          <a:p>
            <a:pPr marL="0" indent="0" algn="just">
              <a:buNone/>
            </a:pPr>
            <a:r>
              <a:rPr lang="fr-FR" sz="3400" dirty="0">
                <a:latin typeface="Maiandra GD" pitchFamily="34" charset="0"/>
              </a:rPr>
              <a:t>Notez que la liste doit être placée à l'intérieur de &lt;body&gt;&lt;/body&gt;. </a:t>
            </a:r>
            <a:endParaRPr lang="fr-FR" sz="3400" dirty="0" smtClean="0">
              <a:latin typeface="Maiandra GD" pitchFamily="34" charset="0"/>
            </a:endParaRPr>
          </a:p>
          <a:p>
            <a:pPr marL="0" indent="0" algn="just">
              <a:buNone/>
            </a:pPr>
            <a:r>
              <a:rPr lang="fr-FR" sz="3400" dirty="0" smtClean="0">
                <a:latin typeface="Maiandra GD" pitchFamily="34" charset="0"/>
              </a:rPr>
              <a:t>À </a:t>
            </a:r>
            <a:r>
              <a:rPr lang="fr-FR" sz="3400" dirty="0">
                <a:latin typeface="Maiandra GD" pitchFamily="34" charset="0"/>
              </a:rPr>
              <a:t>partir de </a:t>
            </a:r>
            <a:r>
              <a:rPr lang="fr-FR" sz="3400" dirty="0" smtClean="0">
                <a:latin typeface="Maiandra GD" pitchFamily="34" charset="0"/>
              </a:rPr>
              <a:t>maintenant, je </a:t>
            </a:r>
            <a:r>
              <a:rPr lang="fr-FR" sz="3400" dirty="0">
                <a:latin typeface="Maiandra GD" pitchFamily="34" charset="0"/>
              </a:rPr>
              <a:t>ne mets pas tout le code de la page pour rester lisible.</a:t>
            </a:r>
          </a:p>
          <a:p>
            <a:pPr marL="0" indent="0" algn="just">
              <a:buNone/>
            </a:pPr>
            <a:r>
              <a:rPr lang="fr-FR" sz="3400" dirty="0">
                <a:latin typeface="Maiandra GD" pitchFamily="34" charset="0"/>
              </a:rPr>
              <a:t>Retenez donc ces deux balises :</a:t>
            </a:r>
          </a:p>
          <a:p>
            <a:pPr marL="0" indent="0" algn="just">
              <a:buNone/>
            </a:pPr>
            <a:r>
              <a:rPr lang="fr-FR" sz="3400" dirty="0" smtClean="0">
                <a:latin typeface="Maiandra GD" pitchFamily="34" charset="0"/>
              </a:rPr>
              <a:t>- &lt;</a:t>
            </a:r>
            <a:r>
              <a:rPr lang="fr-FR" sz="3400" dirty="0">
                <a:latin typeface="Maiandra GD" pitchFamily="34" charset="0"/>
              </a:rPr>
              <a:t>ul&gt;&lt;/ul&gt; délimite toute la liste ;</a:t>
            </a:r>
          </a:p>
          <a:p>
            <a:pPr marL="0" indent="0" algn="just">
              <a:buNone/>
            </a:pPr>
            <a:r>
              <a:rPr lang="fr-FR" sz="3400" dirty="0" smtClean="0">
                <a:latin typeface="Maiandra GD" pitchFamily="34" charset="0"/>
              </a:rPr>
              <a:t>- &lt;li&gt;&lt;/</a:t>
            </a:r>
            <a:r>
              <a:rPr lang="fr-FR" sz="3400" dirty="0">
                <a:latin typeface="Maiandra GD" pitchFamily="34" charset="0"/>
              </a:rPr>
              <a:t>li&gt; délimite un élément de la liste (une puce).</a:t>
            </a:r>
          </a:p>
          <a:p>
            <a:pPr marL="0" indent="0" algn="just">
              <a:buNone/>
            </a:pPr>
            <a:r>
              <a:rPr lang="fr-FR" sz="3400" dirty="0">
                <a:latin typeface="Maiandra GD" pitchFamily="34" charset="0"/>
              </a:rPr>
              <a:t>Vous pouvez mettre autant d'éléments que vous voulez dans la liste à puces, vous </a:t>
            </a:r>
            <a:r>
              <a:rPr lang="fr-FR" sz="3400" dirty="0" smtClean="0">
                <a:latin typeface="Maiandra GD" pitchFamily="34" charset="0"/>
              </a:rPr>
              <a:t>n'êtes pas </a:t>
            </a:r>
            <a:r>
              <a:rPr lang="fr-FR" sz="3400" dirty="0">
                <a:latin typeface="Maiandra GD" pitchFamily="34" charset="0"/>
              </a:rPr>
              <a:t>limités à trois éléments.</a:t>
            </a:r>
          </a:p>
        </p:txBody>
      </p:sp>
    </p:spTree>
    <p:extLst>
      <p:ext uri="{BB962C8B-B14F-4D97-AF65-F5344CB8AC3E}">
        <p14:creationId xmlns:p14="http://schemas.microsoft.com/office/powerpoint/2010/main" val="2531705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randombar(horizontal)">
                                      <p:cBhvr>
                                        <p:cTn id="25" dur="500"/>
                                        <p:tgtEl>
                                          <p:spTgt spid="3">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nodeType="clickEffect">
                                  <p:stCondLst>
                                    <p:cond delay="0"/>
                                  </p:stCondLst>
                                  <p:childTnLst>
                                    <p:set>
                                      <p:cBhvr>
                                        <p:cTn id="29" dur="1" fill="hold">
                                          <p:stCondLst>
                                            <p:cond delay="0"/>
                                          </p:stCondLst>
                                        </p:cTn>
                                        <p:tgtEl>
                                          <p:spTgt spid="3">
                                            <p:txEl>
                                              <p:pRg st="2" end="2"/>
                                            </p:txEl>
                                          </p:spTgt>
                                        </p:tgtEl>
                                        <p:attrNameLst>
                                          <p:attrName>style.visibility</p:attrName>
                                        </p:attrNameLst>
                                      </p:cBhvr>
                                      <p:to>
                                        <p:strVal val="visible"/>
                                      </p:to>
                                    </p:set>
                                    <p:animEffect transition="in" filter="randombar(horizontal)">
                                      <p:cBhvr>
                                        <p:cTn id="30" dur="500"/>
                                        <p:tgtEl>
                                          <p:spTgt spid="3">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6" presetClass="entr" presetSubtype="0" fill="hold"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wipe(down)">
                                      <p:cBhvr>
                                        <p:cTn id="35" dur="580">
                                          <p:stCondLst>
                                            <p:cond delay="0"/>
                                          </p:stCondLst>
                                        </p:cTn>
                                        <p:tgtEl>
                                          <p:spTgt spid="3">
                                            <p:txEl>
                                              <p:pRg st="3" end="3"/>
                                            </p:txEl>
                                          </p:spTgt>
                                        </p:tgtEl>
                                      </p:cBhvr>
                                    </p:animEffect>
                                    <p:anim calcmode="lin" valueType="num">
                                      <p:cBhvr>
                                        <p:cTn id="36"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37"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38"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39"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40"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41" dur="26">
                                          <p:stCondLst>
                                            <p:cond delay="650"/>
                                          </p:stCondLst>
                                        </p:cTn>
                                        <p:tgtEl>
                                          <p:spTgt spid="3">
                                            <p:txEl>
                                              <p:pRg st="3" end="3"/>
                                            </p:txEl>
                                          </p:spTgt>
                                        </p:tgtEl>
                                      </p:cBhvr>
                                      <p:to x="100000" y="60000"/>
                                    </p:animScale>
                                    <p:animScale>
                                      <p:cBhvr>
                                        <p:cTn id="42" dur="166" decel="50000">
                                          <p:stCondLst>
                                            <p:cond delay="676"/>
                                          </p:stCondLst>
                                        </p:cTn>
                                        <p:tgtEl>
                                          <p:spTgt spid="3">
                                            <p:txEl>
                                              <p:pRg st="3" end="3"/>
                                            </p:txEl>
                                          </p:spTgt>
                                        </p:tgtEl>
                                      </p:cBhvr>
                                      <p:to x="100000" y="100000"/>
                                    </p:animScale>
                                    <p:animScale>
                                      <p:cBhvr>
                                        <p:cTn id="43" dur="26">
                                          <p:stCondLst>
                                            <p:cond delay="1312"/>
                                          </p:stCondLst>
                                        </p:cTn>
                                        <p:tgtEl>
                                          <p:spTgt spid="3">
                                            <p:txEl>
                                              <p:pRg st="3" end="3"/>
                                            </p:txEl>
                                          </p:spTgt>
                                        </p:tgtEl>
                                      </p:cBhvr>
                                      <p:to x="100000" y="80000"/>
                                    </p:animScale>
                                    <p:animScale>
                                      <p:cBhvr>
                                        <p:cTn id="44" dur="166" decel="50000">
                                          <p:stCondLst>
                                            <p:cond delay="1338"/>
                                          </p:stCondLst>
                                        </p:cTn>
                                        <p:tgtEl>
                                          <p:spTgt spid="3">
                                            <p:txEl>
                                              <p:pRg st="3" end="3"/>
                                            </p:txEl>
                                          </p:spTgt>
                                        </p:tgtEl>
                                      </p:cBhvr>
                                      <p:to x="100000" y="100000"/>
                                    </p:animScale>
                                    <p:animScale>
                                      <p:cBhvr>
                                        <p:cTn id="45" dur="26">
                                          <p:stCondLst>
                                            <p:cond delay="1642"/>
                                          </p:stCondLst>
                                        </p:cTn>
                                        <p:tgtEl>
                                          <p:spTgt spid="3">
                                            <p:txEl>
                                              <p:pRg st="3" end="3"/>
                                            </p:txEl>
                                          </p:spTgt>
                                        </p:tgtEl>
                                      </p:cBhvr>
                                      <p:to x="100000" y="90000"/>
                                    </p:animScale>
                                    <p:animScale>
                                      <p:cBhvr>
                                        <p:cTn id="46" dur="166" decel="50000">
                                          <p:stCondLst>
                                            <p:cond delay="1668"/>
                                          </p:stCondLst>
                                        </p:cTn>
                                        <p:tgtEl>
                                          <p:spTgt spid="3">
                                            <p:txEl>
                                              <p:pRg st="3" end="3"/>
                                            </p:txEl>
                                          </p:spTgt>
                                        </p:tgtEl>
                                      </p:cBhvr>
                                      <p:to x="100000" y="100000"/>
                                    </p:animScale>
                                    <p:animScale>
                                      <p:cBhvr>
                                        <p:cTn id="47" dur="26">
                                          <p:stCondLst>
                                            <p:cond delay="1808"/>
                                          </p:stCondLst>
                                        </p:cTn>
                                        <p:tgtEl>
                                          <p:spTgt spid="3">
                                            <p:txEl>
                                              <p:pRg st="3" end="3"/>
                                            </p:txEl>
                                          </p:spTgt>
                                        </p:tgtEl>
                                      </p:cBhvr>
                                      <p:to x="100000" y="95000"/>
                                    </p:animScale>
                                    <p:animScale>
                                      <p:cBhvr>
                                        <p:cTn id="48" dur="166" decel="50000">
                                          <p:stCondLst>
                                            <p:cond delay="1834"/>
                                          </p:stCondLst>
                                        </p:cTn>
                                        <p:tgtEl>
                                          <p:spTgt spid="3">
                                            <p:txEl>
                                              <p:pRg st="3" end="3"/>
                                            </p:txEl>
                                          </p:spTgt>
                                        </p:tgtEl>
                                      </p:cBhvr>
                                      <p:to x="100000" y="100000"/>
                                    </p:animScale>
                                  </p:childTnLst>
                                </p:cTn>
                              </p:par>
                            </p:childTnLst>
                          </p:cTn>
                        </p:par>
                      </p:childTnLst>
                    </p:cTn>
                  </p:par>
                  <p:par>
                    <p:cTn id="49" fill="hold">
                      <p:stCondLst>
                        <p:cond delay="indefinite"/>
                      </p:stCondLst>
                      <p:childTnLst>
                        <p:par>
                          <p:cTn id="50" fill="hold">
                            <p:stCondLst>
                              <p:cond delay="0"/>
                            </p:stCondLst>
                            <p:childTnLst>
                              <p:par>
                                <p:cTn id="51" presetID="26" presetClass="entr" presetSubtype="0" fill="hold" nodeType="clickEffect">
                                  <p:stCondLst>
                                    <p:cond delay="0"/>
                                  </p:stCondLst>
                                  <p:childTnLst>
                                    <p:set>
                                      <p:cBhvr>
                                        <p:cTn id="52" dur="1" fill="hold">
                                          <p:stCondLst>
                                            <p:cond delay="0"/>
                                          </p:stCondLst>
                                        </p:cTn>
                                        <p:tgtEl>
                                          <p:spTgt spid="3">
                                            <p:txEl>
                                              <p:pRg st="4" end="4"/>
                                            </p:txEl>
                                          </p:spTgt>
                                        </p:tgtEl>
                                        <p:attrNameLst>
                                          <p:attrName>style.visibility</p:attrName>
                                        </p:attrNameLst>
                                      </p:cBhvr>
                                      <p:to>
                                        <p:strVal val="visible"/>
                                      </p:to>
                                    </p:set>
                                    <p:animEffect transition="in" filter="wipe(down)">
                                      <p:cBhvr>
                                        <p:cTn id="53" dur="580">
                                          <p:stCondLst>
                                            <p:cond delay="0"/>
                                          </p:stCondLst>
                                        </p:cTn>
                                        <p:tgtEl>
                                          <p:spTgt spid="3">
                                            <p:txEl>
                                              <p:pRg st="4" end="4"/>
                                            </p:txEl>
                                          </p:spTgt>
                                        </p:tgtEl>
                                      </p:cBhvr>
                                    </p:animEffect>
                                    <p:anim calcmode="lin" valueType="num">
                                      <p:cBhvr>
                                        <p:cTn id="54"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55"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56"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57"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58"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59" dur="26">
                                          <p:stCondLst>
                                            <p:cond delay="650"/>
                                          </p:stCondLst>
                                        </p:cTn>
                                        <p:tgtEl>
                                          <p:spTgt spid="3">
                                            <p:txEl>
                                              <p:pRg st="4" end="4"/>
                                            </p:txEl>
                                          </p:spTgt>
                                        </p:tgtEl>
                                      </p:cBhvr>
                                      <p:to x="100000" y="60000"/>
                                    </p:animScale>
                                    <p:animScale>
                                      <p:cBhvr>
                                        <p:cTn id="60" dur="166" decel="50000">
                                          <p:stCondLst>
                                            <p:cond delay="676"/>
                                          </p:stCondLst>
                                        </p:cTn>
                                        <p:tgtEl>
                                          <p:spTgt spid="3">
                                            <p:txEl>
                                              <p:pRg st="4" end="4"/>
                                            </p:txEl>
                                          </p:spTgt>
                                        </p:tgtEl>
                                      </p:cBhvr>
                                      <p:to x="100000" y="100000"/>
                                    </p:animScale>
                                    <p:animScale>
                                      <p:cBhvr>
                                        <p:cTn id="61" dur="26">
                                          <p:stCondLst>
                                            <p:cond delay="1312"/>
                                          </p:stCondLst>
                                        </p:cTn>
                                        <p:tgtEl>
                                          <p:spTgt spid="3">
                                            <p:txEl>
                                              <p:pRg st="4" end="4"/>
                                            </p:txEl>
                                          </p:spTgt>
                                        </p:tgtEl>
                                      </p:cBhvr>
                                      <p:to x="100000" y="80000"/>
                                    </p:animScale>
                                    <p:animScale>
                                      <p:cBhvr>
                                        <p:cTn id="62" dur="166" decel="50000">
                                          <p:stCondLst>
                                            <p:cond delay="1338"/>
                                          </p:stCondLst>
                                        </p:cTn>
                                        <p:tgtEl>
                                          <p:spTgt spid="3">
                                            <p:txEl>
                                              <p:pRg st="4" end="4"/>
                                            </p:txEl>
                                          </p:spTgt>
                                        </p:tgtEl>
                                      </p:cBhvr>
                                      <p:to x="100000" y="100000"/>
                                    </p:animScale>
                                    <p:animScale>
                                      <p:cBhvr>
                                        <p:cTn id="63" dur="26">
                                          <p:stCondLst>
                                            <p:cond delay="1642"/>
                                          </p:stCondLst>
                                        </p:cTn>
                                        <p:tgtEl>
                                          <p:spTgt spid="3">
                                            <p:txEl>
                                              <p:pRg st="4" end="4"/>
                                            </p:txEl>
                                          </p:spTgt>
                                        </p:tgtEl>
                                      </p:cBhvr>
                                      <p:to x="100000" y="90000"/>
                                    </p:animScale>
                                    <p:animScale>
                                      <p:cBhvr>
                                        <p:cTn id="64" dur="166" decel="50000">
                                          <p:stCondLst>
                                            <p:cond delay="1668"/>
                                          </p:stCondLst>
                                        </p:cTn>
                                        <p:tgtEl>
                                          <p:spTgt spid="3">
                                            <p:txEl>
                                              <p:pRg st="4" end="4"/>
                                            </p:txEl>
                                          </p:spTgt>
                                        </p:tgtEl>
                                      </p:cBhvr>
                                      <p:to x="100000" y="100000"/>
                                    </p:animScale>
                                    <p:animScale>
                                      <p:cBhvr>
                                        <p:cTn id="65" dur="26">
                                          <p:stCondLst>
                                            <p:cond delay="1808"/>
                                          </p:stCondLst>
                                        </p:cTn>
                                        <p:tgtEl>
                                          <p:spTgt spid="3">
                                            <p:txEl>
                                              <p:pRg st="4" end="4"/>
                                            </p:txEl>
                                          </p:spTgt>
                                        </p:tgtEl>
                                      </p:cBhvr>
                                      <p:to x="100000" y="95000"/>
                                    </p:animScale>
                                    <p:animScale>
                                      <p:cBhvr>
                                        <p:cTn id="66" dur="166" decel="50000">
                                          <p:stCondLst>
                                            <p:cond delay="1834"/>
                                          </p:stCondLst>
                                        </p:cTn>
                                        <p:tgtEl>
                                          <p:spTgt spid="3">
                                            <p:txEl>
                                              <p:pRg st="4" end="4"/>
                                            </p:txEl>
                                          </p:spTgt>
                                        </p:tgtEl>
                                      </p:cBhvr>
                                      <p:to x="100000" y="100000"/>
                                    </p:animScale>
                                  </p:childTnLst>
                                </p:cTn>
                              </p:par>
                            </p:childTnLst>
                          </p:cTn>
                        </p:par>
                      </p:childTnLst>
                    </p:cTn>
                  </p:par>
                  <p:par>
                    <p:cTn id="67" fill="hold">
                      <p:stCondLst>
                        <p:cond delay="indefinite"/>
                      </p:stCondLst>
                      <p:childTnLst>
                        <p:par>
                          <p:cTn id="68" fill="hold">
                            <p:stCondLst>
                              <p:cond delay="0"/>
                            </p:stCondLst>
                            <p:childTnLst>
                              <p:par>
                                <p:cTn id="69" presetID="14" presetClass="entr" presetSubtype="10" fill="hold" nodeType="clickEffect">
                                  <p:stCondLst>
                                    <p:cond delay="0"/>
                                  </p:stCondLst>
                                  <p:childTnLst>
                                    <p:set>
                                      <p:cBhvr>
                                        <p:cTn id="70" dur="1" fill="hold">
                                          <p:stCondLst>
                                            <p:cond delay="0"/>
                                          </p:stCondLst>
                                        </p:cTn>
                                        <p:tgtEl>
                                          <p:spTgt spid="3">
                                            <p:txEl>
                                              <p:pRg st="5" end="5"/>
                                            </p:txEl>
                                          </p:spTgt>
                                        </p:tgtEl>
                                        <p:attrNameLst>
                                          <p:attrName>style.visibility</p:attrName>
                                        </p:attrNameLst>
                                      </p:cBhvr>
                                      <p:to>
                                        <p:strVal val="visible"/>
                                      </p:to>
                                    </p:set>
                                    <p:animEffect transition="in" filter="randombar(horizontal)">
                                      <p:cBhvr>
                                        <p:cTn id="71"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5400" dirty="0">
                <a:effectLst>
                  <a:outerShdw blurRad="38100" dist="38100" dir="2700000" algn="tl">
                    <a:srgbClr val="000000">
                      <a:alpha val="43137"/>
                    </a:srgbClr>
                  </a:outerShdw>
                </a:effectLst>
                <a:latin typeface="Maiandra GD" pitchFamily="34" charset="0"/>
              </a:rPr>
              <a:t>Liste ordonnée</a:t>
            </a:r>
          </a:p>
        </p:txBody>
      </p:sp>
      <p:sp>
        <p:nvSpPr>
          <p:cNvPr id="3" name="Espace réservé du contenu 2"/>
          <p:cNvSpPr>
            <a:spLocks noGrp="1"/>
          </p:cNvSpPr>
          <p:nvPr>
            <p:ph idx="1"/>
          </p:nvPr>
        </p:nvSpPr>
        <p:spPr>
          <a:xfrm>
            <a:off x="251520" y="1556792"/>
            <a:ext cx="8640960" cy="5184576"/>
          </a:xfrm>
        </p:spPr>
        <p:txBody>
          <a:bodyPr>
            <a:normAutofit/>
          </a:bodyPr>
          <a:lstStyle/>
          <a:p>
            <a:pPr marL="0" indent="0" algn="just">
              <a:buNone/>
            </a:pPr>
            <a:r>
              <a:rPr lang="fr-FR" sz="3600" dirty="0">
                <a:latin typeface="Maiandra GD" pitchFamily="34" charset="0"/>
              </a:rPr>
              <a:t>Une liste ordonnée fonctionne de la même façon, seule une balise change : il </a:t>
            </a:r>
            <a:r>
              <a:rPr lang="fr-FR" sz="3600" dirty="0" smtClean="0">
                <a:latin typeface="Maiandra GD" pitchFamily="34" charset="0"/>
              </a:rPr>
              <a:t>faut remplacer &lt;ul</a:t>
            </a:r>
            <a:r>
              <a:rPr lang="fr-FR" sz="3600" dirty="0">
                <a:latin typeface="Maiandra GD" pitchFamily="34" charset="0"/>
              </a:rPr>
              <a:t>&gt;&lt;/ul&gt; par &lt;ol&gt;&lt;/ol&gt;. </a:t>
            </a:r>
            <a:endParaRPr lang="fr-FR" sz="3600" dirty="0" smtClean="0">
              <a:latin typeface="Maiandra GD" pitchFamily="34" charset="0"/>
            </a:endParaRPr>
          </a:p>
          <a:p>
            <a:pPr marL="0" indent="0" algn="just">
              <a:buNone/>
            </a:pPr>
            <a:r>
              <a:rPr lang="fr-FR" sz="3600" dirty="0" smtClean="0">
                <a:latin typeface="Maiandra GD" pitchFamily="34" charset="0"/>
              </a:rPr>
              <a:t>À </a:t>
            </a:r>
            <a:r>
              <a:rPr lang="fr-FR" sz="3600" dirty="0">
                <a:latin typeface="Maiandra GD" pitchFamily="34" charset="0"/>
              </a:rPr>
              <a:t>l'intérieur de la liste, on ne change rien : </a:t>
            </a:r>
            <a:r>
              <a:rPr lang="fr-FR" sz="3600" dirty="0" smtClean="0">
                <a:latin typeface="Maiandra GD" pitchFamily="34" charset="0"/>
              </a:rPr>
              <a:t>on utilise </a:t>
            </a:r>
            <a:r>
              <a:rPr lang="fr-FR" sz="3600" dirty="0">
                <a:latin typeface="Maiandra GD" pitchFamily="34" charset="0"/>
              </a:rPr>
              <a:t>toujours des balises &lt;li&gt;&lt;/li&gt; pour délimiter les éléments.</a:t>
            </a:r>
          </a:p>
        </p:txBody>
      </p:sp>
    </p:spTree>
    <p:extLst>
      <p:ext uri="{BB962C8B-B14F-4D97-AF65-F5344CB8AC3E}">
        <p14:creationId xmlns:p14="http://schemas.microsoft.com/office/powerpoint/2010/main" val="2492439349"/>
      </p:ext>
    </p:extLst>
  </p:cSld>
  <p:clrMapOvr>
    <a:masterClrMapping/>
  </p:clrMapOvr>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496" y="260648"/>
            <a:ext cx="8964488" cy="6336704"/>
          </a:xfrm>
          <a:prstGeom prst="rect">
            <a:avLst/>
          </a:prstGeom>
        </p:spPr>
      </p:pic>
    </p:spTree>
    <p:extLst>
      <p:ext uri="{BB962C8B-B14F-4D97-AF65-F5344CB8AC3E}">
        <p14:creationId xmlns:p14="http://schemas.microsoft.com/office/powerpoint/2010/main" val="3146857974"/>
      </p:ext>
    </p:extLst>
  </p:cSld>
  <p:clrMapOvr>
    <a:masterClrMapping/>
  </p:clrMapOvr>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72009"/>
            <a:ext cx="8964488" cy="64797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3130735" y="6290156"/>
            <a:ext cx="3169457" cy="523220"/>
          </a:xfrm>
          <a:prstGeom prst="rect">
            <a:avLst/>
          </a:prstGeom>
        </p:spPr>
        <p:txBody>
          <a:bodyPr wrap="none">
            <a:spAutoFit/>
          </a:bodyPr>
          <a:lstStyle/>
          <a:p>
            <a:r>
              <a:rPr lang="fr-FR" sz="2800" dirty="0">
                <a:effectLst>
                  <a:outerShdw blurRad="38100" dist="38100" dir="2700000" algn="tl">
                    <a:srgbClr val="000000">
                      <a:alpha val="43137"/>
                    </a:srgbClr>
                  </a:outerShdw>
                </a:effectLst>
                <a:latin typeface="Maiandra GD" pitchFamily="34" charset="0"/>
              </a:rPr>
              <a:t>Une liste ordonnée</a:t>
            </a:r>
          </a:p>
        </p:txBody>
      </p:sp>
    </p:spTree>
    <p:extLst>
      <p:ext uri="{BB962C8B-B14F-4D97-AF65-F5344CB8AC3E}">
        <p14:creationId xmlns:p14="http://schemas.microsoft.com/office/powerpoint/2010/main" val="1493759151"/>
      </p:ext>
    </p:extLst>
  </p:cSld>
  <p:clrMapOvr>
    <a:masterClrMapping/>
  </p:clrMapOvr>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260648"/>
            <a:ext cx="8640960" cy="6192688"/>
          </a:xfrm>
        </p:spPr>
        <p:txBody>
          <a:bodyPr>
            <a:normAutofit/>
          </a:bodyPr>
          <a:lstStyle/>
          <a:p>
            <a:pPr marL="0" indent="0" algn="just">
              <a:buNone/>
            </a:pPr>
            <a:endParaRPr lang="fr-FR" sz="2000" dirty="0" smtClean="0">
              <a:latin typeface="Maiandra GD" pitchFamily="34" charset="0"/>
            </a:endParaRPr>
          </a:p>
          <a:p>
            <a:pPr marL="0" indent="0" algn="just">
              <a:buNone/>
            </a:pPr>
            <a:r>
              <a:rPr lang="fr-FR" sz="3600" dirty="0" smtClean="0">
                <a:latin typeface="Maiandra GD" pitchFamily="34" charset="0"/>
              </a:rPr>
              <a:t>Pour </a:t>
            </a:r>
            <a:r>
              <a:rPr lang="fr-FR" sz="3600" dirty="0">
                <a:latin typeface="Maiandra GD" pitchFamily="34" charset="0"/>
              </a:rPr>
              <a:t>information, il existe un troisième type de liste, beaucoup plus rare </a:t>
            </a:r>
            <a:r>
              <a:rPr lang="fr-FR" sz="3600" dirty="0" smtClean="0">
                <a:latin typeface="Maiandra GD" pitchFamily="34" charset="0"/>
              </a:rPr>
              <a:t>:</a:t>
            </a:r>
          </a:p>
          <a:p>
            <a:pPr marL="0" indent="0" algn="just">
              <a:buNone/>
            </a:pPr>
            <a:endParaRPr lang="fr-FR" sz="2000" dirty="0">
              <a:latin typeface="Maiandra GD" pitchFamily="34" charset="0"/>
            </a:endParaRPr>
          </a:p>
          <a:p>
            <a:pPr marL="0" indent="0" algn="just">
              <a:buNone/>
            </a:pPr>
            <a:r>
              <a:rPr lang="fr-FR" sz="3600" dirty="0">
                <a:latin typeface="Maiandra GD" pitchFamily="34" charset="0"/>
              </a:rPr>
              <a:t>la liste de </a:t>
            </a:r>
            <a:r>
              <a:rPr lang="fr-FR" sz="3600" dirty="0" smtClean="0">
                <a:latin typeface="Maiandra GD" pitchFamily="34" charset="0"/>
              </a:rPr>
              <a:t>définitions</a:t>
            </a:r>
            <a:r>
              <a:rPr lang="fr-FR" sz="3600" dirty="0">
                <a:latin typeface="Maiandra GD" pitchFamily="34" charset="0"/>
              </a:rPr>
              <a:t>. </a:t>
            </a:r>
            <a:endParaRPr lang="fr-FR" sz="3600" dirty="0" smtClean="0">
              <a:latin typeface="Maiandra GD" pitchFamily="34" charset="0"/>
            </a:endParaRPr>
          </a:p>
          <a:p>
            <a:pPr marL="0" indent="0" algn="just">
              <a:buNone/>
            </a:pPr>
            <a:endParaRPr lang="fr-FR" sz="2000" dirty="0">
              <a:latin typeface="Maiandra GD" pitchFamily="34" charset="0"/>
            </a:endParaRPr>
          </a:p>
          <a:p>
            <a:pPr marL="0" indent="0" algn="just">
              <a:buNone/>
            </a:pPr>
            <a:r>
              <a:rPr lang="fr-FR" sz="3600" dirty="0" smtClean="0">
                <a:latin typeface="Maiandra GD" pitchFamily="34" charset="0"/>
              </a:rPr>
              <a:t>Elle fait intervenir les balises &lt;dl&gt; (pour délimiter la liste), &lt;dt&gt; (pour délimiter un terme) et &lt;dd&gt; (pour délimiter la définition de ce terme).</a:t>
            </a:r>
            <a:endParaRPr lang="fr-FR" sz="3600" dirty="0">
              <a:latin typeface="Maiandra GD" pitchFamily="34" charset="0"/>
            </a:endParaRP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48264" y="5359102"/>
            <a:ext cx="1800200" cy="1238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59744940"/>
      </p:ext>
    </p:extLst>
  </p:cSld>
  <p:clrMapOvr>
    <a:masterClrMapping/>
  </p:clrMapOvr>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39552" y="2636912"/>
            <a:ext cx="8229600" cy="1143000"/>
          </a:xfrm>
        </p:spPr>
        <p:txBody>
          <a:bodyPr>
            <a:noAutofit/>
          </a:bodyPr>
          <a:lstStyle/>
          <a:p>
            <a:r>
              <a:rPr lang="fr-FR" sz="7200" dirty="0">
                <a:effectLst>
                  <a:outerShdw blurRad="38100" dist="38100" dir="2700000" algn="tl">
                    <a:srgbClr val="000000">
                      <a:alpha val="43137"/>
                    </a:srgbClr>
                  </a:outerShdw>
                </a:effectLst>
                <a:latin typeface="Maiandra GD" pitchFamily="34" charset="0"/>
              </a:rPr>
              <a:t>En résumé</a:t>
            </a:r>
          </a:p>
        </p:txBody>
      </p:sp>
    </p:spTree>
    <p:extLst>
      <p:ext uri="{BB962C8B-B14F-4D97-AF65-F5344CB8AC3E}">
        <p14:creationId xmlns:p14="http://schemas.microsoft.com/office/powerpoint/2010/main" val="4187618044"/>
      </p:ext>
    </p:extLst>
  </p:cSld>
  <p:clrMapOvr>
    <a:masterClrMapping/>
  </p:clrMapOvr>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9512" y="260648"/>
            <a:ext cx="8784976" cy="6264696"/>
          </a:xfrm>
        </p:spPr>
        <p:txBody>
          <a:bodyPr/>
          <a:lstStyle/>
          <a:p>
            <a:pPr marL="0" indent="0" algn="just">
              <a:buNone/>
            </a:pPr>
            <a:r>
              <a:rPr lang="fr-FR" dirty="0">
                <a:latin typeface="Maiandra GD" pitchFamily="34" charset="0"/>
              </a:rPr>
              <a:t>Le </a:t>
            </a:r>
            <a:r>
              <a:rPr lang="fr-FR" dirty="0">
                <a:effectLst>
                  <a:outerShdw blurRad="38100" dist="38100" dir="2700000" algn="tl">
                    <a:srgbClr val="000000">
                      <a:alpha val="43137"/>
                    </a:srgbClr>
                  </a:outerShdw>
                </a:effectLst>
                <a:latin typeface="Maiandra GD" pitchFamily="34" charset="0"/>
              </a:rPr>
              <a:t>HTML</a:t>
            </a:r>
            <a:r>
              <a:rPr lang="fr-FR" dirty="0">
                <a:latin typeface="Maiandra GD" pitchFamily="34" charset="0"/>
              </a:rPr>
              <a:t> comporte de nombreuses balises qui nous permettent d'organiser le </a:t>
            </a:r>
            <a:r>
              <a:rPr lang="fr-FR" dirty="0" smtClean="0">
                <a:effectLst>
                  <a:outerShdw blurRad="38100" dist="38100" dir="2700000" algn="tl">
                    <a:srgbClr val="000000">
                      <a:alpha val="43137"/>
                    </a:srgbClr>
                  </a:outerShdw>
                </a:effectLst>
                <a:latin typeface="Maiandra GD" pitchFamily="34" charset="0"/>
              </a:rPr>
              <a:t>texte</a:t>
            </a:r>
            <a:r>
              <a:rPr lang="fr-FR" dirty="0" smtClean="0">
                <a:latin typeface="Maiandra GD" pitchFamily="34" charset="0"/>
              </a:rPr>
              <a:t> de </a:t>
            </a:r>
            <a:r>
              <a:rPr lang="fr-FR" dirty="0">
                <a:latin typeface="Maiandra GD" pitchFamily="34" charset="0"/>
              </a:rPr>
              <a:t>notre </a:t>
            </a:r>
            <a:r>
              <a:rPr lang="fr-FR" dirty="0">
                <a:effectLst>
                  <a:outerShdw blurRad="38100" dist="38100" dir="2700000" algn="tl">
                    <a:srgbClr val="000000">
                      <a:alpha val="43137"/>
                    </a:srgbClr>
                  </a:outerShdw>
                </a:effectLst>
                <a:latin typeface="Maiandra GD" pitchFamily="34" charset="0"/>
              </a:rPr>
              <a:t>page</a:t>
            </a:r>
            <a:r>
              <a:rPr lang="fr-FR" dirty="0">
                <a:latin typeface="Maiandra GD" pitchFamily="34" charset="0"/>
              </a:rPr>
              <a:t>. Ces </a:t>
            </a:r>
            <a:r>
              <a:rPr lang="fr-FR" dirty="0">
                <a:effectLst>
                  <a:outerShdw blurRad="38100" dist="38100" dir="2700000" algn="tl">
                    <a:srgbClr val="000000">
                      <a:alpha val="43137"/>
                    </a:srgbClr>
                  </a:outerShdw>
                </a:effectLst>
                <a:latin typeface="Maiandra GD" pitchFamily="34" charset="0"/>
              </a:rPr>
              <a:t>balises</a:t>
            </a:r>
            <a:r>
              <a:rPr lang="fr-FR" dirty="0">
                <a:latin typeface="Maiandra GD" pitchFamily="34" charset="0"/>
              </a:rPr>
              <a:t> donnent des indications comme  Ceci est un </a:t>
            </a:r>
            <a:r>
              <a:rPr lang="fr-FR" dirty="0">
                <a:effectLst>
                  <a:outerShdw blurRad="38100" dist="38100" dir="2700000" algn="tl">
                    <a:srgbClr val="000000">
                      <a:alpha val="43137"/>
                    </a:srgbClr>
                  </a:outerShdw>
                </a:effectLst>
                <a:latin typeface="Maiandra GD" pitchFamily="34" charset="0"/>
              </a:rPr>
              <a:t>paragraphe</a:t>
            </a:r>
            <a:r>
              <a:rPr lang="fr-FR" dirty="0">
                <a:latin typeface="Maiandra GD" pitchFamily="34" charset="0"/>
              </a:rPr>
              <a:t> </a:t>
            </a:r>
            <a:r>
              <a:rPr lang="fr-FR" dirty="0" smtClean="0">
                <a:latin typeface="Maiandra GD" pitchFamily="34" charset="0"/>
              </a:rPr>
              <a:t>, Ceci </a:t>
            </a:r>
            <a:r>
              <a:rPr lang="fr-FR" dirty="0">
                <a:latin typeface="Maiandra GD" pitchFamily="34" charset="0"/>
              </a:rPr>
              <a:t>est un titre , </a:t>
            </a:r>
            <a:r>
              <a:rPr lang="fr-FR" dirty="0" smtClean="0">
                <a:latin typeface="Maiandra GD" pitchFamily="34" charset="0"/>
              </a:rPr>
              <a:t>etc. </a:t>
            </a:r>
          </a:p>
          <a:p>
            <a:pPr marL="0" indent="0" algn="just">
              <a:buNone/>
            </a:pPr>
            <a:r>
              <a:rPr lang="fr-FR" dirty="0" smtClean="0">
                <a:latin typeface="Maiandra GD" pitchFamily="34" charset="0"/>
              </a:rPr>
              <a:t>Les </a:t>
            </a:r>
            <a:r>
              <a:rPr lang="fr-FR" dirty="0">
                <a:latin typeface="Maiandra GD" pitchFamily="34" charset="0"/>
              </a:rPr>
              <a:t>paragraphes sont dénis par la balise &lt;p&gt; &lt;/p&gt; </a:t>
            </a:r>
            <a:r>
              <a:rPr lang="fr-FR" dirty="0" smtClean="0">
                <a:latin typeface="Maiandra GD" pitchFamily="34" charset="0"/>
              </a:rPr>
              <a:t>et </a:t>
            </a:r>
            <a:r>
              <a:rPr lang="fr-FR" dirty="0">
                <a:latin typeface="Maiandra GD" pitchFamily="34" charset="0"/>
              </a:rPr>
              <a:t>les sauts de ligne par la </a:t>
            </a:r>
            <a:r>
              <a:rPr lang="fr-FR" dirty="0" smtClean="0">
                <a:latin typeface="Maiandra GD" pitchFamily="34" charset="0"/>
              </a:rPr>
              <a:t>balise &lt;br /&gt;.</a:t>
            </a:r>
          </a:p>
          <a:p>
            <a:pPr marL="0" indent="0" algn="just">
              <a:buNone/>
            </a:pPr>
            <a:r>
              <a:rPr lang="fr-FR" dirty="0">
                <a:latin typeface="Maiandra GD" pitchFamily="34" charset="0"/>
              </a:rPr>
              <a:t>Il existe six niveaux de titre, de &lt;h1&gt; &lt;/h1&gt; à &lt;h6&gt; &lt;/h6&gt;, à utiliser selon </a:t>
            </a:r>
            <a:r>
              <a:rPr lang="fr-FR" dirty="0" smtClean="0">
                <a:latin typeface="Maiandra GD" pitchFamily="34" charset="0"/>
              </a:rPr>
              <a:t>l'importance du </a:t>
            </a:r>
            <a:r>
              <a:rPr lang="fr-FR" dirty="0">
                <a:latin typeface="Maiandra GD" pitchFamily="34" charset="0"/>
              </a:rPr>
              <a:t>titre.</a:t>
            </a:r>
          </a:p>
        </p:txBody>
      </p:sp>
    </p:spTree>
    <p:extLst>
      <p:ext uri="{BB962C8B-B14F-4D97-AF65-F5344CB8AC3E}">
        <p14:creationId xmlns:p14="http://schemas.microsoft.com/office/powerpoint/2010/main" val="4046443578"/>
      </p:ext>
    </p:extLst>
  </p:cSld>
  <p:clrMapOvr>
    <a:masterClrMapping/>
  </p:clrMapOvr>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76447" y="332656"/>
            <a:ext cx="8616033" cy="6192688"/>
          </a:xfrm>
        </p:spPr>
        <p:txBody>
          <a:bodyPr/>
          <a:lstStyle/>
          <a:p>
            <a:pPr marL="0" indent="0" algn="just">
              <a:buNone/>
            </a:pPr>
            <a:r>
              <a:rPr lang="fr-FR" dirty="0">
                <a:latin typeface="Maiandra GD" pitchFamily="34" charset="0"/>
              </a:rPr>
              <a:t>On peut mettre en valeur certains mots avec les balises &lt;strong&gt;, &lt;em&gt; et &lt;mark&gt;.</a:t>
            </a:r>
          </a:p>
          <a:p>
            <a:pPr marL="0" indent="0" algn="just">
              <a:buNone/>
            </a:pPr>
            <a:r>
              <a:rPr lang="fr-FR" dirty="0" smtClean="0">
                <a:latin typeface="Maiandra GD" pitchFamily="34" charset="0"/>
              </a:rPr>
              <a:t>Pour </a:t>
            </a:r>
            <a:r>
              <a:rPr lang="fr-FR" dirty="0">
                <a:latin typeface="Maiandra GD" pitchFamily="34" charset="0"/>
              </a:rPr>
              <a:t>créer des listes, on doit utiliser la balise &lt;ul&gt; (liste à puces, non ordonnée) </a:t>
            </a:r>
            <a:r>
              <a:rPr lang="fr-FR" dirty="0" smtClean="0">
                <a:latin typeface="Maiandra GD" pitchFamily="34" charset="0"/>
              </a:rPr>
              <a:t>ou &lt;ol</a:t>
            </a:r>
            <a:r>
              <a:rPr lang="fr-FR" dirty="0">
                <a:latin typeface="Maiandra GD" pitchFamily="34" charset="0"/>
              </a:rPr>
              <a:t>&gt; (liste ordonnée). À l'intérieur, on insère les éléments avec une balise &lt;li&gt; </a:t>
            </a:r>
            <a:r>
              <a:rPr lang="fr-FR" dirty="0" smtClean="0">
                <a:latin typeface="Maiandra GD" pitchFamily="34" charset="0"/>
              </a:rPr>
              <a:t>pour chaque </a:t>
            </a:r>
            <a:r>
              <a:rPr lang="fr-FR" dirty="0">
                <a:latin typeface="Maiandra GD" pitchFamily="34" charset="0"/>
              </a:rPr>
              <a:t>item.</a:t>
            </a:r>
          </a:p>
          <a:p>
            <a:pPr marL="0" indent="0">
              <a:buNone/>
            </a:pPr>
            <a:endParaRPr lang="fr-FR" dirty="0"/>
          </a:p>
        </p:txBody>
      </p:sp>
    </p:spTree>
    <p:extLst>
      <p:ext uri="{BB962C8B-B14F-4D97-AF65-F5344CB8AC3E}">
        <p14:creationId xmlns:p14="http://schemas.microsoft.com/office/powerpoint/2010/main" val="2900125775"/>
      </p:ext>
    </p:extLst>
  </p:cSld>
  <p:clrMapOvr>
    <a:masterClrMapping/>
  </p:clrMapOvr>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924944"/>
            <a:ext cx="8229600" cy="1143000"/>
          </a:xfrm>
        </p:spPr>
        <p:txBody>
          <a:bodyPr>
            <a:normAutofit/>
          </a:bodyPr>
          <a:lstStyle/>
          <a:p>
            <a:r>
              <a:rPr lang="fr-FR" sz="6600" dirty="0">
                <a:effectLst>
                  <a:outerShdw blurRad="38100" dist="38100" dir="2700000" algn="tl">
                    <a:srgbClr val="000000">
                      <a:alpha val="43137"/>
                    </a:srgbClr>
                  </a:outerShdw>
                </a:effectLst>
                <a:latin typeface="Maiandra GD" pitchFamily="34" charset="0"/>
              </a:rPr>
              <a:t>Créer des liens</a:t>
            </a:r>
          </a:p>
        </p:txBody>
      </p:sp>
    </p:spTree>
    <p:extLst>
      <p:ext uri="{BB962C8B-B14F-4D97-AF65-F5344CB8AC3E}">
        <p14:creationId xmlns:p14="http://schemas.microsoft.com/office/powerpoint/2010/main" val="1510751699"/>
      </p:ext>
    </p:extLst>
  </p:cSld>
  <p:clrMapOvr>
    <a:masterClrMapping/>
  </p:clrMapOvr>
  <p:timing>
    <p:tnLst>
      <p:par>
        <p:cT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260648"/>
            <a:ext cx="8712968" cy="6264696"/>
          </a:xfrm>
        </p:spPr>
        <p:txBody>
          <a:bodyPr/>
          <a:lstStyle/>
          <a:p>
            <a:pPr marL="0" indent="0" algn="just">
              <a:buNone/>
            </a:pPr>
            <a:r>
              <a:rPr lang="fr-FR" dirty="0">
                <a:latin typeface="Maiandra GD" pitchFamily="34" charset="0"/>
              </a:rPr>
              <a:t>Comme vous le savez, un site web est composé de plusieurs pages. </a:t>
            </a:r>
            <a:endParaRPr lang="fr-FR" dirty="0" smtClean="0">
              <a:latin typeface="Maiandra GD" pitchFamily="34" charset="0"/>
            </a:endParaRPr>
          </a:p>
          <a:p>
            <a:pPr marL="0" indent="0" algn="just">
              <a:buNone/>
            </a:pPr>
            <a:r>
              <a:rPr lang="fr-FR" dirty="0" smtClean="0">
                <a:latin typeface="Maiandra GD" pitchFamily="34" charset="0"/>
              </a:rPr>
              <a:t>Comment </a:t>
            </a:r>
            <a:r>
              <a:rPr lang="fr-FR" dirty="0">
                <a:latin typeface="Maiandra GD" pitchFamily="34" charset="0"/>
              </a:rPr>
              <a:t>faire </a:t>
            </a:r>
            <a:r>
              <a:rPr lang="fr-FR" dirty="0" smtClean="0">
                <a:latin typeface="Maiandra GD" pitchFamily="34" charset="0"/>
              </a:rPr>
              <a:t>pour aller </a:t>
            </a:r>
            <a:r>
              <a:rPr lang="fr-FR" dirty="0">
                <a:latin typeface="Maiandra GD" pitchFamily="34" charset="0"/>
              </a:rPr>
              <a:t>d'une page vers une autre ? </a:t>
            </a:r>
            <a:endParaRPr lang="fr-FR" dirty="0" smtClean="0">
              <a:latin typeface="Maiandra GD" pitchFamily="34" charset="0"/>
            </a:endParaRPr>
          </a:p>
          <a:p>
            <a:pPr marL="0" indent="0" algn="just">
              <a:buNone/>
            </a:pPr>
            <a:r>
              <a:rPr lang="fr-FR" dirty="0" smtClean="0">
                <a:latin typeface="Maiandra GD" pitchFamily="34" charset="0"/>
              </a:rPr>
              <a:t>À </a:t>
            </a:r>
            <a:r>
              <a:rPr lang="fr-FR" dirty="0">
                <a:latin typeface="Maiandra GD" pitchFamily="34" charset="0"/>
              </a:rPr>
              <a:t>l'aide de liens pardi ! Dans ce chapitre, nous </a:t>
            </a:r>
            <a:r>
              <a:rPr lang="fr-FR" dirty="0" smtClean="0">
                <a:latin typeface="Maiandra GD" pitchFamily="34" charset="0"/>
              </a:rPr>
              <a:t>allons justement </a:t>
            </a:r>
            <a:r>
              <a:rPr lang="fr-FR" dirty="0">
                <a:latin typeface="Maiandra GD" pitchFamily="34" charset="0"/>
              </a:rPr>
              <a:t>apprendre à créer des liens entre nos pages</a:t>
            </a:r>
            <a:r>
              <a:rPr lang="fr-FR" dirty="0" smtClean="0">
                <a:latin typeface="Maiandra GD" pitchFamily="34" charset="0"/>
              </a:rPr>
              <a:t>.</a:t>
            </a:r>
          </a:p>
          <a:p>
            <a:pPr marL="0" indent="0" algn="just">
              <a:buNone/>
            </a:pPr>
            <a:r>
              <a:rPr lang="fr-FR" dirty="0">
                <a:latin typeface="Maiandra GD" pitchFamily="34" charset="0"/>
              </a:rPr>
              <a:t>Je suppose que chacun d'entre vous sait ce qu'est un lien </a:t>
            </a:r>
            <a:r>
              <a:rPr lang="fr-FR" dirty="0" smtClean="0">
                <a:latin typeface="Maiandra GD" pitchFamily="34" charset="0"/>
              </a:rPr>
              <a:t>:</a:t>
            </a:r>
          </a:p>
          <a:p>
            <a:pPr marL="0" indent="0" algn="just">
              <a:buNone/>
            </a:pPr>
            <a:r>
              <a:rPr lang="fr-FR" dirty="0" smtClean="0">
                <a:latin typeface="Maiandra GD" pitchFamily="34" charset="0"/>
              </a:rPr>
              <a:t>il </a:t>
            </a:r>
            <a:r>
              <a:rPr lang="fr-FR" dirty="0">
                <a:latin typeface="Maiandra GD" pitchFamily="34" charset="0"/>
              </a:rPr>
              <a:t>s'agit d'un texte sur lequel </a:t>
            </a:r>
            <a:r>
              <a:rPr lang="fr-FR" dirty="0" smtClean="0">
                <a:latin typeface="Maiandra GD" pitchFamily="34" charset="0"/>
              </a:rPr>
              <a:t>on peut </a:t>
            </a:r>
            <a:r>
              <a:rPr lang="fr-FR" dirty="0">
                <a:latin typeface="Maiandra GD" pitchFamily="34" charset="0"/>
              </a:rPr>
              <a:t>cliquer pour se rendre sur une autre page.</a:t>
            </a:r>
          </a:p>
        </p:txBody>
      </p:sp>
    </p:spTree>
    <p:extLst>
      <p:ext uri="{BB962C8B-B14F-4D97-AF65-F5344CB8AC3E}">
        <p14:creationId xmlns:p14="http://schemas.microsoft.com/office/powerpoint/2010/main" val="1551056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wipe(down)">
                                      <p:cBhvr>
                                        <p:cTn id="25" dur="580">
                                          <p:stCondLst>
                                            <p:cond delay="0"/>
                                          </p:stCondLst>
                                        </p:cTn>
                                        <p:tgtEl>
                                          <p:spTgt spid="3">
                                            <p:txEl>
                                              <p:pRg st="1" end="1"/>
                                            </p:txEl>
                                          </p:spTgt>
                                        </p:tgtEl>
                                      </p:cBhvr>
                                    </p:animEffect>
                                    <p:anim calcmode="lin" valueType="num">
                                      <p:cBhvr>
                                        <p:cTn id="26"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1" end="1"/>
                                            </p:txEl>
                                          </p:spTgt>
                                        </p:tgtEl>
                                      </p:cBhvr>
                                      <p:to x="100000" y="60000"/>
                                    </p:animScale>
                                    <p:animScale>
                                      <p:cBhvr>
                                        <p:cTn id="32" dur="166" decel="50000">
                                          <p:stCondLst>
                                            <p:cond delay="676"/>
                                          </p:stCondLst>
                                        </p:cTn>
                                        <p:tgtEl>
                                          <p:spTgt spid="3">
                                            <p:txEl>
                                              <p:pRg st="1" end="1"/>
                                            </p:txEl>
                                          </p:spTgt>
                                        </p:tgtEl>
                                      </p:cBhvr>
                                      <p:to x="100000" y="100000"/>
                                    </p:animScale>
                                    <p:animScale>
                                      <p:cBhvr>
                                        <p:cTn id="33" dur="26">
                                          <p:stCondLst>
                                            <p:cond delay="1312"/>
                                          </p:stCondLst>
                                        </p:cTn>
                                        <p:tgtEl>
                                          <p:spTgt spid="3">
                                            <p:txEl>
                                              <p:pRg st="1" end="1"/>
                                            </p:txEl>
                                          </p:spTgt>
                                        </p:tgtEl>
                                      </p:cBhvr>
                                      <p:to x="100000" y="80000"/>
                                    </p:animScale>
                                    <p:animScale>
                                      <p:cBhvr>
                                        <p:cTn id="34" dur="166" decel="50000">
                                          <p:stCondLst>
                                            <p:cond delay="1338"/>
                                          </p:stCondLst>
                                        </p:cTn>
                                        <p:tgtEl>
                                          <p:spTgt spid="3">
                                            <p:txEl>
                                              <p:pRg st="1" end="1"/>
                                            </p:txEl>
                                          </p:spTgt>
                                        </p:tgtEl>
                                      </p:cBhvr>
                                      <p:to x="100000" y="100000"/>
                                    </p:animScale>
                                    <p:animScale>
                                      <p:cBhvr>
                                        <p:cTn id="35" dur="26">
                                          <p:stCondLst>
                                            <p:cond delay="1642"/>
                                          </p:stCondLst>
                                        </p:cTn>
                                        <p:tgtEl>
                                          <p:spTgt spid="3">
                                            <p:txEl>
                                              <p:pRg st="1" end="1"/>
                                            </p:txEl>
                                          </p:spTgt>
                                        </p:tgtEl>
                                      </p:cBhvr>
                                      <p:to x="100000" y="90000"/>
                                    </p:animScale>
                                    <p:animScale>
                                      <p:cBhvr>
                                        <p:cTn id="36" dur="166" decel="50000">
                                          <p:stCondLst>
                                            <p:cond delay="1668"/>
                                          </p:stCondLst>
                                        </p:cTn>
                                        <p:tgtEl>
                                          <p:spTgt spid="3">
                                            <p:txEl>
                                              <p:pRg st="1" end="1"/>
                                            </p:txEl>
                                          </p:spTgt>
                                        </p:tgtEl>
                                      </p:cBhvr>
                                      <p:to x="100000" y="100000"/>
                                    </p:animScale>
                                    <p:animScale>
                                      <p:cBhvr>
                                        <p:cTn id="37" dur="26">
                                          <p:stCondLst>
                                            <p:cond delay="1808"/>
                                          </p:stCondLst>
                                        </p:cTn>
                                        <p:tgtEl>
                                          <p:spTgt spid="3">
                                            <p:txEl>
                                              <p:pRg st="1" end="1"/>
                                            </p:txEl>
                                          </p:spTgt>
                                        </p:tgtEl>
                                      </p:cBhvr>
                                      <p:to x="100000" y="95000"/>
                                    </p:animScale>
                                    <p:animScale>
                                      <p:cBhvr>
                                        <p:cTn id="38" dur="166" decel="50000">
                                          <p:stCondLst>
                                            <p:cond delay="1834"/>
                                          </p:stCondLst>
                                        </p:cTn>
                                        <p:tgtEl>
                                          <p:spTgt spid="3">
                                            <p:txEl>
                                              <p:pRg st="1" end="1"/>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14" presetClass="entr" presetSubtype="10" fill="hold" nodeType="clickEffect">
                                  <p:stCondLst>
                                    <p:cond delay="0"/>
                                  </p:stCondLst>
                                  <p:childTnLst>
                                    <p:set>
                                      <p:cBhvr>
                                        <p:cTn id="42" dur="1" fill="hold">
                                          <p:stCondLst>
                                            <p:cond delay="0"/>
                                          </p:stCondLst>
                                        </p:cTn>
                                        <p:tgtEl>
                                          <p:spTgt spid="3">
                                            <p:txEl>
                                              <p:pRg st="2" end="2"/>
                                            </p:txEl>
                                          </p:spTgt>
                                        </p:tgtEl>
                                        <p:attrNameLst>
                                          <p:attrName>style.visibility</p:attrName>
                                        </p:attrNameLst>
                                      </p:cBhvr>
                                      <p:to>
                                        <p:strVal val="visible"/>
                                      </p:to>
                                    </p:set>
                                    <p:animEffect transition="in" filter="randombar(horizontal)">
                                      <p:cBhvr>
                                        <p:cTn id="43" dur="500"/>
                                        <p:tgtEl>
                                          <p:spTgt spid="3">
                                            <p:txEl>
                                              <p:pRg st="2" end="2"/>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6" presetClass="entr" presetSubtype="0" fill="hold" nodeType="clickEffect">
                                  <p:stCondLst>
                                    <p:cond delay="0"/>
                                  </p:stCondLst>
                                  <p:childTnLst>
                                    <p:set>
                                      <p:cBhvr>
                                        <p:cTn id="47" dur="1" fill="hold">
                                          <p:stCondLst>
                                            <p:cond delay="0"/>
                                          </p:stCondLst>
                                        </p:cTn>
                                        <p:tgtEl>
                                          <p:spTgt spid="3">
                                            <p:txEl>
                                              <p:pRg st="3" end="3"/>
                                            </p:txEl>
                                          </p:spTgt>
                                        </p:tgtEl>
                                        <p:attrNameLst>
                                          <p:attrName>style.visibility</p:attrName>
                                        </p:attrNameLst>
                                      </p:cBhvr>
                                      <p:to>
                                        <p:strVal val="visible"/>
                                      </p:to>
                                    </p:set>
                                    <p:animEffect transition="in" filter="wipe(down)">
                                      <p:cBhvr>
                                        <p:cTn id="48" dur="580">
                                          <p:stCondLst>
                                            <p:cond delay="0"/>
                                          </p:stCondLst>
                                        </p:cTn>
                                        <p:tgtEl>
                                          <p:spTgt spid="3">
                                            <p:txEl>
                                              <p:pRg st="3" end="3"/>
                                            </p:txEl>
                                          </p:spTgt>
                                        </p:tgtEl>
                                      </p:cBhvr>
                                    </p:animEffect>
                                    <p:anim calcmode="lin" valueType="num">
                                      <p:cBhvr>
                                        <p:cTn id="49"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50"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51"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52"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53"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54" dur="26">
                                          <p:stCondLst>
                                            <p:cond delay="650"/>
                                          </p:stCondLst>
                                        </p:cTn>
                                        <p:tgtEl>
                                          <p:spTgt spid="3">
                                            <p:txEl>
                                              <p:pRg st="3" end="3"/>
                                            </p:txEl>
                                          </p:spTgt>
                                        </p:tgtEl>
                                      </p:cBhvr>
                                      <p:to x="100000" y="60000"/>
                                    </p:animScale>
                                    <p:animScale>
                                      <p:cBhvr>
                                        <p:cTn id="55" dur="166" decel="50000">
                                          <p:stCondLst>
                                            <p:cond delay="676"/>
                                          </p:stCondLst>
                                        </p:cTn>
                                        <p:tgtEl>
                                          <p:spTgt spid="3">
                                            <p:txEl>
                                              <p:pRg st="3" end="3"/>
                                            </p:txEl>
                                          </p:spTgt>
                                        </p:tgtEl>
                                      </p:cBhvr>
                                      <p:to x="100000" y="100000"/>
                                    </p:animScale>
                                    <p:animScale>
                                      <p:cBhvr>
                                        <p:cTn id="56" dur="26">
                                          <p:stCondLst>
                                            <p:cond delay="1312"/>
                                          </p:stCondLst>
                                        </p:cTn>
                                        <p:tgtEl>
                                          <p:spTgt spid="3">
                                            <p:txEl>
                                              <p:pRg st="3" end="3"/>
                                            </p:txEl>
                                          </p:spTgt>
                                        </p:tgtEl>
                                      </p:cBhvr>
                                      <p:to x="100000" y="80000"/>
                                    </p:animScale>
                                    <p:animScale>
                                      <p:cBhvr>
                                        <p:cTn id="57" dur="166" decel="50000">
                                          <p:stCondLst>
                                            <p:cond delay="1338"/>
                                          </p:stCondLst>
                                        </p:cTn>
                                        <p:tgtEl>
                                          <p:spTgt spid="3">
                                            <p:txEl>
                                              <p:pRg st="3" end="3"/>
                                            </p:txEl>
                                          </p:spTgt>
                                        </p:tgtEl>
                                      </p:cBhvr>
                                      <p:to x="100000" y="100000"/>
                                    </p:animScale>
                                    <p:animScale>
                                      <p:cBhvr>
                                        <p:cTn id="58" dur="26">
                                          <p:stCondLst>
                                            <p:cond delay="1642"/>
                                          </p:stCondLst>
                                        </p:cTn>
                                        <p:tgtEl>
                                          <p:spTgt spid="3">
                                            <p:txEl>
                                              <p:pRg st="3" end="3"/>
                                            </p:txEl>
                                          </p:spTgt>
                                        </p:tgtEl>
                                      </p:cBhvr>
                                      <p:to x="100000" y="90000"/>
                                    </p:animScale>
                                    <p:animScale>
                                      <p:cBhvr>
                                        <p:cTn id="59" dur="166" decel="50000">
                                          <p:stCondLst>
                                            <p:cond delay="1668"/>
                                          </p:stCondLst>
                                        </p:cTn>
                                        <p:tgtEl>
                                          <p:spTgt spid="3">
                                            <p:txEl>
                                              <p:pRg st="3" end="3"/>
                                            </p:txEl>
                                          </p:spTgt>
                                        </p:tgtEl>
                                      </p:cBhvr>
                                      <p:to x="100000" y="100000"/>
                                    </p:animScale>
                                    <p:animScale>
                                      <p:cBhvr>
                                        <p:cTn id="60" dur="26">
                                          <p:stCondLst>
                                            <p:cond delay="1808"/>
                                          </p:stCondLst>
                                        </p:cTn>
                                        <p:tgtEl>
                                          <p:spTgt spid="3">
                                            <p:txEl>
                                              <p:pRg st="3" end="3"/>
                                            </p:txEl>
                                          </p:spTgt>
                                        </p:tgtEl>
                                      </p:cBhvr>
                                      <p:to x="100000" y="95000"/>
                                    </p:animScale>
                                    <p:animScale>
                                      <p:cBhvr>
                                        <p:cTn id="61" dur="166" decel="50000">
                                          <p:stCondLst>
                                            <p:cond delay="1834"/>
                                          </p:stCondLst>
                                        </p:cTn>
                                        <p:tgtEl>
                                          <p:spTgt spid="3">
                                            <p:txEl>
                                              <p:pRg st="3" end="3"/>
                                            </p:txEl>
                                          </p:spTgt>
                                        </p:tgtEl>
                                      </p:cBhvr>
                                      <p:to x="100000" y="100000"/>
                                    </p:animScale>
                                  </p:childTnLst>
                                </p:cTn>
                              </p:par>
                            </p:childTnLst>
                          </p:cTn>
                        </p:par>
                      </p:childTnLst>
                    </p:cTn>
                  </p:par>
                  <p:par>
                    <p:cTn id="62" fill="hold">
                      <p:stCondLst>
                        <p:cond delay="indefinite"/>
                      </p:stCondLst>
                      <p:childTnLst>
                        <p:par>
                          <p:cTn id="63" fill="hold">
                            <p:stCondLst>
                              <p:cond delay="0"/>
                            </p:stCondLst>
                            <p:childTnLst>
                              <p:par>
                                <p:cTn id="64" presetID="14" presetClass="entr" presetSubtype="10" fill="hold" nodeType="clickEffect">
                                  <p:stCondLst>
                                    <p:cond delay="0"/>
                                  </p:stCondLst>
                                  <p:childTnLst>
                                    <p:set>
                                      <p:cBhvr>
                                        <p:cTn id="65" dur="1" fill="hold">
                                          <p:stCondLst>
                                            <p:cond delay="0"/>
                                          </p:stCondLst>
                                        </p:cTn>
                                        <p:tgtEl>
                                          <p:spTgt spid="3">
                                            <p:txEl>
                                              <p:pRg st="4" end="4"/>
                                            </p:txEl>
                                          </p:spTgt>
                                        </p:tgtEl>
                                        <p:attrNameLst>
                                          <p:attrName>style.visibility</p:attrName>
                                        </p:attrNameLst>
                                      </p:cBhvr>
                                      <p:to>
                                        <p:strVal val="visible"/>
                                      </p:to>
                                    </p:set>
                                    <p:animEffect transition="in" filter="randombar(horizontal)">
                                      <p:cBhvr>
                                        <p:cTn id="66"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23528" y="404664"/>
            <a:ext cx="8496944" cy="6120680"/>
          </a:xfrm>
        </p:spPr>
        <p:txBody>
          <a:bodyPr/>
          <a:lstStyle/>
          <a:p>
            <a:pPr marL="0" indent="0" algn="just">
              <a:buNone/>
            </a:pPr>
            <a:r>
              <a:rPr lang="fr-FR" dirty="0">
                <a:latin typeface="Maiandra GD" pitchFamily="34" charset="0"/>
              </a:rPr>
              <a:t>On peut faire un lien d'une page </a:t>
            </a:r>
            <a:r>
              <a:rPr lang="fr-FR" dirty="0" smtClean="0">
                <a:latin typeface="Maiandra GD" pitchFamily="34" charset="0"/>
              </a:rPr>
              <a:t>a.html vers </a:t>
            </a:r>
            <a:r>
              <a:rPr lang="fr-FR" dirty="0">
                <a:latin typeface="Maiandra GD" pitchFamily="34" charset="0"/>
              </a:rPr>
              <a:t>une page b.html, mais on peut aussi faire un lien vers un autre site (par </a:t>
            </a:r>
            <a:r>
              <a:rPr lang="fr-FR" dirty="0" smtClean="0">
                <a:latin typeface="Maiandra GD" pitchFamily="34" charset="0"/>
              </a:rPr>
              <a:t>exemple, http</a:t>
            </a:r>
            <a:r>
              <a:rPr lang="fr-FR" dirty="0">
                <a:latin typeface="Maiandra GD" pitchFamily="34" charset="0"/>
              </a:rPr>
              <a:t>://www.siteduzero.com). Dans les deux cas, nous allons voir que le </a:t>
            </a:r>
            <a:r>
              <a:rPr lang="fr-FR" dirty="0" smtClean="0">
                <a:latin typeface="Maiandra GD" pitchFamily="34" charset="0"/>
              </a:rPr>
              <a:t>fonctionnement est </a:t>
            </a:r>
            <a:r>
              <a:rPr lang="fr-FR" dirty="0">
                <a:latin typeface="Maiandra GD" pitchFamily="34" charset="0"/>
              </a:rPr>
              <a:t>le même.</a:t>
            </a:r>
          </a:p>
          <a:p>
            <a:pPr marL="0" indent="0">
              <a:buNone/>
            </a:pPr>
            <a:endParaRPr lang="fr-FR" dirty="0"/>
          </a:p>
        </p:txBody>
      </p:sp>
    </p:spTree>
    <p:extLst>
      <p:ext uri="{BB962C8B-B14F-4D97-AF65-F5344CB8AC3E}">
        <p14:creationId xmlns:p14="http://schemas.microsoft.com/office/powerpoint/2010/main" val="372960401"/>
      </p:ext>
    </p:extLst>
  </p:cSld>
  <p:clrMapOvr>
    <a:masterClrMapping/>
  </p:clrMapOvr>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effectLst>
                  <a:outerShdw blurRad="38100" dist="38100" dir="2700000" algn="tl">
                    <a:srgbClr val="000000">
                      <a:alpha val="43137"/>
                    </a:srgbClr>
                  </a:outerShdw>
                </a:effectLst>
                <a:latin typeface="Maiandra GD" pitchFamily="34" charset="0"/>
              </a:rPr>
              <a:t>Un lien vers un autre site</a:t>
            </a:r>
          </a:p>
        </p:txBody>
      </p:sp>
      <p:sp>
        <p:nvSpPr>
          <p:cNvPr id="3" name="Espace réservé du contenu 2"/>
          <p:cNvSpPr>
            <a:spLocks noGrp="1"/>
          </p:cNvSpPr>
          <p:nvPr>
            <p:ph idx="1"/>
          </p:nvPr>
        </p:nvSpPr>
        <p:spPr>
          <a:xfrm>
            <a:off x="179512" y="1412776"/>
            <a:ext cx="8784976" cy="5256584"/>
          </a:xfrm>
        </p:spPr>
        <p:txBody>
          <a:bodyPr/>
          <a:lstStyle/>
          <a:p>
            <a:pPr marL="0" indent="0" algn="just">
              <a:buNone/>
            </a:pPr>
            <a:r>
              <a:rPr lang="fr-FR" dirty="0">
                <a:latin typeface="Maiandra GD" pitchFamily="34" charset="0"/>
              </a:rPr>
              <a:t>Il est facile de reconnaître les liens sur une page : ils sont écrits d'une façon </a:t>
            </a:r>
            <a:r>
              <a:rPr lang="fr-FR" dirty="0" smtClean="0">
                <a:latin typeface="Maiandra GD" pitchFamily="34" charset="0"/>
              </a:rPr>
              <a:t>différente</a:t>
            </a:r>
            <a:r>
              <a:rPr lang="fr-FR" dirty="0">
                <a:latin typeface="Maiandra GD" pitchFamily="34" charset="0"/>
              </a:rPr>
              <a:t> </a:t>
            </a:r>
            <a:r>
              <a:rPr lang="fr-FR" dirty="0" smtClean="0">
                <a:latin typeface="Maiandra GD" pitchFamily="34" charset="0"/>
              </a:rPr>
              <a:t>(par </a:t>
            </a:r>
            <a:r>
              <a:rPr lang="fr-FR" dirty="0">
                <a:latin typeface="Maiandra GD" pitchFamily="34" charset="0"/>
              </a:rPr>
              <a:t>défaut, en bleu et soulignés) et un curseur en forme de main apparaît </a:t>
            </a:r>
            <a:r>
              <a:rPr lang="fr-FR" dirty="0" smtClean="0">
                <a:latin typeface="Maiandra GD" pitchFamily="34" charset="0"/>
              </a:rPr>
              <a:t>lorsqu'on pointe </a:t>
            </a:r>
            <a:r>
              <a:rPr lang="fr-FR" dirty="0">
                <a:latin typeface="Maiandra GD" pitchFamily="34" charset="0"/>
              </a:rPr>
              <a:t>dessus</a:t>
            </a:r>
            <a:r>
              <a:rPr lang="fr-FR" dirty="0" smtClean="0">
                <a:latin typeface="Maiandra GD" pitchFamily="34" charset="0"/>
              </a:rPr>
              <a:t>.</a:t>
            </a:r>
          </a:p>
          <a:p>
            <a:pPr marL="0" indent="0" algn="just">
              <a:buNone/>
            </a:pPr>
            <a:endParaRPr lang="fr-FR" sz="1050" dirty="0">
              <a:latin typeface="Maiandra GD" pitchFamily="34" charset="0"/>
            </a:endParaRPr>
          </a:p>
          <a:p>
            <a:pPr marL="0" indent="0" algn="just">
              <a:buNone/>
            </a:pPr>
            <a:r>
              <a:rPr lang="fr-FR" dirty="0">
                <a:latin typeface="Maiandra GD" pitchFamily="34" charset="0"/>
              </a:rPr>
              <a:t>Je vous propose d'essayer de coder le lien qui amène vers le Site du Zéro, comme à la figure ci- dessous.</a:t>
            </a: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696" y="4752528"/>
            <a:ext cx="7056784" cy="2060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27195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wipe(down)">
                                      <p:cBhvr>
                                        <p:cTn id="25" dur="580">
                                          <p:stCondLst>
                                            <p:cond delay="0"/>
                                          </p:stCondLst>
                                        </p:cTn>
                                        <p:tgtEl>
                                          <p:spTgt spid="3">
                                            <p:txEl>
                                              <p:pRg st="2" end="2"/>
                                            </p:txEl>
                                          </p:spTgt>
                                        </p:tgtEl>
                                      </p:cBhvr>
                                    </p:animEffect>
                                    <p:anim calcmode="lin" valueType="num">
                                      <p:cBhvr>
                                        <p:cTn id="26"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3">
                                            <p:txEl>
                                              <p:pRg st="2" end="2"/>
                                            </p:txEl>
                                          </p:spTgt>
                                        </p:tgtEl>
                                      </p:cBhvr>
                                      <p:to x="100000" y="60000"/>
                                    </p:animScale>
                                    <p:animScale>
                                      <p:cBhvr>
                                        <p:cTn id="32" dur="166" decel="50000">
                                          <p:stCondLst>
                                            <p:cond delay="676"/>
                                          </p:stCondLst>
                                        </p:cTn>
                                        <p:tgtEl>
                                          <p:spTgt spid="3">
                                            <p:txEl>
                                              <p:pRg st="2" end="2"/>
                                            </p:txEl>
                                          </p:spTgt>
                                        </p:tgtEl>
                                      </p:cBhvr>
                                      <p:to x="100000" y="100000"/>
                                    </p:animScale>
                                    <p:animScale>
                                      <p:cBhvr>
                                        <p:cTn id="33" dur="26">
                                          <p:stCondLst>
                                            <p:cond delay="1312"/>
                                          </p:stCondLst>
                                        </p:cTn>
                                        <p:tgtEl>
                                          <p:spTgt spid="3">
                                            <p:txEl>
                                              <p:pRg st="2" end="2"/>
                                            </p:txEl>
                                          </p:spTgt>
                                        </p:tgtEl>
                                      </p:cBhvr>
                                      <p:to x="100000" y="80000"/>
                                    </p:animScale>
                                    <p:animScale>
                                      <p:cBhvr>
                                        <p:cTn id="34" dur="166" decel="50000">
                                          <p:stCondLst>
                                            <p:cond delay="1338"/>
                                          </p:stCondLst>
                                        </p:cTn>
                                        <p:tgtEl>
                                          <p:spTgt spid="3">
                                            <p:txEl>
                                              <p:pRg st="2" end="2"/>
                                            </p:txEl>
                                          </p:spTgt>
                                        </p:tgtEl>
                                      </p:cBhvr>
                                      <p:to x="100000" y="100000"/>
                                    </p:animScale>
                                    <p:animScale>
                                      <p:cBhvr>
                                        <p:cTn id="35" dur="26">
                                          <p:stCondLst>
                                            <p:cond delay="1642"/>
                                          </p:stCondLst>
                                        </p:cTn>
                                        <p:tgtEl>
                                          <p:spTgt spid="3">
                                            <p:txEl>
                                              <p:pRg st="2" end="2"/>
                                            </p:txEl>
                                          </p:spTgt>
                                        </p:tgtEl>
                                      </p:cBhvr>
                                      <p:to x="100000" y="90000"/>
                                    </p:animScale>
                                    <p:animScale>
                                      <p:cBhvr>
                                        <p:cTn id="36" dur="166" decel="50000">
                                          <p:stCondLst>
                                            <p:cond delay="1668"/>
                                          </p:stCondLst>
                                        </p:cTn>
                                        <p:tgtEl>
                                          <p:spTgt spid="3">
                                            <p:txEl>
                                              <p:pRg st="2" end="2"/>
                                            </p:txEl>
                                          </p:spTgt>
                                        </p:tgtEl>
                                      </p:cBhvr>
                                      <p:to x="100000" y="100000"/>
                                    </p:animScale>
                                    <p:animScale>
                                      <p:cBhvr>
                                        <p:cTn id="37" dur="26">
                                          <p:stCondLst>
                                            <p:cond delay="1808"/>
                                          </p:stCondLst>
                                        </p:cTn>
                                        <p:tgtEl>
                                          <p:spTgt spid="3">
                                            <p:txEl>
                                              <p:pRg st="2" end="2"/>
                                            </p:txEl>
                                          </p:spTgt>
                                        </p:tgtEl>
                                      </p:cBhvr>
                                      <p:to x="100000" y="95000"/>
                                    </p:animScale>
                                    <p:animScale>
                                      <p:cBhvr>
                                        <p:cTn id="38" dur="166" decel="50000">
                                          <p:stCondLst>
                                            <p:cond delay="1834"/>
                                          </p:stCondLst>
                                        </p:cTn>
                                        <p:tgtEl>
                                          <p:spTgt spid="3">
                                            <p:txEl>
                                              <p:pRg st="2" end="2"/>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14" presetClass="entr" presetSubtype="10" fill="hold" nodeType="clickEffect">
                                  <p:stCondLst>
                                    <p:cond delay="0"/>
                                  </p:stCondLst>
                                  <p:childTnLst>
                                    <p:set>
                                      <p:cBhvr>
                                        <p:cTn id="42" dur="1" fill="hold">
                                          <p:stCondLst>
                                            <p:cond delay="0"/>
                                          </p:stCondLst>
                                        </p:cTn>
                                        <p:tgtEl>
                                          <p:spTgt spid="11266"/>
                                        </p:tgtEl>
                                        <p:attrNameLst>
                                          <p:attrName>style.visibility</p:attrName>
                                        </p:attrNameLst>
                                      </p:cBhvr>
                                      <p:to>
                                        <p:strVal val="visible"/>
                                      </p:to>
                                    </p:set>
                                    <p:animEffect transition="in" filter="randombar(horizontal)">
                                      <p:cBhvr>
                                        <p:cTn id="43" dur="500"/>
                                        <p:tgtEl>
                                          <p:spTgt spid="112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44016" y="332656"/>
            <a:ext cx="8892480" cy="6120680"/>
          </a:xfrm>
        </p:spPr>
        <p:txBody>
          <a:bodyPr/>
          <a:lstStyle/>
          <a:p>
            <a:pPr marL="0" indent="0" algn="just">
              <a:buNone/>
            </a:pPr>
            <a:r>
              <a:rPr lang="fr-FR" dirty="0">
                <a:latin typeface="Maiandra GD" pitchFamily="34" charset="0"/>
              </a:rPr>
              <a:t>Pour faire un lien, la balise que nous allons utiliser est très simple à retenir : </a:t>
            </a:r>
            <a:r>
              <a:rPr lang="fr-FR" dirty="0">
                <a:solidFill>
                  <a:srgbClr val="FF0000"/>
                </a:solidFill>
                <a:latin typeface="Maiandra GD" pitchFamily="34" charset="0"/>
              </a:rPr>
              <a:t>&lt;a&gt;</a:t>
            </a:r>
            <a:r>
              <a:rPr lang="fr-FR" dirty="0">
                <a:latin typeface="Maiandra GD" pitchFamily="34" charset="0"/>
              </a:rPr>
              <a:t>. </a:t>
            </a:r>
            <a:r>
              <a:rPr lang="fr-FR" dirty="0" smtClean="0">
                <a:latin typeface="Maiandra GD" pitchFamily="34" charset="0"/>
              </a:rPr>
              <a:t>Il faut </a:t>
            </a:r>
            <a:r>
              <a:rPr lang="fr-FR" dirty="0">
                <a:latin typeface="Maiandra GD" pitchFamily="34" charset="0"/>
              </a:rPr>
              <a:t>cependant lui ajouter un attribut, </a:t>
            </a:r>
            <a:r>
              <a:rPr lang="fr-FR" dirty="0">
                <a:solidFill>
                  <a:srgbClr val="FF0000"/>
                </a:solidFill>
                <a:latin typeface="Maiandra GD" pitchFamily="34" charset="0"/>
              </a:rPr>
              <a:t>href</a:t>
            </a:r>
            <a:r>
              <a:rPr lang="fr-FR" dirty="0">
                <a:latin typeface="Maiandra GD" pitchFamily="34" charset="0"/>
              </a:rPr>
              <a:t>, pour </a:t>
            </a:r>
            <a:r>
              <a:rPr lang="fr-FR" dirty="0" smtClean="0">
                <a:latin typeface="Maiandra GD" pitchFamily="34" charset="0"/>
              </a:rPr>
              <a:t>indiquer </a:t>
            </a:r>
            <a:r>
              <a:rPr lang="fr-FR" dirty="0">
                <a:latin typeface="Maiandra GD" pitchFamily="34" charset="0"/>
              </a:rPr>
              <a:t>vers quelle page le lien </a:t>
            </a:r>
            <a:r>
              <a:rPr lang="fr-FR" dirty="0" smtClean="0">
                <a:latin typeface="Maiandra GD" pitchFamily="34" charset="0"/>
              </a:rPr>
              <a:t>doit conduire.</a:t>
            </a:r>
          </a:p>
          <a:p>
            <a:pPr marL="0" indent="0" algn="just">
              <a:buNone/>
            </a:pPr>
            <a:r>
              <a:rPr lang="fr-FR" dirty="0">
                <a:latin typeface="Maiandra GD" pitchFamily="34" charset="0"/>
              </a:rPr>
              <a:t>Par exemple, le code ci-dessous est un lien qui amène vers le Site du Zéro, situé </a:t>
            </a:r>
            <a:r>
              <a:rPr lang="fr-FR" dirty="0" smtClean="0">
                <a:latin typeface="Maiandra GD" pitchFamily="34" charset="0"/>
              </a:rPr>
              <a:t>à l'adresse </a:t>
            </a:r>
            <a:r>
              <a:rPr lang="fr-FR" dirty="0">
                <a:latin typeface="Maiandra GD" pitchFamily="34" charset="0"/>
              </a:rPr>
              <a:t>http</a:t>
            </a:r>
            <a:r>
              <a:rPr lang="fr-FR" dirty="0" smtClean="0">
                <a:latin typeface="Maiandra GD" pitchFamily="34" charset="0"/>
              </a:rPr>
              <a:t>://www.siteduzero.com :</a:t>
            </a:r>
          </a:p>
          <a:p>
            <a:pPr marL="0" indent="0" algn="just">
              <a:buNone/>
            </a:pPr>
            <a:endParaRPr lang="fr-FR" sz="2800" dirty="0">
              <a:latin typeface="Maiandra GD" pitchFamily="34" charset="0"/>
            </a:endParaRPr>
          </a:p>
          <a:p>
            <a:pPr marL="0" indent="0">
              <a:buNone/>
            </a:pPr>
            <a:r>
              <a:rPr lang="pt-BR" dirty="0">
                <a:latin typeface="Maiandra GD" pitchFamily="34" charset="0"/>
              </a:rPr>
              <a:t>1 &lt;a </a:t>
            </a:r>
            <a:r>
              <a:rPr lang="pt-BR" dirty="0" smtClean="0">
                <a:latin typeface="Maiandra GD" pitchFamily="34" charset="0"/>
              </a:rPr>
              <a:t>href</a:t>
            </a:r>
            <a:r>
              <a:rPr lang="pt-BR" dirty="0" smtClean="0">
                <a:solidFill>
                  <a:srgbClr val="FF0000"/>
                </a:solidFill>
                <a:latin typeface="Maiandra GD" pitchFamily="34" charset="0"/>
              </a:rPr>
              <a:t>="http://www.siteduzero.com"</a:t>
            </a:r>
            <a:r>
              <a:rPr lang="pt-BR" dirty="0" smtClean="0">
                <a:latin typeface="Maiandra GD" pitchFamily="34" charset="0"/>
              </a:rPr>
              <a:t>&gt;Site du</a:t>
            </a:r>
            <a:r>
              <a:rPr lang="pt-BR" dirty="0" smtClean="0">
                <a:solidFill>
                  <a:srgbClr val="FF0000"/>
                </a:solidFill>
                <a:latin typeface="Maiandra GD" pitchFamily="34" charset="0"/>
              </a:rPr>
              <a:t>                         </a:t>
            </a:r>
            <a:r>
              <a:rPr lang="pt-BR" dirty="0" smtClean="0">
                <a:latin typeface="Maiandra GD" pitchFamily="34" charset="0"/>
              </a:rPr>
              <a:t>Zéro </a:t>
            </a:r>
            <a:r>
              <a:rPr lang="pt-BR" dirty="0">
                <a:latin typeface="Maiandra GD" pitchFamily="34" charset="0"/>
              </a:rPr>
              <a:t>&lt;/a&gt;</a:t>
            </a:r>
            <a:endParaRPr lang="fr-FR" dirty="0">
              <a:latin typeface="Maiandra GD" pitchFamily="34" charset="0"/>
            </a:endParaRPr>
          </a:p>
        </p:txBody>
      </p:sp>
      <p:cxnSp>
        <p:nvCxnSpPr>
          <p:cNvPr id="6" name="Connecteur droit 5"/>
          <p:cNvCxnSpPr/>
          <p:nvPr/>
        </p:nvCxnSpPr>
        <p:spPr>
          <a:xfrm>
            <a:off x="467544" y="4221088"/>
            <a:ext cx="0" cy="72008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927404167"/>
      </p:ext>
    </p:extLst>
  </p:cSld>
  <p:clrMapOvr>
    <a:masterClrMapping/>
  </p:clrMapOvr>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44016" y="404664"/>
            <a:ext cx="8964488" cy="6048672"/>
          </a:xfrm>
        </p:spPr>
        <p:txBody>
          <a:bodyPr/>
          <a:lstStyle/>
          <a:p>
            <a:pPr marL="0" indent="0" algn="just">
              <a:buNone/>
            </a:pPr>
            <a:r>
              <a:rPr lang="fr-FR" dirty="0">
                <a:latin typeface="Maiandra GD" pitchFamily="34" charset="0"/>
              </a:rPr>
              <a:t>Nous allons placer ce lien au sein d'un paragraphe. Voici donc comment </a:t>
            </a:r>
            <a:r>
              <a:rPr lang="fr-FR" dirty="0" smtClean="0">
                <a:latin typeface="Maiandra GD" pitchFamily="34" charset="0"/>
              </a:rPr>
              <a:t>reproduire l'exemple </a:t>
            </a:r>
            <a:r>
              <a:rPr lang="fr-FR" dirty="0">
                <a:latin typeface="Maiandra GD" pitchFamily="34" charset="0"/>
              </a:rPr>
              <a:t>de la </a:t>
            </a:r>
            <a:r>
              <a:rPr lang="fr-FR" dirty="0" smtClean="0">
                <a:latin typeface="Maiandra GD" pitchFamily="34" charset="0"/>
              </a:rPr>
              <a:t>figure ci- dessus:</a:t>
            </a:r>
          </a:p>
          <a:p>
            <a:pPr marL="0" indent="0" algn="just">
              <a:buNone/>
            </a:pPr>
            <a:endParaRPr lang="fr-FR" dirty="0">
              <a:latin typeface="Maiandra GD" pitchFamily="34" charset="0"/>
            </a:endParaRPr>
          </a:p>
          <a:p>
            <a:pPr marL="514350" indent="-514350">
              <a:buAutoNum type="arabicPlain"/>
            </a:pPr>
            <a:r>
              <a:rPr lang="fr-FR" dirty="0" smtClean="0">
                <a:latin typeface="Maiandra GD" pitchFamily="34" charset="0"/>
              </a:rPr>
              <a:t>&lt;</a:t>
            </a:r>
            <a:r>
              <a:rPr lang="fr-FR" dirty="0">
                <a:latin typeface="Maiandra GD" pitchFamily="34" charset="0"/>
              </a:rPr>
              <a:t>p</a:t>
            </a:r>
            <a:r>
              <a:rPr lang="fr-FR" dirty="0" smtClean="0">
                <a:latin typeface="Maiandra GD" pitchFamily="34" charset="0"/>
              </a:rPr>
              <a:t>&gt; Bonjour. </a:t>
            </a:r>
            <a:r>
              <a:rPr lang="fr-FR" dirty="0">
                <a:latin typeface="Maiandra GD" pitchFamily="34" charset="0"/>
              </a:rPr>
              <a:t>Souhaitez - vous visiter le &lt;a href </a:t>
            </a:r>
            <a:r>
              <a:rPr lang="fr-FR" dirty="0" smtClean="0">
                <a:solidFill>
                  <a:srgbClr val="FF0000"/>
                </a:solidFill>
                <a:latin typeface="Maiandra GD" pitchFamily="34" charset="0"/>
              </a:rPr>
              <a:t>=" </a:t>
            </a:r>
            <a:r>
              <a:rPr lang="fr-FR" dirty="0">
                <a:solidFill>
                  <a:srgbClr val="FF0000"/>
                </a:solidFill>
                <a:latin typeface="Maiandra GD" pitchFamily="34" charset="0"/>
              </a:rPr>
              <a:t>http :// </a:t>
            </a:r>
            <a:r>
              <a:rPr lang="fr-FR" dirty="0" smtClean="0">
                <a:solidFill>
                  <a:srgbClr val="FF0000"/>
                </a:solidFill>
                <a:latin typeface="Maiandra GD" pitchFamily="34" charset="0"/>
              </a:rPr>
              <a:t>www.</a:t>
            </a:r>
            <a:r>
              <a:rPr lang="pt-BR" dirty="0" smtClean="0">
                <a:solidFill>
                  <a:srgbClr val="FF0000"/>
                </a:solidFill>
                <a:latin typeface="Maiandra GD" pitchFamily="34" charset="0"/>
              </a:rPr>
              <a:t>siteduzero </a:t>
            </a:r>
            <a:r>
              <a:rPr lang="pt-BR" dirty="0">
                <a:solidFill>
                  <a:srgbClr val="FF0000"/>
                </a:solidFill>
                <a:latin typeface="Maiandra GD" pitchFamily="34" charset="0"/>
              </a:rPr>
              <a:t>.com"</a:t>
            </a:r>
            <a:r>
              <a:rPr lang="pt-BR" dirty="0">
                <a:latin typeface="Maiandra GD" pitchFamily="34" charset="0"/>
              </a:rPr>
              <a:t>&gt;Site du Zéro </a:t>
            </a:r>
            <a:r>
              <a:rPr lang="pt-BR" dirty="0" smtClean="0">
                <a:latin typeface="Maiandra GD" pitchFamily="34" charset="0"/>
              </a:rPr>
              <a:t>&lt;/</a:t>
            </a:r>
            <a:r>
              <a:rPr lang="pt-BR" dirty="0">
                <a:latin typeface="Maiandra GD" pitchFamily="34" charset="0"/>
              </a:rPr>
              <a:t>a&gt; </a:t>
            </a:r>
            <a:r>
              <a:rPr lang="pt-BR" dirty="0" smtClean="0">
                <a:latin typeface="Maiandra GD" pitchFamily="34" charset="0"/>
              </a:rPr>
              <a:t>? &lt;</a:t>
            </a:r>
            <a:r>
              <a:rPr lang="pt-BR" dirty="0">
                <a:latin typeface="Maiandra GD" pitchFamily="34" charset="0"/>
              </a:rPr>
              <a:t>br /&gt;</a:t>
            </a:r>
          </a:p>
          <a:p>
            <a:pPr marL="0" indent="0">
              <a:buNone/>
            </a:pPr>
            <a:r>
              <a:rPr lang="fr-FR" dirty="0">
                <a:latin typeface="Maiandra GD" pitchFamily="34" charset="0"/>
              </a:rPr>
              <a:t>2 </a:t>
            </a:r>
            <a:r>
              <a:rPr lang="fr-FR" dirty="0" smtClean="0">
                <a:latin typeface="Maiandra GD" pitchFamily="34" charset="0"/>
              </a:rPr>
              <a:t>   C'est </a:t>
            </a:r>
            <a:r>
              <a:rPr lang="fr-FR" dirty="0">
                <a:latin typeface="Maiandra GD" pitchFamily="34" charset="0"/>
              </a:rPr>
              <a:t>un bon site ! ;-) </a:t>
            </a:r>
            <a:r>
              <a:rPr lang="fr-FR" dirty="0" smtClean="0">
                <a:latin typeface="Maiandra GD" pitchFamily="34" charset="0"/>
              </a:rPr>
              <a:t>&lt;</a:t>
            </a:r>
            <a:r>
              <a:rPr lang="fr-FR" dirty="0">
                <a:latin typeface="Maiandra GD" pitchFamily="34" charset="0"/>
              </a:rPr>
              <a:t> /p&gt;</a:t>
            </a:r>
          </a:p>
        </p:txBody>
      </p:sp>
      <p:cxnSp>
        <p:nvCxnSpPr>
          <p:cNvPr id="6" name="Connecteur droit 5"/>
          <p:cNvCxnSpPr/>
          <p:nvPr/>
        </p:nvCxnSpPr>
        <p:spPr>
          <a:xfrm>
            <a:off x="611560" y="2420888"/>
            <a:ext cx="0" cy="2592288"/>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500071832"/>
      </p:ext>
    </p:extLst>
  </p:cSld>
  <p:clrMapOvr>
    <a:masterClrMapping/>
  </p:clrMapOvr>
  <p:timing>
    <p:tnLst>
      <p:par>
        <p:cTn id="1" dur="indefinite" restart="never" nodeType="tmRoot"/>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44016" y="404664"/>
            <a:ext cx="8892480" cy="6048672"/>
          </a:xfrm>
        </p:spPr>
        <p:txBody>
          <a:bodyPr/>
          <a:lstStyle/>
          <a:p>
            <a:pPr marL="0" indent="0" algn="just">
              <a:buNone/>
            </a:pPr>
            <a:r>
              <a:rPr lang="fr-FR" dirty="0">
                <a:latin typeface="Maiandra GD" pitchFamily="34" charset="0"/>
              </a:rPr>
              <a:t>Par défaut, le lien </a:t>
            </a:r>
            <a:r>
              <a:rPr lang="fr-FR" dirty="0" smtClean="0">
                <a:latin typeface="Maiandra GD" pitchFamily="34" charset="0"/>
              </a:rPr>
              <a:t>s'affiche </a:t>
            </a:r>
            <a:r>
              <a:rPr lang="fr-FR" dirty="0">
                <a:latin typeface="Maiandra GD" pitchFamily="34" charset="0"/>
              </a:rPr>
              <a:t>en bleu souligné. Si vous avez déjà ouvert la </a:t>
            </a:r>
            <a:r>
              <a:rPr lang="fr-FR" dirty="0" smtClean="0">
                <a:latin typeface="Maiandra GD" pitchFamily="34" charset="0"/>
              </a:rPr>
              <a:t>page, le </a:t>
            </a:r>
            <a:r>
              <a:rPr lang="fr-FR" dirty="0">
                <a:latin typeface="Maiandra GD" pitchFamily="34" charset="0"/>
              </a:rPr>
              <a:t>lien </a:t>
            </a:r>
            <a:r>
              <a:rPr lang="fr-FR" dirty="0" smtClean="0">
                <a:latin typeface="Maiandra GD" pitchFamily="34" charset="0"/>
              </a:rPr>
              <a:t>s'affiche </a:t>
            </a:r>
            <a:r>
              <a:rPr lang="fr-FR" dirty="0">
                <a:latin typeface="Maiandra GD" pitchFamily="34" charset="0"/>
              </a:rPr>
              <a:t>en violet. Nous verrons comment changer cette </a:t>
            </a:r>
            <a:r>
              <a:rPr lang="fr-FR" dirty="0" smtClean="0">
                <a:latin typeface="Maiandra GD" pitchFamily="34" charset="0"/>
              </a:rPr>
              <a:t>apparence lorsque </a:t>
            </a:r>
            <a:r>
              <a:rPr lang="fr-FR" dirty="0">
                <a:latin typeface="Maiandra GD" pitchFamily="34" charset="0"/>
              </a:rPr>
              <a:t>nous étudierons le CSS</a:t>
            </a:r>
            <a:r>
              <a:rPr lang="fr-FR" dirty="0" smtClean="0">
                <a:latin typeface="Maiandra GD" pitchFamily="34" charset="0"/>
              </a:rPr>
              <a:t>.</a:t>
            </a:r>
          </a:p>
          <a:p>
            <a:pPr marL="0" indent="0" algn="just">
              <a:buNone/>
            </a:pPr>
            <a:r>
              <a:rPr lang="fr-FR" dirty="0">
                <a:latin typeface="Maiandra GD" pitchFamily="34" charset="0"/>
              </a:rPr>
              <a:t>Si vous voulez faire un lien vers un autre site, il sut donc de copier son adresse (</a:t>
            </a:r>
            <a:r>
              <a:rPr lang="fr-FR" dirty="0" smtClean="0">
                <a:latin typeface="Maiandra GD" pitchFamily="34" charset="0"/>
              </a:rPr>
              <a:t>on parle </a:t>
            </a:r>
            <a:r>
              <a:rPr lang="fr-FR" dirty="0">
                <a:latin typeface="Maiandra GD" pitchFamily="34" charset="0"/>
              </a:rPr>
              <a:t>d'URL) en http://. Notez que certains liens commencent parfois par https</a:t>
            </a:r>
            <a:r>
              <a:rPr lang="fr-FR" dirty="0" smtClean="0">
                <a:latin typeface="Maiandra GD" pitchFamily="34" charset="0"/>
              </a:rPr>
              <a:t>://(</a:t>
            </a:r>
            <a:r>
              <a:rPr lang="fr-FR" dirty="0">
                <a:latin typeface="Maiandra GD" pitchFamily="34" charset="0"/>
              </a:rPr>
              <a:t>sites sécurisés) ou d'autres </a:t>
            </a:r>
            <a:r>
              <a:rPr lang="fr-FR" dirty="0" smtClean="0">
                <a:latin typeface="Maiandra GD" pitchFamily="34" charset="0"/>
              </a:rPr>
              <a:t>préfixes </a:t>
            </a:r>
            <a:r>
              <a:rPr lang="fr-FR" dirty="0">
                <a:latin typeface="Maiandra GD" pitchFamily="34" charset="0"/>
              </a:rPr>
              <a:t>(ftp://,. . .).</a:t>
            </a: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248" y="5157192"/>
            <a:ext cx="1958330" cy="1238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44328115"/>
      </p:ext>
    </p:extLst>
  </p:cSld>
  <p:clrMapOvr>
    <a:masterClrMapping/>
  </p:clrMapOvr>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44016" y="260648"/>
            <a:ext cx="8892480" cy="6408712"/>
          </a:xfrm>
        </p:spPr>
        <p:txBody>
          <a:bodyPr>
            <a:normAutofit/>
          </a:bodyPr>
          <a:lstStyle/>
          <a:p>
            <a:pPr marL="0" indent="0" algn="just">
              <a:buNone/>
            </a:pPr>
            <a:r>
              <a:rPr lang="fr-FR" dirty="0">
                <a:latin typeface="Maiandra GD" pitchFamily="34" charset="0"/>
              </a:rPr>
              <a:t>Si vous faites un lien vers un site qui comporte une adresse un peu bizarre </a:t>
            </a:r>
            <a:r>
              <a:rPr lang="fr-FR" dirty="0" smtClean="0">
                <a:latin typeface="Maiandra GD" pitchFamily="34" charset="0"/>
              </a:rPr>
              <a:t>avec des </a:t>
            </a:r>
            <a:r>
              <a:rPr lang="fr-FR" dirty="0" smtClean="0">
                <a:solidFill>
                  <a:srgbClr val="FF0000"/>
                </a:solidFill>
                <a:latin typeface="Maiandra GD" pitchFamily="34" charset="0"/>
              </a:rPr>
              <a:t>&amp;</a:t>
            </a:r>
            <a:r>
              <a:rPr lang="fr-FR" dirty="0" smtClean="0">
                <a:latin typeface="Maiandra GD" pitchFamily="34" charset="0"/>
              </a:rPr>
              <a:t>,comme: </a:t>
            </a:r>
            <a:r>
              <a:rPr lang="fr-FR" dirty="0" smtClean="0">
                <a:solidFill>
                  <a:srgbClr val="FF0000"/>
                </a:solidFill>
                <a:latin typeface="Maiandra GD" pitchFamily="34" charset="0"/>
              </a:rPr>
              <a:t>http</a:t>
            </a:r>
            <a:r>
              <a:rPr lang="fr-FR" dirty="0">
                <a:solidFill>
                  <a:srgbClr val="FF0000"/>
                </a:solidFill>
                <a:latin typeface="Maiandra GD" pitchFamily="34" charset="0"/>
              </a:rPr>
              <a:t>://www.site.com/?</a:t>
            </a:r>
            <a:r>
              <a:rPr lang="fr-FR" dirty="0" smtClean="0">
                <a:solidFill>
                  <a:srgbClr val="FF0000"/>
                </a:solidFill>
                <a:latin typeface="Maiandra GD" pitchFamily="34" charset="0"/>
              </a:rPr>
              <a:t>data=15&amp;name=mateo21</a:t>
            </a:r>
            <a:r>
              <a:rPr lang="fr-FR" dirty="0" smtClean="0">
                <a:latin typeface="Maiandra GD" pitchFamily="34" charset="0"/>
              </a:rPr>
              <a:t>,vous devrez </a:t>
            </a:r>
            <a:r>
              <a:rPr lang="fr-FR" dirty="0">
                <a:latin typeface="Maiandra GD" pitchFamily="34" charset="0"/>
              </a:rPr>
              <a:t>remplacer tous les  </a:t>
            </a:r>
            <a:r>
              <a:rPr lang="fr-FR" dirty="0" smtClean="0">
                <a:latin typeface="Maiandra GD" pitchFamily="34" charset="0"/>
              </a:rPr>
              <a:t>« </a:t>
            </a:r>
            <a:r>
              <a:rPr lang="fr-FR" dirty="0" smtClean="0">
                <a:solidFill>
                  <a:srgbClr val="FF0000"/>
                </a:solidFill>
                <a:latin typeface="Maiandra GD" pitchFamily="34" charset="0"/>
              </a:rPr>
              <a:t>&amp;</a:t>
            </a:r>
            <a:r>
              <a:rPr lang="fr-FR" dirty="0" smtClean="0">
                <a:latin typeface="Maiandra GD" pitchFamily="34" charset="0"/>
              </a:rPr>
              <a:t> »  </a:t>
            </a:r>
            <a:r>
              <a:rPr lang="fr-FR" dirty="0">
                <a:latin typeface="Maiandra GD" pitchFamily="34" charset="0"/>
              </a:rPr>
              <a:t>par  </a:t>
            </a:r>
            <a:r>
              <a:rPr lang="fr-FR" dirty="0" smtClean="0">
                <a:latin typeface="Maiandra GD" pitchFamily="34" charset="0"/>
              </a:rPr>
              <a:t>« </a:t>
            </a:r>
            <a:r>
              <a:rPr lang="fr-FR" dirty="0" smtClean="0">
                <a:solidFill>
                  <a:srgbClr val="FF0000"/>
                </a:solidFill>
                <a:latin typeface="Maiandra GD" pitchFamily="34" charset="0"/>
              </a:rPr>
              <a:t>&amp;</a:t>
            </a:r>
            <a:r>
              <a:rPr lang="fr-FR" dirty="0">
                <a:solidFill>
                  <a:srgbClr val="FF0000"/>
                </a:solidFill>
                <a:latin typeface="Maiandra GD" pitchFamily="34" charset="0"/>
              </a:rPr>
              <a:t>amp </a:t>
            </a:r>
            <a:r>
              <a:rPr lang="fr-FR" dirty="0">
                <a:latin typeface="Maiandra GD" pitchFamily="34" charset="0"/>
              </a:rPr>
              <a:t>; </a:t>
            </a:r>
            <a:r>
              <a:rPr lang="fr-FR" dirty="0" smtClean="0">
                <a:latin typeface="Maiandra GD" pitchFamily="34" charset="0"/>
              </a:rPr>
              <a:t> » </a:t>
            </a:r>
            <a:r>
              <a:rPr lang="fr-FR" dirty="0">
                <a:latin typeface="Maiandra GD" pitchFamily="34" charset="0"/>
              </a:rPr>
              <a:t>dans votre lien comme ceci :</a:t>
            </a:r>
          </a:p>
          <a:p>
            <a:pPr marL="0" indent="0" algn="just">
              <a:buNone/>
            </a:pPr>
            <a:r>
              <a:rPr lang="fr-FR" dirty="0">
                <a:latin typeface="Maiandra GD" pitchFamily="34" charset="0"/>
              </a:rPr>
              <a:t>http://www.site.com/?data=15</a:t>
            </a:r>
            <a:r>
              <a:rPr lang="fr-FR" dirty="0">
                <a:solidFill>
                  <a:srgbClr val="FF0000"/>
                </a:solidFill>
                <a:latin typeface="Maiandra GD" pitchFamily="34" charset="0"/>
              </a:rPr>
              <a:t>&amp;amp;</a:t>
            </a:r>
            <a:r>
              <a:rPr lang="fr-FR" dirty="0">
                <a:latin typeface="Maiandra GD" pitchFamily="34" charset="0"/>
              </a:rPr>
              <a:t>name=mateo21. Vous ne verrez </a:t>
            </a:r>
            <a:r>
              <a:rPr lang="fr-FR" dirty="0" smtClean="0">
                <a:latin typeface="Maiandra GD" pitchFamily="34" charset="0"/>
              </a:rPr>
              <a:t>pas la différence</a:t>
            </a:r>
            <a:r>
              <a:rPr lang="fr-FR" dirty="0">
                <a:latin typeface="Maiandra GD" pitchFamily="34" charset="0"/>
              </a:rPr>
              <a:t>, mais cela est nécessaire pour avoir une page web </a:t>
            </a:r>
            <a:r>
              <a:rPr lang="fr-FR" dirty="0" smtClean="0">
                <a:latin typeface="Maiandra GD" pitchFamily="34" charset="0"/>
              </a:rPr>
              <a:t>correctement construite </a:t>
            </a:r>
            <a:r>
              <a:rPr lang="fr-FR" dirty="0">
                <a:latin typeface="Maiandra GD" pitchFamily="34" charset="0"/>
              </a:rPr>
              <a:t>en HTML5</a:t>
            </a:r>
            <a:r>
              <a:rPr lang="fr-FR" dirty="0" smtClean="0">
                <a:latin typeface="Maiandra GD" pitchFamily="34" charset="0"/>
              </a:rPr>
              <a:t>.</a:t>
            </a:r>
          </a:p>
          <a:p>
            <a:pPr marL="0" indent="0" algn="just">
              <a:buNone/>
            </a:pPr>
            <a:endParaRPr lang="fr-FR" sz="1100" dirty="0">
              <a:latin typeface="Maiandra GD" pitchFamily="34" charset="0"/>
            </a:endParaRPr>
          </a:p>
          <a:p>
            <a:pPr marL="0" indent="0" algn="just">
              <a:buNone/>
            </a:pPr>
            <a:r>
              <a:rPr lang="fr-FR" dirty="0">
                <a:latin typeface="Maiandra GD" pitchFamily="34" charset="0"/>
              </a:rPr>
              <a:t>Les liens que nous venons de voir sont appelés </a:t>
            </a:r>
            <a:r>
              <a:rPr lang="fr-FR" dirty="0">
                <a:solidFill>
                  <a:srgbClr val="FF0000"/>
                </a:solidFill>
                <a:latin typeface="Maiandra GD" pitchFamily="34" charset="0"/>
              </a:rPr>
              <a:t>liens absolus </a:t>
            </a:r>
            <a:r>
              <a:rPr lang="fr-FR" dirty="0">
                <a:latin typeface="Maiandra GD" pitchFamily="34" charset="0"/>
              </a:rPr>
              <a:t>car on indique </a:t>
            </a:r>
            <a:r>
              <a:rPr lang="fr-FR" dirty="0" smtClean="0">
                <a:latin typeface="Maiandra GD" pitchFamily="34" charset="0"/>
              </a:rPr>
              <a:t>l'adresse complète</a:t>
            </a:r>
            <a:r>
              <a:rPr lang="fr-FR" dirty="0">
                <a:latin typeface="Maiandra GD" pitchFamily="34" charset="0"/>
              </a:rPr>
              <a:t>.</a:t>
            </a:r>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35136" y="6093296"/>
            <a:ext cx="957344" cy="619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18488143"/>
      </p:ext>
    </p:extLst>
  </p:cSld>
  <p:clrMapOvr>
    <a:masterClrMapping/>
  </p:clrMapOvr>
  <p:timing>
    <p:tnLst>
      <p:par>
        <p:cT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1520" y="188640"/>
            <a:ext cx="8784976" cy="1143000"/>
          </a:xfrm>
        </p:spPr>
        <p:txBody>
          <a:bodyPr>
            <a:normAutofit fontScale="90000"/>
          </a:bodyPr>
          <a:lstStyle/>
          <a:p>
            <a:r>
              <a:rPr lang="fr-FR" dirty="0">
                <a:effectLst>
                  <a:outerShdw blurRad="38100" dist="38100" dir="2700000" algn="tl">
                    <a:srgbClr val="000000">
                      <a:alpha val="43137"/>
                    </a:srgbClr>
                  </a:outerShdw>
                </a:effectLst>
                <a:latin typeface="Maiandra GD" pitchFamily="34" charset="0"/>
              </a:rPr>
              <a:t>Un lien vers une autre page de son site</a:t>
            </a:r>
          </a:p>
        </p:txBody>
      </p:sp>
      <p:sp>
        <p:nvSpPr>
          <p:cNvPr id="3" name="Espace réservé du contenu 2"/>
          <p:cNvSpPr>
            <a:spLocks noGrp="1"/>
          </p:cNvSpPr>
          <p:nvPr>
            <p:ph idx="1"/>
          </p:nvPr>
        </p:nvSpPr>
        <p:spPr>
          <a:xfrm>
            <a:off x="179512" y="1340768"/>
            <a:ext cx="8712968" cy="5184576"/>
          </a:xfrm>
        </p:spPr>
        <p:txBody>
          <a:bodyPr>
            <a:noAutofit/>
          </a:bodyPr>
          <a:lstStyle/>
          <a:p>
            <a:pPr marL="0" indent="0" algn="just">
              <a:buNone/>
            </a:pPr>
            <a:r>
              <a:rPr lang="fr-FR" sz="3600" dirty="0">
                <a:latin typeface="Maiandra GD" pitchFamily="34" charset="0"/>
              </a:rPr>
              <a:t>En </a:t>
            </a:r>
            <a:r>
              <a:rPr lang="fr-FR" sz="3600" dirty="0" smtClean="0">
                <a:latin typeface="Maiandra GD" pitchFamily="34" charset="0"/>
              </a:rPr>
              <a:t>effet</a:t>
            </a:r>
            <a:r>
              <a:rPr lang="fr-FR" sz="3600" dirty="0">
                <a:latin typeface="Maiandra GD" pitchFamily="34" charset="0"/>
              </a:rPr>
              <a:t>, pour le moment, vous êtes en train de créer votre site sur votre ordinateur.</a:t>
            </a:r>
          </a:p>
          <a:p>
            <a:pPr marL="0" indent="0" algn="just">
              <a:buNone/>
            </a:pPr>
            <a:r>
              <a:rPr lang="fr-FR" sz="3600" dirty="0">
                <a:latin typeface="Maiandra GD" pitchFamily="34" charset="0"/>
              </a:rPr>
              <a:t>Vous êtes le seul à pouvoir le voir et il n'a pas encore  d'adresse web  qui </a:t>
            </a:r>
            <a:r>
              <a:rPr lang="fr-FR" sz="3600" dirty="0" smtClean="0">
                <a:latin typeface="Maiandra GD" pitchFamily="34" charset="0"/>
              </a:rPr>
              <a:t>commence en </a:t>
            </a:r>
            <a:r>
              <a:rPr lang="fr-FR" sz="3600" dirty="0">
                <a:latin typeface="Maiandra GD" pitchFamily="34" charset="0"/>
              </a:rPr>
              <a:t>http:// comme la plupart des sites. Heureusement, cela ne va pas nous </a:t>
            </a:r>
            <a:r>
              <a:rPr lang="fr-FR" sz="3600" dirty="0" smtClean="0">
                <a:latin typeface="Maiandra GD" pitchFamily="34" charset="0"/>
              </a:rPr>
              <a:t>empêcher de </a:t>
            </a:r>
            <a:r>
              <a:rPr lang="fr-FR" sz="3600" dirty="0">
                <a:latin typeface="Maiandra GD" pitchFamily="34" charset="0"/>
              </a:rPr>
              <a:t>travailler.</a:t>
            </a:r>
          </a:p>
        </p:txBody>
      </p:sp>
    </p:spTree>
    <p:extLst>
      <p:ext uri="{BB962C8B-B14F-4D97-AF65-F5344CB8AC3E}">
        <p14:creationId xmlns:p14="http://schemas.microsoft.com/office/powerpoint/2010/main" val="1141773480"/>
      </p:ext>
    </p:extLst>
  </p:cSld>
  <p:clrMapOvr>
    <a:masterClrMapping/>
  </p:clrMapOvr>
  <p:timing>
    <p:tnLst>
      <p:par>
        <p:cTn id="1" dur="indefinite" restart="never" nodeType="tmRoot"/>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1520" y="274638"/>
            <a:ext cx="8568952" cy="1143000"/>
          </a:xfrm>
        </p:spPr>
        <p:txBody>
          <a:bodyPr>
            <a:noAutofit/>
          </a:bodyPr>
          <a:lstStyle/>
          <a:p>
            <a:r>
              <a:rPr lang="fr-FR" dirty="0">
                <a:effectLst>
                  <a:outerShdw blurRad="38100" dist="38100" dir="2700000" algn="tl">
                    <a:srgbClr val="000000">
                      <a:alpha val="43137"/>
                    </a:srgbClr>
                  </a:outerShdw>
                </a:effectLst>
                <a:latin typeface="Maiandra GD" pitchFamily="34" charset="0"/>
              </a:rPr>
              <a:t>Deux pages situées dans un même dossier</a:t>
            </a:r>
          </a:p>
        </p:txBody>
      </p:sp>
      <p:sp>
        <p:nvSpPr>
          <p:cNvPr id="3" name="Espace réservé du contenu 2"/>
          <p:cNvSpPr>
            <a:spLocks noGrp="1"/>
          </p:cNvSpPr>
          <p:nvPr>
            <p:ph idx="1"/>
          </p:nvPr>
        </p:nvSpPr>
        <p:spPr>
          <a:xfrm>
            <a:off x="251520" y="1855365"/>
            <a:ext cx="8712968" cy="4525963"/>
          </a:xfrm>
        </p:spPr>
        <p:txBody>
          <a:bodyPr>
            <a:normAutofit lnSpcReduction="10000"/>
          </a:bodyPr>
          <a:lstStyle/>
          <a:p>
            <a:pPr marL="0" indent="0" algn="just">
              <a:buNone/>
            </a:pPr>
            <a:r>
              <a:rPr lang="fr-FR" sz="3600" dirty="0">
                <a:latin typeface="Maiandra GD" pitchFamily="34" charset="0"/>
              </a:rPr>
              <a:t>Pour commencer, nous allons créer deux </a:t>
            </a:r>
            <a:r>
              <a:rPr lang="fr-FR" sz="3600" dirty="0" smtClean="0">
                <a:latin typeface="Maiandra GD" pitchFamily="34" charset="0"/>
              </a:rPr>
              <a:t>fichiers </a:t>
            </a:r>
            <a:r>
              <a:rPr lang="fr-FR" sz="3600" dirty="0">
                <a:latin typeface="Maiandra GD" pitchFamily="34" charset="0"/>
              </a:rPr>
              <a:t>correspondant à deux pages </a:t>
            </a:r>
            <a:r>
              <a:rPr lang="fr-FR" sz="3600" dirty="0" smtClean="0">
                <a:latin typeface="Maiandra GD" pitchFamily="34" charset="0"/>
              </a:rPr>
              <a:t>HTML différentes</a:t>
            </a:r>
            <a:r>
              <a:rPr lang="fr-FR" sz="3600" dirty="0">
                <a:latin typeface="Maiandra GD" pitchFamily="34" charset="0"/>
              </a:rPr>
              <a:t>. </a:t>
            </a:r>
            <a:endParaRPr lang="fr-FR" sz="3600" dirty="0" smtClean="0">
              <a:latin typeface="Maiandra GD" pitchFamily="34" charset="0"/>
            </a:endParaRPr>
          </a:p>
          <a:p>
            <a:pPr marL="0" indent="0" algn="just">
              <a:buNone/>
            </a:pPr>
            <a:r>
              <a:rPr lang="fr-FR" sz="3600" dirty="0" smtClean="0">
                <a:latin typeface="Maiandra GD" pitchFamily="34" charset="0"/>
              </a:rPr>
              <a:t>Comme </a:t>
            </a:r>
            <a:r>
              <a:rPr lang="fr-FR" sz="3600" dirty="0">
                <a:latin typeface="Maiandra GD" pitchFamily="34" charset="0"/>
              </a:rPr>
              <a:t>je suis très inspiré, je vous propose de les appeler page1.html </a:t>
            </a:r>
            <a:r>
              <a:rPr lang="fr-FR" sz="3600" dirty="0" smtClean="0">
                <a:latin typeface="Maiandra GD" pitchFamily="34" charset="0"/>
              </a:rPr>
              <a:t>et page2.html</a:t>
            </a:r>
            <a:r>
              <a:rPr lang="fr-FR" sz="3600" dirty="0">
                <a:latin typeface="Maiandra GD" pitchFamily="34" charset="0"/>
              </a:rPr>
              <a:t>. Nous aurons donc ces deux </a:t>
            </a:r>
            <a:r>
              <a:rPr lang="fr-FR" sz="3600" dirty="0" smtClean="0">
                <a:latin typeface="Maiandra GD" pitchFamily="34" charset="0"/>
              </a:rPr>
              <a:t>fichiers </a:t>
            </a:r>
            <a:r>
              <a:rPr lang="fr-FR" sz="3600" dirty="0">
                <a:latin typeface="Maiandra GD" pitchFamily="34" charset="0"/>
              </a:rPr>
              <a:t>sur notre disque dans le même </a:t>
            </a:r>
            <a:r>
              <a:rPr lang="fr-FR" sz="3600" dirty="0" smtClean="0">
                <a:latin typeface="Maiandra GD" pitchFamily="34" charset="0"/>
              </a:rPr>
              <a:t>dossier (figure ci-dessous).</a:t>
            </a:r>
            <a:endParaRPr lang="fr-FR" sz="3600" dirty="0">
              <a:latin typeface="Maiandra GD" pitchFamily="34" charset="0"/>
            </a:endParaRPr>
          </a:p>
        </p:txBody>
      </p:sp>
    </p:spTree>
    <p:extLst>
      <p:ext uri="{BB962C8B-B14F-4D97-AF65-F5344CB8AC3E}">
        <p14:creationId xmlns:p14="http://schemas.microsoft.com/office/powerpoint/2010/main" val="3807897220"/>
      </p:ext>
    </p:extLst>
  </p:cSld>
  <p:clrMapOvr>
    <a:masterClrMapping/>
  </p:clrMapOvr>
  <p:timing>
    <p:tnLst>
      <p:par>
        <p:cTn id="1" dur="indefinite" restart="never" nodeType="tmRoot"/>
      </p:par>
    </p:tn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008" y="72008"/>
            <a:ext cx="8964488" cy="6669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84341037"/>
      </p:ext>
    </p:extLst>
  </p:cSld>
  <p:clrMapOvr>
    <a:masterClrMapping/>
  </p:clrMapOvr>
  <p:timing>
    <p:tnLst>
      <p:par>
        <p:cTn id="1" dur="indefinite" restart="never" nodeType="tmRoot"/>
      </p:par>
    </p:tn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72008" y="260648"/>
            <a:ext cx="8964488" cy="6264696"/>
          </a:xfrm>
        </p:spPr>
        <p:txBody>
          <a:bodyPr/>
          <a:lstStyle/>
          <a:p>
            <a:pPr marL="0" indent="0" algn="just">
              <a:buNone/>
            </a:pPr>
            <a:endParaRPr lang="fr-FR" sz="1400" dirty="0" smtClean="0">
              <a:latin typeface="Maiandra GD" pitchFamily="34" charset="0"/>
            </a:endParaRPr>
          </a:p>
          <a:p>
            <a:pPr marL="0" indent="0" algn="just">
              <a:buNone/>
            </a:pPr>
            <a:r>
              <a:rPr lang="fr-FR" dirty="0" smtClean="0">
                <a:latin typeface="Maiandra GD" pitchFamily="34" charset="0"/>
              </a:rPr>
              <a:t>Comment </a:t>
            </a:r>
            <a:r>
              <a:rPr lang="fr-FR" dirty="0">
                <a:latin typeface="Maiandra GD" pitchFamily="34" charset="0"/>
              </a:rPr>
              <a:t>faire un lien de la page 1 vers la page 2, sans avoir d'adresse en http:// ? </a:t>
            </a:r>
            <a:endParaRPr lang="fr-FR" dirty="0" smtClean="0">
              <a:latin typeface="Maiandra GD" pitchFamily="34" charset="0"/>
            </a:endParaRPr>
          </a:p>
          <a:p>
            <a:pPr marL="0" indent="0" algn="just">
              <a:buNone/>
            </a:pPr>
            <a:r>
              <a:rPr lang="fr-FR" dirty="0" smtClean="0">
                <a:latin typeface="Maiandra GD" pitchFamily="34" charset="0"/>
              </a:rPr>
              <a:t>En</a:t>
            </a:r>
            <a:r>
              <a:rPr lang="fr-FR" dirty="0">
                <a:latin typeface="Maiandra GD" pitchFamily="34" charset="0"/>
              </a:rPr>
              <a:t> </a:t>
            </a:r>
            <a:r>
              <a:rPr lang="fr-FR" dirty="0" smtClean="0">
                <a:latin typeface="Maiandra GD" pitchFamily="34" charset="0"/>
              </a:rPr>
              <a:t>fait</a:t>
            </a:r>
            <a:r>
              <a:rPr lang="fr-FR" dirty="0">
                <a:latin typeface="Maiandra GD" pitchFamily="34" charset="0"/>
              </a:rPr>
              <a:t>, c'est facile : si les deux </a:t>
            </a:r>
            <a:r>
              <a:rPr lang="fr-FR" dirty="0" smtClean="0">
                <a:latin typeface="Maiandra GD" pitchFamily="34" charset="0"/>
              </a:rPr>
              <a:t>fichiers </a:t>
            </a:r>
            <a:r>
              <a:rPr lang="fr-FR" dirty="0">
                <a:latin typeface="Maiandra GD" pitchFamily="34" charset="0"/>
              </a:rPr>
              <a:t>sont situés dans le même dossier, il </a:t>
            </a:r>
            <a:r>
              <a:rPr lang="fr-FR" dirty="0" smtClean="0">
                <a:latin typeface="Maiandra GD" pitchFamily="34" charset="0"/>
              </a:rPr>
              <a:t>suffit d'écrire comme </a:t>
            </a:r>
            <a:r>
              <a:rPr lang="fr-FR" dirty="0">
                <a:latin typeface="Maiandra GD" pitchFamily="34" charset="0"/>
              </a:rPr>
              <a:t>cible du lien le nom du </a:t>
            </a:r>
            <a:r>
              <a:rPr lang="fr-FR" dirty="0" smtClean="0">
                <a:latin typeface="Maiandra GD" pitchFamily="34" charset="0"/>
              </a:rPr>
              <a:t>fichier </a:t>
            </a:r>
            <a:r>
              <a:rPr lang="fr-FR" dirty="0">
                <a:latin typeface="Maiandra GD" pitchFamily="34" charset="0"/>
              </a:rPr>
              <a:t>vers lequel on </a:t>
            </a:r>
            <a:r>
              <a:rPr lang="fr-FR" dirty="0" smtClean="0">
                <a:latin typeface="Maiandra GD" pitchFamily="34" charset="0"/>
              </a:rPr>
              <a:t>veut amener</a:t>
            </a:r>
            <a:r>
              <a:rPr lang="fr-FR" dirty="0">
                <a:latin typeface="Maiandra GD" pitchFamily="34" charset="0"/>
              </a:rPr>
              <a:t>. </a:t>
            </a:r>
            <a:endParaRPr lang="fr-FR" dirty="0" smtClean="0">
              <a:latin typeface="Maiandra GD" pitchFamily="34" charset="0"/>
            </a:endParaRPr>
          </a:p>
          <a:p>
            <a:pPr marL="0" indent="0" algn="just">
              <a:buNone/>
            </a:pPr>
            <a:r>
              <a:rPr lang="fr-FR" dirty="0" smtClean="0">
                <a:latin typeface="Maiandra GD" pitchFamily="34" charset="0"/>
              </a:rPr>
              <a:t>Par </a:t>
            </a:r>
            <a:r>
              <a:rPr lang="fr-FR" dirty="0">
                <a:latin typeface="Maiandra GD" pitchFamily="34" charset="0"/>
              </a:rPr>
              <a:t>exemple : &lt;</a:t>
            </a:r>
            <a:r>
              <a:rPr lang="fr-FR" dirty="0" smtClean="0">
                <a:latin typeface="Maiandra GD" pitchFamily="34" charset="0"/>
              </a:rPr>
              <a:t>a href</a:t>
            </a:r>
            <a:r>
              <a:rPr lang="fr-FR" dirty="0">
                <a:latin typeface="Maiandra GD" pitchFamily="34" charset="0"/>
              </a:rPr>
              <a:t>="page2.html"&gt;. On dit que c'est un </a:t>
            </a:r>
            <a:r>
              <a:rPr lang="fr-FR" dirty="0">
                <a:effectLst>
                  <a:outerShdw blurRad="38100" dist="38100" dir="2700000" algn="tl">
                    <a:srgbClr val="000000">
                      <a:alpha val="43137"/>
                    </a:srgbClr>
                  </a:outerShdw>
                </a:effectLst>
                <a:latin typeface="Maiandra GD" pitchFamily="34" charset="0"/>
              </a:rPr>
              <a:t>lien </a:t>
            </a:r>
            <a:r>
              <a:rPr lang="fr-FR" dirty="0" smtClean="0">
                <a:effectLst>
                  <a:outerShdw blurRad="38100" dist="38100" dir="2700000" algn="tl">
                    <a:srgbClr val="000000">
                      <a:alpha val="43137"/>
                    </a:srgbClr>
                  </a:outerShdw>
                </a:effectLst>
                <a:latin typeface="Maiandra GD" pitchFamily="34" charset="0"/>
              </a:rPr>
              <a:t>relatif</a:t>
            </a:r>
            <a:r>
              <a:rPr lang="fr-FR" dirty="0" smtClean="0">
                <a:latin typeface="Maiandra GD" pitchFamily="34" charset="0"/>
              </a:rPr>
              <a:t>. Voici </a:t>
            </a:r>
            <a:r>
              <a:rPr lang="fr-FR" dirty="0">
                <a:latin typeface="Maiandra GD" pitchFamily="34" charset="0"/>
              </a:rPr>
              <a:t>le code que nous allons utiliser dans nos </a:t>
            </a:r>
            <a:r>
              <a:rPr lang="fr-FR" dirty="0" smtClean="0">
                <a:latin typeface="Maiandra GD" pitchFamily="34" charset="0"/>
              </a:rPr>
              <a:t>fichiers </a:t>
            </a:r>
            <a:r>
              <a:rPr lang="fr-FR" dirty="0">
                <a:latin typeface="Maiandra GD" pitchFamily="34" charset="0"/>
              </a:rPr>
              <a:t>page1.html et page2.html.</a:t>
            </a:r>
          </a:p>
        </p:txBody>
      </p:sp>
    </p:spTree>
    <p:extLst>
      <p:ext uri="{BB962C8B-B14F-4D97-AF65-F5344CB8AC3E}">
        <p14:creationId xmlns:p14="http://schemas.microsoft.com/office/powerpoint/2010/main" val="2059275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80">
                                          <p:stCondLst>
                                            <p:cond delay="0"/>
                                          </p:stCondLst>
                                        </p:cTn>
                                        <p:tgtEl>
                                          <p:spTgt spid="3">
                                            <p:txEl>
                                              <p:pRg st="1" end="1"/>
                                            </p:txEl>
                                          </p:spTgt>
                                        </p:tgtEl>
                                      </p:cBhvr>
                                    </p:animEffect>
                                    <p:anim calcmode="lin" valueType="num">
                                      <p:cBhvr>
                                        <p:cTn id="8"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1" end="1"/>
                                            </p:txEl>
                                          </p:spTgt>
                                        </p:tgtEl>
                                      </p:cBhvr>
                                      <p:to x="100000" y="60000"/>
                                    </p:animScale>
                                    <p:animScale>
                                      <p:cBhvr>
                                        <p:cTn id="14" dur="166" decel="50000">
                                          <p:stCondLst>
                                            <p:cond delay="676"/>
                                          </p:stCondLst>
                                        </p:cTn>
                                        <p:tgtEl>
                                          <p:spTgt spid="3">
                                            <p:txEl>
                                              <p:pRg st="1" end="1"/>
                                            </p:txEl>
                                          </p:spTgt>
                                        </p:tgtEl>
                                      </p:cBhvr>
                                      <p:to x="100000" y="100000"/>
                                    </p:animScale>
                                    <p:animScale>
                                      <p:cBhvr>
                                        <p:cTn id="15" dur="26">
                                          <p:stCondLst>
                                            <p:cond delay="1312"/>
                                          </p:stCondLst>
                                        </p:cTn>
                                        <p:tgtEl>
                                          <p:spTgt spid="3">
                                            <p:txEl>
                                              <p:pRg st="1" end="1"/>
                                            </p:txEl>
                                          </p:spTgt>
                                        </p:tgtEl>
                                      </p:cBhvr>
                                      <p:to x="100000" y="80000"/>
                                    </p:animScale>
                                    <p:animScale>
                                      <p:cBhvr>
                                        <p:cTn id="16" dur="166" decel="50000">
                                          <p:stCondLst>
                                            <p:cond delay="1338"/>
                                          </p:stCondLst>
                                        </p:cTn>
                                        <p:tgtEl>
                                          <p:spTgt spid="3">
                                            <p:txEl>
                                              <p:pRg st="1" end="1"/>
                                            </p:txEl>
                                          </p:spTgt>
                                        </p:tgtEl>
                                      </p:cBhvr>
                                      <p:to x="100000" y="100000"/>
                                    </p:animScale>
                                    <p:animScale>
                                      <p:cBhvr>
                                        <p:cTn id="17" dur="26">
                                          <p:stCondLst>
                                            <p:cond delay="1642"/>
                                          </p:stCondLst>
                                        </p:cTn>
                                        <p:tgtEl>
                                          <p:spTgt spid="3">
                                            <p:txEl>
                                              <p:pRg st="1" end="1"/>
                                            </p:txEl>
                                          </p:spTgt>
                                        </p:tgtEl>
                                      </p:cBhvr>
                                      <p:to x="100000" y="90000"/>
                                    </p:animScale>
                                    <p:animScale>
                                      <p:cBhvr>
                                        <p:cTn id="18" dur="166" decel="50000">
                                          <p:stCondLst>
                                            <p:cond delay="1668"/>
                                          </p:stCondLst>
                                        </p:cTn>
                                        <p:tgtEl>
                                          <p:spTgt spid="3">
                                            <p:txEl>
                                              <p:pRg st="1" end="1"/>
                                            </p:txEl>
                                          </p:spTgt>
                                        </p:tgtEl>
                                      </p:cBhvr>
                                      <p:to x="100000" y="100000"/>
                                    </p:animScale>
                                    <p:animScale>
                                      <p:cBhvr>
                                        <p:cTn id="19" dur="26">
                                          <p:stCondLst>
                                            <p:cond delay="1808"/>
                                          </p:stCondLst>
                                        </p:cTn>
                                        <p:tgtEl>
                                          <p:spTgt spid="3">
                                            <p:txEl>
                                              <p:pRg st="1" end="1"/>
                                            </p:txEl>
                                          </p:spTgt>
                                        </p:tgtEl>
                                      </p:cBhvr>
                                      <p:to x="100000" y="95000"/>
                                    </p:animScale>
                                    <p:animScale>
                                      <p:cBhvr>
                                        <p:cTn id="20" dur="166" decel="50000">
                                          <p:stCondLst>
                                            <p:cond delay="1834"/>
                                          </p:stCondLst>
                                        </p:cTn>
                                        <p:tgtEl>
                                          <p:spTgt spid="3">
                                            <p:txEl>
                                              <p:pRg st="1" end="1"/>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randombar(horizontal)">
                                      <p:cBhvr>
                                        <p:cTn id="25" dur="500"/>
                                        <p:tgtEl>
                                          <p:spTgt spid="3">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6" presetClass="entr" presetSubtype="0" fill="hold"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Effect transition="in" filter="wipe(down)">
                                      <p:cBhvr>
                                        <p:cTn id="30" dur="580">
                                          <p:stCondLst>
                                            <p:cond delay="0"/>
                                          </p:stCondLst>
                                        </p:cTn>
                                        <p:tgtEl>
                                          <p:spTgt spid="3">
                                            <p:txEl>
                                              <p:pRg st="3" end="3"/>
                                            </p:txEl>
                                          </p:spTgt>
                                        </p:tgtEl>
                                      </p:cBhvr>
                                    </p:animEffect>
                                    <p:anim calcmode="lin" valueType="num">
                                      <p:cBhvr>
                                        <p:cTn id="31"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32"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33"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34"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35"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36" dur="26">
                                          <p:stCondLst>
                                            <p:cond delay="650"/>
                                          </p:stCondLst>
                                        </p:cTn>
                                        <p:tgtEl>
                                          <p:spTgt spid="3">
                                            <p:txEl>
                                              <p:pRg st="3" end="3"/>
                                            </p:txEl>
                                          </p:spTgt>
                                        </p:tgtEl>
                                      </p:cBhvr>
                                      <p:to x="100000" y="60000"/>
                                    </p:animScale>
                                    <p:animScale>
                                      <p:cBhvr>
                                        <p:cTn id="37" dur="166" decel="50000">
                                          <p:stCondLst>
                                            <p:cond delay="676"/>
                                          </p:stCondLst>
                                        </p:cTn>
                                        <p:tgtEl>
                                          <p:spTgt spid="3">
                                            <p:txEl>
                                              <p:pRg st="3" end="3"/>
                                            </p:txEl>
                                          </p:spTgt>
                                        </p:tgtEl>
                                      </p:cBhvr>
                                      <p:to x="100000" y="100000"/>
                                    </p:animScale>
                                    <p:animScale>
                                      <p:cBhvr>
                                        <p:cTn id="38" dur="26">
                                          <p:stCondLst>
                                            <p:cond delay="1312"/>
                                          </p:stCondLst>
                                        </p:cTn>
                                        <p:tgtEl>
                                          <p:spTgt spid="3">
                                            <p:txEl>
                                              <p:pRg st="3" end="3"/>
                                            </p:txEl>
                                          </p:spTgt>
                                        </p:tgtEl>
                                      </p:cBhvr>
                                      <p:to x="100000" y="80000"/>
                                    </p:animScale>
                                    <p:animScale>
                                      <p:cBhvr>
                                        <p:cTn id="39" dur="166" decel="50000">
                                          <p:stCondLst>
                                            <p:cond delay="1338"/>
                                          </p:stCondLst>
                                        </p:cTn>
                                        <p:tgtEl>
                                          <p:spTgt spid="3">
                                            <p:txEl>
                                              <p:pRg st="3" end="3"/>
                                            </p:txEl>
                                          </p:spTgt>
                                        </p:tgtEl>
                                      </p:cBhvr>
                                      <p:to x="100000" y="100000"/>
                                    </p:animScale>
                                    <p:animScale>
                                      <p:cBhvr>
                                        <p:cTn id="40" dur="26">
                                          <p:stCondLst>
                                            <p:cond delay="1642"/>
                                          </p:stCondLst>
                                        </p:cTn>
                                        <p:tgtEl>
                                          <p:spTgt spid="3">
                                            <p:txEl>
                                              <p:pRg st="3" end="3"/>
                                            </p:txEl>
                                          </p:spTgt>
                                        </p:tgtEl>
                                      </p:cBhvr>
                                      <p:to x="100000" y="90000"/>
                                    </p:animScale>
                                    <p:animScale>
                                      <p:cBhvr>
                                        <p:cTn id="41" dur="166" decel="50000">
                                          <p:stCondLst>
                                            <p:cond delay="1668"/>
                                          </p:stCondLst>
                                        </p:cTn>
                                        <p:tgtEl>
                                          <p:spTgt spid="3">
                                            <p:txEl>
                                              <p:pRg st="3" end="3"/>
                                            </p:txEl>
                                          </p:spTgt>
                                        </p:tgtEl>
                                      </p:cBhvr>
                                      <p:to x="100000" y="100000"/>
                                    </p:animScale>
                                    <p:animScale>
                                      <p:cBhvr>
                                        <p:cTn id="42" dur="26">
                                          <p:stCondLst>
                                            <p:cond delay="1808"/>
                                          </p:stCondLst>
                                        </p:cTn>
                                        <p:tgtEl>
                                          <p:spTgt spid="3">
                                            <p:txEl>
                                              <p:pRg st="3" end="3"/>
                                            </p:txEl>
                                          </p:spTgt>
                                        </p:tgtEl>
                                      </p:cBhvr>
                                      <p:to x="100000" y="95000"/>
                                    </p:animScale>
                                    <p:animScale>
                                      <p:cBhvr>
                                        <p:cTn id="43" dur="166" decel="50000">
                                          <p:stCondLst>
                                            <p:cond delay="1834"/>
                                          </p:stCondLst>
                                        </p:cTn>
                                        <p:tgtEl>
                                          <p:spTgt spid="3">
                                            <p:txEl>
                                              <p:pRg st="3" end="3"/>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23528" y="476672"/>
            <a:ext cx="8568952" cy="5976664"/>
          </a:xfrm>
        </p:spPr>
        <p:txBody>
          <a:bodyPr/>
          <a:lstStyle/>
          <a:p>
            <a:pPr marL="0" indent="0">
              <a:buNone/>
            </a:pPr>
            <a:r>
              <a:rPr lang="fr-FR" dirty="0" smtClean="0">
                <a:latin typeface="Maiandra GD" pitchFamily="34" charset="0"/>
              </a:rPr>
              <a:t>page1.html</a:t>
            </a:r>
          </a:p>
          <a:p>
            <a:pPr marL="514350" indent="-514350" algn="just">
              <a:buAutoNum type="arabicPlain"/>
            </a:pPr>
            <a:r>
              <a:rPr lang="fr-FR" dirty="0" smtClean="0">
                <a:latin typeface="Maiandra GD" pitchFamily="34" charset="0"/>
              </a:rPr>
              <a:t>&lt;</a:t>
            </a:r>
            <a:r>
              <a:rPr lang="fr-FR" dirty="0">
                <a:latin typeface="Maiandra GD" pitchFamily="34" charset="0"/>
              </a:rPr>
              <a:t>p&gt;Bonjour . Souhaitez - vous consulter </a:t>
            </a:r>
            <a:r>
              <a:rPr lang="fr-FR" dirty="0" smtClean="0">
                <a:latin typeface="Maiandra GD" pitchFamily="34" charset="0"/>
              </a:rPr>
              <a:t>   </a:t>
            </a:r>
          </a:p>
          <a:p>
            <a:pPr marL="0" indent="0" algn="just">
              <a:buNone/>
            </a:pPr>
            <a:r>
              <a:rPr lang="fr-FR" dirty="0">
                <a:latin typeface="Maiandra GD" pitchFamily="34" charset="0"/>
              </a:rPr>
              <a:t> </a:t>
            </a:r>
            <a:r>
              <a:rPr lang="fr-FR" dirty="0" smtClean="0">
                <a:latin typeface="Maiandra GD" pitchFamily="34" charset="0"/>
              </a:rPr>
              <a:t>    &lt;</a:t>
            </a:r>
            <a:r>
              <a:rPr lang="fr-FR" dirty="0">
                <a:latin typeface="Maiandra GD" pitchFamily="34" charset="0"/>
              </a:rPr>
              <a:t>a href </a:t>
            </a:r>
            <a:r>
              <a:rPr lang="fr-FR" dirty="0">
                <a:solidFill>
                  <a:srgbClr val="FF0000"/>
                </a:solidFill>
                <a:latin typeface="Maiandra GD" pitchFamily="34" charset="0"/>
              </a:rPr>
              <a:t>=" page2 . html "</a:t>
            </a:r>
            <a:r>
              <a:rPr lang="fr-FR" dirty="0">
                <a:latin typeface="Maiandra GD" pitchFamily="34" charset="0"/>
              </a:rPr>
              <a:t>&gt;</a:t>
            </a:r>
            <a:r>
              <a:rPr lang="fr-FR" dirty="0" smtClean="0">
                <a:latin typeface="Maiandra GD" pitchFamily="34" charset="0"/>
              </a:rPr>
              <a:t>la page 2 &lt;/</a:t>
            </a:r>
            <a:r>
              <a:rPr lang="fr-FR" dirty="0">
                <a:latin typeface="Maiandra GD" pitchFamily="34" charset="0"/>
              </a:rPr>
              <a:t>a&gt; </a:t>
            </a:r>
            <a:r>
              <a:rPr lang="fr-FR" dirty="0" smtClean="0">
                <a:latin typeface="Maiandra GD" pitchFamily="34" charset="0"/>
              </a:rPr>
              <a:t>  </a:t>
            </a:r>
          </a:p>
          <a:p>
            <a:pPr marL="0" indent="0" algn="just">
              <a:buNone/>
            </a:pPr>
            <a:r>
              <a:rPr lang="fr-FR" dirty="0">
                <a:latin typeface="Maiandra GD" pitchFamily="34" charset="0"/>
              </a:rPr>
              <a:t> </a:t>
            </a:r>
            <a:r>
              <a:rPr lang="fr-FR" dirty="0" smtClean="0">
                <a:latin typeface="Maiandra GD" pitchFamily="34" charset="0"/>
              </a:rPr>
              <a:t>         ?&lt;/</a:t>
            </a:r>
            <a:r>
              <a:rPr lang="fr-FR" dirty="0">
                <a:latin typeface="Maiandra GD" pitchFamily="34" charset="0"/>
              </a:rPr>
              <a:t>p&gt;</a:t>
            </a:r>
          </a:p>
          <a:p>
            <a:pPr marL="0" indent="0">
              <a:buNone/>
            </a:pPr>
            <a:r>
              <a:rPr lang="fr-FR" dirty="0" smtClean="0">
                <a:latin typeface="Maiandra GD" pitchFamily="34" charset="0"/>
              </a:rPr>
              <a:t>page2.html</a:t>
            </a:r>
          </a:p>
          <a:p>
            <a:pPr marL="0" indent="0" algn="just">
              <a:buNone/>
            </a:pPr>
            <a:r>
              <a:rPr lang="fr-FR" dirty="0">
                <a:latin typeface="Maiandra GD" pitchFamily="34" charset="0"/>
              </a:rPr>
              <a:t>La page 2 (page d'arrivée) </a:t>
            </a:r>
            <a:r>
              <a:rPr lang="fr-FR" dirty="0" smtClean="0">
                <a:latin typeface="Maiandra GD" pitchFamily="34" charset="0"/>
              </a:rPr>
              <a:t>affichera </a:t>
            </a:r>
            <a:r>
              <a:rPr lang="fr-FR" dirty="0">
                <a:latin typeface="Maiandra GD" pitchFamily="34" charset="0"/>
              </a:rPr>
              <a:t>simplement un message pour indiquer que l'on </a:t>
            </a:r>
            <a:r>
              <a:rPr lang="fr-FR" dirty="0" smtClean="0">
                <a:latin typeface="Maiandra GD" pitchFamily="34" charset="0"/>
              </a:rPr>
              <a:t>est bien </a:t>
            </a:r>
            <a:r>
              <a:rPr lang="fr-FR" dirty="0">
                <a:latin typeface="Maiandra GD" pitchFamily="34" charset="0"/>
              </a:rPr>
              <a:t>arrivé sur la page 2 </a:t>
            </a:r>
            <a:r>
              <a:rPr lang="fr-FR" dirty="0" smtClean="0">
                <a:latin typeface="Maiandra GD" pitchFamily="34" charset="0"/>
              </a:rPr>
              <a:t>:</a:t>
            </a:r>
          </a:p>
          <a:p>
            <a:pPr marL="0" indent="0">
              <a:buNone/>
            </a:pPr>
            <a:endParaRPr lang="fr-FR" sz="1400" dirty="0" smtClean="0"/>
          </a:p>
          <a:p>
            <a:pPr marL="0" indent="0">
              <a:buNone/>
            </a:pPr>
            <a:endParaRPr lang="fr-FR" sz="600" dirty="0"/>
          </a:p>
          <a:p>
            <a:pPr marL="0" indent="0">
              <a:buNone/>
            </a:pPr>
            <a:r>
              <a:rPr lang="fr-FR" dirty="0">
                <a:latin typeface="Maiandra GD" pitchFamily="34" charset="0"/>
              </a:rPr>
              <a:t>1 </a:t>
            </a:r>
            <a:r>
              <a:rPr lang="fr-FR" dirty="0" smtClean="0">
                <a:latin typeface="Maiandra GD" pitchFamily="34" charset="0"/>
              </a:rPr>
              <a:t> &lt;</a:t>
            </a:r>
            <a:r>
              <a:rPr lang="fr-FR" dirty="0">
                <a:latin typeface="Maiandra GD" pitchFamily="34" charset="0"/>
              </a:rPr>
              <a:t>h1 &gt;Bienvenue sur la page 2 !&lt;/h1 &gt;</a:t>
            </a:r>
          </a:p>
        </p:txBody>
      </p:sp>
      <p:cxnSp>
        <p:nvCxnSpPr>
          <p:cNvPr id="5" name="Connecteur droit 4"/>
          <p:cNvCxnSpPr/>
          <p:nvPr/>
        </p:nvCxnSpPr>
        <p:spPr>
          <a:xfrm>
            <a:off x="755576" y="1124744"/>
            <a:ext cx="0" cy="1584176"/>
          </a:xfrm>
          <a:prstGeom prst="line">
            <a:avLst/>
          </a:prstGeom>
        </p:spPr>
        <p:style>
          <a:lnRef idx="2">
            <a:schemeClr val="dk1"/>
          </a:lnRef>
          <a:fillRef idx="0">
            <a:schemeClr val="dk1"/>
          </a:fillRef>
          <a:effectRef idx="1">
            <a:schemeClr val="dk1"/>
          </a:effectRef>
          <a:fontRef idx="minor">
            <a:schemeClr val="tx1"/>
          </a:fontRef>
        </p:style>
      </p:cxnSp>
      <p:cxnSp>
        <p:nvCxnSpPr>
          <p:cNvPr id="7" name="Connecteur droit 6"/>
          <p:cNvCxnSpPr/>
          <p:nvPr/>
        </p:nvCxnSpPr>
        <p:spPr>
          <a:xfrm>
            <a:off x="683568" y="5157192"/>
            <a:ext cx="0" cy="1152128"/>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864106435"/>
      </p:ext>
    </p:extLst>
  </p:cSld>
  <p:clrMapOvr>
    <a:masterClrMapping/>
  </p:clrMapOvr>
  <p:timing>
    <p:tnLst>
      <p:par>
        <p:cTn id="1" dur="indefinite" restart="never" nodeType="tmRoot"/>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effectLst>
                  <a:outerShdw blurRad="38100" dist="38100" dir="2700000" algn="tl">
                    <a:srgbClr val="000000">
                      <a:alpha val="43137"/>
                    </a:srgbClr>
                  </a:outerShdw>
                </a:effectLst>
                <a:latin typeface="Maiandra GD" pitchFamily="34" charset="0"/>
              </a:rPr>
              <a:t>Deux pages situées dans des dossiers </a:t>
            </a:r>
            <a:r>
              <a:rPr lang="fr-FR" dirty="0" smtClean="0">
                <a:effectLst>
                  <a:outerShdw blurRad="38100" dist="38100" dir="2700000" algn="tl">
                    <a:srgbClr val="000000">
                      <a:alpha val="43137"/>
                    </a:srgbClr>
                  </a:outerShdw>
                </a:effectLst>
                <a:latin typeface="Maiandra GD" pitchFamily="34" charset="0"/>
              </a:rPr>
              <a:t>différents</a:t>
            </a:r>
            <a:endParaRPr lang="fr-FR" dirty="0">
              <a:effectLst>
                <a:outerShdw blurRad="38100" dist="38100" dir="2700000" algn="tl">
                  <a:srgbClr val="000000">
                    <a:alpha val="43137"/>
                  </a:srgbClr>
                </a:outerShdw>
              </a:effectLst>
              <a:latin typeface="Maiandra GD" pitchFamily="34" charset="0"/>
            </a:endParaRPr>
          </a:p>
        </p:txBody>
      </p:sp>
      <p:sp>
        <p:nvSpPr>
          <p:cNvPr id="3" name="Espace réservé du contenu 2"/>
          <p:cNvSpPr>
            <a:spLocks noGrp="1"/>
          </p:cNvSpPr>
          <p:nvPr>
            <p:ph idx="1"/>
          </p:nvPr>
        </p:nvSpPr>
        <p:spPr>
          <a:xfrm>
            <a:off x="179512" y="1600200"/>
            <a:ext cx="8784976" cy="4853136"/>
          </a:xfrm>
        </p:spPr>
        <p:txBody>
          <a:bodyPr/>
          <a:lstStyle/>
          <a:p>
            <a:pPr marL="0" indent="0" algn="just">
              <a:buNone/>
            </a:pPr>
            <a:r>
              <a:rPr lang="fr-FR" dirty="0">
                <a:latin typeface="Maiandra GD" pitchFamily="34" charset="0"/>
              </a:rPr>
              <a:t>Les choses se corsent un petit peu si les pages sont situées dans des dossiers </a:t>
            </a:r>
            <a:r>
              <a:rPr lang="fr-FR" dirty="0" smtClean="0">
                <a:latin typeface="Maiandra GD" pitchFamily="34" charset="0"/>
              </a:rPr>
              <a:t>différents</a:t>
            </a:r>
            <a:r>
              <a:rPr lang="fr-FR" dirty="0">
                <a:latin typeface="Maiandra GD" pitchFamily="34" charset="0"/>
              </a:rPr>
              <a:t>.</a:t>
            </a:r>
          </a:p>
          <a:p>
            <a:pPr marL="0" indent="0" algn="just">
              <a:buNone/>
            </a:pPr>
            <a:r>
              <a:rPr lang="fr-FR" dirty="0">
                <a:latin typeface="Maiandra GD" pitchFamily="34" charset="0"/>
              </a:rPr>
              <a:t>Idéalement, elles ne devraient pas être trop loin l'une de l'autre (dans un </a:t>
            </a:r>
            <a:r>
              <a:rPr lang="fr-FR" dirty="0" smtClean="0">
                <a:latin typeface="Maiandra GD" pitchFamily="34" charset="0"/>
              </a:rPr>
              <a:t>sous-dossier par </a:t>
            </a:r>
            <a:r>
              <a:rPr lang="fr-FR" dirty="0">
                <a:latin typeface="Maiandra GD" pitchFamily="34" charset="0"/>
              </a:rPr>
              <a:t>exemple).</a:t>
            </a:r>
          </a:p>
          <a:p>
            <a:pPr marL="0" indent="0" algn="just">
              <a:buNone/>
            </a:pPr>
            <a:r>
              <a:rPr lang="fr-FR" dirty="0">
                <a:latin typeface="Maiandra GD" pitchFamily="34" charset="0"/>
              </a:rPr>
              <a:t>Imaginons que page2.html se trouve dans un sous-dossier appelé contenu, comme </a:t>
            </a:r>
            <a:r>
              <a:rPr lang="fr-FR" dirty="0" smtClean="0">
                <a:latin typeface="Maiandra GD" pitchFamily="34" charset="0"/>
              </a:rPr>
              <a:t>à la figure suivante</a:t>
            </a:r>
            <a:endParaRPr lang="fr-FR" dirty="0">
              <a:latin typeface="Maiandra GD" pitchFamily="34" charset="0"/>
            </a:endParaRPr>
          </a:p>
        </p:txBody>
      </p:sp>
    </p:spTree>
    <p:extLst>
      <p:ext uri="{BB962C8B-B14F-4D97-AF65-F5344CB8AC3E}">
        <p14:creationId xmlns:p14="http://schemas.microsoft.com/office/powerpoint/2010/main" val="3424636722"/>
      </p:ext>
    </p:extLst>
  </p:cSld>
  <p:clrMapOvr>
    <a:masterClrMapping/>
  </p:clrMapOvr>
  <p:timing>
    <p:tnLst>
      <p:par>
        <p:cTn id="1" dur="indefinite" restart="never" nodeType="tmRoot"/>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144017"/>
            <a:ext cx="8892480" cy="6669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83016036"/>
      </p:ext>
    </p:extLst>
  </p:cSld>
  <p:clrMapOvr>
    <a:masterClrMapping/>
  </p:clrMapOvr>
  <p:timing>
    <p:tnLst>
      <p:par>
        <p:cTn id="1" dur="indefinite" restart="never" nodeType="tmRoot"/>
      </p:par>
    </p:tn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332656"/>
            <a:ext cx="8712968" cy="6264696"/>
          </a:xfrm>
        </p:spPr>
        <p:txBody>
          <a:bodyPr/>
          <a:lstStyle/>
          <a:p>
            <a:pPr marL="0" indent="0" algn="just">
              <a:buNone/>
            </a:pPr>
            <a:r>
              <a:rPr lang="fr-FR" dirty="0">
                <a:effectLst>
                  <a:outerShdw blurRad="38100" dist="38100" dir="2700000" algn="tl">
                    <a:srgbClr val="000000">
                      <a:alpha val="43137"/>
                    </a:srgbClr>
                  </a:outerShdw>
                </a:effectLst>
                <a:latin typeface="Maiandra GD" pitchFamily="34" charset="0"/>
              </a:rPr>
              <a:t>Dans ce cas de </a:t>
            </a:r>
            <a:r>
              <a:rPr lang="fr-FR" dirty="0" smtClean="0">
                <a:effectLst>
                  <a:outerShdw blurRad="38100" dist="38100" dir="2700000" algn="tl">
                    <a:srgbClr val="000000">
                      <a:alpha val="43137"/>
                    </a:srgbClr>
                  </a:outerShdw>
                </a:effectLst>
                <a:latin typeface="Maiandra GD" pitchFamily="34" charset="0"/>
              </a:rPr>
              <a:t>figure</a:t>
            </a:r>
            <a:r>
              <a:rPr lang="fr-FR" dirty="0">
                <a:effectLst>
                  <a:outerShdw blurRad="38100" dist="38100" dir="2700000" algn="tl">
                    <a:srgbClr val="000000">
                      <a:alpha val="43137"/>
                    </a:srgbClr>
                  </a:outerShdw>
                </a:effectLst>
                <a:latin typeface="Maiandra GD" pitchFamily="34" charset="0"/>
              </a:rPr>
              <a:t>, le lien doit être rédigé comme ceci </a:t>
            </a:r>
            <a:r>
              <a:rPr lang="fr-FR" dirty="0" smtClean="0">
                <a:effectLst>
                  <a:outerShdw blurRad="38100" dist="38100" dir="2700000" algn="tl">
                    <a:srgbClr val="000000">
                      <a:alpha val="43137"/>
                    </a:srgbClr>
                  </a:outerShdw>
                </a:effectLst>
                <a:latin typeface="Maiandra GD" pitchFamily="34" charset="0"/>
              </a:rPr>
              <a:t>:</a:t>
            </a:r>
          </a:p>
          <a:p>
            <a:pPr marL="0" indent="0" algn="just">
              <a:buNone/>
            </a:pPr>
            <a:endParaRPr lang="fr-FR" sz="2000" dirty="0">
              <a:latin typeface="Maiandra GD" pitchFamily="34" charset="0"/>
            </a:endParaRPr>
          </a:p>
          <a:p>
            <a:pPr marL="0" indent="0" algn="just">
              <a:buNone/>
            </a:pPr>
            <a:r>
              <a:rPr lang="fr-FR" sz="3600" dirty="0" smtClean="0">
                <a:latin typeface="Maiandra GD" pitchFamily="34" charset="0"/>
              </a:rPr>
              <a:t> 1 </a:t>
            </a:r>
            <a:r>
              <a:rPr lang="fr-FR" sz="3600" dirty="0">
                <a:latin typeface="Maiandra GD" pitchFamily="34" charset="0"/>
              </a:rPr>
              <a:t>&lt;a href =" contenu / page2 . html </a:t>
            </a:r>
            <a:r>
              <a:rPr lang="fr-FR" sz="3600" dirty="0" smtClean="0">
                <a:latin typeface="Maiandra GD" pitchFamily="34" charset="0"/>
              </a:rPr>
              <a:t>"&gt;</a:t>
            </a:r>
          </a:p>
          <a:p>
            <a:pPr marL="0" indent="0" algn="just">
              <a:buNone/>
            </a:pPr>
            <a:endParaRPr lang="fr-FR" sz="2000" dirty="0">
              <a:latin typeface="Maiandra GD" pitchFamily="34" charset="0"/>
            </a:endParaRPr>
          </a:p>
          <a:p>
            <a:pPr marL="0" indent="0" algn="just">
              <a:buNone/>
            </a:pPr>
            <a:r>
              <a:rPr lang="fr-FR" dirty="0">
                <a:effectLst>
                  <a:outerShdw blurRad="38100" dist="38100" dir="2700000" algn="tl">
                    <a:srgbClr val="000000">
                      <a:alpha val="43137"/>
                    </a:srgbClr>
                  </a:outerShdw>
                </a:effectLst>
                <a:latin typeface="Maiandra GD" pitchFamily="34" charset="0"/>
              </a:rPr>
              <a:t>S'il y avait plusieurs sous-dossiers, on écrirait ceci </a:t>
            </a:r>
            <a:r>
              <a:rPr lang="fr-FR" dirty="0" smtClean="0">
                <a:effectLst>
                  <a:outerShdw blurRad="38100" dist="38100" dir="2700000" algn="tl">
                    <a:srgbClr val="000000">
                      <a:alpha val="43137"/>
                    </a:srgbClr>
                  </a:outerShdw>
                </a:effectLst>
                <a:latin typeface="Maiandra GD" pitchFamily="34" charset="0"/>
              </a:rPr>
              <a:t>:</a:t>
            </a:r>
          </a:p>
          <a:p>
            <a:pPr marL="0" indent="0" algn="just">
              <a:buNone/>
            </a:pPr>
            <a:endParaRPr lang="fr-FR" sz="2400" dirty="0">
              <a:latin typeface="Maiandra GD" pitchFamily="34" charset="0"/>
            </a:endParaRPr>
          </a:p>
          <a:p>
            <a:pPr marL="0" indent="0" algn="just">
              <a:buNone/>
            </a:pPr>
            <a:r>
              <a:rPr lang="fr-FR" sz="3600" dirty="0" smtClean="0">
                <a:latin typeface="Maiandra GD" pitchFamily="34" charset="0"/>
              </a:rPr>
              <a:t>1 &lt;a </a:t>
            </a:r>
            <a:r>
              <a:rPr lang="fr-FR" sz="3600" dirty="0">
                <a:latin typeface="Maiandra GD" pitchFamily="34" charset="0"/>
              </a:rPr>
              <a:t>href =" contenu </a:t>
            </a:r>
            <a:r>
              <a:rPr lang="fr-FR" sz="3600" dirty="0" smtClean="0">
                <a:latin typeface="Maiandra GD" pitchFamily="34" charset="0"/>
              </a:rPr>
              <a:t>/ autredossier </a:t>
            </a:r>
            <a:r>
              <a:rPr lang="fr-FR" sz="3600" dirty="0">
                <a:latin typeface="Maiandra GD" pitchFamily="34" charset="0"/>
              </a:rPr>
              <a:t>/ page2 . html "&gt;</a:t>
            </a:r>
          </a:p>
        </p:txBody>
      </p:sp>
      <p:cxnSp>
        <p:nvCxnSpPr>
          <p:cNvPr id="5" name="Connecteur droit 4"/>
          <p:cNvCxnSpPr/>
          <p:nvPr/>
        </p:nvCxnSpPr>
        <p:spPr>
          <a:xfrm>
            <a:off x="683568" y="1556792"/>
            <a:ext cx="0" cy="1008112"/>
          </a:xfrm>
          <a:prstGeom prst="line">
            <a:avLst/>
          </a:prstGeom>
        </p:spPr>
        <p:style>
          <a:lnRef idx="2">
            <a:schemeClr val="dk1"/>
          </a:lnRef>
          <a:fillRef idx="0">
            <a:schemeClr val="dk1"/>
          </a:fillRef>
          <a:effectRef idx="1">
            <a:schemeClr val="dk1"/>
          </a:effectRef>
          <a:fontRef idx="minor">
            <a:schemeClr val="tx1"/>
          </a:fontRef>
        </p:style>
      </p:cxnSp>
      <p:cxnSp>
        <p:nvCxnSpPr>
          <p:cNvPr id="6" name="Connecteur droit 5"/>
          <p:cNvCxnSpPr/>
          <p:nvPr/>
        </p:nvCxnSpPr>
        <p:spPr>
          <a:xfrm>
            <a:off x="539552" y="3933056"/>
            <a:ext cx="0" cy="1008112"/>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741187119"/>
      </p:ext>
    </p:extLst>
  </p:cSld>
  <p:clrMapOvr>
    <a:masterClrMapping/>
  </p:clrMapOvr>
  <p:timing>
    <p:tnLst>
      <p:par>
        <p:cTn id="1" dur="indefinite" restart="never" nodeType="tmRoot"/>
      </p:par>
    </p:tn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016" y="188640"/>
            <a:ext cx="8892480" cy="6480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24524006"/>
      </p:ext>
    </p:extLst>
  </p:cSld>
  <p:clrMapOvr>
    <a:masterClrMapping/>
  </p:clrMapOvr>
  <p:timing>
    <p:tnLst>
      <p:par>
        <p:cTn id="1" dur="indefinite" restart="never" nodeType="tmRoot"/>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116632"/>
            <a:ext cx="8229600" cy="922114"/>
          </a:xfrm>
        </p:spPr>
        <p:txBody>
          <a:bodyPr>
            <a:normAutofit/>
          </a:bodyPr>
          <a:lstStyle/>
          <a:p>
            <a:r>
              <a:rPr lang="fr-FR" sz="5400" dirty="0">
                <a:effectLst>
                  <a:outerShdw blurRad="38100" dist="38100" dir="2700000" algn="tl">
                    <a:srgbClr val="000000">
                      <a:alpha val="43137"/>
                    </a:srgbClr>
                  </a:outerShdw>
                </a:effectLst>
                <a:latin typeface="Maiandra GD" pitchFamily="34" charset="0"/>
              </a:rPr>
              <a:t>Un lien vers une ancre</a:t>
            </a:r>
          </a:p>
        </p:txBody>
      </p:sp>
      <p:sp>
        <p:nvSpPr>
          <p:cNvPr id="3" name="Espace réservé du contenu 2"/>
          <p:cNvSpPr>
            <a:spLocks noGrp="1"/>
          </p:cNvSpPr>
          <p:nvPr>
            <p:ph idx="1"/>
          </p:nvPr>
        </p:nvSpPr>
        <p:spPr>
          <a:xfrm>
            <a:off x="144016" y="1196752"/>
            <a:ext cx="8892480" cy="5400600"/>
          </a:xfrm>
        </p:spPr>
        <p:txBody>
          <a:bodyPr>
            <a:normAutofit lnSpcReduction="10000"/>
          </a:bodyPr>
          <a:lstStyle/>
          <a:p>
            <a:pPr marL="0" indent="0" algn="just">
              <a:buNone/>
            </a:pPr>
            <a:r>
              <a:rPr lang="fr-FR" dirty="0" smtClean="0">
                <a:latin typeface="Maiandra GD" pitchFamily="34" charset="0"/>
              </a:rPr>
              <a:t>Une </a:t>
            </a:r>
            <a:r>
              <a:rPr lang="fr-FR" dirty="0">
                <a:latin typeface="Maiandra GD" pitchFamily="34" charset="0"/>
              </a:rPr>
              <a:t>ancre est une sorte de point de repère que vous pouvez mettre dans vos </a:t>
            </a:r>
            <a:r>
              <a:rPr lang="fr-FR" dirty="0" smtClean="0">
                <a:latin typeface="Maiandra GD" pitchFamily="34" charset="0"/>
              </a:rPr>
              <a:t>pages HTML </a:t>
            </a:r>
            <a:r>
              <a:rPr lang="fr-FR" dirty="0">
                <a:latin typeface="Maiandra GD" pitchFamily="34" charset="0"/>
              </a:rPr>
              <a:t>lorsqu'elles sont très longues. </a:t>
            </a:r>
            <a:endParaRPr lang="fr-FR" dirty="0" smtClean="0">
              <a:latin typeface="Maiandra GD" pitchFamily="34" charset="0"/>
            </a:endParaRPr>
          </a:p>
          <a:p>
            <a:pPr marL="0" indent="0" algn="just">
              <a:buNone/>
            </a:pPr>
            <a:r>
              <a:rPr lang="fr-FR" dirty="0" smtClean="0">
                <a:latin typeface="Maiandra GD" pitchFamily="34" charset="0"/>
              </a:rPr>
              <a:t>En effet</a:t>
            </a:r>
            <a:r>
              <a:rPr lang="fr-FR" dirty="0">
                <a:latin typeface="Maiandra GD" pitchFamily="34" charset="0"/>
              </a:rPr>
              <a:t>, il peut alors être utile de faire un </a:t>
            </a:r>
            <a:r>
              <a:rPr lang="fr-FR" dirty="0" smtClean="0">
                <a:latin typeface="Maiandra GD" pitchFamily="34" charset="0"/>
              </a:rPr>
              <a:t>lien amenant </a:t>
            </a:r>
            <a:r>
              <a:rPr lang="fr-FR" dirty="0">
                <a:latin typeface="Maiandra GD" pitchFamily="34" charset="0"/>
              </a:rPr>
              <a:t>plus bas dans la même page pour que le visiteur puisse sauter directement </a:t>
            </a:r>
            <a:r>
              <a:rPr lang="fr-FR" dirty="0" smtClean="0">
                <a:latin typeface="Maiandra GD" pitchFamily="34" charset="0"/>
              </a:rPr>
              <a:t>à la </a:t>
            </a:r>
            <a:r>
              <a:rPr lang="fr-FR" dirty="0">
                <a:latin typeface="Maiandra GD" pitchFamily="34" charset="0"/>
              </a:rPr>
              <a:t>partie qui l'intéresse</a:t>
            </a:r>
            <a:r>
              <a:rPr lang="fr-FR" dirty="0" smtClean="0">
                <a:latin typeface="Maiandra GD" pitchFamily="34" charset="0"/>
              </a:rPr>
              <a:t>.</a:t>
            </a:r>
          </a:p>
          <a:p>
            <a:pPr marL="0" indent="0" algn="just">
              <a:buNone/>
            </a:pPr>
            <a:r>
              <a:rPr lang="fr-FR" dirty="0">
                <a:latin typeface="Maiandra GD" pitchFamily="34" charset="0"/>
              </a:rPr>
              <a:t>Pour créer une ancre, il </a:t>
            </a:r>
            <a:r>
              <a:rPr lang="fr-FR" dirty="0" smtClean="0">
                <a:latin typeface="Maiandra GD" pitchFamily="34" charset="0"/>
              </a:rPr>
              <a:t>suffit </a:t>
            </a:r>
            <a:r>
              <a:rPr lang="fr-FR" dirty="0">
                <a:latin typeface="Maiandra GD" pitchFamily="34" charset="0"/>
              </a:rPr>
              <a:t>de rajouter l'attribut id à une balise qui va alors </a:t>
            </a:r>
            <a:r>
              <a:rPr lang="fr-FR" dirty="0" smtClean="0">
                <a:latin typeface="Maiandra GD" pitchFamily="34" charset="0"/>
              </a:rPr>
              <a:t>servir de </a:t>
            </a:r>
            <a:r>
              <a:rPr lang="fr-FR" dirty="0">
                <a:latin typeface="Maiandra GD" pitchFamily="34" charset="0"/>
              </a:rPr>
              <a:t>repère. Ce peut être n'importe quelle balise, un titre par exemple. </a:t>
            </a:r>
          </a:p>
        </p:txBody>
      </p:sp>
    </p:spTree>
    <p:extLst>
      <p:ext uri="{BB962C8B-B14F-4D97-AF65-F5344CB8AC3E}">
        <p14:creationId xmlns:p14="http://schemas.microsoft.com/office/powerpoint/2010/main" val="2966166382"/>
      </p:ext>
    </p:extLst>
  </p:cSld>
  <p:clrMapOvr>
    <a:masterClrMapping/>
  </p:clrMapOvr>
  <p:timing>
    <p:tnLst>
      <p:par>
        <p:cTn id="1" dur="indefinite" restart="never" nodeType="tmRoot"/>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9512" y="332656"/>
            <a:ext cx="8784976" cy="6192688"/>
          </a:xfrm>
        </p:spPr>
        <p:txBody>
          <a:bodyPr>
            <a:normAutofit/>
          </a:bodyPr>
          <a:lstStyle/>
          <a:p>
            <a:pPr marL="0" indent="0" algn="just">
              <a:buNone/>
            </a:pPr>
            <a:r>
              <a:rPr lang="fr-FR" dirty="0">
                <a:latin typeface="Maiandra GD" pitchFamily="34" charset="0"/>
              </a:rPr>
              <a:t>Utilisez </a:t>
            </a:r>
            <a:r>
              <a:rPr lang="fr-FR" dirty="0" smtClean="0">
                <a:latin typeface="Maiandra GD" pitchFamily="34" charset="0"/>
              </a:rPr>
              <a:t>l'attribut </a:t>
            </a:r>
            <a:r>
              <a:rPr lang="fr-FR" dirty="0">
                <a:latin typeface="Maiandra GD" pitchFamily="34" charset="0"/>
              </a:rPr>
              <a:t>id pour donner un nom à l'ancre. Cela nous servira ensuite pour faire un lien vers </a:t>
            </a:r>
            <a:r>
              <a:rPr lang="fr-FR" dirty="0" smtClean="0">
                <a:latin typeface="Maiandra GD" pitchFamily="34" charset="0"/>
              </a:rPr>
              <a:t>cette ancre</a:t>
            </a:r>
            <a:r>
              <a:rPr lang="fr-FR" dirty="0">
                <a:latin typeface="Maiandra GD" pitchFamily="34" charset="0"/>
              </a:rPr>
              <a:t>. </a:t>
            </a:r>
            <a:endParaRPr lang="fr-FR" dirty="0" smtClean="0">
              <a:latin typeface="Maiandra GD" pitchFamily="34" charset="0"/>
            </a:endParaRPr>
          </a:p>
          <a:p>
            <a:pPr marL="0" indent="0" algn="just">
              <a:buNone/>
            </a:pPr>
            <a:r>
              <a:rPr lang="fr-FR" dirty="0" smtClean="0">
                <a:latin typeface="Maiandra GD" pitchFamily="34" charset="0"/>
              </a:rPr>
              <a:t>Par </a:t>
            </a:r>
            <a:r>
              <a:rPr lang="fr-FR" dirty="0">
                <a:latin typeface="Maiandra GD" pitchFamily="34" charset="0"/>
              </a:rPr>
              <a:t>exemple </a:t>
            </a:r>
            <a:r>
              <a:rPr lang="fr-FR" dirty="0" smtClean="0">
                <a:latin typeface="Maiandra GD" pitchFamily="34" charset="0"/>
              </a:rPr>
              <a:t>:</a:t>
            </a:r>
          </a:p>
          <a:p>
            <a:pPr marL="0" indent="0" algn="just">
              <a:buNone/>
            </a:pPr>
            <a:endParaRPr lang="fr-FR" dirty="0" smtClean="0"/>
          </a:p>
          <a:p>
            <a:pPr marL="514350" indent="-514350" algn="just">
              <a:buAutoNum type="arabicPlain"/>
            </a:pPr>
            <a:r>
              <a:rPr lang="fr-FR" dirty="0" smtClean="0">
                <a:latin typeface="Maiandra GD" pitchFamily="34" charset="0"/>
              </a:rPr>
              <a:t>&lt;</a:t>
            </a:r>
            <a:r>
              <a:rPr lang="fr-FR" dirty="0">
                <a:latin typeface="Maiandra GD" pitchFamily="34" charset="0"/>
              </a:rPr>
              <a:t>h2 id=</a:t>
            </a:r>
            <a:r>
              <a:rPr lang="fr-FR" dirty="0">
                <a:solidFill>
                  <a:srgbClr val="FF0000"/>
                </a:solidFill>
                <a:latin typeface="Maiandra GD" pitchFamily="34" charset="0"/>
              </a:rPr>
              <a:t>" mon_ancre "</a:t>
            </a:r>
            <a:r>
              <a:rPr lang="fr-FR" dirty="0">
                <a:latin typeface="Maiandra GD" pitchFamily="34" charset="0"/>
              </a:rPr>
              <a:t>&gt;Titre &lt;/h2 </a:t>
            </a:r>
            <a:r>
              <a:rPr lang="fr-FR" dirty="0" smtClean="0">
                <a:latin typeface="Maiandra GD" pitchFamily="34" charset="0"/>
              </a:rPr>
              <a:t>&gt;</a:t>
            </a:r>
          </a:p>
          <a:p>
            <a:pPr marL="514350" indent="-514350" algn="just">
              <a:buAutoNum type="arabicPlain"/>
            </a:pPr>
            <a:endParaRPr lang="fr-FR" dirty="0">
              <a:latin typeface="Maiandra GD" pitchFamily="34" charset="0"/>
            </a:endParaRPr>
          </a:p>
          <a:p>
            <a:pPr marL="0" indent="0" algn="just">
              <a:buNone/>
            </a:pPr>
            <a:r>
              <a:rPr lang="fr-FR" dirty="0">
                <a:latin typeface="Maiandra GD" pitchFamily="34" charset="0"/>
              </a:rPr>
              <a:t>Ensuite, il </a:t>
            </a:r>
            <a:r>
              <a:rPr lang="fr-FR" dirty="0" smtClean="0">
                <a:latin typeface="Maiandra GD" pitchFamily="34" charset="0"/>
              </a:rPr>
              <a:t>suffit </a:t>
            </a:r>
            <a:r>
              <a:rPr lang="fr-FR" dirty="0">
                <a:latin typeface="Maiandra GD" pitchFamily="34" charset="0"/>
              </a:rPr>
              <a:t>de créer un lien comme d'habitude, mais cette fois l'attribut </a:t>
            </a:r>
            <a:r>
              <a:rPr lang="fr-FR" dirty="0" smtClean="0">
                <a:latin typeface="Maiandra GD" pitchFamily="34" charset="0"/>
              </a:rPr>
              <a:t>href contiendra </a:t>
            </a:r>
            <a:r>
              <a:rPr lang="fr-FR" dirty="0">
                <a:latin typeface="Maiandra GD" pitchFamily="34" charset="0"/>
              </a:rPr>
              <a:t>un dièse (#) suivi du nom de l'ancre. </a:t>
            </a:r>
          </a:p>
        </p:txBody>
      </p:sp>
      <p:cxnSp>
        <p:nvCxnSpPr>
          <p:cNvPr id="5" name="Connecteur droit 4"/>
          <p:cNvCxnSpPr/>
          <p:nvPr/>
        </p:nvCxnSpPr>
        <p:spPr>
          <a:xfrm>
            <a:off x="539552" y="2924944"/>
            <a:ext cx="0" cy="1152128"/>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731204511"/>
      </p:ext>
    </p:extLst>
  </p:cSld>
  <p:clrMapOvr>
    <a:masterClrMapping/>
  </p:clrMapOvr>
  <p:timing>
    <p:tnLst>
      <p:par>
        <p:cTn id="1" dur="indefinite" restart="never" nodeType="tmRoot"/>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9512" y="188640"/>
            <a:ext cx="8784976" cy="6480720"/>
          </a:xfrm>
        </p:spPr>
        <p:txBody>
          <a:bodyPr>
            <a:normAutofit lnSpcReduction="10000"/>
          </a:bodyPr>
          <a:lstStyle/>
          <a:p>
            <a:pPr marL="0" indent="0">
              <a:buNone/>
            </a:pPr>
            <a:r>
              <a:rPr lang="fr-FR" sz="3500" dirty="0">
                <a:latin typeface="Maiandra GD" pitchFamily="34" charset="0"/>
              </a:rPr>
              <a:t>Exemple :</a:t>
            </a:r>
          </a:p>
          <a:p>
            <a:pPr marL="0" indent="0">
              <a:buNone/>
            </a:pPr>
            <a:endParaRPr lang="fr-FR" sz="1400" dirty="0" smtClean="0">
              <a:latin typeface="Maiandra GD" pitchFamily="34" charset="0"/>
            </a:endParaRPr>
          </a:p>
          <a:p>
            <a:pPr marL="0" indent="0">
              <a:buNone/>
            </a:pPr>
            <a:r>
              <a:rPr lang="fr-FR" dirty="0" smtClean="0">
                <a:latin typeface="Maiandra GD" pitchFamily="34" charset="0"/>
              </a:rPr>
              <a:t>1 &lt;a </a:t>
            </a:r>
            <a:r>
              <a:rPr lang="fr-FR" dirty="0">
                <a:latin typeface="Maiandra GD" pitchFamily="34" charset="0"/>
              </a:rPr>
              <a:t>href =</a:t>
            </a:r>
            <a:r>
              <a:rPr lang="fr-FR" dirty="0">
                <a:solidFill>
                  <a:srgbClr val="FF0000"/>
                </a:solidFill>
                <a:latin typeface="Maiandra GD" pitchFamily="34" charset="0"/>
              </a:rPr>
              <a:t>"# mon_ancre "</a:t>
            </a:r>
            <a:r>
              <a:rPr lang="fr-FR" dirty="0">
                <a:latin typeface="Maiandra GD" pitchFamily="34" charset="0"/>
              </a:rPr>
              <a:t>&gt;Aller vers </a:t>
            </a:r>
            <a:r>
              <a:rPr lang="fr-FR" dirty="0" smtClean="0">
                <a:latin typeface="Maiandra GD" pitchFamily="34" charset="0"/>
              </a:rPr>
              <a:t>l' ancre   </a:t>
            </a:r>
          </a:p>
          <a:p>
            <a:pPr marL="0" indent="0">
              <a:buNone/>
            </a:pPr>
            <a:r>
              <a:rPr lang="fr-FR" dirty="0">
                <a:latin typeface="Maiandra GD" pitchFamily="34" charset="0"/>
              </a:rPr>
              <a:t> </a:t>
            </a:r>
            <a:r>
              <a:rPr lang="fr-FR" dirty="0" smtClean="0">
                <a:latin typeface="Maiandra GD" pitchFamily="34" charset="0"/>
              </a:rPr>
              <a:t>  &lt;/</a:t>
            </a:r>
            <a:r>
              <a:rPr lang="fr-FR" dirty="0">
                <a:latin typeface="Maiandra GD" pitchFamily="34" charset="0"/>
              </a:rPr>
              <a:t>a</a:t>
            </a:r>
            <a:r>
              <a:rPr lang="fr-FR" dirty="0" smtClean="0">
                <a:latin typeface="Maiandra GD" pitchFamily="34" charset="0"/>
              </a:rPr>
              <a:t>&gt; </a:t>
            </a:r>
          </a:p>
          <a:p>
            <a:pPr marL="0" indent="0">
              <a:buNone/>
            </a:pPr>
            <a:endParaRPr lang="fr-FR" sz="2000" dirty="0" smtClean="0">
              <a:latin typeface="Maiandra GD" pitchFamily="34" charset="0"/>
            </a:endParaRPr>
          </a:p>
          <a:p>
            <a:pPr marL="0" indent="0" algn="just">
              <a:buNone/>
            </a:pPr>
            <a:r>
              <a:rPr lang="fr-FR" dirty="0">
                <a:latin typeface="Maiandra GD" pitchFamily="34" charset="0"/>
              </a:rPr>
              <a:t>Normalement, si vous cliquez sur le lien, cela vous amènera plus bas dans la </a:t>
            </a:r>
            <a:r>
              <a:rPr lang="fr-FR" dirty="0" smtClean="0">
                <a:latin typeface="Maiandra GD" pitchFamily="34" charset="0"/>
              </a:rPr>
              <a:t>même page </a:t>
            </a:r>
            <a:r>
              <a:rPr lang="fr-FR" dirty="0">
                <a:latin typeface="Maiandra GD" pitchFamily="34" charset="0"/>
              </a:rPr>
              <a:t>(à condition que la page comporte </a:t>
            </a:r>
            <a:r>
              <a:rPr lang="fr-FR" dirty="0" smtClean="0">
                <a:latin typeface="Maiandra GD" pitchFamily="34" charset="0"/>
              </a:rPr>
              <a:t>suffisamment </a:t>
            </a:r>
            <a:r>
              <a:rPr lang="fr-FR" dirty="0">
                <a:latin typeface="Maiandra GD" pitchFamily="34" charset="0"/>
              </a:rPr>
              <a:t>de texte pour que les </a:t>
            </a:r>
            <a:r>
              <a:rPr lang="fr-FR" dirty="0" smtClean="0">
                <a:latin typeface="Maiandra GD" pitchFamily="34" charset="0"/>
              </a:rPr>
              <a:t>barres de défilement </a:t>
            </a:r>
            <a:r>
              <a:rPr lang="fr-FR" dirty="0">
                <a:latin typeface="Maiandra GD" pitchFamily="34" charset="0"/>
              </a:rPr>
              <a:t>se déplacent automatiquement). </a:t>
            </a:r>
            <a:endParaRPr lang="fr-FR" dirty="0" smtClean="0">
              <a:latin typeface="Maiandra GD" pitchFamily="34" charset="0"/>
            </a:endParaRPr>
          </a:p>
          <a:p>
            <a:pPr marL="0" indent="0" algn="just">
              <a:buNone/>
            </a:pPr>
            <a:r>
              <a:rPr lang="fr-FR" dirty="0" smtClean="0">
                <a:latin typeface="Maiandra GD" pitchFamily="34" charset="0"/>
              </a:rPr>
              <a:t>Voici </a:t>
            </a:r>
            <a:r>
              <a:rPr lang="fr-FR" dirty="0">
                <a:latin typeface="Maiandra GD" pitchFamily="34" charset="0"/>
              </a:rPr>
              <a:t>un exemple de page </a:t>
            </a:r>
            <a:r>
              <a:rPr lang="fr-FR" dirty="0" smtClean="0">
                <a:latin typeface="Maiandra GD" pitchFamily="34" charset="0"/>
              </a:rPr>
              <a:t>comportant beaucoup </a:t>
            </a:r>
            <a:r>
              <a:rPr lang="fr-FR" dirty="0">
                <a:latin typeface="Maiandra GD" pitchFamily="34" charset="0"/>
              </a:rPr>
              <a:t>de texte et utilisant les ancres (j'ai mis n'importe quoi dans le texte </a:t>
            </a:r>
            <a:r>
              <a:rPr lang="fr-FR" dirty="0" smtClean="0">
                <a:latin typeface="Maiandra GD" pitchFamily="34" charset="0"/>
              </a:rPr>
              <a:t>pour remplir </a:t>
            </a:r>
            <a:r>
              <a:rPr lang="fr-FR" dirty="0">
                <a:latin typeface="Maiandra GD" pitchFamily="34" charset="0"/>
              </a:rPr>
              <a:t>) :</a:t>
            </a:r>
          </a:p>
        </p:txBody>
      </p:sp>
      <p:cxnSp>
        <p:nvCxnSpPr>
          <p:cNvPr id="5" name="Connecteur droit 4"/>
          <p:cNvCxnSpPr/>
          <p:nvPr/>
        </p:nvCxnSpPr>
        <p:spPr>
          <a:xfrm>
            <a:off x="539552" y="980728"/>
            <a:ext cx="0" cy="72008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28359310"/>
      </p:ext>
    </p:extLst>
  </p:cSld>
  <p:clrMapOvr>
    <a:masterClrMapping/>
  </p:clrMapOvr>
  <p:timing>
    <p:tnLst>
      <p:par>
        <p:cTn id="1" dur="indefinite" restart="never" nodeType="tmRoot"/>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008" y="188640"/>
            <a:ext cx="8964488" cy="6480720"/>
          </a:xfrm>
          <a:prstGeom prst="rect">
            <a:avLst/>
          </a:prstGeom>
        </p:spPr>
      </p:pic>
    </p:spTree>
    <p:extLst>
      <p:ext uri="{BB962C8B-B14F-4D97-AF65-F5344CB8AC3E}">
        <p14:creationId xmlns:p14="http://schemas.microsoft.com/office/powerpoint/2010/main" val="881288806"/>
      </p:ext>
    </p:extLst>
  </p:cSld>
  <p:clrMapOvr>
    <a:masterClrMapping/>
  </p:clrMapOvr>
  <p:timing>
    <p:tnLst>
      <p:par>
        <p:cTn id="1" dur="indefinite" restart="never" nodeType="tmRoot"/>
      </p:par>
    </p:tn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332656"/>
            <a:ext cx="8640960" cy="6264696"/>
          </a:xfrm>
        </p:spPr>
        <p:txBody>
          <a:bodyPr>
            <a:normAutofit/>
          </a:bodyPr>
          <a:lstStyle/>
          <a:p>
            <a:pPr marL="0" indent="0" algn="just">
              <a:buNone/>
            </a:pPr>
            <a:r>
              <a:rPr lang="fr-FR" dirty="0">
                <a:latin typeface="Maiandra GD" pitchFamily="34" charset="0"/>
              </a:rPr>
              <a:t>L'attribut id sert à donner un nom  unique  à une balise, pour s'en servir </a:t>
            </a:r>
            <a:r>
              <a:rPr lang="fr-FR" dirty="0" smtClean="0">
                <a:latin typeface="Maiandra GD" pitchFamily="34" charset="0"/>
              </a:rPr>
              <a:t>de repère</a:t>
            </a:r>
            <a:r>
              <a:rPr lang="fr-FR" dirty="0">
                <a:latin typeface="Maiandra GD" pitchFamily="34" charset="0"/>
              </a:rPr>
              <a:t>. Et, croyez-moi, vous n'avez </a:t>
            </a:r>
            <a:r>
              <a:rPr lang="fr-FR" dirty="0" smtClean="0">
                <a:latin typeface="Maiandra GD" pitchFamily="34" charset="0"/>
              </a:rPr>
              <a:t>pas fini d'entendre </a:t>
            </a:r>
            <a:r>
              <a:rPr lang="fr-FR" dirty="0">
                <a:latin typeface="Maiandra GD" pitchFamily="34" charset="0"/>
              </a:rPr>
              <a:t>parler de cet attribut.</a:t>
            </a:r>
          </a:p>
          <a:p>
            <a:pPr marL="0" indent="0" algn="just">
              <a:buNone/>
            </a:pPr>
            <a:r>
              <a:rPr lang="fr-FR" dirty="0">
                <a:latin typeface="Maiandra GD" pitchFamily="34" charset="0"/>
              </a:rPr>
              <a:t>Ici, on s'en sert pour faire un lien vers une ancre mais, en CSS, il nous </a:t>
            </a:r>
            <a:r>
              <a:rPr lang="fr-FR" dirty="0" smtClean="0">
                <a:latin typeface="Maiandra GD" pitchFamily="34" charset="0"/>
              </a:rPr>
              <a:t>sera très </a:t>
            </a:r>
            <a:r>
              <a:rPr lang="fr-FR" dirty="0">
                <a:latin typeface="Maiandra GD" pitchFamily="34" charset="0"/>
              </a:rPr>
              <a:t>utile pour  repérer  une balise précise, vous verrez. </a:t>
            </a:r>
            <a:endParaRPr lang="fr-FR" dirty="0" smtClean="0">
              <a:latin typeface="Maiandra GD" pitchFamily="34" charset="0"/>
            </a:endParaRPr>
          </a:p>
          <a:p>
            <a:pPr marL="0" indent="0" algn="just">
              <a:buNone/>
            </a:pPr>
            <a:r>
              <a:rPr lang="fr-FR" dirty="0" smtClean="0">
                <a:latin typeface="Maiandra GD" pitchFamily="34" charset="0"/>
              </a:rPr>
              <a:t>Évitez </a:t>
            </a:r>
            <a:r>
              <a:rPr lang="fr-FR" dirty="0">
                <a:latin typeface="Maiandra GD" pitchFamily="34" charset="0"/>
              </a:rPr>
              <a:t>cependant </a:t>
            </a:r>
            <a:r>
              <a:rPr lang="fr-FR" dirty="0" smtClean="0">
                <a:latin typeface="Maiandra GD" pitchFamily="34" charset="0"/>
              </a:rPr>
              <a:t>de créer </a:t>
            </a:r>
            <a:r>
              <a:rPr lang="fr-FR" dirty="0">
                <a:latin typeface="Maiandra GD" pitchFamily="34" charset="0"/>
              </a:rPr>
              <a:t>des id avec des espaces ou des caractères spéciaux, utilisez </a:t>
            </a:r>
            <a:r>
              <a:rPr lang="fr-FR" dirty="0" smtClean="0">
                <a:latin typeface="Maiandra GD" pitchFamily="34" charset="0"/>
              </a:rPr>
              <a:t>simplement, dans </a:t>
            </a:r>
            <a:r>
              <a:rPr lang="fr-FR" dirty="0">
                <a:latin typeface="Maiandra GD" pitchFamily="34" charset="0"/>
              </a:rPr>
              <a:t>la mesure du possible, des lettres et </a:t>
            </a:r>
            <a:r>
              <a:rPr lang="fr-FR" dirty="0" smtClean="0">
                <a:latin typeface="Maiandra GD" pitchFamily="34" charset="0"/>
              </a:rPr>
              <a:t>chiffres </a:t>
            </a:r>
            <a:r>
              <a:rPr lang="fr-FR" dirty="0">
                <a:latin typeface="Maiandra GD" pitchFamily="34" charset="0"/>
              </a:rPr>
              <a:t>pour que la valeur </a:t>
            </a:r>
            <a:r>
              <a:rPr lang="fr-FR" dirty="0" smtClean="0">
                <a:latin typeface="Maiandra GD" pitchFamily="34" charset="0"/>
              </a:rPr>
              <a:t>soit reconnue </a:t>
            </a:r>
            <a:r>
              <a:rPr lang="fr-FR" dirty="0">
                <a:latin typeface="Maiandra GD" pitchFamily="34" charset="0"/>
              </a:rPr>
              <a:t>par tous les navigateurs.</a:t>
            </a:r>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36296" y="6021288"/>
            <a:ext cx="1454274" cy="71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6528940"/>
      </p:ext>
    </p:extLst>
  </p:cSld>
  <p:clrMapOvr>
    <a:masterClrMapping/>
  </p:clrMapOvr>
  <p:timing>
    <p:tnLst>
      <p:par>
        <p:cTn id="1" dur="indefinite" restart="never" nodeType="tmRoot"/>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FR" sz="4000" dirty="0">
                <a:effectLst>
                  <a:outerShdw blurRad="38100" dist="38100" dir="2700000" algn="tl">
                    <a:srgbClr val="000000">
                      <a:alpha val="43137"/>
                    </a:srgbClr>
                  </a:outerShdw>
                </a:effectLst>
                <a:latin typeface="Maiandra GD" pitchFamily="34" charset="0"/>
              </a:rPr>
              <a:t>Lien vers une ancre située dans une autre page</a:t>
            </a:r>
          </a:p>
        </p:txBody>
      </p:sp>
      <p:sp>
        <p:nvSpPr>
          <p:cNvPr id="3" name="Espace réservé du contenu 2"/>
          <p:cNvSpPr>
            <a:spLocks noGrp="1"/>
          </p:cNvSpPr>
          <p:nvPr>
            <p:ph idx="1"/>
          </p:nvPr>
        </p:nvSpPr>
        <p:spPr>
          <a:xfrm>
            <a:off x="72008" y="1600200"/>
            <a:ext cx="8964488" cy="5069160"/>
          </a:xfrm>
        </p:spPr>
        <p:txBody>
          <a:bodyPr>
            <a:normAutofit/>
          </a:bodyPr>
          <a:lstStyle/>
          <a:p>
            <a:pPr marL="0" indent="0" algn="just">
              <a:buNone/>
            </a:pPr>
            <a:r>
              <a:rPr lang="fr-FR" dirty="0">
                <a:latin typeface="Maiandra GD" pitchFamily="34" charset="0"/>
              </a:rPr>
              <a:t>L'idée, c'est de faire un lien qui ouvre une autre page ET qui amène directement à </a:t>
            </a:r>
            <a:r>
              <a:rPr lang="fr-FR" dirty="0" smtClean="0">
                <a:latin typeface="Maiandra GD" pitchFamily="34" charset="0"/>
              </a:rPr>
              <a:t>une ancre </a:t>
            </a:r>
            <a:r>
              <a:rPr lang="fr-FR" dirty="0">
                <a:latin typeface="Maiandra GD" pitchFamily="34" charset="0"/>
              </a:rPr>
              <a:t>située plus bas sur cette page. </a:t>
            </a:r>
            <a:endParaRPr lang="fr-FR" dirty="0" smtClean="0">
              <a:latin typeface="Maiandra GD" pitchFamily="34" charset="0"/>
            </a:endParaRPr>
          </a:p>
          <a:p>
            <a:pPr marL="0" indent="0" algn="just">
              <a:buNone/>
            </a:pPr>
            <a:r>
              <a:rPr lang="fr-FR" dirty="0" smtClean="0">
                <a:latin typeface="Maiandra GD" pitchFamily="34" charset="0"/>
              </a:rPr>
              <a:t>En </a:t>
            </a:r>
            <a:r>
              <a:rPr lang="fr-FR" dirty="0">
                <a:latin typeface="Maiandra GD" pitchFamily="34" charset="0"/>
              </a:rPr>
              <a:t>pratique c'est assez simple à faire : il </a:t>
            </a:r>
            <a:r>
              <a:rPr lang="fr-FR" dirty="0" smtClean="0">
                <a:latin typeface="Maiandra GD" pitchFamily="34" charset="0"/>
              </a:rPr>
              <a:t>suffit de taper </a:t>
            </a:r>
            <a:r>
              <a:rPr lang="fr-FR" dirty="0">
                <a:latin typeface="Maiandra GD" pitchFamily="34" charset="0"/>
              </a:rPr>
              <a:t>le nom de la page, suivi d'un dièse (#), suivi du nom de l'ancre</a:t>
            </a:r>
            <a:r>
              <a:rPr lang="fr-FR" dirty="0" smtClean="0">
                <a:latin typeface="Maiandra GD" pitchFamily="34" charset="0"/>
              </a:rPr>
              <a:t>.</a:t>
            </a:r>
          </a:p>
          <a:p>
            <a:pPr marL="0" indent="0" algn="just">
              <a:buNone/>
            </a:pPr>
            <a:r>
              <a:rPr lang="fr-FR" dirty="0">
                <a:latin typeface="Maiandra GD" pitchFamily="34" charset="0"/>
              </a:rPr>
              <a:t>Par exemple : &lt;a href="ancres.html#rollers"&gt;</a:t>
            </a:r>
          </a:p>
          <a:p>
            <a:pPr marL="0" indent="0" algn="just">
              <a:buNone/>
            </a:pPr>
            <a:r>
              <a:rPr lang="fr-FR" dirty="0">
                <a:latin typeface="Maiandra GD" pitchFamily="34" charset="0"/>
              </a:rPr>
              <a:t>. . . vous amènera sur la page ancres.html, directement au niveau de l'ancre </a:t>
            </a:r>
            <a:r>
              <a:rPr lang="fr-FR" dirty="0" smtClean="0">
                <a:latin typeface="Maiandra GD" pitchFamily="34" charset="0"/>
              </a:rPr>
              <a:t>appelée rollers</a:t>
            </a:r>
            <a:r>
              <a:rPr lang="fr-FR" dirty="0">
                <a:latin typeface="Maiandra GD" pitchFamily="34" charset="0"/>
              </a:rPr>
              <a:t>.</a:t>
            </a:r>
          </a:p>
        </p:txBody>
      </p:sp>
    </p:spTree>
    <p:extLst>
      <p:ext uri="{BB962C8B-B14F-4D97-AF65-F5344CB8AC3E}">
        <p14:creationId xmlns:p14="http://schemas.microsoft.com/office/powerpoint/2010/main" val="3052583294"/>
      </p:ext>
    </p:extLst>
  </p:cSld>
  <p:clrMapOvr>
    <a:masterClrMapping/>
  </p:clrMapOvr>
  <p:timing>
    <p:tnLst>
      <p:par>
        <p:cTn id="1" dur="indefinite" restart="never" nodeType="tmRoot"/>
      </p:par>
    </p:tn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04" y="116632"/>
            <a:ext cx="8964488" cy="6669361"/>
          </a:xfrm>
          <a:prstGeom prst="rect">
            <a:avLst/>
          </a:prstGeom>
        </p:spPr>
      </p:pic>
    </p:spTree>
    <p:extLst>
      <p:ext uri="{BB962C8B-B14F-4D97-AF65-F5344CB8AC3E}">
        <p14:creationId xmlns:p14="http://schemas.microsoft.com/office/powerpoint/2010/main" val="4244701499"/>
      </p:ext>
    </p:extLst>
  </p:cSld>
  <p:clrMapOvr>
    <a:masterClrMapping/>
  </p:clrMapOvr>
  <p:timing>
    <p:tnLst>
      <p:par>
        <p:cTn id="1" dur="indefinite" restart="never" nodeType="tmRoot"/>
      </p:par>
    </p:tn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51520" y="188640"/>
            <a:ext cx="8640960" cy="1143000"/>
          </a:xfrm>
        </p:spPr>
        <p:txBody>
          <a:bodyPr>
            <a:normAutofit/>
          </a:bodyPr>
          <a:lstStyle/>
          <a:p>
            <a:r>
              <a:rPr lang="fr-FR" dirty="0">
                <a:effectLst>
                  <a:outerShdw blurRad="38100" dist="38100" dir="2700000" algn="tl">
                    <a:srgbClr val="000000">
                      <a:alpha val="43137"/>
                    </a:srgbClr>
                  </a:outerShdw>
                </a:effectLst>
                <a:latin typeface="Maiandra GD" pitchFamily="34" charset="0"/>
              </a:rPr>
              <a:t>Cas pratiques d'utilisation des liens</a:t>
            </a:r>
          </a:p>
        </p:txBody>
      </p:sp>
      <p:sp>
        <p:nvSpPr>
          <p:cNvPr id="3" name="Espace réservé du contenu 2"/>
          <p:cNvSpPr>
            <a:spLocks noGrp="1"/>
          </p:cNvSpPr>
          <p:nvPr>
            <p:ph idx="1"/>
          </p:nvPr>
        </p:nvSpPr>
        <p:spPr>
          <a:xfrm>
            <a:off x="251520" y="1412776"/>
            <a:ext cx="8640960" cy="5184576"/>
          </a:xfrm>
        </p:spPr>
        <p:txBody>
          <a:bodyPr>
            <a:normAutofit/>
          </a:bodyPr>
          <a:lstStyle/>
          <a:p>
            <a:pPr marL="0" indent="0" algn="just">
              <a:buNone/>
            </a:pPr>
            <a:r>
              <a:rPr lang="fr-FR" sz="3600" dirty="0">
                <a:latin typeface="Maiandra GD" pitchFamily="34" charset="0"/>
              </a:rPr>
              <a:t>Je vais essayer de vous montrer ici quelques cas pratiques d'utilisation des liens. </a:t>
            </a:r>
            <a:endParaRPr lang="fr-FR" sz="3600" dirty="0" smtClean="0">
              <a:latin typeface="Maiandra GD" pitchFamily="34" charset="0"/>
            </a:endParaRPr>
          </a:p>
          <a:p>
            <a:pPr marL="0" indent="0" algn="just">
              <a:buNone/>
            </a:pPr>
            <a:endParaRPr lang="fr-FR" sz="2000" dirty="0" smtClean="0">
              <a:latin typeface="Maiandra GD" pitchFamily="34" charset="0"/>
            </a:endParaRPr>
          </a:p>
          <a:p>
            <a:pPr marL="0" indent="0" algn="just">
              <a:buNone/>
            </a:pPr>
            <a:r>
              <a:rPr lang="fr-FR" sz="3600" dirty="0" smtClean="0">
                <a:latin typeface="Maiandra GD" pitchFamily="34" charset="0"/>
              </a:rPr>
              <a:t>Par exemple</a:t>
            </a:r>
            <a:r>
              <a:rPr lang="fr-FR" sz="3600" dirty="0">
                <a:latin typeface="Maiandra GD" pitchFamily="34" charset="0"/>
              </a:rPr>
              <a:t>, saviez-vous qu'il est très facile de faire des liens qui lancent un </a:t>
            </a:r>
            <a:r>
              <a:rPr lang="fr-FR" sz="3600" dirty="0" smtClean="0">
                <a:latin typeface="Maiandra GD" pitchFamily="34" charset="0"/>
              </a:rPr>
              <a:t>téléchargement ?</a:t>
            </a:r>
          </a:p>
          <a:p>
            <a:pPr marL="0" indent="0" algn="just">
              <a:buNone/>
            </a:pPr>
            <a:r>
              <a:rPr lang="fr-FR" sz="3600" dirty="0" smtClean="0">
                <a:latin typeface="Maiandra GD" pitchFamily="34" charset="0"/>
              </a:rPr>
              <a:t>Qui </a:t>
            </a:r>
            <a:r>
              <a:rPr lang="fr-FR" sz="3600" dirty="0">
                <a:latin typeface="Maiandra GD" pitchFamily="34" charset="0"/>
              </a:rPr>
              <a:t>créent un nouvel e-mail ? Qui ouvrent une nouvelle fenêtre ?</a:t>
            </a:r>
          </a:p>
        </p:txBody>
      </p:sp>
    </p:spTree>
    <p:extLst>
      <p:ext uri="{BB962C8B-B14F-4D97-AF65-F5344CB8AC3E}">
        <p14:creationId xmlns:p14="http://schemas.microsoft.com/office/powerpoint/2010/main" val="2367900617"/>
      </p:ext>
    </p:extLst>
  </p:cSld>
  <p:clrMapOvr>
    <a:masterClrMapping/>
  </p:clrMapOvr>
  <p:timing>
    <p:tnLst>
      <p:par>
        <p:cTn id="1" dur="indefinite" restart="never" nodeType="tmRoot"/>
      </p:par>
    </p:tn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effectLst>
                  <a:outerShdw blurRad="38100" dist="38100" dir="2700000" algn="tl">
                    <a:srgbClr val="000000">
                      <a:alpha val="43137"/>
                    </a:srgbClr>
                  </a:outerShdw>
                </a:effectLst>
                <a:latin typeface="Maiandra GD" pitchFamily="34" charset="0"/>
              </a:rPr>
              <a:t>Un lien qui </a:t>
            </a:r>
            <a:r>
              <a:rPr lang="fr-FR" dirty="0" smtClean="0">
                <a:effectLst>
                  <a:outerShdw blurRad="38100" dist="38100" dir="2700000" algn="tl">
                    <a:srgbClr val="000000">
                      <a:alpha val="43137"/>
                    </a:srgbClr>
                  </a:outerShdw>
                </a:effectLst>
                <a:latin typeface="Maiandra GD" pitchFamily="34" charset="0"/>
              </a:rPr>
              <a:t>affiche </a:t>
            </a:r>
            <a:r>
              <a:rPr lang="fr-FR" dirty="0">
                <a:effectLst>
                  <a:outerShdw blurRad="38100" dist="38100" dir="2700000" algn="tl">
                    <a:srgbClr val="000000">
                      <a:alpha val="43137"/>
                    </a:srgbClr>
                  </a:outerShdw>
                </a:effectLst>
                <a:latin typeface="Maiandra GD" pitchFamily="34" charset="0"/>
              </a:rPr>
              <a:t>une infobulle au survol</a:t>
            </a:r>
          </a:p>
        </p:txBody>
      </p:sp>
      <p:sp>
        <p:nvSpPr>
          <p:cNvPr id="3" name="Espace réservé du contenu 2"/>
          <p:cNvSpPr>
            <a:spLocks noGrp="1"/>
          </p:cNvSpPr>
          <p:nvPr>
            <p:ph idx="1"/>
          </p:nvPr>
        </p:nvSpPr>
        <p:spPr>
          <a:xfrm>
            <a:off x="179512" y="1600200"/>
            <a:ext cx="8712968" cy="4997152"/>
          </a:xfrm>
        </p:spPr>
        <p:txBody>
          <a:bodyPr/>
          <a:lstStyle/>
          <a:p>
            <a:pPr marL="0" indent="0" algn="just">
              <a:buNone/>
            </a:pPr>
            <a:r>
              <a:rPr lang="fr-FR" dirty="0">
                <a:latin typeface="Maiandra GD" pitchFamily="34" charset="0"/>
              </a:rPr>
              <a:t>Vous pouvez utiliser l'attribut </a:t>
            </a:r>
            <a:r>
              <a:rPr lang="fr-FR" dirty="0">
                <a:effectLst>
                  <a:outerShdw blurRad="38100" dist="38100" dir="2700000" algn="tl">
                    <a:srgbClr val="000000">
                      <a:alpha val="43137"/>
                    </a:srgbClr>
                  </a:outerShdw>
                </a:effectLst>
                <a:latin typeface="Maiandra GD" pitchFamily="34" charset="0"/>
              </a:rPr>
              <a:t>title</a:t>
            </a:r>
            <a:r>
              <a:rPr lang="fr-FR" dirty="0">
                <a:latin typeface="Maiandra GD" pitchFamily="34" charset="0"/>
              </a:rPr>
              <a:t> qui </a:t>
            </a:r>
            <a:r>
              <a:rPr lang="fr-FR" dirty="0" smtClean="0">
                <a:latin typeface="Maiandra GD" pitchFamily="34" charset="0"/>
              </a:rPr>
              <a:t>affiche </a:t>
            </a:r>
            <a:r>
              <a:rPr lang="fr-FR" dirty="0">
                <a:latin typeface="Maiandra GD" pitchFamily="34" charset="0"/>
              </a:rPr>
              <a:t>une bulle d'aide lorsqu'on pointe </a:t>
            </a:r>
            <a:r>
              <a:rPr lang="fr-FR" dirty="0" smtClean="0">
                <a:latin typeface="Maiandra GD" pitchFamily="34" charset="0"/>
              </a:rPr>
              <a:t>sur le </a:t>
            </a:r>
            <a:r>
              <a:rPr lang="fr-FR" dirty="0">
                <a:latin typeface="Maiandra GD" pitchFamily="34" charset="0"/>
              </a:rPr>
              <a:t>lien. Cet attribut est facultatif.</a:t>
            </a:r>
          </a:p>
          <a:p>
            <a:pPr marL="0" indent="0" algn="just">
              <a:buNone/>
            </a:pPr>
            <a:r>
              <a:rPr lang="fr-FR" dirty="0">
                <a:latin typeface="Maiandra GD" pitchFamily="34" charset="0"/>
              </a:rPr>
              <a:t>Vous aurez un résultat ressemblant à la </a:t>
            </a:r>
            <a:r>
              <a:rPr lang="fr-FR" dirty="0" smtClean="0">
                <a:latin typeface="Maiandra GD" pitchFamily="34" charset="0"/>
              </a:rPr>
              <a:t>figure ci-dessous:</a:t>
            </a:r>
          </a:p>
          <a:p>
            <a:pPr marL="0" indent="0" algn="just">
              <a:buNone/>
            </a:pPr>
            <a:endParaRPr lang="fr-FR" dirty="0">
              <a:latin typeface="Maiandra GD" pitchFamily="34" charset="0"/>
            </a:endParaRPr>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4509120"/>
            <a:ext cx="7848872" cy="21328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89262338"/>
      </p:ext>
    </p:extLst>
  </p:cSld>
  <p:clrMapOvr>
    <a:masterClrMapping/>
  </p:clrMapOvr>
  <p:timing>
    <p:tnLst>
      <p:par>
        <p:cTn id="1" dur="indefinite" restart="never" nodeType="tmRoot"/>
      </p:par>
    </p:tn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9512" y="404664"/>
            <a:ext cx="8712968" cy="6120680"/>
          </a:xfrm>
        </p:spPr>
        <p:txBody>
          <a:bodyPr/>
          <a:lstStyle/>
          <a:p>
            <a:pPr marL="0" indent="0" algn="just">
              <a:buNone/>
            </a:pPr>
            <a:r>
              <a:rPr lang="fr-FR" dirty="0">
                <a:latin typeface="Maiandra GD" pitchFamily="34" charset="0"/>
              </a:rPr>
              <a:t>La bulle d'aide peut être utile pour informer le visiteur avant même qu'il n'ait </a:t>
            </a:r>
            <a:r>
              <a:rPr lang="fr-FR" dirty="0" smtClean="0">
                <a:latin typeface="Maiandra GD" pitchFamily="34" charset="0"/>
              </a:rPr>
              <a:t>cliqué sur </a:t>
            </a:r>
            <a:r>
              <a:rPr lang="fr-FR" dirty="0">
                <a:latin typeface="Maiandra GD" pitchFamily="34" charset="0"/>
              </a:rPr>
              <a:t>le lien. Voici comment reproduire ce résultat </a:t>
            </a:r>
            <a:r>
              <a:rPr lang="fr-FR" dirty="0" smtClean="0">
                <a:latin typeface="Maiandra GD" pitchFamily="34" charset="0"/>
              </a:rPr>
              <a:t>:</a:t>
            </a:r>
          </a:p>
          <a:p>
            <a:pPr marL="0" indent="0" algn="just">
              <a:buNone/>
            </a:pPr>
            <a:endParaRPr lang="fr-FR" dirty="0">
              <a:latin typeface="Maiandra GD" pitchFamily="34" charset="0"/>
            </a:endParaRPr>
          </a:p>
          <a:p>
            <a:pPr marL="0" indent="0">
              <a:buNone/>
            </a:pPr>
            <a:r>
              <a:rPr lang="fr-FR" dirty="0">
                <a:latin typeface="Maiandra GD" pitchFamily="34" charset="0"/>
              </a:rPr>
              <a:t>1 </a:t>
            </a:r>
            <a:r>
              <a:rPr lang="fr-FR" dirty="0" smtClean="0">
                <a:latin typeface="Maiandra GD" pitchFamily="34" charset="0"/>
              </a:rPr>
              <a:t>  &lt;</a:t>
            </a:r>
            <a:r>
              <a:rPr lang="fr-FR" dirty="0">
                <a:latin typeface="Maiandra GD" pitchFamily="34" charset="0"/>
              </a:rPr>
              <a:t>p&gt;Bonjour . Souhaitez - vous visiter le </a:t>
            </a:r>
            <a:r>
              <a:rPr lang="fr-FR" dirty="0" smtClean="0">
                <a:latin typeface="Maiandra GD" pitchFamily="34" charset="0"/>
              </a:rPr>
              <a:t>       </a:t>
            </a:r>
          </a:p>
          <a:p>
            <a:pPr marL="0" indent="0">
              <a:buNone/>
            </a:pPr>
            <a:r>
              <a:rPr lang="fr-FR" dirty="0">
                <a:latin typeface="Maiandra GD" pitchFamily="34" charset="0"/>
              </a:rPr>
              <a:t> </a:t>
            </a:r>
            <a:r>
              <a:rPr lang="fr-FR" dirty="0" smtClean="0">
                <a:latin typeface="Maiandra GD" pitchFamily="34" charset="0"/>
              </a:rPr>
              <a:t>    &lt;</a:t>
            </a:r>
            <a:r>
              <a:rPr lang="fr-FR" dirty="0">
                <a:latin typeface="Maiandra GD" pitchFamily="34" charset="0"/>
              </a:rPr>
              <a:t>a href =</a:t>
            </a:r>
            <a:r>
              <a:rPr lang="fr-FR" dirty="0">
                <a:solidFill>
                  <a:srgbClr val="FF0000"/>
                </a:solidFill>
                <a:latin typeface="Maiandra GD" pitchFamily="34" charset="0"/>
              </a:rPr>
              <a:t>"</a:t>
            </a:r>
            <a:r>
              <a:rPr lang="fr-FR" dirty="0">
                <a:latin typeface="Maiandra GD" pitchFamily="34" charset="0"/>
              </a:rPr>
              <a:t> </a:t>
            </a:r>
            <a:r>
              <a:rPr lang="fr-FR" dirty="0">
                <a:solidFill>
                  <a:srgbClr val="FF0000"/>
                </a:solidFill>
                <a:latin typeface="Maiandra GD" pitchFamily="34" charset="0"/>
              </a:rPr>
              <a:t>http</a:t>
            </a:r>
            <a:r>
              <a:rPr lang="fr-FR" dirty="0">
                <a:latin typeface="Maiandra GD" pitchFamily="34" charset="0"/>
              </a:rPr>
              <a:t> </a:t>
            </a:r>
            <a:r>
              <a:rPr lang="fr-FR" dirty="0">
                <a:solidFill>
                  <a:srgbClr val="FF0000"/>
                </a:solidFill>
                <a:latin typeface="Maiandra GD" pitchFamily="34" charset="0"/>
              </a:rPr>
              <a:t>:// </a:t>
            </a:r>
            <a:r>
              <a:rPr lang="fr-FR" dirty="0" smtClean="0">
                <a:solidFill>
                  <a:srgbClr val="FF0000"/>
                </a:solidFill>
                <a:latin typeface="Maiandra GD" pitchFamily="34" charset="0"/>
              </a:rPr>
              <a:t>www.siteduzero.com</a:t>
            </a:r>
            <a:r>
              <a:rPr lang="fr-FR" dirty="0">
                <a:solidFill>
                  <a:srgbClr val="FF0000"/>
                </a:solidFill>
                <a:latin typeface="Maiandra GD" pitchFamily="34" charset="0"/>
              </a:rPr>
              <a:t>"</a:t>
            </a:r>
            <a:r>
              <a:rPr lang="fr-FR" dirty="0">
                <a:latin typeface="Maiandra GD" pitchFamily="34" charset="0"/>
              </a:rPr>
              <a:t> </a:t>
            </a:r>
            <a:r>
              <a:rPr lang="fr-FR" dirty="0" smtClean="0">
                <a:latin typeface="Maiandra GD" pitchFamily="34" charset="0"/>
              </a:rPr>
              <a:t>  </a:t>
            </a:r>
          </a:p>
          <a:p>
            <a:pPr marL="0" indent="0">
              <a:buNone/>
            </a:pPr>
            <a:r>
              <a:rPr lang="fr-FR" dirty="0">
                <a:latin typeface="Maiandra GD" pitchFamily="34" charset="0"/>
              </a:rPr>
              <a:t> </a:t>
            </a:r>
            <a:r>
              <a:rPr lang="fr-FR" dirty="0" smtClean="0">
                <a:latin typeface="Maiandra GD" pitchFamily="34" charset="0"/>
              </a:rPr>
              <a:t>   title </a:t>
            </a:r>
            <a:r>
              <a:rPr lang="fr-FR" dirty="0">
                <a:latin typeface="Maiandra GD" pitchFamily="34" charset="0"/>
              </a:rPr>
              <a:t>=</a:t>
            </a:r>
            <a:r>
              <a:rPr lang="fr-FR" dirty="0">
                <a:solidFill>
                  <a:srgbClr val="FF0000"/>
                </a:solidFill>
                <a:latin typeface="Maiandra GD" pitchFamily="34" charset="0"/>
              </a:rPr>
              <a:t>"</a:t>
            </a:r>
            <a:r>
              <a:rPr lang="fr-FR" dirty="0" smtClean="0">
                <a:solidFill>
                  <a:srgbClr val="FF0000"/>
                </a:solidFill>
                <a:latin typeface="Maiandra GD" pitchFamily="34" charset="0"/>
              </a:rPr>
              <a:t>Réservé </a:t>
            </a:r>
            <a:r>
              <a:rPr lang="fr-FR" dirty="0">
                <a:solidFill>
                  <a:srgbClr val="FF0000"/>
                </a:solidFill>
                <a:latin typeface="Maiandra GD" pitchFamily="34" charset="0"/>
              </a:rPr>
              <a:t>aux </a:t>
            </a:r>
            <a:r>
              <a:rPr lang="fr-FR" dirty="0" smtClean="0">
                <a:solidFill>
                  <a:srgbClr val="FF0000"/>
                </a:solidFill>
                <a:latin typeface="Maiandra GD" pitchFamily="34" charset="0"/>
              </a:rPr>
              <a:t>débutants </a:t>
            </a:r>
            <a:r>
              <a:rPr lang="fr-FR" dirty="0">
                <a:solidFill>
                  <a:srgbClr val="FF0000"/>
                </a:solidFill>
                <a:latin typeface="Maiandra GD" pitchFamily="34" charset="0"/>
              </a:rPr>
              <a:t>"</a:t>
            </a:r>
            <a:r>
              <a:rPr lang="fr-FR" dirty="0">
                <a:latin typeface="Maiandra GD" pitchFamily="34" charset="0"/>
              </a:rPr>
              <a:t>&gt;Site du Zéro </a:t>
            </a:r>
            <a:r>
              <a:rPr lang="fr-FR" dirty="0" smtClean="0">
                <a:latin typeface="Maiandra GD" pitchFamily="34" charset="0"/>
              </a:rPr>
              <a:t>  </a:t>
            </a:r>
          </a:p>
          <a:p>
            <a:pPr marL="0" indent="0">
              <a:buNone/>
            </a:pPr>
            <a:r>
              <a:rPr lang="fr-FR" dirty="0">
                <a:latin typeface="Maiandra GD" pitchFamily="34" charset="0"/>
              </a:rPr>
              <a:t> </a:t>
            </a:r>
            <a:r>
              <a:rPr lang="fr-FR" dirty="0" smtClean="0">
                <a:latin typeface="Maiandra GD" pitchFamily="34" charset="0"/>
              </a:rPr>
              <a:t>   &lt;/a</a:t>
            </a:r>
            <a:r>
              <a:rPr lang="fr-FR" dirty="0">
                <a:latin typeface="Maiandra GD" pitchFamily="34" charset="0"/>
              </a:rPr>
              <a:t>&gt; ?&lt;/p&gt;</a:t>
            </a:r>
          </a:p>
        </p:txBody>
      </p:sp>
      <p:cxnSp>
        <p:nvCxnSpPr>
          <p:cNvPr id="6" name="Connecteur droit 5"/>
          <p:cNvCxnSpPr/>
          <p:nvPr/>
        </p:nvCxnSpPr>
        <p:spPr>
          <a:xfrm>
            <a:off x="539552" y="2420888"/>
            <a:ext cx="0" cy="936104"/>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620455652"/>
      </p:ext>
    </p:extLst>
  </p:cSld>
  <p:clrMapOvr>
    <a:masterClrMapping/>
  </p:clrMapOvr>
  <p:timing>
    <p:tnLst>
      <p:par>
        <p:cTn id="1" dur="indefinite" restart="never" nodeType="tmRoot"/>
      </p:par>
    </p:tn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9512" y="274638"/>
            <a:ext cx="8712968" cy="1143000"/>
          </a:xfrm>
        </p:spPr>
        <p:txBody>
          <a:bodyPr>
            <a:noAutofit/>
          </a:bodyPr>
          <a:lstStyle/>
          <a:p>
            <a:r>
              <a:rPr lang="fr-FR" sz="3800" dirty="0">
                <a:effectLst>
                  <a:outerShdw blurRad="38100" dist="38100" dir="2700000" algn="tl">
                    <a:srgbClr val="000000">
                      <a:alpha val="43137"/>
                    </a:srgbClr>
                  </a:outerShdw>
                </a:effectLst>
                <a:latin typeface="Maiandra GD" pitchFamily="34" charset="0"/>
              </a:rPr>
              <a:t>Un lien qui ouvre une nouvelle fenêtre</a:t>
            </a:r>
          </a:p>
        </p:txBody>
      </p:sp>
      <p:sp>
        <p:nvSpPr>
          <p:cNvPr id="3" name="Espace réservé du contenu 2"/>
          <p:cNvSpPr>
            <a:spLocks noGrp="1"/>
          </p:cNvSpPr>
          <p:nvPr>
            <p:ph idx="1"/>
          </p:nvPr>
        </p:nvSpPr>
        <p:spPr>
          <a:xfrm>
            <a:off x="179512" y="1412776"/>
            <a:ext cx="8784976" cy="5112568"/>
          </a:xfrm>
        </p:spPr>
        <p:txBody>
          <a:bodyPr>
            <a:normAutofit/>
          </a:bodyPr>
          <a:lstStyle/>
          <a:p>
            <a:pPr marL="0" indent="0" algn="just">
              <a:buNone/>
            </a:pPr>
            <a:r>
              <a:rPr lang="fr-FR" dirty="0">
                <a:latin typeface="Maiandra GD" pitchFamily="34" charset="0"/>
              </a:rPr>
              <a:t>Il est possible de  </a:t>
            </a:r>
            <a:r>
              <a:rPr lang="fr-FR" dirty="0" smtClean="0">
                <a:latin typeface="Maiandra GD" pitchFamily="34" charset="0"/>
              </a:rPr>
              <a:t>« forcer »  </a:t>
            </a:r>
            <a:r>
              <a:rPr lang="fr-FR" dirty="0">
                <a:latin typeface="Maiandra GD" pitchFamily="34" charset="0"/>
              </a:rPr>
              <a:t>l'ouverture d'un lien dans une nouvelle fenêtre. Pour </a:t>
            </a:r>
            <a:r>
              <a:rPr lang="fr-FR" dirty="0" smtClean="0">
                <a:latin typeface="Maiandra GD" pitchFamily="34" charset="0"/>
              </a:rPr>
              <a:t>cela, on </a:t>
            </a:r>
            <a:r>
              <a:rPr lang="fr-FR" dirty="0">
                <a:latin typeface="Maiandra GD" pitchFamily="34" charset="0"/>
              </a:rPr>
              <a:t>rajoutera target="_blank" à la balise &lt;a&gt; </a:t>
            </a:r>
            <a:r>
              <a:rPr lang="fr-FR" dirty="0" smtClean="0">
                <a:latin typeface="Maiandra GD" pitchFamily="34" charset="0"/>
              </a:rPr>
              <a:t>:</a:t>
            </a:r>
          </a:p>
          <a:p>
            <a:pPr marL="0" indent="0" algn="just">
              <a:buNone/>
            </a:pPr>
            <a:endParaRPr lang="fr-FR" sz="1600" dirty="0" smtClean="0">
              <a:latin typeface="Maiandra GD" pitchFamily="34" charset="0"/>
            </a:endParaRPr>
          </a:p>
          <a:p>
            <a:pPr marL="514350" indent="-514350">
              <a:buAutoNum type="arabicPlain"/>
            </a:pPr>
            <a:r>
              <a:rPr lang="fr-FR" dirty="0" smtClean="0"/>
              <a:t>&lt;</a:t>
            </a:r>
            <a:r>
              <a:rPr lang="fr-FR" dirty="0"/>
              <a:t>p</a:t>
            </a:r>
            <a:r>
              <a:rPr lang="fr-FR" dirty="0" smtClean="0"/>
              <a:t>&gt; Bonjour </a:t>
            </a:r>
            <a:r>
              <a:rPr lang="fr-FR" dirty="0"/>
              <a:t>. Souhaitez - vous visiter le &lt;a href </a:t>
            </a:r>
            <a:r>
              <a:rPr lang="fr-FR" dirty="0" smtClean="0"/>
              <a:t>  </a:t>
            </a:r>
          </a:p>
          <a:p>
            <a:pPr marL="0" indent="0">
              <a:buNone/>
            </a:pPr>
            <a:r>
              <a:rPr lang="fr-FR" dirty="0"/>
              <a:t> </a:t>
            </a:r>
            <a:r>
              <a:rPr lang="fr-FR" dirty="0" smtClean="0"/>
              <a:t>     =</a:t>
            </a:r>
            <a:r>
              <a:rPr lang="fr-FR" dirty="0" smtClean="0">
                <a:solidFill>
                  <a:srgbClr val="FF0000"/>
                </a:solidFill>
              </a:rPr>
              <a:t>" </a:t>
            </a:r>
            <a:r>
              <a:rPr lang="fr-FR" dirty="0">
                <a:solidFill>
                  <a:srgbClr val="FF0000"/>
                </a:solidFill>
              </a:rPr>
              <a:t>http :// </a:t>
            </a:r>
            <a:r>
              <a:rPr lang="fr-FR" dirty="0" smtClean="0">
                <a:solidFill>
                  <a:srgbClr val="FF0000"/>
                </a:solidFill>
              </a:rPr>
              <a:t>www.</a:t>
            </a:r>
            <a:r>
              <a:rPr lang="pt-BR" dirty="0" smtClean="0">
                <a:solidFill>
                  <a:srgbClr val="FF0000"/>
                </a:solidFill>
              </a:rPr>
              <a:t>siteduzero </a:t>
            </a:r>
            <a:r>
              <a:rPr lang="pt-BR" dirty="0">
                <a:solidFill>
                  <a:srgbClr val="FF0000"/>
                </a:solidFill>
              </a:rPr>
              <a:t>.com"</a:t>
            </a:r>
            <a:r>
              <a:rPr lang="pt-BR" dirty="0"/>
              <a:t> target </a:t>
            </a:r>
            <a:r>
              <a:rPr lang="pt-BR" dirty="0">
                <a:solidFill>
                  <a:srgbClr val="FF0000"/>
                </a:solidFill>
              </a:rPr>
              <a:t>=" </a:t>
            </a:r>
            <a:r>
              <a:rPr lang="pt-BR" dirty="0" smtClean="0">
                <a:solidFill>
                  <a:srgbClr val="FF0000"/>
                </a:solidFill>
              </a:rPr>
              <a:t>  </a:t>
            </a:r>
          </a:p>
          <a:p>
            <a:pPr marL="0" indent="0">
              <a:buNone/>
            </a:pPr>
            <a:r>
              <a:rPr lang="pt-BR" dirty="0">
                <a:solidFill>
                  <a:srgbClr val="FF0000"/>
                </a:solidFill>
              </a:rPr>
              <a:t> </a:t>
            </a:r>
            <a:r>
              <a:rPr lang="pt-BR" dirty="0" smtClean="0">
                <a:solidFill>
                  <a:srgbClr val="FF0000"/>
                </a:solidFill>
              </a:rPr>
              <a:t>     _</a:t>
            </a:r>
            <a:r>
              <a:rPr lang="pt-BR" dirty="0">
                <a:solidFill>
                  <a:srgbClr val="FF0000"/>
                </a:solidFill>
              </a:rPr>
              <a:t>blank "</a:t>
            </a:r>
            <a:r>
              <a:rPr lang="pt-BR" dirty="0"/>
              <a:t>&gt;Site du Zéro </a:t>
            </a:r>
            <a:r>
              <a:rPr lang="pt-BR" dirty="0" smtClean="0"/>
              <a:t>&lt;/</a:t>
            </a:r>
            <a:r>
              <a:rPr lang="pt-BR" dirty="0"/>
              <a:t>a&gt; ?&lt;br /&gt;</a:t>
            </a:r>
          </a:p>
          <a:p>
            <a:pPr marL="0" indent="0">
              <a:buNone/>
            </a:pPr>
            <a:r>
              <a:rPr lang="fr-FR" dirty="0"/>
              <a:t>2 </a:t>
            </a:r>
            <a:r>
              <a:rPr lang="fr-FR" dirty="0" smtClean="0"/>
              <a:t>   Le </a:t>
            </a:r>
            <a:r>
              <a:rPr lang="fr-FR" dirty="0"/>
              <a:t>site s' affichera dans une autre </a:t>
            </a:r>
            <a:r>
              <a:rPr lang="fr-FR" dirty="0" smtClean="0"/>
              <a:t>fenêtre</a:t>
            </a:r>
            <a:r>
              <a:rPr lang="fr-FR" dirty="0"/>
              <a:t>.&lt;/p&gt;</a:t>
            </a:r>
            <a:endParaRPr lang="fr-FR" dirty="0">
              <a:latin typeface="Maiandra GD" pitchFamily="34" charset="0"/>
            </a:endParaRPr>
          </a:p>
        </p:txBody>
      </p:sp>
      <p:cxnSp>
        <p:nvCxnSpPr>
          <p:cNvPr id="5" name="Connecteur droit 4"/>
          <p:cNvCxnSpPr/>
          <p:nvPr/>
        </p:nvCxnSpPr>
        <p:spPr>
          <a:xfrm>
            <a:off x="611560" y="3140968"/>
            <a:ext cx="0" cy="3312368"/>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277029291"/>
      </p:ext>
    </p:extLst>
  </p:cSld>
  <p:clrMapOvr>
    <a:masterClrMapping/>
  </p:clrMapOvr>
  <p:timing>
    <p:tnLst>
      <p:par>
        <p:cTn id="1" dur="indefinite" restart="never" nodeType="tmRoot"/>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9512" y="332656"/>
            <a:ext cx="8712968" cy="6120680"/>
          </a:xfrm>
        </p:spPr>
        <p:txBody>
          <a:bodyPr>
            <a:normAutofit/>
          </a:bodyPr>
          <a:lstStyle/>
          <a:p>
            <a:pPr marL="0" indent="0" algn="just">
              <a:buNone/>
            </a:pPr>
            <a:r>
              <a:rPr lang="fr-FR" sz="3600" dirty="0">
                <a:latin typeface="Maiandra GD" pitchFamily="34" charset="0"/>
              </a:rPr>
              <a:t>Notez cependant qu'il est déconseillé d'abuser de cette technique car </a:t>
            </a:r>
            <a:r>
              <a:rPr lang="fr-FR" sz="3600" dirty="0" smtClean="0">
                <a:latin typeface="Maiandra GD" pitchFamily="34" charset="0"/>
              </a:rPr>
              <a:t>elle perturbe la navigation</a:t>
            </a:r>
            <a:r>
              <a:rPr lang="fr-FR" sz="3600" dirty="0">
                <a:latin typeface="Maiandra GD" pitchFamily="34" charset="0"/>
              </a:rPr>
              <a:t>. </a:t>
            </a:r>
            <a:endParaRPr lang="fr-FR" sz="3600" dirty="0" smtClean="0">
              <a:latin typeface="Maiandra GD" pitchFamily="34" charset="0"/>
            </a:endParaRPr>
          </a:p>
          <a:p>
            <a:pPr marL="0" indent="0" algn="just">
              <a:buNone/>
            </a:pPr>
            <a:r>
              <a:rPr lang="fr-FR" sz="3600" dirty="0" smtClean="0">
                <a:latin typeface="Maiandra GD" pitchFamily="34" charset="0"/>
              </a:rPr>
              <a:t>Le </a:t>
            </a:r>
            <a:r>
              <a:rPr lang="fr-FR" sz="3600" dirty="0">
                <a:latin typeface="Maiandra GD" pitchFamily="34" charset="0"/>
              </a:rPr>
              <a:t>visiteur lui-même peut décider s'il veut ouvrir </a:t>
            </a:r>
            <a:r>
              <a:rPr lang="fr-FR" sz="3600" dirty="0" smtClean="0">
                <a:latin typeface="Maiandra GD" pitchFamily="34" charset="0"/>
              </a:rPr>
              <a:t>le lien </a:t>
            </a:r>
            <a:r>
              <a:rPr lang="fr-FR" sz="3600" dirty="0">
                <a:latin typeface="Maiandra GD" pitchFamily="34" charset="0"/>
              </a:rPr>
              <a:t>dans une nouvelle fenêtre. </a:t>
            </a:r>
            <a:endParaRPr lang="fr-FR" sz="3600" dirty="0" smtClean="0">
              <a:latin typeface="Maiandra GD" pitchFamily="34" charset="0"/>
            </a:endParaRPr>
          </a:p>
          <a:p>
            <a:pPr marL="0" indent="0" algn="just">
              <a:buNone/>
            </a:pPr>
            <a:r>
              <a:rPr lang="fr-FR" sz="3600" dirty="0" smtClean="0">
                <a:latin typeface="Maiandra GD" pitchFamily="34" charset="0"/>
              </a:rPr>
              <a:t>Il fera </a:t>
            </a:r>
            <a:r>
              <a:rPr lang="fr-FR" sz="3600" dirty="0" smtClean="0">
                <a:solidFill>
                  <a:srgbClr val="FF0000"/>
                </a:solidFill>
                <a:latin typeface="Maiandra GD" pitchFamily="34" charset="0"/>
              </a:rPr>
              <a:t>Maj </a:t>
            </a:r>
            <a:r>
              <a:rPr lang="fr-FR" sz="3600" dirty="0">
                <a:solidFill>
                  <a:srgbClr val="FF0000"/>
                </a:solidFill>
                <a:latin typeface="Maiandra GD" pitchFamily="34" charset="0"/>
              </a:rPr>
              <a:t>+ Clic</a:t>
            </a:r>
            <a:r>
              <a:rPr lang="fr-FR" sz="3600" dirty="0">
                <a:latin typeface="Maiandra GD" pitchFamily="34" charset="0"/>
              </a:rPr>
              <a:t> sur le lien pour ouvrir </a:t>
            </a:r>
            <a:r>
              <a:rPr lang="fr-FR" sz="3600" dirty="0" smtClean="0">
                <a:latin typeface="Maiandra GD" pitchFamily="34" charset="0"/>
              </a:rPr>
              <a:t>dans une </a:t>
            </a:r>
            <a:r>
              <a:rPr lang="fr-FR" sz="3600" dirty="0">
                <a:latin typeface="Maiandra GD" pitchFamily="34" charset="0"/>
              </a:rPr>
              <a:t>nouvelle fenêtre </a:t>
            </a:r>
            <a:r>
              <a:rPr lang="fr-FR" sz="3600" dirty="0" smtClean="0">
                <a:latin typeface="Maiandra GD" pitchFamily="34" charset="0"/>
              </a:rPr>
              <a:t>ou </a:t>
            </a:r>
            <a:r>
              <a:rPr lang="fr-FR" sz="3600" dirty="0" smtClean="0">
                <a:solidFill>
                  <a:srgbClr val="FF0000"/>
                </a:solidFill>
                <a:latin typeface="Maiandra GD" pitchFamily="34" charset="0"/>
              </a:rPr>
              <a:t>Ctrl </a:t>
            </a:r>
            <a:r>
              <a:rPr lang="fr-FR" sz="3600" dirty="0">
                <a:solidFill>
                  <a:srgbClr val="FF0000"/>
                </a:solidFill>
                <a:latin typeface="Maiandra GD" pitchFamily="34" charset="0"/>
              </a:rPr>
              <a:t>+ Clic</a:t>
            </a:r>
            <a:r>
              <a:rPr lang="fr-FR" sz="3600" dirty="0">
                <a:latin typeface="Maiandra GD" pitchFamily="34" charset="0"/>
              </a:rPr>
              <a:t> pour ouvrir dans un nouvel onglet.</a:t>
            </a:r>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68344" y="5229200"/>
            <a:ext cx="1238250" cy="1238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81575260"/>
      </p:ext>
    </p:extLst>
  </p:cSld>
  <p:clrMapOvr>
    <a:masterClrMapping/>
  </p:clrMapOvr>
  <p:timing>
    <p:tnLst>
      <p:par>
        <p:cTn id="1" dur="indefinite" restart="never" nodeType="tmRoot"/>
      </p:par>
    </p:tn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9512" y="274638"/>
            <a:ext cx="8784976" cy="994122"/>
          </a:xfrm>
        </p:spPr>
        <p:txBody>
          <a:bodyPr/>
          <a:lstStyle/>
          <a:p>
            <a:r>
              <a:rPr lang="fr-FR" dirty="0">
                <a:effectLst>
                  <a:outerShdw blurRad="38100" dist="38100" dir="2700000" algn="tl">
                    <a:srgbClr val="000000">
                      <a:alpha val="43137"/>
                    </a:srgbClr>
                  </a:outerShdw>
                </a:effectLst>
                <a:latin typeface="Maiandra GD" pitchFamily="34" charset="0"/>
              </a:rPr>
              <a:t>Un lien pour envoyer un e-mail</a:t>
            </a:r>
          </a:p>
        </p:txBody>
      </p:sp>
      <p:sp>
        <p:nvSpPr>
          <p:cNvPr id="3" name="Espace réservé du contenu 2"/>
          <p:cNvSpPr>
            <a:spLocks noGrp="1"/>
          </p:cNvSpPr>
          <p:nvPr>
            <p:ph idx="1"/>
          </p:nvPr>
        </p:nvSpPr>
        <p:spPr>
          <a:xfrm>
            <a:off x="72008" y="1340768"/>
            <a:ext cx="8964488" cy="5256584"/>
          </a:xfrm>
        </p:spPr>
        <p:txBody>
          <a:bodyPr/>
          <a:lstStyle/>
          <a:p>
            <a:pPr marL="0" indent="0" algn="just">
              <a:buNone/>
            </a:pPr>
            <a:r>
              <a:rPr lang="fr-FR" dirty="0">
                <a:latin typeface="Maiandra GD" pitchFamily="34" charset="0"/>
              </a:rPr>
              <a:t>Si vous voulez que vos visiteurs puissent vous envoyer un e-mail, vous pouvez </a:t>
            </a:r>
            <a:r>
              <a:rPr lang="fr-FR" dirty="0" smtClean="0">
                <a:latin typeface="Maiandra GD" pitchFamily="34" charset="0"/>
              </a:rPr>
              <a:t>utiliser des </a:t>
            </a:r>
            <a:r>
              <a:rPr lang="fr-FR" dirty="0">
                <a:latin typeface="Maiandra GD" pitchFamily="34" charset="0"/>
              </a:rPr>
              <a:t>liens de type </a:t>
            </a:r>
            <a:r>
              <a:rPr lang="fr-FR" dirty="0">
                <a:solidFill>
                  <a:srgbClr val="FF0000"/>
                </a:solidFill>
                <a:latin typeface="Maiandra GD" pitchFamily="34" charset="0"/>
              </a:rPr>
              <a:t>mailto.</a:t>
            </a:r>
            <a:r>
              <a:rPr lang="fr-FR" dirty="0">
                <a:latin typeface="Maiandra GD" pitchFamily="34" charset="0"/>
              </a:rPr>
              <a:t> Rien ne change au niveau de la balise, vous devez </a:t>
            </a:r>
            <a:r>
              <a:rPr lang="fr-FR" dirty="0" smtClean="0">
                <a:latin typeface="Maiandra GD" pitchFamily="34" charset="0"/>
              </a:rPr>
              <a:t>simplement modifier </a:t>
            </a:r>
            <a:r>
              <a:rPr lang="fr-FR" dirty="0">
                <a:latin typeface="Maiandra GD" pitchFamily="34" charset="0"/>
              </a:rPr>
              <a:t>la valeur de l'attribut href comme ceci </a:t>
            </a:r>
            <a:r>
              <a:rPr lang="fr-FR" dirty="0" smtClean="0">
                <a:latin typeface="Maiandra GD" pitchFamily="34" charset="0"/>
              </a:rPr>
              <a:t>:</a:t>
            </a:r>
          </a:p>
          <a:p>
            <a:pPr marL="0" indent="0" algn="just">
              <a:buNone/>
            </a:pPr>
            <a:endParaRPr lang="fr-FR" sz="2400" dirty="0" smtClean="0">
              <a:latin typeface="Maiandra GD" pitchFamily="34" charset="0"/>
            </a:endParaRPr>
          </a:p>
          <a:p>
            <a:pPr marL="0" indent="0">
              <a:buNone/>
            </a:pPr>
            <a:r>
              <a:rPr lang="fr-FR" sz="2800" dirty="0" smtClean="0">
                <a:latin typeface="Maiandra GD" pitchFamily="34" charset="0"/>
              </a:rPr>
              <a:t> 1  &lt;p&gt; &lt;a href =</a:t>
            </a:r>
            <a:r>
              <a:rPr lang="fr-FR" sz="2800" dirty="0" smtClean="0">
                <a:solidFill>
                  <a:srgbClr val="FF0000"/>
                </a:solidFill>
                <a:latin typeface="Maiandra GD" pitchFamily="34" charset="0"/>
              </a:rPr>
              <a:t>"mailto : votrenom@bidule.com"</a:t>
            </a:r>
            <a:r>
              <a:rPr lang="fr-FR" sz="2800" dirty="0" smtClean="0">
                <a:latin typeface="Maiandra GD" pitchFamily="34" charset="0"/>
              </a:rPr>
              <a:t>&gt;    </a:t>
            </a:r>
          </a:p>
          <a:p>
            <a:pPr marL="0" indent="0">
              <a:buNone/>
            </a:pPr>
            <a:r>
              <a:rPr lang="fr-FR" sz="2800" dirty="0">
                <a:latin typeface="Maiandra GD" pitchFamily="34" charset="0"/>
              </a:rPr>
              <a:t> </a:t>
            </a:r>
            <a:r>
              <a:rPr lang="fr-FR" sz="2800" dirty="0" smtClean="0">
                <a:latin typeface="Maiandra GD" pitchFamily="34" charset="0"/>
              </a:rPr>
              <a:t>    Envoyez - moi un e- mail !&lt;/</a:t>
            </a:r>
            <a:r>
              <a:rPr lang="fr-FR" sz="2800" dirty="0">
                <a:latin typeface="Maiandra GD" pitchFamily="34" charset="0"/>
              </a:rPr>
              <a:t>a</a:t>
            </a:r>
            <a:r>
              <a:rPr lang="fr-FR" sz="2800" dirty="0" smtClean="0">
                <a:latin typeface="Maiandra GD" pitchFamily="34" charset="0"/>
              </a:rPr>
              <a:t>&gt;&lt;/p</a:t>
            </a:r>
            <a:r>
              <a:rPr lang="fr-FR" sz="2800" dirty="0">
                <a:latin typeface="Maiandra GD" pitchFamily="34" charset="0"/>
              </a:rPr>
              <a:t>&gt;</a:t>
            </a:r>
          </a:p>
        </p:txBody>
      </p:sp>
      <p:cxnSp>
        <p:nvCxnSpPr>
          <p:cNvPr id="5" name="Connecteur droit 4"/>
          <p:cNvCxnSpPr/>
          <p:nvPr/>
        </p:nvCxnSpPr>
        <p:spPr>
          <a:xfrm>
            <a:off x="539552" y="4077072"/>
            <a:ext cx="0" cy="2016224"/>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74682287"/>
      </p:ext>
    </p:extLst>
  </p:cSld>
  <p:clrMapOvr>
    <a:masterClrMapping/>
  </p:clrMapOvr>
  <p:timing>
    <p:tnLst>
      <p:par>
        <p:cTn id="1" dur="indefinite" restart="never" nodeType="tmRoot"/>
      </p:par>
    </p:tn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404664"/>
            <a:ext cx="8712968" cy="6048672"/>
          </a:xfrm>
        </p:spPr>
        <p:txBody>
          <a:bodyPr>
            <a:normAutofit/>
          </a:bodyPr>
          <a:lstStyle/>
          <a:p>
            <a:pPr marL="0" indent="0" algn="just">
              <a:buNone/>
            </a:pPr>
            <a:r>
              <a:rPr lang="fr-FR" sz="3600" dirty="0">
                <a:latin typeface="Maiandra GD" pitchFamily="34" charset="0"/>
              </a:rPr>
              <a:t>Il </a:t>
            </a:r>
            <a:r>
              <a:rPr lang="fr-FR" sz="3600" dirty="0" smtClean="0">
                <a:latin typeface="Maiandra GD" pitchFamily="34" charset="0"/>
              </a:rPr>
              <a:t>suffit </a:t>
            </a:r>
            <a:r>
              <a:rPr lang="fr-FR" sz="3600" dirty="0">
                <a:latin typeface="Maiandra GD" pitchFamily="34" charset="0"/>
              </a:rPr>
              <a:t>donc de faire commencer le lien par mailto: et d'écrire l'adresse e-mail où </a:t>
            </a:r>
            <a:r>
              <a:rPr lang="fr-FR" sz="3600" dirty="0" smtClean="0">
                <a:latin typeface="Maiandra GD" pitchFamily="34" charset="0"/>
              </a:rPr>
              <a:t>on peut </a:t>
            </a:r>
            <a:r>
              <a:rPr lang="fr-FR" sz="3600" dirty="0">
                <a:latin typeface="Maiandra GD" pitchFamily="34" charset="0"/>
              </a:rPr>
              <a:t>vous contacter. Si vous cliquez sur le lien, un nouveau message vide s'ouvre, </a:t>
            </a:r>
            <a:r>
              <a:rPr lang="fr-FR" sz="3600" dirty="0" smtClean="0">
                <a:latin typeface="Maiandra GD" pitchFamily="34" charset="0"/>
              </a:rPr>
              <a:t>prêt à </a:t>
            </a:r>
            <a:r>
              <a:rPr lang="fr-FR" sz="3600" dirty="0">
                <a:latin typeface="Maiandra GD" pitchFamily="34" charset="0"/>
              </a:rPr>
              <a:t>être envoyé à votre adresse e-mail.</a:t>
            </a:r>
          </a:p>
        </p:txBody>
      </p:sp>
    </p:spTree>
    <p:extLst>
      <p:ext uri="{BB962C8B-B14F-4D97-AF65-F5344CB8AC3E}">
        <p14:creationId xmlns:p14="http://schemas.microsoft.com/office/powerpoint/2010/main" val="2242086913"/>
      </p:ext>
    </p:extLst>
  </p:cSld>
  <p:clrMapOvr>
    <a:masterClrMapping/>
  </p:clrMapOvr>
  <p:timing>
    <p:tnLst>
      <p:par>
        <p:cTn id="1" dur="indefinite" restart="never" nodeType="tmRoot"/>
      </p:par>
    </p:tn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9512" y="274638"/>
            <a:ext cx="8712968" cy="778098"/>
          </a:xfrm>
        </p:spPr>
        <p:txBody>
          <a:bodyPr>
            <a:normAutofit/>
          </a:bodyPr>
          <a:lstStyle/>
          <a:p>
            <a:r>
              <a:rPr lang="fr-FR" dirty="0">
                <a:effectLst>
                  <a:outerShdw blurRad="38100" dist="38100" dir="2700000" algn="tl">
                    <a:srgbClr val="000000">
                      <a:alpha val="43137"/>
                    </a:srgbClr>
                  </a:outerShdw>
                </a:effectLst>
                <a:latin typeface="Maiandra GD" pitchFamily="34" charset="0"/>
              </a:rPr>
              <a:t>Un lien pour télécharger un </a:t>
            </a:r>
            <a:r>
              <a:rPr lang="fr-FR" dirty="0" smtClean="0">
                <a:effectLst>
                  <a:outerShdw blurRad="38100" dist="38100" dir="2700000" algn="tl">
                    <a:srgbClr val="000000">
                      <a:alpha val="43137"/>
                    </a:srgbClr>
                  </a:outerShdw>
                </a:effectLst>
                <a:latin typeface="Maiandra GD" pitchFamily="34" charset="0"/>
              </a:rPr>
              <a:t>fichier</a:t>
            </a:r>
            <a:endParaRPr lang="fr-FR" dirty="0">
              <a:effectLst>
                <a:outerShdw blurRad="38100" dist="38100" dir="2700000" algn="tl">
                  <a:srgbClr val="000000">
                    <a:alpha val="43137"/>
                  </a:srgbClr>
                </a:outerShdw>
              </a:effectLst>
              <a:latin typeface="Maiandra GD" pitchFamily="34" charset="0"/>
            </a:endParaRPr>
          </a:p>
        </p:txBody>
      </p:sp>
      <p:sp>
        <p:nvSpPr>
          <p:cNvPr id="3" name="Espace réservé du contenu 2"/>
          <p:cNvSpPr>
            <a:spLocks noGrp="1"/>
          </p:cNvSpPr>
          <p:nvPr>
            <p:ph idx="1"/>
          </p:nvPr>
        </p:nvSpPr>
        <p:spPr>
          <a:xfrm>
            <a:off x="179512" y="1196752"/>
            <a:ext cx="8784976" cy="5400600"/>
          </a:xfrm>
        </p:spPr>
        <p:txBody>
          <a:bodyPr>
            <a:normAutofit lnSpcReduction="10000"/>
          </a:bodyPr>
          <a:lstStyle/>
          <a:p>
            <a:pPr marL="0" indent="0" algn="just">
              <a:buNone/>
            </a:pPr>
            <a:r>
              <a:rPr lang="fr-FR" dirty="0">
                <a:latin typeface="Maiandra GD" pitchFamily="34" charset="0"/>
              </a:rPr>
              <a:t>Beaucoup d'entre vous se demandent comment cela se passe pour le </a:t>
            </a:r>
            <a:r>
              <a:rPr lang="fr-FR" dirty="0" smtClean="0">
                <a:latin typeface="Maiandra GD" pitchFamily="34" charset="0"/>
              </a:rPr>
              <a:t>téléchargement d'un fichier</a:t>
            </a:r>
            <a:r>
              <a:rPr lang="fr-FR" dirty="0">
                <a:latin typeface="Maiandra GD" pitchFamily="34" charset="0"/>
              </a:rPr>
              <a:t>. . . En fait, il faut procéder exactement comme si vous faisiez un lien </a:t>
            </a:r>
            <a:r>
              <a:rPr lang="fr-FR" dirty="0" smtClean="0">
                <a:latin typeface="Maiandra GD" pitchFamily="34" charset="0"/>
              </a:rPr>
              <a:t>vers une </a:t>
            </a:r>
            <a:r>
              <a:rPr lang="fr-FR" dirty="0">
                <a:latin typeface="Maiandra GD" pitchFamily="34" charset="0"/>
              </a:rPr>
              <a:t>page web, mais en indiquant cette fois le nom du </a:t>
            </a:r>
            <a:r>
              <a:rPr lang="fr-FR" dirty="0" smtClean="0">
                <a:latin typeface="Maiandra GD" pitchFamily="34" charset="0"/>
              </a:rPr>
              <a:t>fichier </a:t>
            </a:r>
            <a:r>
              <a:rPr lang="fr-FR" dirty="0">
                <a:latin typeface="Maiandra GD" pitchFamily="34" charset="0"/>
              </a:rPr>
              <a:t>à </a:t>
            </a:r>
            <a:r>
              <a:rPr lang="fr-FR" dirty="0" smtClean="0">
                <a:latin typeface="Maiandra GD" pitchFamily="34" charset="0"/>
              </a:rPr>
              <a:t>télécharger.</a:t>
            </a:r>
          </a:p>
          <a:p>
            <a:pPr marL="0" indent="0" algn="just">
              <a:buNone/>
            </a:pPr>
            <a:r>
              <a:rPr lang="fr-FR" dirty="0">
                <a:latin typeface="Maiandra GD" pitchFamily="34" charset="0"/>
              </a:rPr>
              <a:t>Par exemple, supposez que vous vouliez </a:t>
            </a:r>
            <a:r>
              <a:rPr lang="fr-FR" dirty="0" smtClean="0">
                <a:latin typeface="Maiandra GD" pitchFamily="34" charset="0"/>
              </a:rPr>
              <a:t>faire télécharger </a:t>
            </a:r>
            <a:r>
              <a:rPr lang="fr-FR" dirty="0">
                <a:latin typeface="Maiandra GD" pitchFamily="34" charset="0"/>
              </a:rPr>
              <a:t>monfichier.zip. Placez </a:t>
            </a:r>
            <a:r>
              <a:rPr lang="fr-FR" dirty="0" smtClean="0">
                <a:latin typeface="Maiandra GD" pitchFamily="34" charset="0"/>
              </a:rPr>
              <a:t>simplement ce fichier </a:t>
            </a:r>
            <a:r>
              <a:rPr lang="fr-FR" dirty="0">
                <a:latin typeface="Maiandra GD" pitchFamily="34" charset="0"/>
              </a:rPr>
              <a:t>dans le même dossier que votre page web (ou dans un </a:t>
            </a:r>
            <a:r>
              <a:rPr lang="fr-FR" dirty="0" smtClean="0">
                <a:latin typeface="Maiandra GD" pitchFamily="34" charset="0"/>
              </a:rPr>
              <a:t>sous-dossier) et </a:t>
            </a:r>
            <a:r>
              <a:rPr lang="fr-FR" dirty="0">
                <a:latin typeface="Maiandra GD" pitchFamily="34" charset="0"/>
              </a:rPr>
              <a:t>faites un lien vers ce </a:t>
            </a:r>
            <a:r>
              <a:rPr lang="fr-FR" dirty="0" smtClean="0">
                <a:latin typeface="Maiandra GD" pitchFamily="34" charset="0"/>
              </a:rPr>
              <a:t>fichier </a:t>
            </a:r>
            <a:r>
              <a:rPr lang="fr-FR" dirty="0">
                <a:latin typeface="Maiandra GD" pitchFamily="34" charset="0"/>
              </a:rPr>
              <a:t>:</a:t>
            </a:r>
          </a:p>
        </p:txBody>
      </p:sp>
    </p:spTree>
    <p:extLst>
      <p:ext uri="{BB962C8B-B14F-4D97-AF65-F5344CB8AC3E}">
        <p14:creationId xmlns:p14="http://schemas.microsoft.com/office/powerpoint/2010/main" val="1654887578"/>
      </p:ext>
    </p:extLst>
  </p:cSld>
  <p:clrMapOvr>
    <a:masterClrMapping/>
  </p:clrMapOvr>
  <p:timing>
    <p:tnLst>
      <p:par>
        <p:cTn id="1" dur="indefinite" restart="never" nodeType="tmRoot"/>
      </p:par>
    </p:tn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44016" y="476672"/>
            <a:ext cx="8892480" cy="6048672"/>
          </a:xfrm>
        </p:spPr>
        <p:txBody>
          <a:bodyPr/>
          <a:lstStyle/>
          <a:p>
            <a:pPr marL="0" indent="0">
              <a:buNone/>
            </a:pPr>
            <a:endParaRPr lang="fr-FR" dirty="0" smtClean="0"/>
          </a:p>
          <a:p>
            <a:pPr marL="514350" indent="-514350">
              <a:buAutoNum type="arabicPlain"/>
            </a:pPr>
            <a:r>
              <a:rPr lang="fr-FR" dirty="0" smtClean="0">
                <a:latin typeface="Maiandra GD" pitchFamily="34" charset="0"/>
              </a:rPr>
              <a:t>&lt;</a:t>
            </a:r>
            <a:r>
              <a:rPr lang="fr-FR" dirty="0">
                <a:latin typeface="Maiandra GD" pitchFamily="34" charset="0"/>
              </a:rPr>
              <a:t>p</a:t>
            </a:r>
            <a:r>
              <a:rPr lang="fr-FR" dirty="0" smtClean="0">
                <a:latin typeface="Maiandra GD" pitchFamily="34" charset="0"/>
              </a:rPr>
              <a:t>&gt; &lt;</a:t>
            </a:r>
            <a:r>
              <a:rPr lang="fr-FR" dirty="0">
                <a:latin typeface="Maiandra GD" pitchFamily="34" charset="0"/>
              </a:rPr>
              <a:t>a href </a:t>
            </a:r>
            <a:r>
              <a:rPr lang="fr-FR" dirty="0" smtClean="0">
                <a:latin typeface="Maiandra GD" pitchFamily="34" charset="0"/>
              </a:rPr>
              <a:t>=</a:t>
            </a:r>
            <a:r>
              <a:rPr lang="fr-FR" dirty="0" smtClean="0">
                <a:solidFill>
                  <a:srgbClr val="FF0000"/>
                </a:solidFill>
                <a:latin typeface="Maiandra GD" pitchFamily="34" charset="0"/>
              </a:rPr>
              <a:t>"monfichier.zip</a:t>
            </a:r>
            <a:r>
              <a:rPr lang="fr-FR" dirty="0">
                <a:solidFill>
                  <a:srgbClr val="FF0000"/>
                </a:solidFill>
                <a:latin typeface="Maiandra GD" pitchFamily="34" charset="0"/>
              </a:rPr>
              <a:t>"</a:t>
            </a:r>
            <a:r>
              <a:rPr lang="fr-FR" dirty="0">
                <a:latin typeface="Maiandra GD" pitchFamily="34" charset="0"/>
              </a:rPr>
              <a:t>&gt;</a:t>
            </a:r>
            <a:r>
              <a:rPr lang="fr-FR" dirty="0" smtClean="0">
                <a:latin typeface="Maiandra GD" pitchFamily="34" charset="0"/>
              </a:rPr>
              <a:t>Télécharger </a:t>
            </a:r>
            <a:r>
              <a:rPr lang="fr-FR" dirty="0">
                <a:latin typeface="Maiandra GD" pitchFamily="34" charset="0"/>
              </a:rPr>
              <a:t> </a:t>
            </a:r>
            <a:r>
              <a:rPr lang="fr-FR" dirty="0" smtClean="0">
                <a:latin typeface="Maiandra GD" pitchFamily="34" charset="0"/>
              </a:rPr>
              <a:t>  </a:t>
            </a:r>
          </a:p>
          <a:p>
            <a:pPr marL="0" indent="0">
              <a:buNone/>
            </a:pPr>
            <a:r>
              <a:rPr lang="fr-FR" dirty="0">
                <a:latin typeface="Maiandra GD" pitchFamily="34" charset="0"/>
              </a:rPr>
              <a:t> </a:t>
            </a:r>
            <a:r>
              <a:rPr lang="fr-FR" dirty="0" smtClean="0">
                <a:latin typeface="Maiandra GD" pitchFamily="34" charset="0"/>
              </a:rPr>
              <a:t>    le fichier </a:t>
            </a:r>
            <a:r>
              <a:rPr lang="fr-FR" dirty="0">
                <a:latin typeface="Maiandra GD" pitchFamily="34" charset="0"/>
              </a:rPr>
              <a:t>&lt;/a&gt;&lt;/p</a:t>
            </a:r>
            <a:r>
              <a:rPr lang="fr-FR" dirty="0" smtClean="0">
                <a:latin typeface="Maiandra GD" pitchFamily="34" charset="0"/>
              </a:rPr>
              <a:t>&gt;</a:t>
            </a:r>
          </a:p>
          <a:p>
            <a:pPr marL="0" indent="0">
              <a:buNone/>
            </a:pPr>
            <a:endParaRPr lang="fr-FR" dirty="0">
              <a:latin typeface="Maiandra GD" pitchFamily="34" charset="0"/>
            </a:endParaRPr>
          </a:p>
          <a:p>
            <a:pPr marL="0" indent="0" algn="just">
              <a:buNone/>
            </a:pPr>
            <a:r>
              <a:rPr lang="fr-FR" dirty="0" smtClean="0">
                <a:latin typeface="Maiandra GD" pitchFamily="34" charset="0"/>
              </a:rPr>
              <a:t>C'est </a:t>
            </a:r>
            <a:r>
              <a:rPr lang="fr-FR" dirty="0">
                <a:latin typeface="Maiandra GD" pitchFamily="34" charset="0"/>
              </a:rPr>
              <a:t>tout ! Le navigateur, voyant qu'il ne s'agit pas d'une page web à </a:t>
            </a:r>
            <a:r>
              <a:rPr lang="fr-FR" dirty="0" smtClean="0">
                <a:latin typeface="Maiandra GD" pitchFamily="34" charset="0"/>
              </a:rPr>
              <a:t>afficher</a:t>
            </a:r>
            <a:r>
              <a:rPr lang="fr-FR" dirty="0">
                <a:latin typeface="Maiandra GD" pitchFamily="34" charset="0"/>
              </a:rPr>
              <a:t>, va </a:t>
            </a:r>
            <a:r>
              <a:rPr lang="fr-FR" dirty="0" smtClean="0">
                <a:latin typeface="Maiandra GD" pitchFamily="34" charset="0"/>
              </a:rPr>
              <a:t>lancer la </a:t>
            </a:r>
            <a:r>
              <a:rPr lang="fr-FR" dirty="0">
                <a:latin typeface="Maiandra GD" pitchFamily="34" charset="0"/>
              </a:rPr>
              <a:t>procédure de téléchargement lorsqu'on cliquera sur le lien.</a:t>
            </a:r>
          </a:p>
        </p:txBody>
      </p:sp>
      <p:cxnSp>
        <p:nvCxnSpPr>
          <p:cNvPr id="5" name="Connecteur droit 4"/>
          <p:cNvCxnSpPr/>
          <p:nvPr/>
        </p:nvCxnSpPr>
        <p:spPr>
          <a:xfrm>
            <a:off x="539552" y="836712"/>
            <a:ext cx="0" cy="1728192"/>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789367768"/>
      </p:ext>
    </p:extLst>
  </p:cSld>
  <p:clrMapOvr>
    <a:masterClrMapping/>
  </p:clrMapOvr>
  <p:timing>
    <p:tnLst>
      <p:par>
        <p:cTn id="1" dur="indefinite" restart="never" nodeType="tmRoot"/>
      </p:par>
    </p:tn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90056"/>
            <a:ext cx="8229600" cy="1143000"/>
          </a:xfrm>
        </p:spPr>
        <p:txBody>
          <a:bodyPr>
            <a:noAutofit/>
          </a:bodyPr>
          <a:lstStyle/>
          <a:p>
            <a:r>
              <a:rPr lang="fr-FR" sz="8000" dirty="0">
                <a:effectLst>
                  <a:outerShdw blurRad="38100" dist="38100" dir="2700000" algn="tl">
                    <a:srgbClr val="000000">
                      <a:alpha val="43137"/>
                    </a:srgbClr>
                  </a:outerShdw>
                </a:effectLst>
                <a:latin typeface="Maiandra GD" pitchFamily="34" charset="0"/>
              </a:rPr>
              <a:t>En résumé</a:t>
            </a:r>
          </a:p>
        </p:txBody>
      </p:sp>
    </p:spTree>
    <p:extLst>
      <p:ext uri="{BB962C8B-B14F-4D97-AF65-F5344CB8AC3E}">
        <p14:creationId xmlns:p14="http://schemas.microsoft.com/office/powerpoint/2010/main" val="321897127"/>
      </p:ext>
    </p:extLst>
  </p:cSld>
  <p:clrMapOvr>
    <a:masterClrMapping/>
  </p:clrMapOvr>
  <p:timing>
    <p:tnLst>
      <p:par>
        <p:cTn id="1" dur="indefinite" restart="never" nodeType="tmRoot"/>
      </p:par>
    </p:tn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9512" y="332656"/>
            <a:ext cx="8784976" cy="6192688"/>
          </a:xfrm>
        </p:spPr>
        <p:txBody>
          <a:bodyPr>
            <a:normAutofit/>
          </a:bodyPr>
          <a:lstStyle/>
          <a:p>
            <a:pPr marL="0" indent="0" algn="just">
              <a:buNone/>
            </a:pPr>
            <a:r>
              <a:rPr lang="fr-FR" sz="3600" dirty="0">
                <a:latin typeface="Maiandra GD" pitchFamily="34" charset="0"/>
              </a:rPr>
              <a:t>Les liens permettent de changer de page et sont, par défaut, écrits en bleu et soulignés.</a:t>
            </a:r>
          </a:p>
          <a:p>
            <a:pPr marL="0" indent="0" algn="just">
              <a:buNone/>
            </a:pPr>
            <a:r>
              <a:rPr lang="fr-FR" sz="3600" dirty="0" smtClean="0">
                <a:latin typeface="Maiandra GD" pitchFamily="34" charset="0"/>
              </a:rPr>
              <a:t>Pour </a:t>
            </a:r>
            <a:r>
              <a:rPr lang="fr-FR" sz="3600" dirty="0">
                <a:latin typeface="Maiandra GD" pitchFamily="34" charset="0"/>
              </a:rPr>
              <a:t>insérer un lien, on utilise la balise &lt;a&gt; avec l'attribut href pour </a:t>
            </a:r>
            <a:r>
              <a:rPr lang="fr-FR" sz="3600" dirty="0" smtClean="0">
                <a:latin typeface="Maiandra GD" pitchFamily="34" charset="0"/>
              </a:rPr>
              <a:t>indiquer l'adresse </a:t>
            </a:r>
            <a:r>
              <a:rPr lang="fr-FR" sz="3600" dirty="0">
                <a:latin typeface="Maiandra GD" pitchFamily="34" charset="0"/>
              </a:rPr>
              <a:t>de la page cible. </a:t>
            </a:r>
            <a:endParaRPr lang="fr-FR" sz="3600" dirty="0" smtClean="0">
              <a:latin typeface="Maiandra GD" pitchFamily="34" charset="0"/>
            </a:endParaRPr>
          </a:p>
          <a:p>
            <a:pPr marL="0" indent="0" algn="just">
              <a:buNone/>
            </a:pPr>
            <a:r>
              <a:rPr lang="fr-FR" sz="3600" dirty="0" smtClean="0">
                <a:latin typeface="Maiandra GD" pitchFamily="34" charset="0"/>
              </a:rPr>
              <a:t>Exemple </a:t>
            </a:r>
            <a:r>
              <a:rPr lang="fr-FR" sz="3600" dirty="0">
                <a:latin typeface="Maiandra GD" pitchFamily="34" charset="0"/>
              </a:rPr>
              <a:t>: </a:t>
            </a:r>
          </a:p>
          <a:p>
            <a:pPr marL="0" indent="0" algn="just">
              <a:buNone/>
            </a:pPr>
            <a:r>
              <a:rPr lang="fr-FR" sz="3600" dirty="0" smtClean="0">
                <a:latin typeface="Maiandra GD" pitchFamily="34" charset="0"/>
              </a:rPr>
              <a:t>&lt;a href</a:t>
            </a:r>
            <a:r>
              <a:rPr lang="fr-FR" sz="3600" dirty="0">
                <a:latin typeface="Maiandra GD" pitchFamily="34" charset="0"/>
              </a:rPr>
              <a:t>=</a:t>
            </a:r>
            <a:r>
              <a:rPr lang="fr-FR" sz="3600" dirty="0">
                <a:solidFill>
                  <a:srgbClr val="FF0000"/>
                </a:solidFill>
                <a:latin typeface="Maiandra GD" pitchFamily="34" charset="0"/>
              </a:rPr>
              <a:t>"http</a:t>
            </a:r>
            <a:r>
              <a:rPr lang="fr-FR" sz="3600" dirty="0" smtClean="0">
                <a:solidFill>
                  <a:srgbClr val="FF0000"/>
                </a:solidFill>
                <a:latin typeface="Maiandra GD" pitchFamily="34" charset="0"/>
              </a:rPr>
              <a:t>://www.siteduzero.com</a:t>
            </a:r>
            <a:r>
              <a:rPr lang="fr-FR" sz="3600" dirty="0">
                <a:solidFill>
                  <a:srgbClr val="FF0000"/>
                </a:solidFill>
                <a:latin typeface="Maiandra GD" pitchFamily="34" charset="0"/>
              </a:rPr>
              <a:t>"</a:t>
            </a:r>
            <a:r>
              <a:rPr lang="fr-FR" sz="3600" dirty="0">
                <a:latin typeface="Maiandra GD" pitchFamily="34" charset="0"/>
              </a:rPr>
              <a:t>&gt;</a:t>
            </a:r>
            <a:r>
              <a:rPr lang="fr-FR" sz="3600" dirty="0" smtClean="0">
                <a:latin typeface="Maiandra GD" pitchFamily="34" charset="0"/>
              </a:rPr>
              <a:t>.</a:t>
            </a:r>
            <a:endParaRPr lang="fr-FR" sz="3600" dirty="0">
              <a:latin typeface="Maiandra GD" pitchFamily="34" charset="0"/>
            </a:endParaRPr>
          </a:p>
          <a:p>
            <a:pPr marL="0" indent="0" algn="just">
              <a:buNone/>
            </a:pPr>
            <a:r>
              <a:rPr lang="fr-FR" sz="3600" dirty="0" smtClean="0">
                <a:latin typeface="Maiandra GD" pitchFamily="34" charset="0"/>
              </a:rPr>
              <a:t>On </a:t>
            </a:r>
            <a:r>
              <a:rPr lang="fr-FR" sz="3600" dirty="0">
                <a:latin typeface="Maiandra GD" pitchFamily="34" charset="0"/>
              </a:rPr>
              <a:t>peut faire un lien vers une autre page de son site simplement en écrivant le </a:t>
            </a:r>
            <a:r>
              <a:rPr lang="fr-FR" sz="3600" dirty="0" smtClean="0">
                <a:latin typeface="Maiandra GD" pitchFamily="34" charset="0"/>
              </a:rPr>
              <a:t>nom du fichier </a:t>
            </a:r>
            <a:r>
              <a:rPr lang="fr-FR" sz="3600" dirty="0">
                <a:latin typeface="Maiandra GD" pitchFamily="34" charset="0"/>
              </a:rPr>
              <a:t>: &lt;a href=</a:t>
            </a:r>
            <a:r>
              <a:rPr lang="fr-FR" sz="3600" dirty="0">
                <a:solidFill>
                  <a:srgbClr val="FF0000"/>
                </a:solidFill>
                <a:latin typeface="Maiandra GD" pitchFamily="34" charset="0"/>
              </a:rPr>
              <a:t>"page2.html"</a:t>
            </a:r>
            <a:r>
              <a:rPr lang="fr-FR" sz="3600" dirty="0">
                <a:latin typeface="Maiandra GD" pitchFamily="34" charset="0"/>
              </a:rPr>
              <a:t>&gt;.</a:t>
            </a:r>
          </a:p>
        </p:txBody>
      </p:sp>
    </p:spTree>
    <p:extLst>
      <p:ext uri="{BB962C8B-B14F-4D97-AF65-F5344CB8AC3E}">
        <p14:creationId xmlns:p14="http://schemas.microsoft.com/office/powerpoint/2010/main" val="604318997"/>
      </p:ext>
    </p:extLst>
  </p:cSld>
  <p:clrMapOvr>
    <a:masterClrMapping/>
  </p:clrMapOvr>
  <p:timing>
    <p:tnLst>
      <p:par>
        <p:cTn id="1" dur="indefinite" restart="never" nodeType="tmRoot"/>
      </p:par>
    </p:tn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332656"/>
            <a:ext cx="8640960" cy="6048672"/>
          </a:xfrm>
        </p:spPr>
        <p:txBody>
          <a:bodyPr>
            <a:normAutofit/>
          </a:bodyPr>
          <a:lstStyle/>
          <a:p>
            <a:pPr marL="0" indent="0" algn="just">
              <a:buNone/>
            </a:pPr>
            <a:r>
              <a:rPr lang="fr-FR" sz="3600" dirty="0">
                <a:latin typeface="Maiandra GD" pitchFamily="34" charset="0"/>
              </a:rPr>
              <a:t>Les liens permettent aussi d'amener vers d'autres endroits sur la même page. Il </a:t>
            </a:r>
            <a:r>
              <a:rPr lang="fr-FR" sz="3600" dirty="0" smtClean="0">
                <a:latin typeface="Maiandra GD" pitchFamily="34" charset="0"/>
              </a:rPr>
              <a:t>faut créer </a:t>
            </a:r>
            <a:r>
              <a:rPr lang="fr-FR" sz="3600" dirty="0">
                <a:latin typeface="Maiandra GD" pitchFamily="34" charset="0"/>
              </a:rPr>
              <a:t>une ancre avec l'attribut id pour  marquer  un endroit dans la page, </a:t>
            </a:r>
            <a:r>
              <a:rPr lang="fr-FR" sz="3600" dirty="0" smtClean="0">
                <a:latin typeface="Maiandra GD" pitchFamily="34" charset="0"/>
              </a:rPr>
              <a:t>puis faire </a:t>
            </a:r>
            <a:r>
              <a:rPr lang="fr-FR" sz="3600" dirty="0">
                <a:latin typeface="Maiandra GD" pitchFamily="34" charset="0"/>
              </a:rPr>
              <a:t>un lien vers l'ancre comme ceci : </a:t>
            </a:r>
            <a:endParaRPr lang="fr-FR" sz="3600" dirty="0" smtClean="0">
              <a:latin typeface="Maiandra GD" pitchFamily="34" charset="0"/>
            </a:endParaRPr>
          </a:p>
          <a:p>
            <a:pPr marL="0" indent="0" algn="just">
              <a:buNone/>
            </a:pPr>
            <a:r>
              <a:rPr lang="fr-FR" sz="3600" dirty="0" smtClean="0">
                <a:latin typeface="Maiandra GD" pitchFamily="34" charset="0"/>
              </a:rPr>
              <a:t>&lt;</a:t>
            </a:r>
            <a:r>
              <a:rPr lang="fr-FR" sz="3600" dirty="0">
                <a:latin typeface="Maiandra GD" pitchFamily="34" charset="0"/>
              </a:rPr>
              <a:t>a href=</a:t>
            </a:r>
            <a:r>
              <a:rPr lang="fr-FR" sz="3600" dirty="0">
                <a:solidFill>
                  <a:srgbClr val="FF0000"/>
                </a:solidFill>
                <a:latin typeface="Maiandra GD" pitchFamily="34" charset="0"/>
              </a:rPr>
              <a:t>"#ancre"</a:t>
            </a:r>
            <a:r>
              <a:rPr lang="fr-FR" sz="3600" dirty="0">
                <a:latin typeface="Maiandra GD" pitchFamily="34" charset="0"/>
              </a:rPr>
              <a:t>&gt;.</a:t>
            </a:r>
          </a:p>
        </p:txBody>
      </p:sp>
    </p:spTree>
    <p:extLst>
      <p:ext uri="{BB962C8B-B14F-4D97-AF65-F5344CB8AC3E}">
        <p14:creationId xmlns:p14="http://schemas.microsoft.com/office/powerpoint/2010/main" val="1530387820"/>
      </p:ext>
    </p:extLst>
  </p:cSld>
  <p:clrMapOvr>
    <a:masterClrMapping/>
  </p:clrMapOvr>
  <p:timing>
    <p:tnLst>
      <p:par>
        <p:cTn id="1" dur="indefinite" restart="never" nodeType="tmRoot"/>
      </p:par>
    </p:tn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574032"/>
            <a:ext cx="8229600" cy="1143000"/>
          </a:xfrm>
        </p:spPr>
        <p:txBody>
          <a:bodyPr>
            <a:noAutofit/>
          </a:bodyPr>
          <a:lstStyle/>
          <a:p>
            <a:r>
              <a:rPr lang="fr-FR" sz="7200" dirty="0">
                <a:effectLst>
                  <a:outerShdw blurRad="38100" dist="38100" dir="2700000" algn="tl">
                    <a:srgbClr val="000000">
                      <a:alpha val="43137"/>
                    </a:srgbClr>
                  </a:outerShdw>
                </a:effectLst>
                <a:latin typeface="Maiandra GD" pitchFamily="34" charset="0"/>
              </a:rPr>
              <a:t>Les images</a:t>
            </a:r>
          </a:p>
        </p:txBody>
      </p:sp>
    </p:spTree>
    <p:extLst>
      <p:ext uri="{BB962C8B-B14F-4D97-AF65-F5344CB8AC3E}">
        <p14:creationId xmlns:p14="http://schemas.microsoft.com/office/powerpoint/2010/main" val="651919878"/>
      </p:ext>
    </p:extLst>
  </p:cSld>
  <p:clrMapOvr>
    <a:masterClrMapping/>
  </p:clrMapOvr>
  <p:timing>
    <p:tnLst>
      <p:par>
        <p:cTn id="1" dur="indefinite" restart="never" nodeType="tmRoot"/>
      </p:par>
    </p:tn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0" y="260648"/>
            <a:ext cx="9144000" cy="6408712"/>
          </a:xfrm>
        </p:spPr>
        <p:txBody>
          <a:bodyPr>
            <a:normAutofit/>
          </a:bodyPr>
          <a:lstStyle/>
          <a:p>
            <a:pPr marL="0" indent="0" algn="just">
              <a:buNone/>
            </a:pPr>
            <a:r>
              <a:rPr lang="fr-FR" dirty="0" smtClean="0">
                <a:latin typeface="Maiandra GD" pitchFamily="34" charset="0"/>
              </a:rPr>
              <a:t>Insérer </a:t>
            </a:r>
            <a:r>
              <a:rPr lang="fr-FR" dirty="0">
                <a:latin typeface="Maiandra GD" pitchFamily="34" charset="0"/>
              </a:rPr>
              <a:t>une image dans une page web ? </a:t>
            </a:r>
            <a:endParaRPr lang="fr-FR" dirty="0" smtClean="0">
              <a:latin typeface="Maiandra GD" pitchFamily="34" charset="0"/>
            </a:endParaRPr>
          </a:p>
          <a:p>
            <a:pPr marL="0" indent="0" algn="just">
              <a:buNone/>
            </a:pPr>
            <a:r>
              <a:rPr lang="fr-FR" dirty="0" smtClean="0">
                <a:latin typeface="Maiandra GD" pitchFamily="34" charset="0"/>
              </a:rPr>
              <a:t>Vous </a:t>
            </a:r>
            <a:r>
              <a:rPr lang="fr-FR" dirty="0">
                <a:latin typeface="Maiandra GD" pitchFamily="34" charset="0"/>
              </a:rPr>
              <a:t>allez voir, c'est d'une </a:t>
            </a:r>
            <a:r>
              <a:rPr lang="fr-FR" dirty="0" smtClean="0">
                <a:latin typeface="Maiandra GD" pitchFamily="34" charset="0"/>
              </a:rPr>
              <a:t>facilité déconcertante…</a:t>
            </a:r>
          </a:p>
          <a:p>
            <a:pPr marL="0" indent="0" algn="just">
              <a:buNone/>
            </a:pPr>
            <a:r>
              <a:rPr lang="fr-FR" dirty="0" smtClean="0">
                <a:latin typeface="Maiandra GD" pitchFamily="34" charset="0"/>
              </a:rPr>
              <a:t>Enfin </a:t>
            </a:r>
            <a:r>
              <a:rPr lang="fr-FR" dirty="0">
                <a:latin typeface="Maiandra GD" pitchFamily="34" charset="0"/>
              </a:rPr>
              <a:t>presque. Il existe </a:t>
            </a:r>
            <a:r>
              <a:rPr lang="fr-FR" dirty="0" smtClean="0">
                <a:latin typeface="Maiandra GD" pitchFamily="34" charset="0"/>
              </a:rPr>
              <a:t>différents </a:t>
            </a:r>
            <a:r>
              <a:rPr lang="fr-FR" dirty="0">
                <a:latin typeface="Maiandra GD" pitchFamily="34" charset="0"/>
              </a:rPr>
              <a:t>formats d'image que l'on peut utiliser </a:t>
            </a:r>
            <a:r>
              <a:rPr lang="fr-FR" dirty="0" smtClean="0">
                <a:latin typeface="Maiandra GD" pitchFamily="34" charset="0"/>
              </a:rPr>
              <a:t>sur des </a:t>
            </a:r>
            <a:r>
              <a:rPr lang="fr-FR" dirty="0">
                <a:latin typeface="Maiandra GD" pitchFamily="34" charset="0"/>
              </a:rPr>
              <a:t>sites web, et on ne doit pas les choisir au hasard. </a:t>
            </a:r>
            <a:endParaRPr lang="fr-FR" dirty="0" smtClean="0">
              <a:latin typeface="Maiandra GD" pitchFamily="34" charset="0"/>
            </a:endParaRPr>
          </a:p>
          <a:p>
            <a:pPr marL="0" indent="0" algn="just">
              <a:buNone/>
            </a:pPr>
            <a:r>
              <a:rPr lang="fr-FR" dirty="0" smtClean="0">
                <a:latin typeface="Maiandra GD" pitchFamily="34" charset="0"/>
              </a:rPr>
              <a:t>En effet</a:t>
            </a:r>
            <a:r>
              <a:rPr lang="fr-FR" dirty="0">
                <a:latin typeface="Maiandra GD" pitchFamily="34" charset="0"/>
              </a:rPr>
              <a:t>, les images sont </a:t>
            </a:r>
            <a:r>
              <a:rPr lang="fr-FR" dirty="0" smtClean="0">
                <a:latin typeface="Maiandra GD" pitchFamily="34" charset="0"/>
              </a:rPr>
              <a:t>parfois volumineuses </a:t>
            </a:r>
            <a:r>
              <a:rPr lang="fr-FR" dirty="0">
                <a:latin typeface="Maiandra GD" pitchFamily="34" charset="0"/>
              </a:rPr>
              <a:t>à télécharger, ce qui ralentit le temps de chargement de la page (</a:t>
            </a:r>
            <a:r>
              <a:rPr lang="fr-FR" dirty="0" smtClean="0">
                <a:latin typeface="Maiandra GD" pitchFamily="34" charset="0"/>
              </a:rPr>
              <a:t>beaucoup plus </a:t>
            </a:r>
            <a:r>
              <a:rPr lang="fr-FR" dirty="0">
                <a:latin typeface="Maiandra GD" pitchFamily="34" charset="0"/>
              </a:rPr>
              <a:t>que le texte </a:t>
            </a:r>
            <a:r>
              <a:rPr lang="fr-FR" dirty="0" smtClean="0">
                <a:latin typeface="Maiandra GD" pitchFamily="34" charset="0"/>
              </a:rPr>
              <a:t>!).</a:t>
            </a:r>
          </a:p>
          <a:p>
            <a:pPr marL="0" indent="0" algn="just">
              <a:buNone/>
            </a:pPr>
            <a:r>
              <a:rPr lang="fr-FR" dirty="0" smtClean="0">
                <a:latin typeface="Maiandra GD" pitchFamily="34" charset="0"/>
              </a:rPr>
              <a:t>Pour faire en sorte que vos pages restent lisibles et rapides à télécharger, suivez donc activement </a:t>
            </a:r>
            <a:r>
              <a:rPr lang="fr-FR" dirty="0">
                <a:latin typeface="Maiandra GD" pitchFamily="34" charset="0"/>
              </a:rPr>
              <a:t>mes conseils !</a:t>
            </a:r>
          </a:p>
          <a:p>
            <a:pPr marL="0" indent="0">
              <a:buNone/>
            </a:pPr>
            <a:endParaRPr lang="fr-FR" dirty="0"/>
          </a:p>
        </p:txBody>
      </p:sp>
    </p:spTree>
    <p:extLst>
      <p:ext uri="{BB962C8B-B14F-4D97-AF65-F5344CB8AC3E}">
        <p14:creationId xmlns:p14="http://schemas.microsoft.com/office/powerpoint/2010/main" val="2873080856"/>
      </p:ext>
    </p:extLst>
  </p:cSld>
  <p:clrMapOvr>
    <a:masterClrMapping/>
  </p:clrMapOvr>
  <p:timing>
    <p:tnLst>
      <p:par>
        <p:cTn id="1" dur="indefinite" restart="never" nodeType="tmRoot"/>
      </p:par>
    </p:tn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9512" y="116632"/>
            <a:ext cx="8784976" cy="922114"/>
          </a:xfrm>
        </p:spPr>
        <p:txBody>
          <a:bodyPr>
            <a:noAutofit/>
          </a:bodyPr>
          <a:lstStyle/>
          <a:p>
            <a:r>
              <a:rPr lang="fr-FR" sz="4800" dirty="0">
                <a:effectLst>
                  <a:outerShdw blurRad="38100" dist="38100" dir="2700000" algn="tl">
                    <a:srgbClr val="000000">
                      <a:alpha val="43137"/>
                    </a:srgbClr>
                  </a:outerShdw>
                </a:effectLst>
              </a:rPr>
              <a:t>Les </a:t>
            </a:r>
            <a:r>
              <a:rPr lang="fr-FR" sz="4800" dirty="0" smtClean="0">
                <a:effectLst>
                  <a:outerShdw blurRad="38100" dist="38100" dir="2700000" algn="tl">
                    <a:srgbClr val="000000">
                      <a:alpha val="43137"/>
                    </a:srgbClr>
                  </a:outerShdw>
                </a:effectLst>
              </a:rPr>
              <a:t>différents </a:t>
            </a:r>
            <a:r>
              <a:rPr lang="fr-FR" sz="4800" dirty="0">
                <a:effectLst>
                  <a:outerShdw blurRad="38100" dist="38100" dir="2700000" algn="tl">
                    <a:srgbClr val="000000">
                      <a:alpha val="43137"/>
                    </a:srgbClr>
                  </a:outerShdw>
                </a:effectLst>
              </a:rPr>
              <a:t>formats d'images</a:t>
            </a:r>
          </a:p>
        </p:txBody>
      </p:sp>
      <p:sp>
        <p:nvSpPr>
          <p:cNvPr id="3" name="Espace réservé du contenu 2"/>
          <p:cNvSpPr>
            <a:spLocks noGrp="1"/>
          </p:cNvSpPr>
          <p:nvPr>
            <p:ph idx="1"/>
          </p:nvPr>
        </p:nvSpPr>
        <p:spPr>
          <a:xfrm>
            <a:off x="72008" y="1052736"/>
            <a:ext cx="8964488" cy="5733256"/>
          </a:xfrm>
        </p:spPr>
        <p:txBody>
          <a:bodyPr>
            <a:normAutofit/>
          </a:bodyPr>
          <a:lstStyle/>
          <a:p>
            <a:pPr marL="0" indent="0" algn="just">
              <a:buNone/>
            </a:pPr>
            <a:r>
              <a:rPr lang="fr-FR" dirty="0">
                <a:latin typeface="Maiandra GD" pitchFamily="34" charset="0"/>
              </a:rPr>
              <a:t>Savez-vous ce qu'est un format d'image ?</a:t>
            </a:r>
          </a:p>
          <a:p>
            <a:pPr marL="0" indent="0" algn="just">
              <a:buNone/>
            </a:pPr>
            <a:r>
              <a:rPr lang="fr-FR" dirty="0">
                <a:latin typeface="Maiandra GD" pitchFamily="34" charset="0"/>
              </a:rPr>
              <a:t>Quand vous avez une image  entre les mains , vous avez la possibilité de </a:t>
            </a:r>
            <a:r>
              <a:rPr lang="fr-FR" dirty="0" smtClean="0">
                <a:latin typeface="Maiandra GD" pitchFamily="34" charset="0"/>
              </a:rPr>
              <a:t>l'enregistrer dans </a:t>
            </a:r>
            <a:r>
              <a:rPr lang="fr-FR" dirty="0">
                <a:latin typeface="Maiandra GD" pitchFamily="34" charset="0"/>
              </a:rPr>
              <a:t>plusieurs  formats  </a:t>
            </a:r>
            <a:r>
              <a:rPr lang="fr-FR" dirty="0" smtClean="0">
                <a:latin typeface="Maiandra GD" pitchFamily="34" charset="0"/>
              </a:rPr>
              <a:t>différents</a:t>
            </a:r>
            <a:r>
              <a:rPr lang="fr-FR" dirty="0">
                <a:latin typeface="Maiandra GD" pitchFamily="34" charset="0"/>
              </a:rPr>
              <a:t>. Le poids (en Ko, voire en Mo) de l'image </a:t>
            </a:r>
            <a:r>
              <a:rPr lang="fr-FR" dirty="0" smtClean="0">
                <a:latin typeface="Maiandra GD" pitchFamily="34" charset="0"/>
              </a:rPr>
              <a:t>sera plus </a:t>
            </a:r>
            <a:r>
              <a:rPr lang="fr-FR" dirty="0">
                <a:latin typeface="Maiandra GD" pitchFamily="34" charset="0"/>
              </a:rPr>
              <a:t>ou moins élevé selon le format choisi et la qualité de l'image va changer.</a:t>
            </a:r>
          </a:p>
          <a:p>
            <a:pPr marL="0" indent="0" algn="just">
              <a:buNone/>
            </a:pPr>
            <a:r>
              <a:rPr lang="fr-FR" dirty="0">
                <a:latin typeface="Maiandra GD" pitchFamily="34" charset="0"/>
              </a:rPr>
              <a:t>Par exemple, le logiciel de dessin Paint (même si </a:t>
            </a:r>
            <a:r>
              <a:rPr lang="fr-FR" dirty="0" smtClean="0">
                <a:latin typeface="Maiandra GD" pitchFamily="34" charset="0"/>
              </a:rPr>
              <a:t> c'est </a:t>
            </a:r>
            <a:r>
              <a:rPr lang="fr-FR" dirty="0">
                <a:latin typeface="Maiandra GD" pitchFamily="34" charset="0"/>
              </a:rPr>
              <a:t>loin d'être le meilleur) </a:t>
            </a:r>
            <a:r>
              <a:rPr lang="fr-FR" dirty="0" smtClean="0">
                <a:latin typeface="Maiandra GD" pitchFamily="34" charset="0"/>
              </a:rPr>
              <a:t>vous propose </a:t>
            </a:r>
            <a:r>
              <a:rPr lang="fr-FR" dirty="0">
                <a:latin typeface="Maiandra GD" pitchFamily="34" charset="0"/>
              </a:rPr>
              <a:t>de choisir entre plusieurs formats lorsque vous enregistrez une image </a:t>
            </a:r>
            <a:r>
              <a:rPr lang="fr-FR" dirty="0" smtClean="0">
                <a:latin typeface="Maiandra GD" pitchFamily="34" charset="0"/>
              </a:rPr>
              <a:t>(figure ci-dessous).</a:t>
            </a:r>
            <a:endParaRPr lang="fr-FR" dirty="0">
              <a:latin typeface="Maiandra GD" pitchFamily="34" charset="0"/>
            </a:endParaRPr>
          </a:p>
        </p:txBody>
      </p:sp>
    </p:spTree>
    <p:extLst>
      <p:ext uri="{BB962C8B-B14F-4D97-AF65-F5344CB8AC3E}">
        <p14:creationId xmlns:p14="http://schemas.microsoft.com/office/powerpoint/2010/main" val="1393441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randombar(horizontal)">
                                      <p:cBhvr>
                                        <p:cTn id="25" dur="500"/>
                                        <p:tgtEl>
                                          <p:spTgt spid="3">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6" presetClass="entr" presetSubtype="0" fill="hold" nodeType="clickEffect">
                                  <p:stCondLst>
                                    <p:cond delay="0"/>
                                  </p:stCondLst>
                                  <p:childTnLst>
                                    <p:set>
                                      <p:cBhvr>
                                        <p:cTn id="29" dur="1" fill="hold">
                                          <p:stCondLst>
                                            <p:cond delay="0"/>
                                          </p:stCondLst>
                                        </p:cTn>
                                        <p:tgtEl>
                                          <p:spTgt spid="3">
                                            <p:txEl>
                                              <p:pRg st="2" end="2"/>
                                            </p:txEl>
                                          </p:spTgt>
                                        </p:tgtEl>
                                        <p:attrNameLst>
                                          <p:attrName>style.visibility</p:attrName>
                                        </p:attrNameLst>
                                      </p:cBhvr>
                                      <p:to>
                                        <p:strVal val="visible"/>
                                      </p:to>
                                    </p:set>
                                    <p:animEffect transition="in" filter="wipe(down)">
                                      <p:cBhvr>
                                        <p:cTn id="30" dur="580">
                                          <p:stCondLst>
                                            <p:cond delay="0"/>
                                          </p:stCondLst>
                                        </p:cTn>
                                        <p:tgtEl>
                                          <p:spTgt spid="3">
                                            <p:txEl>
                                              <p:pRg st="2" end="2"/>
                                            </p:txEl>
                                          </p:spTgt>
                                        </p:tgtEl>
                                      </p:cBhvr>
                                    </p:animEffect>
                                    <p:anim calcmode="lin" valueType="num">
                                      <p:cBhvr>
                                        <p:cTn id="31"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32"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33"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34"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35"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36" dur="26">
                                          <p:stCondLst>
                                            <p:cond delay="650"/>
                                          </p:stCondLst>
                                        </p:cTn>
                                        <p:tgtEl>
                                          <p:spTgt spid="3">
                                            <p:txEl>
                                              <p:pRg st="2" end="2"/>
                                            </p:txEl>
                                          </p:spTgt>
                                        </p:tgtEl>
                                      </p:cBhvr>
                                      <p:to x="100000" y="60000"/>
                                    </p:animScale>
                                    <p:animScale>
                                      <p:cBhvr>
                                        <p:cTn id="37" dur="166" decel="50000">
                                          <p:stCondLst>
                                            <p:cond delay="676"/>
                                          </p:stCondLst>
                                        </p:cTn>
                                        <p:tgtEl>
                                          <p:spTgt spid="3">
                                            <p:txEl>
                                              <p:pRg st="2" end="2"/>
                                            </p:txEl>
                                          </p:spTgt>
                                        </p:tgtEl>
                                      </p:cBhvr>
                                      <p:to x="100000" y="100000"/>
                                    </p:animScale>
                                    <p:animScale>
                                      <p:cBhvr>
                                        <p:cTn id="38" dur="26">
                                          <p:stCondLst>
                                            <p:cond delay="1312"/>
                                          </p:stCondLst>
                                        </p:cTn>
                                        <p:tgtEl>
                                          <p:spTgt spid="3">
                                            <p:txEl>
                                              <p:pRg st="2" end="2"/>
                                            </p:txEl>
                                          </p:spTgt>
                                        </p:tgtEl>
                                      </p:cBhvr>
                                      <p:to x="100000" y="80000"/>
                                    </p:animScale>
                                    <p:animScale>
                                      <p:cBhvr>
                                        <p:cTn id="39" dur="166" decel="50000">
                                          <p:stCondLst>
                                            <p:cond delay="1338"/>
                                          </p:stCondLst>
                                        </p:cTn>
                                        <p:tgtEl>
                                          <p:spTgt spid="3">
                                            <p:txEl>
                                              <p:pRg st="2" end="2"/>
                                            </p:txEl>
                                          </p:spTgt>
                                        </p:tgtEl>
                                      </p:cBhvr>
                                      <p:to x="100000" y="100000"/>
                                    </p:animScale>
                                    <p:animScale>
                                      <p:cBhvr>
                                        <p:cTn id="40" dur="26">
                                          <p:stCondLst>
                                            <p:cond delay="1642"/>
                                          </p:stCondLst>
                                        </p:cTn>
                                        <p:tgtEl>
                                          <p:spTgt spid="3">
                                            <p:txEl>
                                              <p:pRg st="2" end="2"/>
                                            </p:txEl>
                                          </p:spTgt>
                                        </p:tgtEl>
                                      </p:cBhvr>
                                      <p:to x="100000" y="90000"/>
                                    </p:animScale>
                                    <p:animScale>
                                      <p:cBhvr>
                                        <p:cTn id="41" dur="166" decel="50000">
                                          <p:stCondLst>
                                            <p:cond delay="1668"/>
                                          </p:stCondLst>
                                        </p:cTn>
                                        <p:tgtEl>
                                          <p:spTgt spid="3">
                                            <p:txEl>
                                              <p:pRg st="2" end="2"/>
                                            </p:txEl>
                                          </p:spTgt>
                                        </p:tgtEl>
                                      </p:cBhvr>
                                      <p:to x="100000" y="100000"/>
                                    </p:animScale>
                                    <p:animScale>
                                      <p:cBhvr>
                                        <p:cTn id="42" dur="26">
                                          <p:stCondLst>
                                            <p:cond delay="1808"/>
                                          </p:stCondLst>
                                        </p:cTn>
                                        <p:tgtEl>
                                          <p:spTgt spid="3">
                                            <p:txEl>
                                              <p:pRg st="2" end="2"/>
                                            </p:txEl>
                                          </p:spTgt>
                                        </p:tgtEl>
                                      </p:cBhvr>
                                      <p:to x="100000" y="95000"/>
                                    </p:animScale>
                                    <p:animScale>
                                      <p:cBhvr>
                                        <p:cTn id="43" dur="166" decel="50000">
                                          <p:stCondLst>
                                            <p:cond delay="1834"/>
                                          </p:stCondLst>
                                        </p:cTn>
                                        <p:tgtEl>
                                          <p:spTgt spid="3">
                                            <p:txEl>
                                              <p:pRg st="2" end="2"/>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330" y="95693"/>
            <a:ext cx="8894166" cy="65973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04051174"/>
      </p:ext>
    </p:extLst>
  </p:cSld>
  <p:clrMapOvr>
    <a:masterClrMapping/>
  </p:clrMapOvr>
  <p:timing>
    <p:tnLst>
      <p:par>
        <p:cTn id="1" dur="indefinite" restart="never" nodeType="tmRoot"/>
      </p:par>
    </p:tnLst>
  </p:timing>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07504" y="188640"/>
            <a:ext cx="8964488" cy="6408712"/>
          </a:xfrm>
        </p:spPr>
        <p:txBody>
          <a:bodyPr>
            <a:normAutofit/>
          </a:bodyPr>
          <a:lstStyle/>
          <a:p>
            <a:pPr marL="0" indent="0" algn="just">
              <a:buNone/>
            </a:pPr>
            <a:r>
              <a:rPr lang="fr-FR" sz="3600" dirty="0">
                <a:latin typeface="Maiandra GD" pitchFamily="34" charset="0"/>
              </a:rPr>
              <a:t>Certains formats sont plus adaptés que d'autres selon l'image (photo, dessin, </a:t>
            </a:r>
            <a:r>
              <a:rPr lang="fr-FR" sz="3600" dirty="0" smtClean="0">
                <a:latin typeface="Maiandra GD" pitchFamily="34" charset="0"/>
              </a:rPr>
              <a:t>image animée</a:t>
            </a:r>
            <a:r>
              <a:rPr lang="fr-FR" sz="3600" dirty="0">
                <a:latin typeface="Maiandra GD" pitchFamily="34" charset="0"/>
              </a:rPr>
              <a:t>. . .). </a:t>
            </a:r>
            <a:endParaRPr lang="fr-FR" sz="3600" dirty="0" smtClean="0">
              <a:latin typeface="Maiandra GD" pitchFamily="34" charset="0"/>
            </a:endParaRPr>
          </a:p>
          <a:p>
            <a:pPr marL="0" indent="0" algn="just">
              <a:buNone/>
            </a:pPr>
            <a:r>
              <a:rPr lang="fr-FR" sz="3600" dirty="0" smtClean="0">
                <a:latin typeface="Maiandra GD" pitchFamily="34" charset="0"/>
              </a:rPr>
              <a:t>Notre </a:t>
            </a:r>
            <a:r>
              <a:rPr lang="fr-FR" sz="3600" dirty="0">
                <a:latin typeface="Maiandra GD" pitchFamily="34" charset="0"/>
              </a:rPr>
              <a:t>but ici est de faire le tour des </a:t>
            </a:r>
            <a:r>
              <a:rPr lang="fr-FR" sz="3600" dirty="0" smtClean="0">
                <a:latin typeface="Maiandra GD" pitchFamily="34" charset="0"/>
              </a:rPr>
              <a:t>différents </a:t>
            </a:r>
            <a:r>
              <a:rPr lang="fr-FR" sz="3600" dirty="0">
                <a:latin typeface="Maiandra GD" pitchFamily="34" charset="0"/>
              </a:rPr>
              <a:t>formats utilisés sur le </a:t>
            </a:r>
            <a:r>
              <a:rPr lang="fr-FR" sz="3600" dirty="0" smtClean="0">
                <a:latin typeface="Maiandra GD" pitchFamily="34" charset="0"/>
              </a:rPr>
              <a:t>Web pour </a:t>
            </a:r>
            <a:r>
              <a:rPr lang="fr-FR" sz="3600" dirty="0">
                <a:latin typeface="Maiandra GD" pitchFamily="34" charset="0"/>
              </a:rPr>
              <a:t>que vous les connaissiez et sachiez choisir celui qui convient le mieux à </a:t>
            </a:r>
            <a:r>
              <a:rPr lang="fr-FR" sz="3600" dirty="0" smtClean="0">
                <a:latin typeface="Maiandra GD" pitchFamily="34" charset="0"/>
              </a:rPr>
              <a:t>votre image</a:t>
            </a:r>
            <a:r>
              <a:rPr lang="fr-FR" sz="3600" dirty="0">
                <a:latin typeface="Maiandra GD" pitchFamily="34" charset="0"/>
              </a:rPr>
              <a:t>. Rassurez-vous, il n'y a pas beaucoup de formats </a:t>
            </a:r>
            <a:r>
              <a:rPr lang="fr-FR" sz="3600" dirty="0" smtClean="0">
                <a:latin typeface="Maiandra GD" pitchFamily="34" charset="0"/>
              </a:rPr>
              <a:t>différents</a:t>
            </a:r>
            <a:r>
              <a:rPr lang="fr-FR" sz="3600" dirty="0">
                <a:latin typeface="Maiandra GD" pitchFamily="34" charset="0"/>
              </a:rPr>
              <a:t>, cela ne sera </a:t>
            </a:r>
            <a:r>
              <a:rPr lang="fr-FR" sz="3600" dirty="0" smtClean="0">
                <a:latin typeface="Maiandra GD" pitchFamily="34" charset="0"/>
              </a:rPr>
              <a:t>donc pas </a:t>
            </a:r>
            <a:r>
              <a:rPr lang="fr-FR" sz="3600" dirty="0">
                <a:latin typeface="Maiandra GD" pitchFamily="34" charset="0"/>
              </a:rPr>
              <a:t>bien long.</a:t>
            </a:r>
          </a:p>
        </p:txBody>
      </p:sp>
    </p:spTree>
    <p:extLst>
      <p:ext uri="{BB962C8B-B14F-4D97-AF65-F5344CB8AC3E}">
        <p14:creationId xmlns:p14="http://schemas.microsoft.com/office/powerpoint/2010/main" val="1316052703"/>
      </p:ext>
    </p:extLst>
  </p:cSld>
  <p:clrMapOvr>
    <a:masterClrMapping/>
  </p:clrMapOvr>
  <p:timing>
    <p:tnLst>
      <p:par>
        <p:cTn id="1" dur="indefinite" restart="never" nodeType="tmRoot"/>
      </p:par>
    </p:tnLst>
  </p:timing>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476672"/>
            <a:ext cx="8640960" cy="5976664"/>
          </a:xfrm>
        </p:spPr>
        <p:txBody>
          <a:bodyPr>
            <a:normAutofit/>
          </a:bodyPr>
          <a:lstStyle/>
          <a:p>
            <a:pPr marL="0" indent="0" algn="just">
              <a:buNone/>
            </a:pPr>
            <a:r>
              <a:rPr lang="fr-FR" sz="3600" dirty="0">
                <a:latin typeface="Maiandra GD" pitchFamily="34" charset="0"/>
              </a:rPr>
              <a:t>Toutes les images </a:t>
            </a:r>
            <a:r>
              <a:rPr lang="fr-FR" sz="3600" dirty="0" smtClean="0">
                <a:latin typeface="Maiandra GD" pitchFamily="34" charset="0"/>
              </a:rPr>
              <a:t>diffusées </a:t>
            </a:r>
            <a:r>
              <a:rPr lang="fr-FR" sz="3600" dirty="0">
                <a:latin typeface="Maiandra GD" pitchFamily="34" charset="0"/>
              </a:rPr>
              <a:t>sur Internet ont un point commun </a:t>
            </a:r>
            <a:r>
              <a:rPr lang="fr-FR" sz="3600" dirty="0" smtClean="0">
                <a:latin typeface="Maiandra GD" pitchFamily="34" charset="0"/>
              </a:rPr>
              <a:t>:elles </a:t>
            </a:r>
            <a:r>
              <a:rPr lang="fr-FR" sz="3600" dirty="0">
                <a:latin typeface="Maiandra GD" pitchFamily="34" charset="0"/>
              </a:rPr>
              <a:t>sont compressées</a:t>
            </a:r>
            <a:r>
              <a:rPr lang="fr-FR" sz="3600" dirty="0" smtClean="0">
                <a:latin typeface="Maiandra GD" pitchFamily="34" charset="0"/>
              </a:rPr>
              <a:t>.</a:t>
            </a:r>
          </a:p>
          <a:p>
            <a:pPr marL="0" indent="0" algn="just">
              <a:buNone/>
            </a:pPr>
            <a:endParaRPr lang="fr-FR" sz="2400" dirty="0">
              <a:latin typeface="Maiandra GD" pitchFamily="34" charset="0"/>
            </a:endParaRPr>
          </a:p>
          <a:p>
            <a:pPr marL="0" indent="0" algn="just">
              <a:buNone/>
            </a:pPr>
            <a:r>
              <a:rPr lang="fr-FR" sz="3600" dirty="0">
                <a:latin typeface="Maiandra GD" pitchFamily="34" charset="0"/>
              </a:rPr>
              <a:t>Cela veut dire que l'ordinateur fait des calculs pour qu'elles soient moins lourdes </a:t>
            </a:r>
            <a:r>
              <a:rPr lang="fr-FR" sz="3600" dirty="0" smtClean="0">
                <a:latin typeface="Maiandra GD" pitchFamily="34" charset="0"/>
              </a:rPr>
              <a:t>et donc </a:t>
            </a:r>
            <a:r>
              <a:rPr lang="fr-FR" sz="3600" dirty="0">
                <a:latin typeface="Maiandra GD" pitchFamily="34" charset="0"/>
              </a:rPr>
              <a:t>plus rapides à charger.</a:t>
            </a:r>
          </a:p>
        </p:txBody>
      </p:sp>
    </p:spTree>
    <p:extLst>
      <p:ext uri="{BB962C8B-B14F-4D97-AF65-F5344CB8AC3E}">
        <p14:creationId xmlns:p14="http://schemas.microsoft.com/office/powerpoint/2010/main" val="106570213"/>
      </p:ext>
    </p:extLst>
  </p:cSld>
  <p:clrMapOvr>
    <a:masterClrMapping/>
  </p:clrMapOvr>
  <p:timing>
    <p:tnLst>
      <p:par>
        <p:cTn id="1" dur="indefinite" restart="never" nodeType="tmRoot"/>
      </p:par>
    </p:tnLst>
  </p:timing>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116632"/>
            <a:ext cx="8229600" cy="850106"/>
          </a:xfrm>
        </p:spPr>
        <p:txBody>
          <a:bodyPr>
            <a:noAutofit/>
          </a:bodyPr>
          <a:lstStyle/>
          <a:p>
            <a:r>
              <a:rPr lang="fr-FR" sz="6000" dirty="0">
                <a:effectLst>
                  <a:outerShdw blurRad="38100" dist="38100" dir="2700000" algn="tl">
                    <a:srgbClr val="000000">
                      <a:alpha val="43137"/>
                    </a:srgbClr>
                  </a:outerShdw>
                </a:effectLst>
                <a:latin typeface="Maiandra GD" pitchFamily="34" charset="0"/>
              </a:rPr>
              <a:t>Le JPEG</a:t>
            </a:r>
          </a:p>
        </p:txBody>
      </p:sp>
      <p:sp>
        <p:nvSpPr>
          <p:cNvPr id="3" name="Espace réservé du contenu 2"/>
          <p:cNvSpPr>
            <a:spLocks noGrp="1"/>
          </p:cNvSpPr>
          <p:nvPr>
            <p:ph idx="1"/>
          </p:nvPr>
        </p:nvSpPr>
        <p:spPr>
          <a:xfrm>
            <a:off x="179512" y="1124744"/>
            <a:ext cx="8784976" cy="5544616"/>
          </a:xfrm>
        </p:spPr>
        <p:txBody>
          <a:bodyPr>
            <a:normAutofit/>
          </a:bodyPr>
          <a:lstStyle/>
          <a:p>
            <a:pPr marL="0" indent="0" algn="just">
              <a:buNone/>
            </a:pPr>
            <a:r>
              <a:rPr lang="fr-FR" dirty="0">
                <a:latin typeface="Maiandra GD" pitchFamily="34" charset="0"/>
              </a:rPr>
              <a:t>Les images au format JPEG (Joint Photographic Expert Group) sont très </a:t>
            </a:r>
            <a:r>
              <a:rPr lang="fr-FR" dirty="0" smtClean="0">
                <a:latin typeface="Maiandra GD" pitchFamily="34" charset="0"/>
              </a:rPr>
              <a:t>répandues sur </a:t>
            </a:r>
            <a:r>
              <a:rPr lang="fr-FR" dirty="0">
                <a:latin typeface="Maiandra GD" pitchFamily="34" charset="0"/>
              </a:rPr>
              <a:t>le Web</a:t>
            </a:r>
            <a:r>
              <a:rPr lang="fr-FR" dirty="0" smtClean="0">
                <a:latin typeface="Maiandra GD" pitchFamily="34" charset="0"/>
              </a:rPr>
              <a:t>.</a:t>
            </a:r>
          </a:p>
          <a:p>
            <a:pPr marL="0" indent="0" algn="just">
              <a:buNone/>
            </a:pPr>
            <a:r>
              <a:rPr lang="fr-FR" dirty="0" smtClean="0">
                <a:latin typeface="Maiandra GD" pitchFamily="34" charset="0"/>
              </a:rPr>
              <a:t>Ce </a:t>
            </a:r>
            <a:r>
              <a:rPr lang="fr-FR" dirty="0">
                <a:latin typeface="Maiandra GD" pitchFamily="34" charset="0"/>
              </a:rPr>
              <a:t>format est conçu pour réduire le poids des photos (c'est-à-dire la </a:t>
            </a:r>
            <a:r>
              <a:rPr lang="fr-FR" dirty="0" smtClean="0">
                <a:latin typeface="Maiandra GD" pitchFamily="34" charset="0"/>
              </a:rPr>
              <a:t>taille du fichier </a:t>
            </a:r>
            <a:r>
              <a:rPr lang="fr-FR" dirty="0">
                <a:latin typeface="Maiandra GD" pitchFamily="34" charset="0"/>
              </a:rPr>
              <a:t>associé), qui peuvent comporter plus de 16 millions de </a:t>
            </a:r>
            <a:r>
              <a:rPr lang="fr-FR" dirty="0" smtClean="0">
                <a:latin typeface="Maiandra GD" pitchFamily="34" charset="0"/>
              </a:rPr>
              <a:t>couleurs différentes. </a:t>
            </a:r>
          </a:p>
          <a:p>
            <a:pPr marL="0" indent="0" algn="just">
              <a:buNone/>
            </a:pPr>
            <a:r>
              <a:rPr lang="fr-FR" dirty="0" smtClean="0">
                <a:latin typeface="Maiandra GD" pitchFamily="34" charset="0"/>
              </a:rPr>
              <a:t>La figure ci-dessous </a:t>
            </a:r>
            <a:r>
              <a:rPr lang="fr-FR" dirty="0">
                <a:latin typeface="Maiandra GD" pitchFamily="34" charset="0"/>
              </a:rPr>
              <a:t>est une photo enregistrée au format JPEG</a:t>
            </a:r>
            <a:r>
              <a:rPr lang="fr-FR" dirty="0" smtClean="0">
                <a:latin typeface="Maiandra GD" pitchFamily="34" charset="0"/>
              </a:rPr>
              <a:t>.</a:t>
            </a:r>
          </a:p>
          <a:p>
            <a:pPr marL="0" indent="0" algn="just">
              <a:buNone/>
            </a:pPr>
            <a:r>
              <a:rPr lang="fr-FR" dirty="0">
                <a:latin typeface="Maiandra GD" pitchFamily="34" charset="0"/>
              </a:rPr>
              <a:t>Les images JPEG sont enregistrées avec l'extension .jpg ou .jpeg.</a:t>
            </a:r>
          </a:p>
        </p:txBody>
      </p:sp>
    </p:spTree>
    <p:extLst>
      <p:ext uri="{BB962C8B-B14F-4D97-AF65-F5344CB8AC3E}">
        <p14:creationId xmlns:p14="http://schemas.microsoft.com/office/powerpoint/2010/main" val="3667514874"/>
      </p:ext>
    </p:extLst>
  </p:cSld>
  <p:clrMapOvr>
    <a:masterClrMapping/>
  </p:clrMapOvr>
  <p:timing>
    <p:tnLst>
      <p:par>
        <p:cTn id="1" dur="indefinite" restart="never" nodeType="tmRoot"/>
      </p:par>
    </p:tnLst>
  </p:timing>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23528" y="548680"/>
            <a:ext cx="8568952" cy="5904656"/>
          </a:xfrm>
        </p:spPr>
        <p:txBody>
          <a:bodyPr/>
          <a:lstStyle/>
          <a:p>
            <a:pPr marL="0" indent="0">
              <a:buNone/>
            </a:pPr>
            <a:endParaRPr lang="fr-FR" dirty="0"/>
          </a:p>
        </p:txBody>
      </p:sp>
      <p:pic>
        <p:nvPicPr>
          <p:cNvPr id="2150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753600" cy="731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2790485" y="5733256"/>
            <a:ext cx="5093883" cy="461665"/>
          </a:xfrm>
          <a:prstGeom prst="rect">
            <a:avLst/>
          </a:prstGeom>
        </p:spPr>
        <p:txBody>
          <a:bodyPr wrap="square">
            <a:spAutoFit/>
          </a:bodyPr>
          <a:lstStyle/>
          <a:p>
            <a:r>
              <a:rPr lang="fr-FR" sz="2400" dirty="0">
                <a:effectLst>
                  <a:outerShdw blurRad="38100" dist="38100" dir="2700000" algn="tl">
                    <a:srgbClr val="000000">
                      <a:alpha val="43137"/>
                    </a:srgbClr>
                  </a:outerShdw>
                </a:effectLst>
                <a:latin typeface="Maiandra GD" pitchFamily="34" charset="0"/>
              </a:rPr>
              <a:t>Une photo de montagne en JPEG</a:t>
            </a:r>
          </a:p>
        </p:txBody>
      </p:sp>
    </p:spTree>
    <p:extLst>
      <p:ext uri="{BB962C8B-B14F-4D97-AF65-F5344CB8AC3E}">
        <p14:creationId xmlns:p14="http://schemas.microsoft.com/office/powerpoint/2010/main" val="1928963105"/>
      </p:ext>
    </p:extLst>
  </p:cSld>
  <p:clrMapOvr>
    <a:masterClrMapping/>
  </p:clrMapOvr>
  <p:timing>
    <p:tnLst>
      <p:par>
        <p:cTn id="1" dur="indefinite" restart="never" nodeType="tmRoot"/>
      </p:par>
    </p:tnLst>
  </p:timing>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476672"/>
            <a:ext cx="8640960" cy="5976664"/>
          </a:xfrm>
        </p:spPr>
        <p:txBody>
          <a:bodyPr/>
          <a:lstStyle/>
          <a:p>
            <a:pPr marL="0" indent="0" algn="just">
              <a:buNone/>
            </a:pPr>
            <a:r>
              <a:rPr lang="fr-FR" dirty="0">
                <a:latin typeface="Maiandra GD" pitchFamily="34" charset="0"/>
              </a:rPr>
              <a:t>Notez que le JPEG détériore un peu la qualité de l'image, d'une façon </a:t>
            </a:r>
            <a:r>
              <a:rPr lang="fr-FR" dirty="0" smtClean="0">
                <a:latin typeface="Maiandra GD" pitchFamily="34" charset="0"/>
              </a:rPr>
              <a:t>généralement imperceptible</a:t>
            </a:r>
            <a:r>
              <a:rPr lang="fr-FR" dirty="0">
                <a:latin typeface="Maiandra GD" pitchFamily="34" charset="0"/>
              </a:rPr>
              <a:t>. C'est ce qui le rend si </a:t>
            </a:r>
            <a:r>
              <a:rPr lang="fr-FR" dirty="0" smtClean="0">
                <a:latin typeface="Maiandra GD" pitchFamily="34" charset="0"/>
              </a:rPr>
              <a:t>efficace </a:t>
            </a:r>
            <a:r>
              <a:rPr lang="fr-FR" dirty="0">
                <a:latin typeface="Maiandra GD" pitchFamily="34" charset="0"/>
              </a:rPr>
              <a:t>pour réduire le poids des photos. </a:t>
            </a:r>
            <a:endParaRPr lang="fr-FR" dirty="0" smtClean="0">
              <a:latin typeface="Maiandra GD" pitchFamily="34" charset="0"/>
            </a:endParaRPr>
          </a:p>
          <a:p>
            <a:pPr marL="0" indent="0" algn="just">
              <a:buNone/>
            </a:pPr>
            <a:r>
              <a:rPr lang="fr-FR" dirty="0" smtClean="0">
                <a:latin typeface="Maiandra GD" pitchFamily="34" charset="0"/>
              </a:rPr>
              <a:t>Quand il </a:t>
            </a:r>
            <a:r>
              <a:rPr lang="fr-FR" dirty="0">
                <a:latin typeface="Maiandra GD" pitchFamily="34" charset="0"/>
              </a:rPr>
              <a:t>s'agit d'une photo, on ne peut généralement pas détecter la perte de qualité. </a:t>
            </a:r>
            <a:r>
              <a:rPr lang="fr-FR" dirty="0" smtClean="0">
                <a:latin typeface="Maiandra GD" pitchFamily="34" charset="0"/>
              </a:rPr>
              <a:t>Par contre</a:t>
            </a:r>
            <a:r>
              <a:rPr lang="fr-FR" dirty="0">
                <a:latin typeface="Maiandra GD" pitchFamily="34" charset="0"/>
              </a:rPr>
              <a:t>, si ce n'est pas une photo, vous risquez de voir l'image un peu  baver . </a:t>
            </a:r>
            <a:endParaRPr lang="fr-FR" dirty="0" smtClean="0">
              <a:latin typeface="Maiandra GD" pitchFamily="34" charset="0"/>
            </a:endParaRPr>
          </a:p>
          <a:p>
            <a:pPr marL="0" indent="0" algn="just">
              <a:buNone/>
            </a:pPr>
            <a:r>
              <a:rPr lang="fr-FR" dirty="0" smtClean="0">
                <a:latin typeface="Maiandra GD" pitchFamily="34" charset="0"/>
              </a:rPr>
              <a:t>Dans ce </a:t>
            </a:r>
            <a:r>
              <a:rPr lang="fr-FR" dirty="0">
                <a:latin typeface="Maiandra GD" pitchFamily="34" charset="0"/>
              </a:rPr>
              <a:t>cas, il vaut mieux utiliser le format PNG.</a:t>
            </a:r>
          </a:p>
        </p:txBody>
      </p:sp>
    </p:spTree>
    <p:extLst>
      <p:ext uri="{BB962C8B-B14F-4D97-AF65-F5344CB8AC3E}">
        <p14:creationId xmlns:p14="http://schemas.microsoft.com/office/powerpoint/2010/main" val="3046200498"/>
      </p:ext>
    </p:extLst>
  </p:cSld>
  <p:clrMapOvr>
    <a:masterClrMapping/>
  </p:clrMapOvr>
  <p:timing>
    <p:tnLst>
      <p:par>
        <p:cTn id="1" dur="indefinite" restart="never" nodeType="tmRoot"/>
      </p:par>
    </p:tn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116632"/>
            <a:ext cx="8229600" cy="1143000"/>
          </a:xfrm>
        </p:spPr>
        <p:txBody>
          <a:bodyPr>
            <a:normAutofit/>
          </a:bodyPr>
          <a:lstStyle/>
          <a:p>
            <a:r>
              <a:rPr lang="fr-FR" sz="6000" dirty="0">
                <a:effectLst>
                  <a:outerShdw blurRad="38100" dist="38100" dir="2700000" algn="tl">
                    <a:srgbClr val="000000">
                      <a:alpha val="43137"/>
                    </a:srgbClr>
                  </a:outerShdw>
                </a:effectLst>
                <a:latin typeface="Maiandra GD" pitchFamily="34" charset="0"/>
              </a:rPr>
              <a:t>Le PNG</a:t>
            </a:r>
          </a:p>
        </p:txBody>
      </p:sp>
      <p:sp>
        <p:nvSpPr>
          <p:cNvPr id="3" name="Espace réservé du contenu 2"/>
          <p:cNvSpPr>
            <a:spLocks noGrp="1"/>
          </p:cNvSpPr>
          <p:nvPr>
            <p:ph idx="1"/>
          </p:nvPr>
        </p:nvSpPr>
        <p:spPr>
          <a:xfrm>
            <a:off x="179512" y="1340768"/>
            <a:ext cx="8712968" cy="5256584"/>
          </a:xfrm>
        </p:spPr>
        <p:txBody>
          <a:bodyPr>
            <a:normAutofit/>
          </a:bodyPr>
          <a:lstStyle/>
          <a:p>
            <a:pPr marL="0" indent="0" algn="just">
              <a:buNone/>
            </a:pPr>
            <a:r>
              <a:rPr lang="fr-FR" sz="3600" dirty="0">
                <a:latin typeface="Maiandra GD" pitchFamily="34" charset="0"/>
              </a:rPr>
              <a:t>Le format PNG (Portable Network Graphics ) est le plus récent de tous. Ce format </a:t>
            </a:r>
            <a:r>
              <a:rPr lang="fr-FR" sz="3600" dirty="0" smtClean="0">
                <a:latin typeface="Maiandra GD" pitchFamily="34" charset="0"/>
              </a:rPr>
              <a:t>est adapté </a:t>
            </a:r>
            <a:r>
              <a:rPr lang="fr-FR" sz="3600" dirty="0">
                <a:latin typeface="Maiandra GD" pitchFamily="34" charset="0"/>
              </a:rPr>
              <a:t>à la plupart des graphiques (je serais tenté de dire  à tout ce qui n'est pas </a:t>
            </a:r>
            <a:r>
              <a:rPr lang="fr-FR" sz="3600" dirty="0" smtClean="0">
                <a:latin typeface="Maiandra GD" pitchFamily="34" charset="0"/>
              </a:rPr>
              <a:t>une photo </a:t>
            </a:r>
            <a:r>
              <a:rPr lang="fr-FR" sz="3600" dirty="0">
                <a:latin typeface="Maiandra GD" pitchFamily="34" charset="0"/>
              </a:rPr>
              <a:t>). Le PNG a deux gros avantages : il peut être rendu transparent et il </a:t>
            </a:r>
            <a:r>
              <a:rPr lang="fr-FR" sz="3600" dirty="0" smtClean="0">
                <a:latin typeface="Maiandra GD" pitchFamily="34" charset="0"/>
              </a:rPr>
              <a:t>n'altère pas </a:t>
            </a:r>
            <a:r>
              <a:rPr lang="fr-FR" sz="3600" dirty="0">
                <a:latin typeface="Maiandra GD" pitchFamily="34" charset="0"/>
              </a:rPr>
              <a:t>la qualité de l'image.</a:t>
            </a:r>
          </a:p>
        </p:txBody>
      </p:sp>
    </p:spTree>
    <p:extLst>
      <p:ext uri="{BB962C8B-B14F-4D97-AF65-F5344CB8AC3E}">
        <p14:creationId xmlns:p14="http://schemas.microsoft.com/office/powerpoint/2010/main" val="3140612539"/>
      </p:ext>
    </p:extLst>
  </p:cSld>
  <p:clrMapOvr>
    <a:masterClrMapping/>
  </p:clrMapOvr>
  <p:timing>
    <p:tnLst>
      <p:par>
        <p:cTn id="1" dur="indefinite" restart="never" nodeType="tmRoot"/>
      </p:par>
    </p:tn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72008" y="188640"/>
            <a:ext cx="8964488" cy="6480720"/>
          </a:xfrm>
        </p:spPr>
        <p:txBody>
          <a:bodyPr>
            <a:normAutofit/>
          </a:bodyPr>
          <a:lstStyle/>
          <a:p>
            <a:pPr marL="0" indent="0" algn="just">
              <a:buNone/>
            </a:pPr>
            <a:r>
              <a:rPr lang="fr-FR" dirty="0">
                <a:latin typeface="Maiandra GD" pitchFamily="34" charset="0"/>
              </a:rPr>
              <a:t>Le PNG a été inventé pour concurrencer un autre format, le GIF, à l'époque où </a:t>
            </a:r>
            <a:r>
              <a:rPr lang="fr-FR" dirty="0" smtClean="0">
                <a:latin typeface="Maiandra GD" pitchFamily="34" charset="0"/>
              </a:rPr>
              <a:t>il fallait </a:t>
            </a:r>
            <a:r>
              <a:rPr lang="fr-FR" dirty="0">
                <a:latin typeface="Maiandra GD" pitchFamily="34" charset="0"/>
              </a:rPr>
              <a:t>payer des royalties pour pouvoir utiliser des GIF. </a:t>
            </a:r>
            <a:endParaRPr lang="fr-FR" dirty="0" smtClean="0">
              <a:latin typeface="Maiandra GD" pitchFamily="34" charset="0"/>
            </a:endParaRPr>
          </a:p>
          <a:p>
            <a:pPr marL="0" indent="0" algn="just">
              <a:buNone/>
            </a:pPr>
            <a:r>
              <a:rPr lang="fr-FR" dirty="0" smtClean="0">
                <a:latin typeface="Maiandra GD" pitchFamily="34" charset="0"/>
              </a:rPr>
              <a:t>Depuis</a:t>
            </a:r>
            <a:r>
              <a:rPr lang="fr-FR" dirty="0">
                <a:latin typeface="Maiandra GD" pitchFamily="34" charset="0"/>
              </a:rPr>
              <a:t>, le PNG a bien </a:t>
            </a:r>
            <a:r>
              <a:rPr lang="fr-FR" dirty="0" smtClean="0">
                <a:latin typeface="Maiandra GD" pitchFamily="34" charset="0"/>
              </a:rPr>
              <a:t>évolué et </a:t>
            </a:r>
            <a:r>
              <a:rPr lang="fr-FR" dirty="0">
                <a:latin typeface="Maiandra GD" pitchFamily="34" charset="0"/>
              </a:rPr>
              <a:t>c'est devenu le format le plus puissant pour enregistrer la plupart des images</a:t>
            </a:r>
            <a:r>
              <a:rPr lang="fr-FR" dirty="0" smtClean="0">
                <a:latin typeface="Maiandra GD" pitchFamily="34" charset="0"/>
              </a:rPr>
              <a:t>.</a:t>
            </a:r>
          </a:p>
          <a:p>
            <a:pPr marL="0" indent="0">
              <a:buNone/>
            </a:pPr>
            <a:r>
              <a:rPr lang="fr-FR" dirty="0">
                <a:latin typeface="Maiandra GD" pitchFamily="34" charset="0"/>
              </a:rPr>
              <a:t>Le PNG existe en deux versions, en fonction du nombre de couleurs que doit </a:t>
            </a:r>
            <a:r>
              <a:rPr lang="fr-FR" dirty="0" smtClean="0">
                <a:latin typeface="Maiandra GD" pitchFamily="34" charset="0"/>
              </a:rPr>
              <a:t>comporter l'image </a:t>
            </a:r>
            <a:r>
              <a:rPr lang="fr-FR" dirty="0">
                <a:latin typeface="Maiandra GD" pitchFamily="34" charset="0"/>
              </a:rPr>
              <a:t>:</a:t>
            </a:r>
          </a:p>
          <a:p>
            <a:pPr marL="0" indent="0">
              <a:buNone/>
            </a:pPr>
            <a:r>
              <a:rPr lang="fr-FR" dirty="0" smtClean="0">
                <a:latin typeface="Maiandra GD" pitchFamily="34" charset="0"/>
              </a:rPr>
              <a:t>-  </a:t>
            </a:r>
            <a:r>
              <a:rPr lang="fr-FR" dirty="0">
                <a:latin typeface="Maiandra GD" pitchFamily="34" charset="0"/>
              </a:rPr>
              <a:t>PNG 8 bits : 256 couleurs ;</a:t>
            </a:r>
          </a:p>
          <a:p>
            <a:pPr marL="0" indent="0">
              <a:buNone/>
            </a:pPr>
            <a:r>
              <a:rPr lang="fr-FR" dirty="0" smtClean="0">
                <a:latin typeface="Maiandra GD" pitchFamily="34" charset="0"/>
              </a:rPr>
              <a:t>-  </a:t>
            </a:r>
            <a:r>
              <a:rPr lang="fr-FR" dirty="0">
                <a:latin typeface="Maiandra GD" pitchFamily="34" charset="0"/>
              </a:rPr>
              <a:t>PNG 24 bits : 16 millions de couleurs (autant qu'une image JPEG).</a:t>
            </a:r>
          </a:p>
        </p:txBody>
      </p:sp>
    </p:spTree>
    <p:extLst>
      <p:ext uri="{BB962C8B-B14F-4D97-AF65-F5344CB8AC3E}">
        <p14:creationId xmlns:p14="http://schemas.microsoft.com/office/powerpoint/2010/main" val="77953592"/>
      </p:ext>
    </p:extLst>
  </p:cSld>
  <p:clrMapOvr>
    <a:masterClrMapping/>
  </p:clrMapOvr>
  <p:timing>
    <p:tnLst>
      <p:par>
        <p:cTn id="1" dur="indefinite" restart="never" nodeType="tmRoot"/>
      </p:par>
    </p:tnLst>
  </p:timing>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30110" y="2060848"/>
            <a:ext cx="4896544" cy="4104456"/>
          </a:xfrm>
          <a:prstGeom prst="rect">
            <a:avLst/>
          </a:prstGeom>
        </p:spPr>
      </p:pic>
      <p:sp>
        <p:nvSpPr>
          <p:cNvPr id="3" name="Espace réservé du contenu 2"/>
          <p:cNvSpPr>
            <a:spLocks noGrp="1"/>
          </p:cNvSpPr>
          <p:nvPr>
            <p:ph idx="1"/>
          </p:nvPr>
        </p:nvSpPr>
        <p:spPr>
          <a:xfrm>
            <a:off x="251520" y="476672"/>
            <a:ext cx="8640960" cy="5976664"/>
          </a:xfrm>
        </p:spPr>
        <p:txBody>
          <a:bodyPr>
            <a:normAutofit/>
          </a:bodyPr>
          <a:lstStyle/>
          <a:p>
            <a:pPr marL="0" indent="0" algn="just">
              <a:buNone/>
            </a:pPr>
            <a:r>
              <a:rPr lang="fr-FR" sz="3600" dirty="0">
                <a:latin typeface="Maiandra GD" pitchFamily="34" charset="0"/>
              </a:rPr>
              <a:t>La </a:t>
            </a:r>
            <a:r>
              <a:rPr lang="fr-FR" sz="3600" dirty="0" smtClean="0">
                <a:latin typeface="Maiandra GD" pitchFamily="34" charset="0"/>
              </a:rPr>
              <a:t>figure suivante </a:t>
            </a:r>
            <a:r>
              <a:rPr lang="fr-FR" sz="3600" dirty="0">
                <a:latin typeface="Maiandra GD" pitchFamily="34" charset="0"/>
              </a:rPr>
              <a:t>est une image PNG en 24 bits, représentant la célèbre mascotte Zozor </a:t>
            </a:r>
            <a:r>
              <a:rPr lang="fr-FR" sz="3600" dirty="0" smtClean="0">
                <a:latin typeface="Maiandra GD" pitchFamily="34" charset="0"/>
              </a:rPr>
              <a:t>du Site du </a:t>
            </a:r>
            <a:r>
              <a:rPr lang="fr-FR" sz="3600" dirty="0">
                <a:latin typeface="Maiandra GD" pitchFamily="34" charset="0"/>
              </a:rPr>
              <a:t>Zéro.</a:t>
            </a:r>
          </a:p>
        </p:txBody>
      </p:sp>
      <p:sp>
        <p:nvSpPr>
          <p:cNvPr id="5" name="Rectangle 4"/>
          <p:cNvSpPr/>
          <p:nvPr/>
        </p:nvSpPr>
        <p:spPr>
          <a:xfrm>
            <a:off x="2962158" y="5786100"/>
            <a:ext cx="3554058" cy="523220"/>
          </a:xfrm>
          <a:prstGeom prst="rect">
            <a:avLst/>
          </a:prstGeom>
        </p:spPr>
        <p:txBody>
          <a:bodyPr wrap="square">
            <a:spAutoFit/>
          </a:bodyPr>
          <a:lstStyle/>
          <a:p>
            <a:pPr algn="ctr"/>
            <a:r>
              <a:rPr lang="fr-FR" sz="2800" dirty="0">
                <a:effectLst>
                  <a:outerShdw blurRad="38100" dist="38100" dir="2700000" algn="tl">
                    <a:srgbClr val="000000">
                      <a:alpha val="43137"/>
                    </a:srgbClr>
                  </a:outerShdw>
                </a:effectLst>
                <a:latin typeface="Maiandra GD" pitchFamily="34" charset="0"/>
              </a:rPr>
              <a:t>Zozor en PNG</a:t>
            </a:r>
          </a:p>
        </p:txBody>
      </p:sp>
    </p:spTree>
    <p:extLst>
      <p:ext uri="{BB962C8B-B14F-4D97-AF65-F5344CB8AC3E}">
        <p14:creationId xmlns:p14="http://schemas.microsoft.com/office/powerpoint/2010/main" val="3816886944"/>
      </p:ext>
    </p:extLst>
  </p:cSld>
  <p:clrMapOvr>
    <a:masterClrMapping/>
  </p:clrMapOvr>
  <p:timing>
    <p:tnLst>
      <p:par>
        <p:cTn id="1" dur="indefinite" restart="never" nodeType="tmRoot"/>
      </p:par>
    </p:tnLst>
  </p:timing>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44016" y="332656"/>
            <a:ext cx="8892480" cy="6192688"/>
          </a:xfrm>
        </p:spPr>
        <p:txBody>
          <a:bodyPr>
            <a:normAutofit/>
          </a:bodyPr>
          <a:lstStyle/>
          <a:p>
            <a:pPr marL="0" indent="0" algn="just">
              <a:buNone/>
            </a:pPr>
            <a:endParaRPr lang="fr-FR" sz="3600" dirty="0" smtClean="0">
              <a:latin typeface="Maiandra GD" pitchFamily="34" charset="0"/>
            </a:endParaRPr>
          </a:p>
          <a:p>
            <a:pPr marL="0" indent="0" algn="just">
              <a:buNone/>
            </a:pPr>
            <a:r>
              <a:rPr lang="fr-FR" sz="3600" dirty="0" smtClean="0">
                <a:latin typeface="Maiandra GD" pitchFamily="34" charset="0"/>
              </a:rPr>
              <a:t>Au </a:t>
            </a:r>
            <a:r>
              <a:rPr lang="fr-FR" sz="3600" dirty="0">
                <a:latin typeface="Maiandra GD" pitchFamily="34" charset="0"/>
              </a:rPr>
              <a:t>fait, si le PNG 24 bits peut </a:t>
            </a:r>
            <a:r>
              <a:rPr lang="fr-FR" sz="3600" dirty="0" smtClean="0">
                <a:latin typeface="Maiandra GD" pitchFamily="34" charset="0"/>
              </a:rPr>
              <a:t>afficher </a:t>
            </a:r>
            <a:r>
              <a:rPr lang="fr-FR" sz="3600" dirty="0">
                <a:latin typeface="Maiandra GD" pitchFamily="34" charset="0"/>
              </a:rPr>
              <a:t>autant de couleurs qu'une </a:t>
            </a:r>
            <a:r>
              <a:rPr lang="fr-FR" sz="3600" dirty="0" smtClean="0">
                <a:latin typeface="Maiandra GD" pitchFamily="34" charset="0"/>
              </a:rPr>
              <a:t>image JPEG</a:t>
            </a:r>
            <a:r>
              <a:rPr lang="fr-FR" sz="3600" dirty="0">
                <a:latin typeface="Maiandra GD" pitchFamily="34" charset="0"/>
              </a:rPr>
              <a:t>, et qu'en plus il peut être rendu transparent sans </a:t>
            </a:r>
            <a:r>
              <a:rPr lang="fr-FR" sz="3600" dirty="0" smtClean="0">
                <a:latin typeface="Maiandra GD" pitchFamily="34" charset="0"/>
              </a:rPr>
              <a:t>modifier </a:t>
            </a:r>
            <a:r>
              <a:rPr lang="fr-FR" sz="3600" dirty="0">
                <a:latin typeface="Maiandra GD" pitchFamily="34" charset="0"/>
              </a:rPr>
              <a:t>la qualité </a:t>
            </a:r>
            <a:r>
              <a:rPr lang="fr-FR" sz="3600" dirty="0" smtClean="0">
                <a:latin typeface="Maiandra GD" pitchFamily="34" charset="0"/>
              </a:rPr>
              <a:t>de l'image</a:t>
            </a:r>
            <a:r>
              <a:rPr lang="fr-FR" sz="3600" dirty="0">
                <a:latin typeface="Maiandra GD" pitchFamily="34" charset="0"/>
              </a:rPr>
              <a:t>. . . quel est l'intérêt du JPEG ?</a:t>
            </a:r>
          </a:p>
        </p:txBody>
      </p:sp>
      <p:pic>
        <p:nvPicPr>
          <p:cNvPr id="23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22182" y="3789040"/>
            <a:ext cx="1238250" cy="1944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66445684"/>
      </p:ext>
    </p:extLst>
  </p:cSld>
  <p:clrMapOvr>
    <a:masterClrMapping/>
  </p:clrMapOvr>
  <p:timing>
    <p:tnLst>
      <p:par>
        <p:cTn id="1" dur="indefinite" restart="never" nodeType="tmRoot"/>
      </p:par>
    </p:tnLst>
  </p:timing>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23528" y="548680"/>
            <a:ext cx="8568952" cy="5832648"/>
          </a:xfrm>
        </p:spPr>
        <p:txBody>
          <a:bodyPr>
            <a:normAutofit/>
          </a:bodyPr>
          <a:lstStyle/>
          <a:p>
            <a:pPr marL="0" indent="0" algn="just">
              <a:buNone/>
            </a:pPr>
            <a:r>
              <a:rPr lang="fr-FR" sz="3600" dirty="0">
                <a:latin typeface="Maiandra GD" pitchFamily="34" charset="0"/>
              </a:rPr>
              <a:t>La compression du JPEG est plus puissante sur les photos. Une photo enregistrée </a:t>
            </a:r>
            <a:r>
              <a:rPr lang="fr-FR" sz="3600" dirty="0" smtClean="0">
                <a:latin typeface="Maiandra GD" pitchFamily="34" charset="0"/>
              </a:rPr>
              <a:t>en JPEG </a:t>
            </a:r>
            <a:r>
              <a:rPr lang="fr-FR" sz="3600" dirty="0">
                <a:latin typeface="Maiandra GD" pitchFamily="34" charset="0"/>
              </a:rPr>
              <a:t>se chargera toujours beaucoup plus vite que si elle était enregistrée en PNG. </a:t>
            </a:r>
            <a:r>
              <a:rPr lang="fr-FR" sz="3600" dirty="0" smtClean="0">
                <a:latin typeface="Maiandra GD" pitchFamily="34" charset="0"/>
              </a:rPr>
              <a:t>Je vous </a:t>
            </a:r>
            <a:r>
              <a:rPr lang="fr-FR" sz="3600" dirty="0">
                <a:latin typeface="Maiandra GD" pitchFamily="34" charset="0"/>
              </a:rPr>
              <a:t>conseille donc toujours de réserver le format JPEG aux photos.</a:t>
            </a:r>
          </a:p>
        </p:txBody>
      </p:sp>
    </p:spTree>
    <p:extLst>
      <p:ext uri="{BB962C8B-B14F-4D97-AF65-F5344CB8AC3E}">
        <p14:creationId xmlns:p14="http://schemas.microsoft.com/office/powerpoint/2010/main" val="2578798332"/>
      </p:ext>
    </p:extLst>
  </p:cSld>
  <p:clrMapOvr>
    <a:masterClrMapping/>
  </p:clrMapOvr>
  <p:timing>
    <p:tnLst>
      <p:par>
        <p:cTn id="1" dur="indefinite" restart="never" nodeType="tmRoot"/>
      </p:par>
    </p:tnLst>
  </p:timing>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38138"/>
          </a:xfrm>
        </p:spPr>
        <p:txBody>
          <a:bodyPr>
            <a:normAutofit/>
          </a:bodyPr>
          <a:lstStyle/>
          <a:p>
            <a:r>
              <a:rPr lang="fr-FR" sz="6000" dirty="0">
                <a:effectLst>
                  <a:outerShdw blurRad="38100" dist="38100" dir="2700000" algn="tl">
                    <a:srgbClr val="000000">
                      <a:alpha val="43137"/>
                    </a:srgbClr>
                  </a:outerShdw>
                </a:effectLst>
                <a:latin typeface="Maiandra GD" pitchFamily="34" charset="0"/>
              </a:rPr>
              <a:t>Le GIF</a:t>
            </a:r>
          </a:p>
        </p:txBody>
      </p:sp>
      <p:sp>
        <p:nvSpPr>
          <p:cNvPr id="3" name="Espace réservé du contenu 2"/>
          <p:cNvSpPr>
            <a:spLocks noGrp="1"/>
          </p:cNvSpPr>
          <p:nvPr>
            <p:ph idx="1"/>
          </p:nvPr>
        </p:nvSpPr>
        <p:spPr>
          <a:xfrm>
            <a:off x="179512" y="1412776"/>
            <a:ext cx="8784976" cy="5256584"/>
          </a:xfrm>
        </p:spPr>
        <p:txBody>
          <a:bodyPr>
            <a:normAutofit lnSpcReduction="10000"/>
          </a:bodyPr>
          <a:lstStyle/>
          <a:p>
            <a:pPr marL="0" indent="0" algn="just">
              <a:buNone/>
            </a:pPr>
            <a:r>
              <a:rPr lang="fr-FR" dirty="0">
                <a:latin typeface="Maiandra GD" pitchFamily="34" charset="0"/>
              </a:rPr>
              <a:t>C'est un format assez vieux, qui a été néanmoins très utilisé (et qui reste très </a:t>
            </a:r>
            <a:r>
              <a:rPr lang="fr-FR" dirty="0" smtClean="0">
                <a:latin typeface="Maiandra GD" pitchFamily="34" charset="0"/>
              </a:rPr>
              <a:t>utilisé par </a:t>
            </a:r>
            <a:r>
              <a:rPr lang="fr-FR" dirty="0">
                <a:latin typeface="Maiandra GD" pitchFamily="34" charset="0"/>
              </a:rPr>
              <a:t>habitude). Aujourd'hui, le PNG est globalement bien meilleur que le GIF : </a:t>
            </a:r>
            <a:r>
              <a:rPr lang="fr-FR" dirty="0" smtClean="0">
                <a:latin typeface="Maiandra GD" pitchFamily="34" charset="0"/>
              </a:rPr>
              <a:t>les images </a:t>
            </a:r>
            <a:r>
              <a:rPr lang="fr-FR" dirty="0">
                <a:latin typeface="Maiandra GD" pitchFamily="34" charset="0"/>
              </a:rPr>
              <a:t>sont généralement plus légères et la transparence est de meilleure qualité. </a:t>
            </a:r>
            <a:endParaRPr lang="fr-FR" dirty="0" smtClean="0">
              <a:latin typeface="Maiandra GD" pitchFamily="34" charset="0"/>
            </a:endParaRPr>
          </a:p>
          <a:p>
            <a:pPr marL="0" indent="0" algn="just">
              <a:buNone/>
            </a:pPr>
            <a:r>
              <a:rPr lang="fr-FR" dirty="0" smtClean="0">
                <a:latin typeface="Maiandra GD" pitchFamily="34" charset="0"/>
              </a:rPr>
              <a:t>Je vous </a:t>
            </a:r>
            <a:r>
              <a:rPr lang="fr-FR" dirty="0">
                <a:latin typeface="Maiandra GD" pitchFamily="34" charset="0"/>
              </a:rPr>
              <a:t>recommande donc d'utiliser le PNG autant que possible</a:t>
            </a:r>
            <a:r>
              <a:rPr lang="fr-FR" dirty="0" smtClean="0">
                <a:latin typeface="Maiandra GD" pitchFamily="34" charset="0"/>
              </a:rPr>
              <a:t>.</a:t>
            </a:r>
          </a:p>
          <a:p>
            <a:pPr marL="0" indent="0" algn="just">
              <a:buNone/>
            </a:pPr>
            <a:r>
              <a:rPr lang="fr-FR" dirty="0">
                <a:latin typeface="Maiandra GD" pitchFamily="34" charset="0"/>
              </a:rPr>
              <a:t>Le format GIF est limité à 256 couleurs (alors que le PNG peut aller jusqu'à </a:t>
            </a:r>
            <a:r>
              <a:rPr lang="fr-FR" dirty="0" smtClean="0">
                <a:latin typeface="Maiandra GD" pitchFamily="34" charset="0"/>
              </a:rPr>
              <a:t>plusieurs millions </a:t>
            </a:r>
            <a:r>
              <a:rPr lang="fr-FR" dirty="0">
                <a:latin typeface="Maiandra GD" pitchFamily="34" charset="0"/>
              </a:rPr>
              <a:t>de couleurs).</a:t>
            </a:r>
          </a:p>
        </p:txBody>
      </p:sp>
    </p:spTree>
    <p:extLst>
      <p:ext uri="{BB962C8B-B14F-4D97-AF65-F5344CB8AC3E}">
        <p14:creationId xmlns:p14="http://schemas.microsoft.com/office/powerpoint/2010/main" val="744332493"/>
      </p:ext>
    </p:extLst>
  </p:cSld>
  <p:clrMapOvr>
    <a:masterClrMapping/>
  </p:clrMapOvr>
  <p:timing>
    <p:tnLst>
      <p:par>
        <p:cTn id="1" dur="indefinite" restart="never" nodeType="tmRoot"/>
      </p:par>
    </p:tnLst>
  </p:timing>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33916" y="2790056"/>
            <a:ext cx="8730572" cy="1647056"/>
          </a:xfrm>
        </p:spPr>
        <p:txBody>
          <a:bodyPr>
            <a:noAutofit/>
          </a:bodyPr>
          <a:lstStyle/>
          <a:p>
            <a:r>
              <a:rPr lang="fr-FR" sz="4800" dirty="0">
                <a:effectLst>
                  <a:outerShdw blurRad="38100" dist="38100" dir="2700000" algn="tl">
                    <a:srgbClr val="000000">
                      <a:alpha val="43137"/>
                    </a:srgbClr>
                  </a:outerShdw>
                </a:effectLst>
                <a:latin typeface="Maiandra GD" pitchFamily="34" charset="0"/>
              </a:rPr>
              <a:t>Il existe un format adapté à chaque image</a:t>
            </a:r>
          </a:p>
        </p:txBody>
      </p:sp>
    </p:spTree>
    <p:extLst>
      <p:ext uri="{BB962C8B-B14F-4D97-AF65-F5344CB8AC3E}">
        <p14:creationId xmlns:p14="http://schemas.microsoft.com/office/powerpoint/2010/main" val="909275976"/>
      </p:ext>
    </p:extLst>
  </p:cSld>
  <p:clrMapOvr>
    <a:masterClrMapping/>
  </p:clrMapOvr>
  <p:timing>
    <p:tnLst>
      <p:par>
        <p:cTn id="1" dur="indefinite" restart="never" nodeType="tmRoot"/>
      </p:par>
    </p:tnLst>
  </p:timing>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contenu 2"/>
          <p:cNvSpPr>
            <a:spLocks noGrp="1"/>
          </p:cNvSpPr>
          <p:nvPr>
            <p:ph idx="1"/>
          </p:nvPr>
        </p:nvSpPr>
        <p:spPr>
          <a:xfrm>
            <a:off x="251520" y="404664"/>
            <a:ext cx="8712968" cy="6192688"/>
          </a:xfrm>
        </p:spPr>
        <p:txBody>
          <a:bodyPr>
            <a:normAutofit/>
          </a:bodyPr>
          <a:lstStyle/>
          <a:p>
            <a:pPr marL="0" indent="0" algn="just">
              <a:buNone/>
            </a:pPr>
            <a:r>
              <a:rPr lang="fr-FR" sz="3600" dirty="0">
                <a:latin typeface="Maiandra GD" pitchFamily="34" charset="0"/>
              </a:rPr>
              <a:t>Si on résume, voici quel format adopter en fonction de </a:t>
            </a:r>
            <a:r>
              <a:rPr lang="fr-FR" sz="3600" dirty="0" smtClean="0">
                <a:latin typeface="Maiandra GD" pitchFamily="34" charset="0"/>
              </a:rPr>
              <a:t>l'image </a:t>
            </a:r>
            <a:r>
              <a:rPr lang="fr-FR" sz="3600" dirty="0">
                <a:latin typeface="Maiandra GD" pitchFamily="34" charset="0"/>
              </a:rPr>
              <a:t>que vous avez </a:t>
            </a:r>
            <a:r>
              <a:rPr lang="fr-FR" sz="3600" dirty="0" smtClean="0">
                <a:latin typeface="Maiandra GD" pitchFamily="34" charset="0"/>
              </a:rPr>
              <a:t>:</a:t>
            </a:r>
          </a:p>
          <a:p>
            <a:pPr marL="0" indent="0" algn="just">
              <a:buNone/>
            </a:pPr>
            <a:r>
              <a:rPr lang="fr-FR" sz="3600" dirty="0" smtClean="0">
                <a:latin typeface="Maiandra GD" pitchFamily="34" charset="0"/>
              </a:rPr>
              <a:t>- </a:t>
            </a:r>
            <a:r>
              <a:rPr lang="fr-FR" sz="3600" dirty="0" smtClean="0">
                <a:effectLst>
                  <a:outerShdw blurRad="38100" dist="38100" dir="2700000" algn="tl">
                    <a:srgbClr val="000000">
                      <a:alpha val="43137"/>
                    </a:srgbClr>
                  </a:outerShdw>
                </a:effectLst>
                <a:latin typeface="Maiandra GD" pitchFamily="34" charset="0"/>
              </a:rPr>
              <a:t>Une </a:t>
            </a:r>
            <a:r>
              <a:rPr lang="fr-FR" sz="3600" dirty="0">
                <a:effectLst>
                  <a:outerShdw blurRad="38100" dist="38100" dir="2700000" algn="tl">
                    <a:srgbClr val="000000">
                      <a:alpha val="43137"/>
                    </a:srgbClr>
                  </a:outerShdw>
                </a:effectLst>
                <a:latin typeface="Maiandra GD" pitchFamily="34" charset="0"/>
              </a:rPr>
              <a:t>photo</a:t>
            </a:r>
            <a:r>
              <a:rPr lang="fr-FR" sz="3600" dirty="0">
                <a:latin typeface="Maiandra GD" pitchFamily="34" charset="0"/>
              </a:rPr>
              <a:t> : utilisez un JPEG.</a:t>
            </a:r>
          </a:p>
          <a:p>
            <a:pPr marL="0" indent="0" algn="just">
              <a:buNone/>
            </a:pPr>
            <a:r>
              <a:rPr lang="fr-FR" sz="3600" dirty="0" smtClean="0">
                <a:latin typeface="Maiandra GD" pitchFamily="34" charset="0"/>
              </a:rPr>
              <a:t>- </a:t>
            </a:r>
            <a:r>
              <a:rPr lang="fr-FR" sz="3600" dirty="0" smtClean="0">
                <a:effectLst>
                  <a:outerShdw blurRad="38100" dist="38100" dir="2700000" algn="tl">
                    <a:srgbClr val="000000">
                      <a:alpha val="43137"/>
                    </a:srgbClr>
                  </a:outerShdw>
                </a:effectLst>
                <a:latin typeface="Maiandra GD" pitchFamily="34" charset="0"/>
              </a:rPr>
              <a:t>N'importe </a:t>
            </a:r>
            <a:r>
              <a:rPr lang="fr-FR" sz="3600" dirty="0">
                <a:effectLst>
                  <a:outerShdw blurRad="38100" dist="38100" dir="2700000" algn="tl">
                    <a:srgbClr val="000000">
                      <a:alpha val="43137"/>
                    </a:srgbClr>
                  </a:outerShdw>
                </a:effectLst>
                <a:latin typeface="Maiandra GD" pitchFamily="34" charset="0"/>
              </a:rPr>
              <a:t>quel graphique avec peu de couleurs </a:t>
            </a:r>
            <a:r>
              <a:rPr lang="fr-FR" sz="3600" dirty="0">
                <a:latin typeface="Maiandra GD" pitchFamily="34" charset="0"/>
              </a:rPr>
              <a:t>(moins de 256) : utilisez </a:t>
            </a:r>
            <a:r>
              <a:rPr lang="fr-FR" sz="3600" dirty="0" smtClean="0">
                <a:latin typeface="Maiandra GD" pitchFamily="34" charset="0"/>
              </a:rPr>
              <a:t>un PNG </a:t>
            </a:r>
            <a:r>
              <a:rPr lang="fr-FR" sz="3600" dirty="0">
                <a:latin typeface="Maiandra GD" pitchFamily="34" charset="0"/>
              </a:rPr>
              <a:t>8 bits ou éventuellement un GIF.</a:t>
            </a:r>
          </a:p>
          <a:p>
            <a:pPr marL="0" indent="0" algn="just">
              <a:buNone/>
            </a:pPr>
            <a:r>
              <a:rPr lang="fr-FR" sz="3600" dirty="0" smtClean="0">
                <a:latin typeface="Maiandra GD" pitchFamily="34" charset="0"/>
              </a:rPr>
              <a:t>- </a:t>
            </a:r>
            <a:r>
              <a:rPr lang="fr-FR" sz="3600" dirty="0" smtClean="0">
                <a:effectLst>
                  <a:outerShdw blurRad="38100" dist="38100" dir="2700000" algn="tl">
                    <a:srgbClr val="000000">
                      <a:alpha val="43137"/>
                    </a:srgbClr>
                  </a:outerShdw>
                </a:effectLst>
                <a:latin typeface="Maiandra GD" pitchFamily="34" charset="0"/>
              </a:rPr>
              <a:t>N'importe </a:t>
            </a:r>
            <a:r>
              <a:rPr lang="fr-FR" sz="3600" dirty="0">
                <a:effectLst>
                  <a:outerShdw blurRad="38100" dist="38100" dir="2700000" algn="tl">
                    <a:srgbClr val="000000">
                      <a:alpha val="43137"/>
                    </a:srgbClr>
                  </a:outerShdw>
                </a:effectLst>
                <a:latin typeface="Maiandra GD" pitchFamily="34" charset="0"/>
              </a:rPr>
              <a:t>quel graphique avec beaucoup de couleurs </a:t>
            </a:r>
            <a:r>
              <a:rPr lang="fr-FR" sz="3600" dirty="0">
                <a:latin typeface="Maiandra GD" pitchFamily="34" charset="0"/>
              </a:rPr>
              <a:t>: utilisez un PNG </a:t>
            </a:r>
            <a:r>
              <a:rPr lang="fr-FR" sz="3600" dirty="0" smtClean="0">
                <a:latin typeface="Maiandra GD" pitchFamily="34" charset="0"/>
              </a:rPr>
              <a:t>24 bits</a:t>
            </a:r>
            <a:r>
              <a:rPr lang="fr-FR" sz="3600" dirty="0">
                <a:latin typeface="Maiandra GD" pitchFamily="34" charset="0"/>
              </a:rPr>
              <a:t>.</a:t>
            </a:r>
          </a:p>
          <a:p>
            <a:pPr marL="0" indent="0" algn="just">
              <a:buNone/>
            </a:pPr>
            <a:r>
              <a:rPr lang="fr-FR" sz="3600" dirty="0" smtClean="0">
                <a:latin typeface="Maiandra GD" pitchFamily="34" charset="0"/>
              </a:rPr>
              <a:t>- </a:t>
            </a:r>
            <a:r>
              <a:rPr lang="fr-FR" sz="3600" dirty="0" smtClean="0">
                <a:effectLst>
                  <a:outerShdw blurRad="38100" dist="38100" dir="2700000" algn="tl">
                    <a:srgbClr val="000000">
                      <a:alpha val="43137"/>
                    </a:srgbClr>
                  </a:outerShdw>
                </a:effectLst>
                <a:latin typeface="Maiandra GD" pitchFamily="34" charset="0"/>
              </a:rPr>
              <a:t>Une </a:t>
            </a:r>
            <a:r>
              <a:rPr lang="fr-FR" sz="3600" dirty="0">
                <a:effectLst>
                  <a:outerShdw blurRad="38100" dist="38100" dir="2700000" algn="tl">
                    <a:srgbClr val="000000">
                      <a:alpha val="43137"/>
                    </a:srgbClr>
                  </a:outerShdw>
                </a:effectLst>
                <a:latin typeface="Maiandra GD" pitchFamily="34" charset="0"/>
              </a:rPr>
              <a:t>image animée</a:t>
            </a:r>
            <a:r>
              <a:rPr lang="fr-FR" sz="3600" dirty="0">
                <a:latin typeface="Maiandra GD" pitchFamily="34" charset="0"/>
              </a:rPr>
              <a:t> : utilisez un GIF animé.</a:t>
            </a:r>
          </a:p>
        </p:txBody>
      </p:sp>
    </p:spTree>
    <p:extLst>
      <p:ext uri="{BB962C8B-B14F-4D97-AF65-F5344CB8AC3E}">
        <p14:creationId xmlns:p14="http://schemas.microsoft.com/office/powerpoint/2010/main" val="1674923555"/>
      </p:ext>
    </p:extLst>
  </p:cSld>
  <p:clrMapOvr>
    <a:masterClrMapping/>
  </p:clrMapOvr>
  <p:timing>
    <p:tnLst>
      <p:par>
        <p:cTn id="1" dur="indefinite" restart="never" nodeType="tmRoot"/>
      </p:par>
    </p:tnLst>
  </p:timing>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18048"/>
            <a:ext cx="8229600" cy="1143000"/>
          </a:xfrm>
        </p:spPr>
        <p:txBody>
          <a:bodyPr>
            <a:normAutofit/>
          </a:bodyPr>
          <a:lstStyle/>
          <a:p>
            <a:r>
              <a:rPr lang="fr-FR" sz="6000" dirty="0">
                <a:effectLst>
                  <a:outerShdw blurRad="38100" dist="38100" dir="2700000" algn="tl">
                    <a:srgbClr val="000000">
                      <a:alpha val="43137"/>
                    </a:srgbClr>
                  </a:outerShdw>
                </a:effectLst>
                <a:latin typeface="Maiandra GD" pitchFamily="34" charset="0"/>
              </a:rPr>
              <a:t>Les erreurs à éviter</a:t>
            </a:r>
          </a:p>
        </p:txBody>
      </p:sp>
    </p:spTree>
    <p:extLst>
      <p:ext uri="{BB962C8B-B14F-4D97-AF65-F5344CB8AC3E}">
        <p14:creationId xmlns:p14="http://schemas.microsoft.com/office/powerpoint/2010/main" val="3970304634"/>
      </p:ext>
    </p:extLst>
  </p:cSld>
  <p:clrMapOvr>
    <a:masterClrMapping/>
  </p:clrMapOvr>
  <p:timing>
    <p:tnLst>
      <p:par>
        <p:cTn id="1" dur="indefinite" restart="never" nodeType="tmRoot"/>
      </p:par>
    </p:tnLst>
  </p:timing>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Autofit/>
          </a:bodyPr>
          <a:lstStyle/>
          <a:p>
            <a:r>
              <a:rPr lang="fr-FR" sz="4800" dirty="0">
                <a:effectLst>
                  <a:outerShdw blurRad="38100" dist="38100" dir="2700000" algn="tl">
                    <a:srgbClr val="000000">
                      <a:alpha val="43137"/>
                    </a:srgbClr>
                  </a:outerShdw>
                </a:effectLst>
                <a:latin typeface="Maiandra GD" pitchFamily="34" charset="0"/>
              </a:rPr>
              <a:t>Bannissez les autres formats</a:t>
            </a:r>
          </a:p>
        </p:txBody>
      </p:sp>
      <p:sp>
        <p:nvSpPr>
          <p:cNvPr id="3" name="Espace réservé du contenu 2"/>
          <p:cNvSpPr>
            <a:spLocks noGrp="1"/>
          </p:cNvSpPr>
          <p:nvPr>
            <p:ph idx="1"/>
          </p:nvPr>
        </p:nvSpPr>
        <p:spPr>
          <a:xfrm>
            <a:off x="179512" y="1600200"/>
            <a:ext cx="8784976" cy="4925144"/>
          </a:xfrm>
        </p:spPr>
        <p:txBody>
          <a:bodyPr>
            <a:normAutofit/>
          </a:bodyPr>
          <a:lstStyle/>
          <a:p>
            <a:pPr marL="0" indent="0" algn="just">
              <a:buNone/>
            </a:pPr>
            <a:r>
              <a:rPr lang="fr-FR" sz="3600" dirty="0">
                <a:latin typeface="Maiandra GD" pitchFamily="34" charset="0"/>
              </a:rPr>
              <a:t>Les autres formats non cités ici, comme le format BITMAP (*.bmp) sont à bannir </a:t>
            </a:r>
            <a:r>
              <a:rPr lang="fr-FR" sz="3600" dirty="0" smtClean="0">
                <a:latin typeface="Maiandra GD" pitchFamily="34" charset="0"/>
              </a:rPr>
              <a:t>car bien </a:t>
            </a:r>
            <a:r>
              <a:rPr lang="fr-FR" sz="3600" dirty="0">
                <a:latin typeface="Maiandra GD" pitchFamily="34" charset="0"/>
              </a:rPr>
              <a:t>souvent ils ne sont pas compressés, donc trop gros. Ils ne sont pas du tout </a:t>
            </a:r>
            <a:r>
              <a:rPr lang="fr-FR" sz="3600" dirty="0" smtClean="0">
                <a:latin typeface="Maiandra GD" pitchFamily="34" charset="0"/>
              </a:rPr>
              <a:t>adaptés au </a:t>
            </a:r>
            <a:r>
              <a:rPr lang="fr-FR" sz="3600" dirty="0">
                <a:latin typeface="Maiandra GD" pitchFamily="34" charset="0"/>
              </a:rPr>
              <a:t>Web. On peut en mettre sur son site mais le chargement sera vraiment </a:t>
            </a:r>
            <a:r>
              <a:rPr lang="fr-FR" sz="3600" dirty="0" smtClean="0">
                <a:latin typeface="Maiandra GD" pitchFamily="34" charset="0"/>
              </a:rPr>
              <a:t>extrêmement </a:t>
            </a:r>
            <a:r>
              <a:rPr lang="fr-FR" sz="3600" dirty="0">
                <a:latin typeface="Maiandra GD" pitchFamily="34" charset="0"/>
              </a:rPr>
              <a:t>long !</a:t>
            </a:r>
          </a:p>
        </p:txBody>
      </p:sp>
    </p:spTree>
    <p:extLst>
      <p:ext uri="{BB962C8B-B14F-4D97-AF65-F5344CB8AC3E}">
        <p14:creationId xmlns:p14="http://schemas.microsoft.com/office/powerpoint/2010/main" val="4115950333"/>
      </p:ext>
    </p:extLst>
  </p:cSld>
  <p:clrMapOvr>
    <a:masterClrMapping/>
  </p:clrMapOvr>
  <p:timing>
    <p:tnLst>
      <p:par>
        <p:cTn id="1" dur="indefinite" restart="never" nodeType="tmRoot"/>
      </p:par>
    </p:tnLst>
  </p:timing>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5496" y="274638"/>
            <a:ext cx="8964488" cy="1143000"/>
          </a:xfrm>
        </p:spPr>
        <p:txBody>
          <a:bodyPr>
            <a:noAutofit/>
          </a:bodyPr>
          <a:lstStyle/>
          <a:p>
            <a:r>
              <a:rPr lang="fr-FR" dirty="0">
                <a:effectLst>
                  <a:outerShdw blurRad="38100" dist="38100" dir="2700000" algn="tl">
                    <a:srgbClr val="000000">
                      <a:alpha val="43137"/>
                    </a:srgbClr>
                  </a:outerShdw>
                </a:effectLst>
                <a:latin typeface="Maiandra GD" pitchFamily="34" charset="0"/>
              </a:rPr>
              <a:t>Choisissez bien le nom de votre image</a:t>
            </a:r>
          </a:p>
        </p:txBody>
      </p:sp>
      <p:sp>
        <p:nvSpPr>
          <p:cNvPr id="3" name="Espace réservé du contenu 2"/>
          <p:cNvSpPr>
            <a:spLocks noGrp="1"/>
          </p:cNvSpPr>
          <p:nvPr>
            <p:ph idx="1"/>
          </p:nvPr>
        </p:nvSpPr>
        <p:spPr>
          <a:xfrm>
            <a:off x="251520" y="1600200"/>
            <a:ext cx="8640960" cy="4997152"/>
          </a:xfrm>
        </p:spPr>
        <p:txBody>
          <a:bodyPr>
            <a:normAutofit/>
          </a:bodyPr>
          <a:lstStyle/>
          <a:p>
            <a:pPr marL="0" indent="0" algn="just">
              <a:buNone/>
            </a:pPr>
            <a:r>
              <a:rPr lang="fr-FR" sz="3600" dirty="0">
                <a:latin typeface="Maiandra GD" pitchFamily="34" charset="0"/>
              </a:rPr>
              <a:t>Si vous voulez éviter des problèmes, prenez l'habitude d'enregistrer vos </a:t>
            </a:r>
            <a:r>
              <a:rPr lang="fr-FR" sz="3600" dirty="0" smtClean="0">
                <a:latin typeface="Maiandra GD" pitchFamily="34" charset="0"/>
              </a:rPr>
              <a:t>fichiers avec des </a:t>
            </a:r>
            <a:r>
              <a:rPr lang="fr-FR" sz="3600" dirty="0">
                <a:latin typeface="Maiandra GD" pitchFamily="34" charset="0"/>
              </a:rPr>
              <a:t>noms en minuscules, sans espace ni accent</a:t>
            </a:r>
            <a:r>
              <a:rPr lang="fr-FR" sz="3600" dirty="0" smtClean="0">
                <a:latin typeface="Maiandra GD" pitchFamily="34" charset="0"/>
              </a:rPr>
              <a:t>,</a:t>
            </a:r>
          </a:p>
          <a:p>
            <a:pPr marL="0" indent="0" algn="just">
              <a:buNone/>
            </a:pPr>
            <a:r>
              <a:rPr lang="fr-FR" sz="3600" dirty="0" smtClean="0">
                <a:latin typeface="Maiandra GD" pitchFamily="34" charset="0"/>
              </a:rPr>
              <a:t>par </a:t>
            </a:r>
            <a:r>
              <a:rPr lang="fr-FR" sz="3600" dirty="0">
                <a:latin typeface="Maiandra GD" pitchFamily="34" charset="0"/>
              </a:rPr>
              <a:t>exemple : </a:t>
            </a:r>
            <a:r>
              <a:rPr lang="fr-FR" sz="3600" dirty="0">
                <a:effectLst>
                  <a:outerShdw blurRad="38100" dist="38100" dir="2700000" algn="tl">
                    <a:srgbClr val="000000">
                      <a:alpha val="43137"/>
                    </a:srgbClr>
                  </a:outerShdw>
                </a:effectLst>
                <a:latin typeface="Maiandra GD" pitchFamily="34" charset="0"/>
              </a:rPr>
              <a:t>mon_image.png.</a:t>
            </a:r>
          </a:p>
          <a:p>
            <a:pPr marL="0" indent="0" algn="just">
              <a:buNone/>
            </a:pPr>
            <a:r>
              <a:rPr lang="fr-FR" sz="3600" dirty="0">
                <a:latin typeface="Maiandra GD" pitchFamily="34" charset="0"/>
              </a:rPr>
              <a:t>Vous pouvez remplacer les espaces par le caractère </a:t>
            </a:r>
            <a:r>
              <a:rPr lang="fr-FR" sz="3600" dirty="0">
                <a:effectLst>
                  <a:outerShdw blurRad="38100" dist="38100" dir="2700000" algn="tl">
                    <a:srgbClr val="000000">
                      <a:alpha val="43137"/>
                    </a:srgbClr>
                  </a:outerShdw>
                </a:effectLst>
                <a:latin typeface="Maiandra GD" pitchFamily="34" charset="0"/>
              </a:rPr>
              <a:t>underscore</a:t>
            </a:r>
            <a:r>
              <a:rPr lang="fr-FR" sz="3600" dirty="0">
                <a:latin typeface="Maiandra GD" pitchFamily="34" charset="0"/>
              </a:rPr>
              <a:t> ( </a:t>
            </a:r>
            <a:r>
              <a:rPr lang="fr-FR" sz="3600" dirty="0" smtClean="0">
                <a:latin typeface="Maiandra GD" pitchFamily="34" charset="0"/>
              </a:rPr>
              <a:t>« _ ») </a:t>
            </a:r>
            <a:r>
              <a:rPr lang="fr-FR" sz="3600" dirty="0">
                <a:latin typeface="Maiandra GD" pitchFamily="34" charset="0"/>
              </a:rPr>
              <a:t>comme je </a:t>
            </a:r>
            <a:r>
              <a:rPr lang="fr-FR" sz="3600" dirty="0" smtClean="0">
                <a:latin typeface="Maiandra GD" pitchFamily="34" charset="0"/>
              </a:rPr>
              <a:t>l'ai fait </a:t>
            </a:r>
            <a:r>
              <a:rPr lang="fr-FR" sz="3600" dirty="0">
                <a:latin typeface="Maiandra GD" pitchFamily="34" charset="0"/>
              </a:rPr>
              <a:t>ici.</a:t>
            </a:r>
          </a:p>
        </p:txBody>
      </p:sp>
    </p:spTree>
    <p:extLst>
      <p:ext uri="{BB962C8B-B14F-4D97-AF65-F5344CB8AC3E}">
        <p14:creationId xmlns:p14="http://schemas.microsoft.com/office/powerpoint/2010/main" val="2025897229"/>
      </p:ext>
    </p:extLst>
  </p:cSld>
  <p:clrMapOvr>
    <a:masterClrMapping/>
  </p:clrMapOvr>
  <p:timing>
    <p:tnLst>
      <p:par>
        <p:cTn id="1" dur="indefinite" restart="never" nodeType="tmRoot"/>
      </p:par>
    </p:tnLst>
  </p:timing>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5400" dirty="0">
                <a:effectLst>
                  <a:outerShdw blurRad="38100" dist="38100" dir="2700000" algn="tl">
                    <a:srgbClr val="000000">
                      <a:alpha val="43137"/>
                    </a:srgbClr>
                  </a:outerShdw>
                </a:effectLst>
                <a:latin typeface="Maiandra GD" pitchFamily="34" charset="0"/>
              </a:rPr>
              <a:t>Insérer une image</a:t>
            </a:r>
          </a:p>
        </p:txBody>
      </p:sp>
      <p:sp>
        <p:nvSpPr>
          <p:cNvPr id="3" name="Espace réservé du contenu 2"/>
          <p:cNvSpPr>
            <a:spLocks noGrp="1"/>
          </p:cNvSpPr>
          <p:nvPr>
            <p:ph idx="1"/>
          </p:nvPr>
        </p:nvSpPr>
        <p:spPr>
          <a:xfrm>
            <a:off x="457200" y="1744216"/>
            <a:ext cx="8229600" cy="3989040"/>
          </a:xfrm>
        </p:spPr>
        <p:txBody>
          <a:bodyPr>
            <a:normAutofit/>
          </a:bodyPr>
          <a:lstStyle/>
          <a:p>
            <a:pPr marL="0" indent="0" algn="just">
              <a:buNone/>
            </a:pPr>
            <a:r>
              <a:rPr lang="fr-FR" sz="3600" dirty="0">
                <a:latin typeface="Maiandra GD" pitchFamily="34" charset="0"/>
              </a:rPr>
              <a:t>Revenons maintenant au code HTML pour découvrir comment placer des images </a:t>
            </a:r>
            <a:r>
              <a:rPr lang="fr-FR" sz="3600" dirty="0" smtClean="0">
                <a:latin typeface="Maiandra GD" pitchFamily="34" charset="0"/>
              </a:rPr>
              <a:t>dans nos </a:t>
            </a:r>
            <a:r>
              <a:rPr lang="fr-FR" sz="3600" dirty="0">
                <a:latin typeface="Maiandra GD" pitchFamily="34" charset="0"/>
              </a:rPr>
              <a:t>pages web !</a:t>
            </a:r>
          </a:p>
        </p:txBody>
      </p:sp>
    </p:spTree>
    <p:extLst>
      <p:ext uri="{BB962C8B-B14F-4D97-AF65-F5344CB8AC3E}">
        <p14:creationId xmlns:p14="http://schemas.microsoft.com/office/powerpoint/2010/main" val="1961278735"/>
      </p:ext>
    </p:extLst>
  </p:cSld>
  <p:clrMapOvr>
    <a:masterClrMapping/>
  </p:clrMapOvr>
  <p:timing>
    <p:tnLst>
      <p:par>
        <p:cTn id="1" dur="indefinite" restart="never" nodeType="tmRoot"/>
      </p:par>
    </p:tnLst>
  </p:timing>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116632"/>
            <a:ext cx="8229600" cy="1143000"/>
          </a:xfrm>
        </p:spPr>
        <p:txBody>
          <a:bodyPr>
            <a:normAutofit/>
          </a:bodyPr>
          <a:lstStyle/>
          <a:p>
            <a:r>
              <a:rPr lang="fr-FR" sz="4800" dirty="0">
                <a:effectLst>
                  <a:outerShdw blurRad="38100" dist="38100" dir="2700000" algn="tl">
                    <a:srgbClr val="000000">
                      <a:alpha val="43137"/>
                    </a:srgbClr>
                  </a:outerShdw>
                </a:effectLst>
                <a:latin typeface="Maiandra GD" pitchFamily="34" charset="0"/>
              </a:rPr>
              <a:t>Insertion d'une image</a:t>
            </a:r>
          </a:p>
        </p:txBody>
      </p:sp>
      <p:sp>
        <p:nvSpPr>
          <p:cNvPr id="3" name="Espace réservé du contenu 2"/>
          <p:cNvSpPr>
            <a:spLocks noGrp="1"/>
          </p:cNvSpPr>
          <p:nvPr>
            <p:ph idx="1"/>
          </p:nvPr>
        </p:nvSpPr>
        <p:spPr>
          <a:xfrm>
            <a:off x="179512" y="1196752"/>
            <a:ext cx="8784976" cy="5400600"/>
          </a:xfrm>
        </p:spPr>
        <p:txBody>
          <a:bodyPr>
            <a:normAutofit/>
          </a:bodyPr>
          <a:lstStyle/>
          <a:p>
            <a:pPr marL="0" indent="0" algn="just">
              <a:buNone/>
            </a:pPr>
            <a:r>
              <a:rPr lang="fr-FR" dirty="0">
                <a:latin typeface="Maiandra GD" pitchFamily="34" charset="0"/>
              </a:rPr>
              <a:t>Quelle est la fameuse balise qui va nous permettre d'insérer une image ? Il s'agit de. . .</a:t>
            </a:r>
          </a:p>
          <a:p>
            <a:pPr marL="0" indent="0" algn="just">
              <a:buNone/>
            </a:pPr>
            <a:r>
              <a:rPr lang="fr-FR" dirty="0">
                <a:effectLst>
                  <a:outerShdw blurRad="38100" dist="38100" dir="2700000" algn="tl">
                    <a:srgbClr val="000000">
                      <a:alpha val="43137"/>
                    </a:srgbClr>
                  </a:outerShdw>
                </a:effectLst>
                <a:latin typeface="Maiandra GD" pitchFamily="34" charset="0"/>
              </a:rPr>
              <a:t>&lt;img /&gt; </a:t>
            </a:r>
            <a:r>
              <a:rPr lang="fr-FR" dirty="0" smtClean="0">
                <a:effectLst>
                  <a:outerShdw blurRad="38100" dist="38100" dir="2700000" algn="tl">
                    <a:srgbClr val="000000">
                      <a:alpha val="43137"/>
                    </a:srgbClr>
                  </a:outerShdw>
                </a:effectLst>
                <a:latin typeface="Maiandra GD" pitchFamily="34" charset="0"/>
              </a:rPr>
              <a:t>!</a:t>
            </a:r>
          </a:p>
          <a:p>
            <a:pPr marL="0" indent="0" algn="just">
              <a:buNone/>
            </a:pPr>
            <a:r>
              <a:rPr lang="fr-FR" dirty="0">
                <a:latin typeface="Maiandra GD" pitchFamily="34" charset="0"/>
              </a:rPr>
              <a:t>C'est une balise de type orpheline (comme </a:t>
            </a:r>
            <a:r>
              <a:rPr lang="fr-FR" dirty="0">
                <a:effectLst>
                  <a:outerShdw blurRad="38100" dist="38100" dir="2700000" algn="tl">
                    <a:srgbClr val="000000">
                      <a:alpha val="43137"/>
                    </a:srgbClr>
                  </a:outerShdw>
                </a:effectLst>
                <a:latin typeface="Maiandra GD" pitchFamily="34" charset="0"/>
              </a:rPr>
              <a:t>&lt;br /&gt;</a:t>
            </a:r>
            <a:r>
              <a:rPr lang="fr-FR" dirty="0">
                <a:latin typeface="Maiandra GD" pitchFamily="34" charset="0"/>
              </a:rPr>
              <a:t>). Cela veut dire qu'on n'a </a:t>
            </a:r>
            <a:r>
              <a:rPr lang="fr-FR" dirty="0" smtClean="0">
                <a:latin typeface="Maiandra GD" pitchFamily="34" charset="0"/>
              </a:rPr>
              <a:t>pas besoin </a:t>
            </a:r>
            <a:r>
              <a:rPr lang="fr-FR" dirty="0">
                <a:latin typeface="Maiandra GD" pitchFamily="34" charset="0"/>
              </a:rPr>
              <a:t>de l'écrire en deux exemplaires comme la plupart des autres balises que </a:t>
            </a:r>
            <a:r>
              <a:rPr lang="fr-FR" dirty="0" smtClean="0">
                <a:latin typeface="Maiandra GD" pitchFamily="34" charset="0"/>
              </a:rPr>
              <a:t>nous avons </a:t>
            </a:r>
            <a:r>
              <a:rPr lang="fr-FR" dirty="0">
                <a:latin typeface="Maiandra GD" pitchFamily="34" charset="0"/>
              </a:rPr>
              <a:t>vues jusqu'ici. En </a:t>
            </a:r>
            <a:r>
              <a:rPr lang="fr-FR" dirty="0" smtClean="0">
                <a:latin typeface="Maiandra GD" pitchFamily="34" charset="0"/>
              </a:rPr>
              <a:t>effet</a:t>
            </a:r>
            <a:r>
              <a:rPr lang="fr-FR" dirty="0">
                <a:latin typeface="Maiandra GD" pitchFamily="34" charset="0"/>
              </a:rPr>
              <a:t>, nous n'avons pas besoin de délimiter une portion </a:t>
            </a:r>
            <a:r>
              <a:rPr lang="fr-FR" dirty="0" smtClean="0">
                <a:latin typeface="Maiandra GD" pitchFamily="34" charset="0"/>
              </a:rPr>
              <a:t>de texte</a:t>
            </a:r>
            <a:r>
              <a:rPr lang="fr-FR" dirty="0">
                <a:latin typeface="Maiandra GD" pitchFamily="34" charset="0"/>
              </a:rPr>
              <a:t>, nous voulons juste insérer une image à un endroit précis.</a:t>
            </a:r>
          </a:p>
        </p:txBody>
      </p:sp>
    </p:spTree>
    <p:extLst>
      <p:ext uri="{BB962C8B-B14F-4D97-AF65-F5344CB8AC3E}">
        <p14:creationId xmlns:p14="http://schemas.microsoft.com/office/powerpoint/2010/main" val="1135195265"/>
      </p:ext>
    </p:extLst>
  </p:cSld>
  <p:clrMapOvr>
    <a:masterClrMapping/>
  </p:clrMapOvr>
  <p:timing>
    <p:tnLst>
      <p:par>
        <p:cTn id="1" dur="indefinite" restart="never" nodeType="tmRoot"/>
      </p:par>
    </p:tnLst>
  </p:timing>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9512" y="188640"/>
            <a:ext cx="8784976" cy="6408712"/>
          </a:xfrm>
        </p:spPr>
        <p:txBody>
          <a:bodyPr>
            <a:normAutofit/>
          </a:bodyPr>
          <a:lstStyle/>
          <a:p>
            <a:pPr marL="0" indent="0" algn="just">
              <a:buNone/>
            </a:pPr>
            <a:r>
              <a:rPr lang="fr-FR" dirty="0">
                <a:latin typeface="Maiandra GD" pitchFamily="34" charset="0"/>
              </a:rPr>
              <a:t>La balise doit être accompagnée de deux attributs obligatoires </a:t>
            </a:r>
            <a:r>
              <a:rPr lang="fr-FR" dirty="0" smtClean="0">
                <a:latin typeface="Maiandra GD" pitchFamily="34" charset="0"/>
              </a:rPr>
              <a:t>:</a:t>
            </a:r>
          </a:p>
          <a:p>
            <a:pPr marL="0" indent="0" algn="just">
              <a:buNone/>
            </a:pPr>
            <a:r>
              <a:rPr lang="fr-FR" dirty="0" smtClean="0">
                <a:effectLst>
                  <a:outerShdw blurRad="38100" dist="38100" dir="2700000" algn="tl">
                    <a:srgbClr val="000000">
                      <a:alpha val="43137"/>
                    </a:srgbClr>
                  </a:outerShdw>
                </a:effectLst>
                <a:latin typeface="Maiandra GD" pitchFamily="34" charset="0"/>
              </a:rPr>
              <a:t>- src </a:t>
            </a:r>
            <a:r>
              <a:rPr lang="fr-FR" dirty="0">
                <a:latin typeface="Maiandra GD" pitchFamily="34" charset="0"/>
              </a:rPr>
              <a:t>: il permet d'indiquer où se trouve l'image que l'on veut insérer. </a:t>
            </a:r>
            <a:endParaRPr lang="fr-FR" dirty="0" smtClean="0">
              <a:latin typeface="Maiandra GD" pitchFamily="34" charset="0"/>
            </a:endParaRPr>
          </a:p>
          <a:p>
            <a:pPr marL="0" indent="0" algn="just">
              <a:buNone/>
            </a:pPr>
            <a:r>
              <a:rPr lang="fr-FR" dirty="0" smtClean="0">
                <a:latin typeface="Maiandra GD" pitchFamily="34" charset="0"/>
              </a:rPr>
              <a:t>Vous pouvez soit </a:t>
            </a:r>
            <a:r>
              <a:rPr lang="fr-FR" dirty="0">
                <a:latin typeface="Maiandra GD" pitchFamily="34" charset="0"/>
              </a:rPr>
              <a:t>mettre un chemin absolu (ex. </a:t>
            </a:r>
            <a:r>
              <a:rPr lang="fr-FR" dirty="0" smtClean="0">
                <a:latin typeface="Maiandra GD" pitchFamily="34" charset="0"/>
              </a:rPr>
              <a:t>: http</a:t>
            </a:r>
            <a:r>
              <a:rPr lang="fr-FR" dirty="0">
                <a:latin typeface="Maiandra GD" pitchFamily="34" charset="0"/>
              </a:rPr>
              <a:t>://www.site.com/fleur.png), soit mettre</a:t>
            </a:r>
          </a:p>
          <a:p>
            <a:pPr marL="0" indent="0" algn="just">
              <a:buNone/>
            </a:pPr>
            <a:r>
              <a:rPr lang="fr-FR" dirty="0">
                <a:latin typeface="Maiandra GD" pitchFamily="34" charset="0"/>
              </a:rPr>
              <a:t>le chemin en relatif (ce qu'on fait le plus souvent). </a:t>
            </a:r>
            <a:endParaRPr lang="fr-FR" dirty="0" smtClean="0">
              <a:latin typeface="Maiandra GD" pitchFamily="34" charset="0"/>
            </a:endParaRPr>
          </a:p>
          <a:p>
            <a:pPr marL="0" indent="0" algn="just">
              <a:buNone/>
            </a:pPr>
            <a:r>
              <a:rPr lang="fr-FR" dirty="0" smtClean="0">
                <a:latin typeface="Maiandra GD" pitchFamily="34" charset="0"/>
              </a:rPr>
              <a:t>Ainsi</a:t>
            </a:r>
            <a:r>
              <a:rPr lang="fr-FR" dirty="0">
                <a:latin typeface="Maiandra GD" pitchFamily="34" charset="0"/>
              </a:rPr>
              <a:t>, si votre image est dans </a:t>
            </a:r>
            <a:r>
              <a:rPr lang="fr-FR" dirty="0" smtClean="0">
                <a:latin typeface="Maiandra GD" pitchFamily="34" charset="0"/>
              </a:rPr>
              <a:t>un sous-dossier </a:t>
            </a:r>
            <a:r>
              <a:rPr lang="fr-FR" dirty="0">
                <a:effectLst>
                  <a:outerShdw blurRad="38100" dist="38100" dir="2700000" algn="tl">
                    <a:srgbClr val="000000">
                      <a:alpha val="43137"/>
                    </a:srgbClr>
                  </a:outerShdw>
                </a:effectLst>
                <a:latin typeface="Maiandra GD" pitchFamily="34" charset="0"/>
              </a:rPr>
              <a:t>images</a:t>
            </a:r>
            <a:r>
              <a:rPr lang="fr-FR" dirty="0">
                <a:latin typeface="Maiandra GD" pitchFamily="34" charset="0"/>
              </a:rPr>
              <a:t>, vous devrez taper : src=</a:t>
            </a:r>
            <a:r>
              <a:rPr lang="fr-FR" dirty="0">
                <a:effectLst>
                  <a:outerShdw blurRad="38100" dist="38100" dir="2700000" algn="tl">
                    <a:srgbClr val="000000">
                      <a:alpha val="43137"/>
                    </a:srgbClr>
                  </a:outerShdw>
                </a:effectLst>
                <a:latin typeface="Maiandra GD" pitchFamily="34" charset="0"/>
              </a:rPr>
              <a:t>"images/fleur.png"</a:t>
            </a:r>
          </a:p>
        </p:txBody>
      </p:sp>
    </p:spTree>
    <p:extLst>
      <p:ext uri="{BB962C8B-B14F-4D97-AF65-F5344CB8AC3E}">
        <p14:creationId xmlns:p14="http://schemas.microsoft.com/office/powerpoint/2010/main" val="3234319787"/>
      </p:ext>
    </p:extLst>
  </p:cSld>
  <p:clrMapOvr>
    <a:masterClrMapping/>
  </p:clrMapOvr>
  <p:timing>
    <p:tnLst>
      <p:par>
        <p:cTn id="1" dur="indefinite" restart="never" nodeType="tmRoot"/>
      </p:par>
    </p:tnLst>
  </p:timing>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9512" y="260648"/>
            <a:ext cx="8784976" cy="6408712"/>
          </a:xfrm>
        </p:spPr>
        <p:txBody>
          <a:bodyPr>
            <a:normAutofit/>
          </a:bodyPr>
          <a:lstStyle/>
          <a:p>
            <a:pPr algn="just">
              <a:buFontTx/>
              <a:buChar char="-"/>
            </a:pPr>
            <a:r>
              <a:rPr lang="fr-FR" dirty="0" smtClean="0">
                <a:effectLst>
                  <a:outerShdw blurRad="38100" dist="38100" dir="2700000" algn="tl">
                    <a:srgbClr val="000000">
                      <a:alpha val="43137"/>
                    </a:srgbClr>
                  </a:outerShdw>
                </a:effectLst>
                <a:latin typeface="Maiandra GD" pitchFamily="34" charset="0"/>
              </a:rPr>
              <a:t>alt </a:t>
            </a:r>
            <a:r>
              <a:rPr lang="fr-FR" dirty="0">
                <a:latin typeface="Maiandra GD" pitchFamily="34" charset="0"/>
              </a:rPr>
              <a:t>: cela </a:t>
            </a:r>
            <a:r>
              <a:rPr lang="fr-FR" dirty="0" smtClean="0">
                <a:latin typeface="Maiandra GD" pitchFamily="34" charset="0"/>
              </a:rPr>
              <a:t>signifie  </a:t>
            </a:r>
            <a:r>
              <a:rPr lang="fr-FR" dirty="0">
                <a:latin typeface="Maiandra GD" pitchFamily="34" charset="0"/>
              </a:rPr>
              <a:t>texte alternatif . </a:t>
            </a:r>
          </a:p>
          <a:p>
            <a:pPr marL="0" indent="0" algn="just">
              <a:buNone/>
            </a:pPr>
            <a:r>
              <a:rPr lang="fr-FR" dirty="0" smtClean="0">
                <a:latin typeface="Maiandra GD" pitchFamily="34" charset="0"/>
              </a:rPr>
              <a:t>On doit toujours </a:t>
            </a:r>
            <a:r>
              <a:rPr lang="fr-FR" dirty="0">
                <a:latin typeface="Maiandra GD" pitchFamily="34" charset="0"/>
              </a:rPr>
              <a:t>indiquer un texte alternatif </a:t>
            </a:r>
            <a:r>
              <a:rPr lang="fr-FR" dirty="0" smtClean="0">
                <a:latin typeface="Maiandra GD" pitchFamily="34" charset="0"/>
              </a:rPr>
              <a:t>à l'image</a:t>
            </a:r>
            <a:r>
              <a:rPr lang="fr-FR" dirty="0">
                <a:latin typeface="Maiandra GD" pitchFamily="34" charset="0"/>
              </a:rPr>
              <a:t>, c'est-à-dire un court texte qui décrit ce que contient l'image. </a:t>
            </a:r>
            <a:endParaRPr lang="fr-FR" dirty="0" smtClean="0">
              <a:latin typeface="Maiandra GD" pitchFamily="34" charset="0"/>
            </a:endParaRPr>
          </a:p>
          <a:p>
            <a:pPr marL="0" indent="0" algn="just">
              <a:buNone/>
            </a:pPr>
            <a:r>
              <a:rPr lang="fr-FR" dirty="0" smtClean="0">
                <a:latin typeface="Maiandra GD" pitchFamily="34" charset="0"/>
              </a:rPr>
              <a:t>Ce </a:t>
            </a:r>
            <a:r>
              <a:rPr lang="fr-FR" dirty="0">
                <a:latin typeface="Maiandra GD" pitchFamily="34" charset="0"/>
              </a:rPr>
              <a:t>texte </a:t>
            </a:r>
            <a:r>
              <a:rPr lang="fr-FR" dirty="0" smtClean="0">
                <a:latin typeface="Maiandra GD" pitchFamily="34" charset="0"/>
              </a:rPr>
              <a:t>sera affiché </a:t>
            </a:r>
            <a:r>
              <a:rPr lang="fr-FR" dirty="0">
                <a:latin typeface="Maiandra GD" pitchFamily="34" charset="0"/>
              </a:rPr>
              <a:t>à la place de l'image si celle-ci ne peut pas être téléchargée (cela arrive), </a:t>
            </a:r>
            <a:r>
              <a:rPr lang="fr-FR" dirty="0" smtClean="0">
                <a:latin typeface="Maiandra GD" pitchFamily="34" charset="0"/>
              </a:rPr>
              <a:t>ou dans </a:t>
            </a:r>
            <a:r>
              <a:rPr lang="fr-FR" dirty="0">
                <a:latin typeface="Maiandra GD" pitchFamily="34" charset="0"/>
              </a:rPr>
              <a:t>les navigateurs de personnes handicapées (non-voyants) qui ne peuvent </a:t>
            </a:r>
            <a:r>
              <a:rPr lang="fr-FR" dirty="0" smtClean="0">
                <a:latin typeface="Maiandra GD" pitchFamily="34" charset="0"/>
              </a:rPr>
              <a:t>malheureusement pas  </a:t>
            </a:r>
            <a:r>
              <a:rPr lang="fr-FR" dirty="0">
                <a:latin typeface="Maiandra GD" pitchFamily="34" charset="0"/>
              </a:rPr>
              <a:t>voir  l'image. </a:t>
            </a:r>
            <a:endParaRPr lang="fr-FR" dirty="0" smtClean="0">
              <a:latin typeface="Maiandra GD" pitchFamily="34" charset="0"/>
            </a:endParaRPr>
          </a:p>
          <a:p>
            <a:pPr marL="0" indent="0" algn="just">
              <a:buNone/>
            </a:pPr>
            <a:r>
              <a:rPr lang="fr-FR" dirty="0" smtClean="0">
                <a:latin typeface="Maiandra GD" pitchFamily="34" charset="0"/>
              </a:rPr>
              <a:t>Cela </a:t>
            </a:r>
            <a:r>
              <a:rPr lang="fr-FR" dirty="0">
                <a:latin typeface="Maiandra GD" pitchFamily="34" charset="0"/>
              </a:rPr>
              <a:t>aide aussi les robots des moteurs de </a:t>
            </a:r>
            <a:r>
              <a:rPr lang="fr-FR" dirty="0" smtClean="0">
                <a:latin typeface="Maiandra GD" pitchFamily="34" charset="0"/>
              </a:rPr>
              <a:t>recherche pour </a:t>
            </a:r>
            <a:r>
              <a:rPr lang="fr-FR" dirty="0">
                <a:latin typeface="Maiandra GD" pitchFamily="34" charset="0"/>
              </a:rPr>
              <a:t>les recherches d'images. Pour la </a:t>
            </a:r>
            <a:r>
              <a:rPr lang="fr-FR" dirty="0" smtClean="0">
                <a:latin typeface="Maiandra GD" pitchFamily="34" charset="0"/>
              </a:rPr>
              <a:t>fleur</a:t>
            </a:r>
            <a:r>
              <a:rPr lang="fr-FR" dirty="0">
                <a:latin typeface="Maiandra GD" pitchFamily="34" charset="0"/>
              </a:rPr>
              <a:t>, on mettrait par exemple : alt=</a:t>
            </a:r>
            <a:r>
              <a:rPr lang="fr-FR" dirty="0">
                <a:effectLst>
                  <a:outerShdw blurRad="38100" dist="38100" dir="2700000" algn="tl">
                    <a:srgbClr val="000000">
                      <a:alpha val="43137"/>
                    </a:srgbClr>
                  </a:outerShdw>
                </a:effectLst>
                <a:latin typeface="Maiandra GD" pitchFamily="34" charset="0"/>
              </a:rPr>
              <a:t>"</a:t>
            </a:r>
            <a:r>
              <a:rPr lang="fr-FR" dirty="0" smtClean="0">
                <a:effectLst>
                  <a:outerShdw blurRad="38100" dist="38100" dir="2700000" algn="tl">
                    <a:srgbClr val="000000">
                      <a:alpha val="43137"/>
                    </a:srgbClr>
                  </a:outerShdw>
                </a:effectLst>
                <a:latin typeface="Maiandra GD" pitchFamily="34" charset="0"/>
              </a:rPr>
              <a:t>Une fleur</a:t>
            </a:r>
            <a:r>
              <a:rPr lang="fr-FR" dirty="0">
                <a:effectLst>
                  <a:outerShdw blurRad="38100" dist="38100" dir="2700000" algn="tl">
                    <a:srgbClr val="000000">
                      <a:alpha val="43137"/>
                    </a:srgbClr>
                  </a:outerShdw>
                </a:effectLst>
                <a:latin typeface="Maiandra GD" pitchFamily="34" charset="0"/>
              </a:rPr>
              <a:t>".</a:t>
            </a:r>
          </a:p>
        </p:txBody>
      </p:sp>
    </p:spTree>
    <p:extLst>
      <p:ext uri="{BB962C8B-B14F-4D97-AF65-F5344CB8AC3E}">
        <p14:creationId xmlns:p14="http://schemas.microsoft.com/office/powerpoint/2010/main" val="2022602649"/>
      </p:ext>
    </p:extLst>
  </p:cSld>
  <p:clrMapOvr>
    <a:masterClrMapping/>
  </p:clrMapOvr>
  <p:timing>
    <p:tnLst>
      <p:par>
        <p:cTn id="1" dur="indefinite" restart="never" nodeType="tmRoot"/>
      </p:par>
    </p:tnLst>
  </p:timing>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9512" y="404664"/>
            <a:ext cx="8784976" cy="6120680"/>
          </a:xfrm>
        </p:spPr>
        <p:txBody>
          <a:bodyPr>
            <a:normAutofit/>
          </a:bodyPr>
          <a:lstStyle/>
          <a:p>
            <a:pPr marL="0" indent="0" algn="just">
              <a:buNone/>
            </a:pPr>
            <a:r>
              <a:rPr lang="fr-FR" dirty="0">
                <a:latin typeface="Maiandra GD" pitchFamily="34" charset="0"/>
              </a:rPr>
              <a:t>Les images doivent se trouver obligatoirement à l'intérieur d'un paragraphe (&lt;p&gt;&lt;/p&gt;).</a:t>
            </a:r>
          </a:p>
          <a:p>
            <a:pPr marL="0" indent="0" algn="just">
              <a:buNone/>
            </a:pPr>
            <a:r>
              <a:rPr lang="fr-FR" dirty="0">
                <a:latin typeface="Maiandra GD" pitchFamily="34" charset="0"/>
              </a:rPr>
              <a:t>Voici </a:t>
            </a:r>
            <a:r>
              <a:rPr lang="fr-FR" dirty="0" smtClean="0">
                <a:latin typeface="Maiandra GD" pitchFamily="34" charset="0"/>
              </a:rPr>
              <a:t>un </a:t>
            </a:r>
            <a:r>
              <a:rPr lang="fr-FR" dirty="0">
                <a:latin typeface="Maiandra GD" pitchFamily="34" charset="0"/>
              </a:rPr>
              <a:t>exemple d'insertion d'image </a:t>
            </a:r>
            <a:r>
              <a:rPr lang="fr-FR" dirty="0" smtClean="0">
                <a:latin typeface="Maiandra GD" pitchFamily="34" charset="0"/>
              </a:rPr>
              <a:t>:</a:t>
            </a:r>
          </a:p>
          <a:p>
            <a:pPr marL="0" indent="0" algn="just">
              <a:buNone/>
            </a:pPr>
            <a:r>
              <a:rPr lang="fr-FR" dirty="0">
                <a:latin typeface="Maiandra GD" pitchFamily="34" charset="0"/>
              </a:rPr>
              <a:t>1 </a:t>
            </a:r>
            <a:r>
              <a:rPr lang="fr-FR" dirty="0" smtClean="0">
                <a:latin typeface="Maiandra GD" pitchFamily="34" charset="0"/>
              </a:rPr>
              <a:t>   &lt;</a:t>
            </a:r>
            <a:r>
              <a:rPr lang="fr-FR" dirty="0">
                <a:latin typeface="Maiandra GD" pitchFamily="34" charset="0"/>
              </a:rPr>
              <a:t>p&gt;</a:t>
            </a:r>
          </a:p>
          <a:p>
            <a:pPr marL="514350" indent="-514350" algn="just">
              <a:buAutoNum type="arabicPlain" startAt="2"/>
            </a:pPr>
            <a:r>
              <a:rPr lang="fr-FR" dirty="0" smtClean="0">
                <a:latin typeface="Maiandra GD" pitchFamily="34" charset="0"/>
              </a:rPr>
              <a:t>Voici </a:t>
            </a:r>
            <a:r>
              <a:rPr lang="fr-FR" dirty="0">
                <a:latin typeface="Maiandra GD" pitchFamily="34" charset="0"/>
              </a:rPr>
              <a:t>une photo que j'ai prise lors de mes </a:t>
            </a:r>
            <a:r>
              <a:rPr lang="fr-FR" dirty="0" smtClean="0">
                <a:latin typeface="Maiandra GD" pitchFamily="34" charset="0"/>
              </a:rPr>
              <a:t>    </a:t>
            </a:r>
          </a:p>
          <a:p>
            <a:pPr marL="0" indent="0" algn="just">
              <a:buNone/>
            </a:pPr>
            <a:r>
              <a:rPr lang="fr-FR" dirty="0" smtClean="0">
                <a:latin typeface="Maiandra GD" pitchFamily="34" charset="0"/>
              </a:rPr>
              <a:t>       dernières</a:t>
            </a:r>
            <a:r>
              <a:rPr lang="fr-FR" dirty="0">
                <a:latin typeface="Maiandra GD" pitchFamily="34" charset="0"/>
              </a:rPr>
              <a:t> </a:t>
            </a:r>
            <a:r>
              <a:rPr lang="fr-FR" dirty="0" smtClean="0">
                <a:latin typeface="Maiandra GD" pitchFamily="34" charset="0"/>
              </a:rPr>
              <a:t>vacances </a:t>
            </a:r>
            <a:r>
              <a:rPr lang="fr-FR" dirty="0">
                <a:latin typeface="Maiandra GD" pitchFamily="34" charset="0"/>
              </a:rPr>
              <a:t>à la montagne :&lt;br /&gt;</a:t>
            </a:r>
          </a:p>
          <a:p>
            <a:pPr marL="514350" indent="-514350" algn="just">
              <a:buAutoNum type="arabicPlain" startAt="3"/>
            </a:pPr>
            <a:r>
              <a:rPr lang="fr-FR" dirty="0" smtClean="0">
                <a:latin typeface="Maiandra GD" pitchFamily="34" charset="0"/>
              </a:rPr>
              <a:t>&lt;</a:t>
            </a:r>
            <a:r>
              <a:rPr lang="fr-FR" dirty="0">
                <a:latin typeface="Maiandra GD" pitchFamily="34" charset="0"/>
              </a:rPr>
              <a:t>img src=</a:t>
            </a:r>
            <a:r>
              <a:rPr lang="fr-FR" dirty="0">
                <a:solidFill>
                  <a:srgbClr val="FF0000"/>
                </a:solidFill>
                <a:latin typeface="Maiandra GD" pitchFamily="34" charset="0"/>
              </a:rPr>
              <a:t>" </a:t>
            </a:r>
            <a:r>
              <a:rPr lang="fr-FR" dirty="0" smtClean="0">
                <a:solidFill>
                  <a:srgbClr val="FF0000"/>
                </a:solidFill>
                <a:latin typeface="Maiandra GD" pitchFamily="34" charset="0"/>
              </a:rPr>
              <a:t>images / montagne.jpg</a:t>
            </a:r>
            <a:r>
              <a:rPr lang="fr-FR" dirty="0">
                <a:solidFill>
                  <a:srgbClr val="FF0000"/>
                </a:solidFill>
                <a:latin typeface="Maiandra GD" pitchFamily="34" charset="0"/>
              </a:rPr>
              <a:t>" </a:t>
            </a:r>
            <a:r>
              <a:rPr lang="fr-FR" dirty="0">
                <a:latin typeface="Maiandra GD" pitchFamily="34" charset="0"/>
              </a:rPr>
              <a:t>alt=</a:t>
            </a:r>
            <a:r>
              <a:rPr lang="fr-FR" dirty="0">
                <a:solidFill>
                  <a:srgbClr val="FF0000"/>
                </a:solidFill>
                <a:latin typeface="Maiandra GD" pitchFamily="34" charset="0"/>
              </a:rPr>
              <a:t>" </a:t>
            </a:r>
            <a:r>
              <a:rPr lang="fr-FR" dirty="0" smtClean="0">
                <a:solidFill>
                  <a:srgbClr val="FF0000"/>
                </a:solidFill>
                <a:latin typeface="Maiandra GD" pitchFamily="34" charset="0"/>
              </a:rPr>
              <a:t>Photo de </a:t>
            </a:r>
            <a:r>
              <a:rPr lang="fr-FR" dirty="0">
                <a:solidFill>
                  <a:srgbClr val="FF0000"/>
                </a:solidFill>
                <a:latin typeface="Maiandra GD" pitchFamily="34" charset="0"/>
              </a:rPr>
              <a:t>montagne " </a:t>
            </a:r>
            <a:r>
              <a:rPr lang="fr-FR" dirty="0">
                <a:latin typeface="Maiandra GD" pitchFamily="34" charset="0"/>
              </a:rPr>
              <a:t>/&gt;</a:t>
            </a:r>
          </a:p>
          <a:p>
            <a:pPr marL="0" indent="0" algn="just">
              <a:buNone/>
            </a:pPr>
            <a:r>
              <a:rPr lang="fr-FR" dirty="0">
                <a:latin typeface="Maiandra GD" pitchFamily="34" charset="0"/>
              </a:rPr>
              <a:t>4 </a:t>
            </a:r>
            <a:r>
              <a:rPr lang="fr-FR" dirty="0" smtClean="0">
                <a:latin typeface="Maiandra GD" pitchFamily="34" charset="0"/>
              </a:rPr>
              <a:t>    &lt;/</a:t>
            </a:r>
            <a:r>
              <a:rPr lang="fr-FR" dirty="0">
                <a:latin typeface="Maiandra GD" pitchFamily="34" charset="0"/>
              </a:rPr>
              <a:t>p&gt;</a:t>
            </a:r>
          </a:p>
          <a:p>
            <a:pPr marL="0" indent="0">
              <a:buNone/>
            </a:pPr>
            <a:endParaRPr lang="fr-FR" dirty="0">
              <a:latin typeface="Maiandra GD" pitchFamily="34" charset="0"/>
            </a:endParaRPr>
          </a:p>
        </p:txBody>
      </p:sp>
      <p:cxnSp>
        <p:nvCxnSpPr>
          <p:cNvPr id="5" name="Connecteur droit 4"/>
          <p:cNvCxnSpPr/>
          <p:nvPr/>
        </p:nvCxnSpPr>
        <p:spPr>
          <a:xfrm>
            <a:off x="611560" y="2060848"/>
            <a:ext cx="0" cy="3744416"/>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034564833"/>
      </p:ext>
    </p:extLst>
  </p:cSld>
  <p:clrMapOvr>
    <a:masterClrMapping/>
  </p:clrMapOvr>
  <p:timing>
    <p:tnLst>
      <p:par>
        <p:cTn id="1" dur="indefinite" restart="never" nodeType="tmRoot"/>
      </p:par>
    </p:tnLst>
  </p:timing>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332656"/>
            <a:ext cx="8640960" cy="6120680"/>
          </a:xfrm>
        </p:spPr>
        <p:txBody>
          <a:bodyPr>
            <a:normAutofit/>
          </a:bodyPr>
          <a:lstStyle/>
          <a:p>
            <a:pPr marL="0" indent="0" algn="just">
              <a:buNone/>
            </a:pPr>
            <a:r>
              <a:rPr lang="fr-FR" sz="3600" dirty="0">
                <a:latin typeface="Maiandra GD" pitchFamily="34" charset="0"/>
              </a:rPr>
              <a:t>Bref, l'insertion d'image est quelque chose de très facile pour peu qu'on sache </a:t>
            </a:r>
            <a:r>
              <a:rPr lang="fr-FR" sz="3600" dirty="0" smtClean="0">
                <a:latin typeface="Maiandra GD" pitchFamily="34" charset="0"/>
              </a:rPr>
              <a:t>indiquer où </a:t>
            </a:r>
            <a:r>
              <a:rPr lang="fr-FR" sz="3600" dirty="0">
                <a:latin typeface="Maiandra GD" pitchFamily="34" charset="0"/>
              </a:rPr>
              <a:t>se trouve l'image, comme on avait appris à le faire avec les liens. La plus </a:t>
            </a:r>
            <a:r>
              <a:rPr lang="fr-FR" sz="3600" dirty="0" smtClean="0">
                <a:latin typeface="Maiandra GD" pitchFamily="34" charset="0"/>
              </a:rPr>
              <a:t>grosse « difficulté »  </a:t>
            </a:r>
            <a:r>
              <a:rPr lang="fr-FR" sz="3600" dirty="0">
                <a:latin typeface="Maiandra GD" pitchFamily="34" charset="0"/>
              </a:rPr>
              <a:t>(si on peut appeler cela une </a:t>
            </a:r>
            <a:r>
              <a:rPr lang="fr-FR" sz="3600" dirty="0" smtClean="0">
                <a:latin typeface="Maiandra GD" pitchFamily="34" charset="0"/>
              </a:rPr>
              <a:t>difficulté</a:t>
            </a:r>
            <a:r>
              <a:rPr lang="fr-FR" sz="3600" dirty="0">
                <a:latin typeface="Maiandra GD" pitchFamily="34" charset="0"/>
              </a:rPr>
              <a:t>) consiste à choisir le bon </a:t>
            </a:r>
            <a:r>
              <a:rPr lang="fr-FR" sz="3600" dirty="0" smtClean="0">
                <a:latin typeface="Maiandra GD" pitchFamily="34" charset="0"/>
              </a:rPr>
              <a:t>format d'image</a:t>
            </a:r>
            <a:r>
              <a:rPr lang="fr-FR" sz="3600" dirty="0">
                <a:latin typeface="Maiandra GD" pitchFamily="34" charset="0"/>
              </a:rPr>
              <a:t>. Ici, c'est une photo donc c'est évidemment le format JPEG qu'on utilise.</a:t>
            </a:r>
          </a:p>
        </p:txBody>
      </p:sp>
    </p:spTree>
    <p:extLst>
      <p:ext uri="{BB962C8B-B14F-4D97-AF65-F5344CB8AC3E}">
        <p14:creationId xmlns:p14="http://schemas.microsoft.com/office/powerpoint/2010/main" val="3448799022"/>
      </p:ext>
    </p:extLst>
  </p:cSld>
  <p:clrMapOvr>
    <a:masterClrMapping/>
  </p:clrMapOvr>
  <p:timing>
    <p:tnLst>
      <p:par>
        <p:cTn id="1" dur="indefinite" restart="never" nodeType="tmRoot"/>
      </p:par>
    </p:tnLst>
  </p:timing>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07504" y="188640"/>
            <a:ext cx="8964488" cy="6480720"/>
          </a:xfrm>
          <a:noFill/>
        </p:spPr>
        <p:txBody>
          <a:bodyPr>
            <a:normAutofit lnSpcReduction="10000"/>
          </a:bodyPr>
          <a:lstStyle/>
          <a:p>
            <a:pPr marL="0" indent="0" algn="just">
              <a:buNone/>
            </a:pPr>
            <a:r>
              <a:rPr lang="fr-FR" dirty="0">
                <a:solidFill>
                  <a:srgbClr val="FF0000"/>
                </a:solidFill>
                <a:latin typeface="Maiandra GD" pitchFamily="34" charset="0"/>
              </a:rPr>
              <a:t>Je le répète : évitez à tout prix les accents, majuscules et </a:t>
            </a:r>
            <a:r>
              <a:rPr lang="fr-FR" dirty="0" smtClean="0">
                <a:solidFill>
                  <a:srgbClr val="FF0000"/>
                </a:solidFill>
                <a:latin typeface="Maiandra GD" pitchFamily="34" charset="0"/>
              </a:rPr>
              <a:t>espaces dans </a:t>
            </a:r>
            <a:r>
              <a:rPr lang="fr-FR" dirty="0">
                <a:solidFill>
                  <a:srgbClr val="FF0000"/>
                </a:solidFill>
                <a:latin typeface="Maiandra GD" pitchFamily="34" charset="0"/>
              </a:rPr>
              <a:t>vos noms de </a:t>
            </a:r>
            <a:r>
              <a:rPr lang="fr-FR" dirty="0" smtClean="0">
                <a:solidFill>
                  <a:srgbClr val="FF0000"/>
                </a:solidFill>
                <a:latin typeface="Maiandra GD" pitchFamily="34" charset="0"/>
              </a:rPr>
              <a:t>fichiers </a:t>
            </a:r>
            <a:r>
              <a:rPr lang="fr-FR" dirty="0">
                <a:solidFill>
                  <a:srgbClr val="FF0000"/>
                </a:solidFill>
                <a:latin typeface="Maiandra GD" pitchFamily="34" charset="0"/>
              </a:rPr>
              <a:t>et de dossiers. </a:t>
            </a:r>
            <a:endParaRPr lang="fr-FR" dirty="0" smtClean="0">
              <a:solidFill>
                <a:srgbClr val="FF0000"/>
              </a:solidFill>
              <a:latin typeface="Maiandra GD" pitchFamily="34" charset="0"/>
            </a:endParaRPr>
          </a:p>
          <a:p>
            <a:pPr marL="0" indent="0" algn="just">
              <a:buNone/>
            </a:pPr>
            <a:r>
              <a:rPr lang="fr-FR" dirty="0" smtClean="0">
                <a:solidFill>
                  <a:srgbClr val="FF0000"/>
                </a:solidFill>
                <a:latin typeface="Maiandra GD" pitchFamily="34" charset="0"/>
              </a:rPr>
              <a:t>Voici </a:t>
            </a:r>
            <a:r>
              <a:rPr lang="fr-FR" dirty="0">
                <a:solidFill>
                  <a:srgbClr val="FF0000"/>
                </a:solidFill>
                <a:latin typeface="Maiandra GD" pitchFamily="34" charset="0"/>
              </a:rPr>
              <a:t>un chemin qui </a:t>
            </a:r>
            <a:r>
              <a:rPr lang="fr-FR" dirty="0" smtClean="0">
                <a:solidFill>
                  <a:srgbClr val="FF0000"/>
                </a:solidFill>
                <a:latin typeface="Maiandra GD" pitchFamily="34" charset="0"/>
              </a:rPr>
              <a:t>va poser </a:t>
            </a:r>
            <a:r>
              <a:rPr lang="fr-FR" dirty="0">
                <a:solidFill>
                  <a:srgbClr val="FF0000"/>
                </a:solidFill>
                <a:latin typeface="Maiandra GD" pitchFamily="34" charset="0"/>
              </a:rPr>
              <a:t>problème : "Images du site/Image toute bête.jpg". </a:t>
            </a:r>
            <a:endParaRPr lang="fr-FR" dirty="0" smtClean="0">
              <a:solidFill>
                <a:srgbClr val="FF0000"/>
              </a:solidFill>
              <a:latin typeface="Maiandra GD" pitchFamily="34" charset="0"/>
            </a:endParaRPr>
          </a:p>
          <a:p>
            <a:pPr marL="0" indent="0" algn="just">
              <a:buNone/>
            </a:pPr>
            <a:r>
              <a:rPr lang="fr-FR" dirty="0" smtClean="0">
                <a:solidFill>
                  <a:srgbClr val="FF0000"/>
                </a:solidFill>
                <a:latin typeface="Maiandra GD" pitchFamily="34" charset="0"/>
              </a:rPr>
              <a:t>Il faudrait supprimer </a:t>
            </a:r>
            <a:r>
              <a:rPr lang="fr-FR" dirty="0">
                <a:solidFill>
                  <a:srgbClr val="FF0000"/>
                </a:solidFill>
                <a:latin typeface="Maiandra GD" pitchFamily="34" charset="0"/>
              </a:rPr>
              <a:t>les espaces (ou les remplacer par le </a:t>
            </a:r>
            <a:r>
              <a:rPr lang="fr-FR" dirty="0" smtClean="0">
                <a:solidFill>
                  <a:srgbClr val="FF0000"/>
                </a:solidFill>
                <a:latin typeface="Maiandra GD" pitchFamily="34" charset="0"/>
              </a:rPr>
              <a:t>symbole  </a:t>
            </a:r>
            <a:r>
              <a:rPr lang="fr-FR" dirty="0">
                <a:solidFill>
                  <a:srgbClr val="FF0000"/>
                </a:solidFill>
                <a:latin typeface="Maiandra GD" pitchFamily="34" charset="0"/>
              </a:rPr>
              <a:t>_ </a:t>
            </a:r>
            <a:r>
              <a:rPr lang="fr-FR" dirty="0" smtClean="0">
                <a:solidFill>
                  <a:srgbClr val="FF0000"/>
                </a:solidFill>
                <a:latin typeface="Maiandra GD" pitchFamily="34" charset="0"/>
              </a:rPr>
              <a:t>), supprimer </a:t>
            </a:r>
            <a:r>
              <a:rPr lang="fr-FR" dirty="0">
                <a:solidFill>
                  <a:srgbClr val="FF0000"/>
                </a:solidFill>
                <a:latin typeface="Maiandra GD" pitchFamily="34" charset="0"/>
              </a:rPr>
              <a:t>les accents et tout mettre en minuscules comme ceci :</a:t>
            </a:r>
          </a:p>
          <a:p>
            <a:pPr marL="0" indent="0" algn="just">
              <a:buNone/>
            </a:pPr>
            <a:r>
              <a:rPr lang="fr-FR" dirty="0" smtClean="0">
                <a:solidFill>
                  <a:srgbClr val="FF0000"/>
                </a:solidFill>
                <a:latin typeface="Maiandra GD" pitchFamily="34" charset="0"/>
              </a:rPr>
              <a:t>images_du_site/image_toute_bete.jpg</a:t>
            </a:r>
            <a:r>
              <a:rPr lang="fr-FR" dirty="0">
                <a:solidFill>
                  <a:srgbClr val="FF0000"/>
                </a:solidFill>
                <a:latin typeface="Maiandra GD" pitchFamily="34" charset="0"/>
              </a:rPr>
              <a:t>". Sachez donc que, si </a:t>
            </a:r>
            <a:r>
              <a:rPr lang="fr-FR" dirty="0" smtClean="0">
                <a:solidFill>
                  <a:srgbClr val="FF0000"/>
                </a:solidFill>
                <a:latin typeface="Maiandra GD" pitchFamily="34" charset="0"/>
              </a:rPr>
              <a:t>votre image </a:t>
            </a:r>
            <a:r>
              <a:rPr lang="fr-FR" dirty="0">
                <a:solidFill>
                  <a:srgbClr val="FF0000"/>
                </a:solidFill>
                <a:latin typeface="Maiandra GD" pitchFamily="34" charset="0"/>
              </a:rPr>
              <a:t>ne </a:t>
            </a:r>
            <a:r>
              <a:rPr lang="fr-FR" dirty="0" smtClean="0">
                <a:solidFill>
                  <a:srgbClr val="FF0000"/>
                </a:solidFill>
                <a:latin typeface="Maiandra GD" pitchFamily="34" charset="0"/>
              </a:rPr>
              <a:t>s'affiche </a:t>
            </a:r>
            <a:r>
              <a:rPr lang="fr-FR" dirty="0">
                <a:solidFill>
                  <a:srgbClr val="FF0000"/>
                </a:solidFill>
                <a:latin typeface="Maiandra GD" pitchFamily="34" charset="0"/>
              </a:rPr>
              <a:t>pas, c'est </a:t>
            </a:r>
            <a:r>
              <a:rPr lang="fr-FR" dirty="0" smtClean="0">
                <a:solidFill>
                  <a:srgbClr val="FF0000"/>
                </a:solidFill>
                <a:latin typeface="Maiandra GD" pitchFamily="34" charset="0"/>
              </a:rPr>
              <a:t>très certainement </a:t>
            </a:r>
            <a:r>
              <a:rPr lang="fr-FR" dirty="0">
                <a:solidFill>
                  <a:srgbClr val="FF0000"/>
                </a:solidFill>
                <a:latin typeface="Maiandra GD" pitchFamily="34" charset="0"/>
              </a:rPr>
              <a:t>parce que le chemin est </a:t>
            </a:r>
            <a:r>
              <a:rPr lang="fr-FR" dirty="0" smtClean="0">
                <a:solidFill>
                  <a:srgbClr val="FF0000"/>
                </a:solidFill>
                <a:latin typeface="Maiandra GD" pitchFamily="34" charset="0"/>
              </a:rPr>
              <a:t>incorrect! Simplifiez </a:t>
            </a:r>
            <a:r>
              <a:rPr lang="fr-FR" dirty="0">
                <a:solidFill>
                  <a:srgbClr val="FF0000"/>
                </a:solidFill>
                <a:latin typeface="Maiandra GD" pitchFamily="34" charset="0"/>
              </a:rPr>
              <a:t>au maximum vos noms de </a:t>
            </a:r>
            <a:r>
              <a:rPr lang="fr-FR" dirty="0" smtClean="0">
                <a:solidFill>
                  <a:srgbClr val="FF0000"/>
                </a:solidFill>
                <a:latin typeface="Maiandra GD" pitchFamily="34" charset="0"/>
              </a:rPr>
              <a:t>fichiers </a:t>
            </a:r>
            <a:r>
              <a:rPr lang="fr-FR" dirty="0">
                <a:solidFill>
                  <a:srgbClr val="FF0000"/>
                </a:solidFill>
                <a:latin typeface="Maiandra GD" pitchFamily="34" charset="0"/>
              </a:rPr>
              <a:t>et de dossiers, et </a:t>
            </a:r>
            <a:r>
              <a:rPr lang="fr-FR" dirty="0" smtClean="0">
                <a:solidFill>
                  <a:srgbClr val="FF0000"/>
                </a:solidFill>
                <a:latin typeface="Maiandra GD" pitchFamily="34" charset="0"/>
              </a:rPr>
              <a:t>tout ira </a:t>
            </a:r>
            <a:r>
              <a:rPr lang="fr-FR" dirty="0">
                <a:solidFill>
                  <a:srgbClr val="FF0000"/>
                </a:solidFill>
                <a:latin typeface="Maiandra GD" pitchFamily="34" charset="0"/>
              </a:rPr>
              <a:t>bien.</a:t>
            </a:r>
          </a:p>
        </p:txBody>
      </p:sp>
      <p:pic>
        <p:nvPicPr>
          <p:cNvPr id="245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57331" y="5918203"/>
            <a:ext cx="907157" cy="9071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34911226"/>
      </p:ext>
    </p:extLst>
  </p:cSld>
  <p:clrMapOvr>
    <a:masterClrMapping/>
  </p:clrMapOvr>
  <p:timing>
    <p:tnLst>
      <p:par>
        <p:cTn id="1" dur="indefinite" restart="never" nodeType="tmRoot"/>
      </p:par>
    </p:tnLst>
  </p:timing>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188640"/>
            <a:ext cx="8229600" cy="864096"/>
          </a:xfrm>
        </p:spPr>
        <p:txBody>
          <a:bodyPr>
            <a:normAutofit/>
          </a:bodyPr>
          <a:lstStyle/>
          <a:p>
            <a:r>
              <a:rPr lang="fr-FR" sz="4800" dirty="0">
                <a:effectLst>
                  <a:outerShdw blurRad="38100" dist="38100" dir="2700000" algn="tl">
                    <a:srgbClr val="000000">
                      <a:alpha val="43137"/>
                    </a:srgbClr>
                  </a:outerShdw>
                </a:effectLst>
                <a:latin typeface="Maiandra GD" pitchFamily="34" charset="0"/>
              </a:rPr>
              <a:t>Ajouter une infobulle</a:t>
            </a:r>
          </a:p>
        </p:txBody>
      </p:sp>
      <p:sp>
        <p:nvSpPr>
          <p:cNvPr id="3" name="Espace réservé du contenu 2"/>
          <p:cNvSpPr>
            <a:spLocks noGrp="1"/>
          </p:cNvSpPr>
          <p:nvPr>
            <p:ph idx="1"/>
          </p:nvPr>
        </p:nvSpPr>
        <p:spPr>
          <a:xfrm>
            <a:off x="107504" y="1196752"/>
            <a:ext cx="8964488" cy="5472608"/>
          </a:xfrm>
        </p:spPr>
        <p:txBody>
          <a:bodyPr/>
          <a:lstStyle/>
          <a:p>
            <a:pPr marL="0" indent="0" algn="just">
              <a:buNone/>
            </a:pPr>
            <a:r>
              <a:rPr lang="fr-FR" dirty="0">
                <a:latin typeface="Maiandra GD" pitchFamily="34" charset="0"/>
              </a:rPr>
              <a:t>L'attribut permettant </a:t>
            </a:r>
            <a:r>
              <a:rPr lang="fr-FR" dirty="0" smtClean="0">
                <a:latin typeface="Maiandra GD" pitchFamily="34" charset="0"/>
              </a:rPr>
              <a:t>d'afficher </a:t>
            </a:r>
            <a:r>
              <a:rPr lang="fr-FR" dirty="0">
                <a:latin typeface="Maiandra GD" pitchFamily="34" charset="0"/>
              </a:rPr>
              <a:t>une bulle d'aide est le même que pour les liens : </a:t>
            </a:r>
            <a:r>
              <a:rPr lang="fr-FR" dirty="0" smtClean="0">
                <a:latin typeface="Maiandra GD" pitchFamily="34" charset="0"/>
              </a:rPr>
              <a:t>il s'agit </a:t>
            </a:r>
            <a:r>
              <a:rPr lang="fr-FR" dirty="0">
                <a:latin typeface="Maiandra GD" pitchFamily="34" charset="0"/>
              </a:rPr>
              <a:t>de </a:t>
            </a:r>
            <a:r>
              <a:rPr lang="fr-FR" dirty="0">
                <a:effectLst>
                  <a:outerShdw blurRad="38100" dist="38100" dir="2700000" algn="tl">
                    <a:srgbClr val="000000">
                      <a:alpha val="43137"/>
                    </a:srgbClr>
                  </a:outerShdw>
                </a:effectLst>
                <a:latin typeface="Maiandra GD" pitchFamily="34" charset="0"/>
              </a:rPr>
              <a:t>title</a:t>
            </a:r>
            <a:r>
              <a:rPr lang="fr-FR" dirty="0">
                <a:latin typeface="Maiandra GD" pitchFamily="34" charset="0"/>
              </a:rPr>
              <a:t>. Cet attribut est facultatif (contrairement à alt).</a:t>
            </a:r>
          </a:p>
          <a:p>
            <a:pPr marL="0" indent="0" algn="just">
              <a:buNone/>
            </a:pPr>
            <a:r>
              <a:rPr lang="fr-FR" dirty="0">
                <a:latin typeface="Maiandra GD" pitchFamily="34" charset="0"/>
              </a:rPr>
              <a:t>Voici ce que cela peut donner </a:t>
            </a:r>
            <a:r>
              <a:rPr lang="fr-FR" dirty="0" smtClean="0">
                <a:latin typeface="Maiandra GD" pitchFamily="34" charset="0"/>
              </a:rPr>
              <a:t>:</a:t>
            </a:r>
          </a:p>
          <a:p>
            <a:pPr marL="0" indent="0" algn="just">
              <a:buNone/>
            </a:pPr>
            <a:endParaRPr lang="fr-FR" dirty="0">
              <a:latin typeface="Maiandra GD" pitchFamily="34" charset="0"/>
            </a:endParaRPr>
          </a:p>
        </p:txBody>
      </p:sp>
    </p:spTree>
    <p:extLst>
      <p:ext uri="{BB962C8B-B14F-4D97-AF65-F5344CB8AC3E}">
        <p14:creationId xmlns:p14="http://schemas.microsoft.com/office/powerpoint/2010/main" val="1006517420"/>
      </p:ext>
    </p:extLst>
  </p:cSld>
  <p:clrMapOvr>
    <a:masterClrMapping/>
  </p:clrMapOvr>
  <p:timing>
    <p:tnLst>
      <p:par>
        <p:cTn id="1" dur="indefinite" restart="never" nodeType="tmRoot"/>
      </p:par>
    </p:tnLst>
  </p:timing>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404664"/>
            <a:ext cx="8712968" cy="6120680"/>
          </a:xfrm>
        </p:spPr>
        <p:txBody>
          <a:bodyPr/>
          <a:lstStyle/>
          <a:p>
            <a:pPr marL="0" indent="0" algn="just">
              <a:buNone/>
            </a:pPr>
            <a:r>
              <a:rPr lang="fr-FR" dirty="0">
                <a:latin typeface="Maiandra GD" pitchFamily="34" charset="0"/>
              </a:rPr>
              <a:t>1 </a:t>
            </a:r>
            <a:r>
              <a:rPr lang="fr-FR" dirty="0" smtClean="0">
                <a:latin typeface="Maiandra GD" pitchFamily="34" charset="0"/>
              </a:rPr>
              <a:t>  &lt;</a:t>
            </a:r>
            <a:r>
              <a:rPr lang="fr-FR" dirty="0" smtClean="0">
                <a:solidFill>
                  <a:srgbClr val="92D050"/>
                </a:solidFill>
                <a:latin typeface="Maiandra GD" pitchFamily="34" charset="0"/>
              </a:rPr>
              <a:t>p</a:t>
            </a:r>
            <a:r>
              <a:rPr lang="fr-FR" dirty="0">
                <a:latin typeface="Maiandra GD" pitchFamily="34" charset="0"/>
              </a:rPr>
              <a:t>&gt;</a:t>
            </a:r>
          </a:p>
          <a:p>
            <a:pPr marL="514350" indent="-514350" algn="just">
              <a:buAutoNum type="arabicPlain" startAt="2"/>
            </a:pPr>
            <a:r>
              <a:rPr lang="fr-FR" dirty="0" smtClean="0">
                <a:latin typeface="Maiandra GD" pitchFamily="34" charset="0"/>
              </a:rPr>
              <a:t>Voici </a:t>
            </a:r>
            <a:r>
              <a:rPr lang="fr-FR" dirty="0">
                <a:latin typeface="Maiandra GD" pitchFamily="34" charset="0"/>
              </a:rPr>
              <a:t>une photo que j'ai prise lors de mes </a:t>
            </a:r>
            <a:r>
              <a:rPr lang="fr-FR" dirty="0" smtClean="0">
                <a:latin typeface="Maiandra GD" pitchFamily="34" charset="0"/>
              </a:rPr>
              <a:t>  dernières</a:t>
            </a:r>
            <a:r>
              <a:rPr lang="fr-FR" dirty="0">
                <a:latin typeface="Maiandra GD" pitchFamily="34" charset="0"/>
              </a:rPr>
              <a:t> </a:t>
            </a:r>
            <a:r>
              <a:rPr lang="fr-FR" dirty="0" smtClean="0">
                <a:latin typeface="Maiandra GD" pitchFamily="34" charset="0"/>
              </a:rPr>
              <a:t>vacances </a:t>
            </a:r>
            <a:r>
              <a:rPr lang="fr-FR" dirty="0">
                <a:latin typeface="Maiandra GD" pitchFamily="34" charset="0"/>
              </a:rPr>
              <a:t>à la montagne :&lt;</a:t>
            </a:r>
            <a:r>
              <a:rPr lang="fr-FR" dirty="0">
                <a:solidFill>
                  <a:srgbClr val="92D050"/>
                </a:solidFill>
                <a:latin typeface="Maiandra GD" pitchFamily="34" charset="0"/>
              </a:rPr>
              <a:t>br</a:t>
            </a:r>
            <a:r>
              <a:rPr lang="fr-FR" dirty="0">
                <a:latin typeface="Maiandra GD" pitchFamily="34" charset="0"/>
              </a:rPr>
              <a:t> /&gt;</a:t>
            </a:r>
          </a:p>
          <a:p>
            <a:pPr marL="514350" indent="-514350">
              <a:buAutoNum type="arabicPlain" startAt="3"/>
            </a:pPr>
            <a:r>
              <a:rPr lang="fr-FR" dirty="0" smtClean="0">
                <a:latin typeface="Maiandra GD" pitchFamily="34" charset="0"/>
              </a:rPr>
              <a:t>&lt;</a:t>
            </a:r>
            <a:r>
              <a:rPr lang="fr-FR" dirty="0" smtClean="0">
                <a:solidFill>
                  <a:srgbClr val="92D050"/>
                </a:solidFill>
                <a:latin typeface="Maiandra GD" pitchFamily="34" charset="0"/>
              </a:rPr>
              <a:t>img src</a:t>
            </a:r>
            <a:r>
              <a:rPr lang="fr-FR" dirty="0" smtClean="0">
                <a:latin typeface="Maiandra GD" pitchFamily="34" charset="0"/>
              </a:rPr>
              <a:t>=</a:t>
            </a:r>
            <a:r>
              <a:rPr lang="fr-FR" dirty="0" smtClean="0">
                <a:solidFill>
                  <a:srgbClr val="FF0000"/>
                </a:solidFill>
                <a:latin typeface="Maiandra GD" pitchFamily="34" charset="0"/>
              </a:rPr>
              <a:t>"images/montagne.jpg</a:t>
            </a:r>
            <a:r>
              <a:rPr lang="fr-FR" dirty="0">
                <a:solidFill>
                  <a:srgbClr val="FF0000"/>
                </a:solidFill>
                <a:latin typeface="Maiandra GD" pitchFamily="34" charset="0"/>
              </a:rPr>
              <a:t>"</a:t>
            </a:r>
            <a:r>
              <a:rPr lang="fr-FR" dirty="0">
                <a:latin typeface="Maiandra GD" pitchFamily="34" charset="0"/>
              </a:rPr>
              <a:t> </a:t>
            </a:r>
            <a:r>
              <a:rPr lang="fr-FR" dirty="0">
                <a:solidFill>
                  <a:srgbClr val="92D050"/>
                </a:solidFill>
                <a:latin typeface="Maiandra GD" pitchFamily="34" charset="0"/>
              </a:rPr>
              <a:t>alt</a:t>
            </a:r>
            <a:r>
              <a:rPr lang="fr-FR" dirty="0">
                <a:latin typeface="Maiandra GD" pitchFamily="34" charset="0"/>
              </a:rPr>
              <a:t>=</a:t>
            </a:r>
            <a:r>
              <a:rPr lang="fr-FR" dirty="0">
                <a:solidFill>
                  <a:srgbClr val="FF0000"/>
                </a:solidFill>
                <a:latin typeface="Maiandra GD" pitchFamily="34" charset="0"/>
              </a:rPr>
              <a:t>"</a:t>
            </a:r>
            <a:r>
              <a:rPr lang="fr-FR" dirty="0">
                <a:latin typeface="Maiandra GD" pitchFamily="34" charset="0"/>
              </a:rPr>
              <a:t> </a:t>
            </a:r>
            <a:r>
              <a:rPr lang="fr-FR" dirty="0" smtClean="0">
                <a:solidFill>
                  <a:srgbClr val="FF0000"/>
                </a:solidFill>
                <a:latin typeface="Maiandra GD" pitchFamily="34" charset="0"/>
              </a:rPr>
              <a:t>Photo de </a:t>
            </a:r>
            <a:r>
              <a:rPr lang="fr-FR" dirty="0">
                <a:solidFill>
                  <a:srgbClr val="FF0000"/>
                </a:solidFill>
                <a:latin typeface="Maiandra GD" pitchFamily="34" charset="0"/>
              </a:rPr>
              <a:t>montagne </a:t>
            </a:r>
            <a:r>
              <a:rPr lang="fr-FR" dirty="0" smtClean="0">
                <a:solidFill>
                  <a:srgbClr val="FF0000"/>
                </a:solidFill>
                <a:latin typeface="Maiandra GD" pitchFamily="34" charset="0"/>
              </a:rPr>
              <a:t>" </a:t>
            </a:r>
            <a:r>
              <a:rPr lang="fr-FR" dirty="0" smtClean="0">
                <a:solidFill>
                  <a:srgbClr val="92D050"/>
                </a:solidFill>
                <a:latin typeface="Maiandra GD" pitchFamily="34" charset="0"/>
              </a:rPr>
              <a:t>title</a:t>
            </a:r>
            <a:r>
              <a:rPr lang="fr-FR" dirty="0" smtClean="0">
                <a:latin typeface="Maiandra GD" pitchFamily="34" charset="0"/>
              </a:rPr>
              <a:t> </a:t>
            </a:r>
            <a:r>
              <a:rPr lang="fr-FR" dirty="0">
                <a:latin typeface="Maiandra GD" pitchFamily="34" charset="0"/>
              </a:rPr>
              <a:t>=</a:t>
            </a:r>
            <a:r>
              <a:rPr lang="fr-FR" dirty="0">
                <a:solidFill>
                  <a:srgbClr val="FF0000"/>
                </a:solidFill>
                <a:latin typeface="Maiandra GD" pitchFamily="34" charset="0"/>
              </a:rPr>
              <a:t>"C'est beau les </a:t>
            </a:r>
            <a:r>
              <a:rPr lang="fr-FR" dirty="0" smtClean="0">
                <a:solidFill>
                  <a:srgbClr val="FF0000"/>
                </a:solidFill>
                <a:latin typeface="Maiandra GD" pitchFamily="34" charset="0"/>
              </a:rPr>
              <a:t>Alpes quand </a:t>
            </a:r>
            <a:r>
              <a:rPr lang="fr-FR" dirty="0">
                <a:solidFill>
                  <a:srgbClr val="FF0000"/>
                </a:solidFill>
                <a:latin typeface="Maiandra GD" pitchFamily="34" charset="0"/>
              </a:rPr>
              <a:t>même !"</a:t>
            </a:r>
            <a:r>
              <a:rPr lang="fr-FR" dirty="0">
                <a:latin typeface="Maiandra GD" pitchFamily="34" charset="0"/>
              </a:rPr>
              <a:t> /&gt;</a:t>
            </a:r>
          </a:p>
          <a:p>
            <a:pPr marL="514350" indent="-514350" algn="just">
              <a:buAutoNum type="arabicPlain" startAt="4"/>
            </a:pPr>
            <a:r>
              <a:rPr lang="fr-FR" dirty="0" smtClean="0">
                <a:latin typeface="Maiandra GD" pitchFamily="34" charset="0"/>
              </a:rPr>
              <a:t>&lt;/</a:t>
            </a:r>
            <a:r>
              <a:rPr lang="fr-FR" dirty="0">
                <a:solidFill>
                  <a:srgbClr val="92D050"/>
                </a:solidFill>
                <a:latin typeface="Maiandra GD" pitchFamily="34" charset="0"/>
              </a:rPr>
              <a:t>p</a:t>
            </a:r>
            <a:r>
              <a:rPr lang="fr-FR" dirty="0" smtClean="0">
                <a:latin typeface="Maiandra GD" pitchFamily="34" charset="0"/>
              </a:rPr>
              <a:t>&gt;</a:t>
            </a:r>
          </a:p>
          <a:p>
            <a:pPr marL="0" indent="0" algn="just">
              <a:buNone/>
            </a:pPr>
            <a:endParaRPr lang="fr-FR" sz="2400" dirty="0">
              <a:latin typeface="Maiandra GD" pitchFamily="34" charset="0"/>
            </a:endParaRPr>
          </a:p>
          <a:p>
            <a:pPr marL="0" indent="0" algn="just">
              <a:buNone/>
            </a:pPr>
            <a:r>
              <a:rPr lang="fr-FR" dirty="0">
                <a:latin typeface="Maiandra GD" pitchFamily="34" charset="0"/>
              </a:rPr>
              <a:t>Survolez la photo avec la souris pour voir l'infobulle apparaître</a:t>
            </a:r>
            <a:r>
              <a:rPr lang="fr-FR" dirty="0" smtClean="0">
                <a:latin typeface="Maiandra GD" pitchFamily="34" charset="0"/>
              </a:rPr>
              <a:t>.  </a:t>
            </a:r>
            <a:endParaRPr lang="fr-FR" dirty="0">
              <a:latin typeface="Maiandra GD" pitchFamily="34" charset="0"/>
            </a:endParaRPr>
          </a:p>
        </p:txBody>
      </p:sp>
      <p:cxnSp>
        <p:nvCxnSpPr>
          <p:cNvPr id="5" name="Connecteur droit 4"/>
          <p:cNvCxnSpPr/>
          <p:nvPr/>
        </p:nvCxnSpPr>
        <p:spPr>
          <a:xfrm>
            <a:off x="683568" y="476672"/>
            <a:ext cx="0" cy="3888432"/>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896468018"/>
      </p:ext>
    </p:extLst>
  </p:cSld>
  <p:clrMapOvr>
    <a:masterClrMapping/>
  </p:clrMapOvr>
  <p:timing>
    <p:tnLst>
      <p:par>
        <p:cTn id="1" dur="indefinite" restart="never" nodeType="tmRoot"/>
      </p:par>
    </p:tnLst>
  </p:timing>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116632"/>
            <a:ext cx="8229600" cy="936104"/>
          </a:xfrm>
        </p:spPr>
        <p:txBody>
          <a:bodyPr>
            <a:normAutofit/>
          </a:bodyPr>
          <a:lstStyle/>
          <a:p>
            <a:r>
              <a:rPr lang="fr-FR" sz="5400" dirty="0">
                <a:effectLst>
                  <a:outerShdw blurRad="38100" dist="38100" dir="2700000" algn="tl">
                    <a:srgbClr val="000000">
                      <a:alpha val="43137"/>
                    </a:srgbClr>
                  </a:outerShdw>
                </a:effectLst>
                <a:latin typeface="Maiandra GD" pitchFamily="34" charset="0"/>
              </a:rPr>
              <a:t>Miniature cliquable</a:t>
            </a:r>
          </a:p>
        </p:txBody>
      </p:sp>
      <p:sp>
        <p:nvSpPr>
          <p:cNvPr id="3" name="Espace réservé du contenu 2"/>
          <p:cNvSpPr>
            <a:spLocks noGrp="1"/>
          </p:cNvSpPr>
          <p:nvPr>
            <p:ph idx="1"/>
          </p:nvPr>
        </p:nvSpPr>
        <p:spPr>
          <a:xfrm>
            <a:off x="179512" y="1196752"/>
            <a:ext cx="8784976" cy="5400600"/>
          </a:xfrm>
        </p:spPr>
        <p:txBody>
          <a:bodyPr>
            <a:normAutofit lnSpcReduction="10000"/>
          </a:bodyPr>
          <a:lstStyle/>
          <a:p>
            <a:pPr marL="0" indent="0" algn="just">
              <a:buNone/>
            </a:pPr>
            <a:r>
              <a:rPr lang="fr-FR" dirty="0">
                <a:latin typeface="Maiandra GD" pitchFamily="34" charset="0"/>
              </a:rPr>
              <a:t>Si votre image est très grosse, il est conseillé d'en </a:t>
            </a:r>
            <a:r>
              <a:rPr lang="fr-FR" dirty="0" smtClean="0">
                <a:latin typeface="Maiandra GD" pitchFamily="34" charset="0"/>
              </a:rPr>
              <a:t>afficher </a:t>
            </a:r>
            <a:r>
              <a:rPr lang="fr-FR" dirty="0">
                <a:latin typeface="Maiandra GD" pitchFamily="34" charset="0"/>
              </a:rPr>
              <a:t>la miniature sur votre site.</a:t>
            </a:r>
          </a:p>
          <a:p>
            <a:pPr marL="0" indent="0" algn="just">
              <a:buNone/>
            </a:pPr>
            <a:r>
              <a:rPr lang="fr-FR" dirty="0">
                <a:latin typeface="Maiandra GD" pitchFamily="34" charset="0"/>
              </a:rPr>
              <a:t>Ajoutez ensuite un lien sur cette miniature pour que vos visiteurs puissent </a:t>
            </a:r>
            <a:r>
              <a:rPr lang="fr-FR" dirty="0" smtClean="0">
                <a:latin typeface="Maiandra GD" pitchFamily="34" charset="0"/>
              </a:rPr>
              <a:t>afficher</a:t>
            </a:r>
            <a:r>
              <a:rPr lang="fr-FR" dirty="0">
                <a:latin typeface="Maiandra GD" pitchFamily="34" charset="0"/>
              </a:rPr>
              <a:t> </a:t>
            </a:r>
            <a:r>
              <a:rPr lang="fr-FR" dirty="0" smtClean="0">
                <a:latin typeface="Maiandra GD" pitchFamily="34" charset="0"/>
              </a:rPr>
              <a:t>l'image </a:t>
            </a:r>
            <a:r>
              <a:rPr lang="fr-FR" dirty="0">
                <a:latin typeface="Maiandra GD" pitchFamily="34" charset="0"/>
              </a:rPr>
              <a:t>en taille originale</a:t>
            </a:r>
            <a:r>
              <a:rPr lang="fr-FR" dirty="0" smtClean="0">
                <a:latin typeface="Maiandra GD" pitchFamily="34" charset="0"/>
              </a:rPr>
              <a:t>.</a:t>
            </a:r>
          </a:p>
          <a:p>
            <a:pPr marL="0" indent="0" algn="just">
              <a:buNone/>
            </a:pPr>
            <a:r>
              <a:rPr lang="fr-FR" dirty="0">
                <a:latin typeface="Maiandra GD" pitchFamily="34" charset="0"/>
              </a:rPr>
              <a:t>Il existe des millions de logiciels permettant de créer des miniatures d'images. </a:t>
            </a:r>
            <a:r>
              <a:rPr lang="fr-FR" dirty="0" smtClean="0">
                <a:latin typeface="Maiandra GD" pitchFamily="34" charset="0"/>
              </a:rPr>
              <a:t>J'utilise personnellement </a:t>
            </a:r>
            <a:r>
              <a:rPr lang="fr-FR" dirty="0">
                <a:latin typeface="Maiandra GD" pitchFamily="34" charset="0"/>
              </a:rPr>
              <a:t>Easy Thumbnails. Je vais ainsi disposer de deux versions de ma </a:t>
            </a:r>
            <a:r>
              <a:rPr lang="fr-FR" dirty="0" smtClean="0">
                <a:latin typeface="Maiandra GD" pitchFamily="34" charset="0"/>
              </a:rPr>
              <a:t>photo, comme </a:t>
            </a:r>
            <a:r>
              <a:rPr lang="fr-FR" dirty="0">
                <a:latin typeface="Maiandra GD" pitchFamily="34" charset="0"/>
              </a:rPr>
              <a:t>à la </a:t>
            </a:r>
            <a:r>
              <a:rPr lang="fr-FR" dirty="0" smtClean="0">
                <a:latin typeface="Maiandra GD" pitchFamily="34" charset="0"/>
              </a:rPr>
              <a:t>figure ci-dessous) </a:t>
            </a:r>
            <a:r>
              <a:rPr lang="fr-FR" dirty="0">
                <a:latin typeface="Maiandra GD" pitchFamily="34" charset="0"/>
              </a:rPr>
              <a:t>: la miniature et l'image d'origine</a:t>
            </a:r>
            <a:r>
              <a:rPr lang="fr-FR" dirty="0"/>
              <a:t>.</a:t>
            </a:r>
            <a:endParaRPr lang="fr-FR" dirty="0">
              <a:latin typeface="Maiandra GD" pitchFamily="34" charset="0"/>
            </a:endParaRPr>
          </a:p>
        </p:txBody>
      </p:sp>
    </p:spTree>
    <p:extLst>
      <p:ext uri="{BB962C8B-B14F-4D97-AF65-F5344CB8AC3E}">
        <p14:creationId xmlns:p14="http://schemas.microsoft.com/office/powerpoint/2010/main" val="1670503042"/>
      </p:ext>
    </p:extLst>
  </p:cSld>
  <p:clrMapOvr>
    <a:masterClrMapping/>
  </p:clrMapOvr>
  <p:timing>
    <p:tnLst>
      <p:par>
        <p:cTn id="1" dur="indefinite" restart="never" nodeType="tmRoot"/>
      </p:par>
    </p:tnLst>
  </p:timing>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411760" y="6279703"/>
            <a:ext cx="4878259" cy="461665"/>
          </a:xfrm>
          <a:prstGeom prst="rect">
            <a:avLst/>
          </a:prstGeom>
        </p:spPr>
        <p:txBody>
          <a:bodyPr wrap="none">
            <a:spAutoFit/>
          </a:bodyPr>
          <a:lstStyle/>
          <a:p>
            <a:r>
              <a:rPr lang="fr-FR" sz="2400" dirty="0">
                <a:effectLst>
                  <a:outerShdw blurRad="38100" dist="38100" dir="2700000" algn="tl">
                    <a:srgbClr val="000000">
                      <a:alpha val="43137"/>
                    </a:srgbClr>
                  </a:outerShdw>
                </a:effectLst>
                <a:latin typeface="Maiandra GD" pitchFamily="34" charset="0"/>
              </a:rPr>
              <a:t>La miniature et son image d'origine</a:t>
            </a:r>
          </a:p>
        </p:txBody>
      </p:sp>
      <p:pic>
        <p:nvPicPr>
          <p:cNvPr id="6" name="Imag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520" y="101626"/>
            <a:ext cx="8748464" cy="6279702"/>
          </a:xfrm>
          <a:prstGeom prst="rect">
            <a:avLst/>
          </a:prstGeom>
        </p:spPr>
      </p:pic>
    </p:spTree>
    <p:extLst>
      <p:ext uri="{BB962C8B-B14F-4D97-AF65-F5344CB8AC3E}">
        <p14:creationId xmlns:p14="http://schemas.microsoft.com/office/powerpoint/2010/main" val="4148103211"/>
      </p:ext>
    </p:extLst>
  </p:cSld>
  <p:clrMapOvr>
    <a:masterClrMapping/>
  </p:clrMapOvr>
  <p:timing>
    <p:tnLst>
      <p:par>
        <p:cTn id="1" dur="indefinite" restart="never" nodeType="tmRoot"/>
      </p:par>
    </p:tnLst>
  </p:timing>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332656"/>
            <a:ext cx="8640960" cy="6192688"/>
          </a:xfrm>
        </p:spPr>
        <p:txBody>
          <a:bodyPr>
            <a:normAutofit/>
          </a:bodyPr>
          <a:lstStyle/>
          <a:p>
            <a:pPr marL="0" indent="0" algn="just">
              <a:buNone/>
            </a:pPr>
            <a:r>
              <a:rPr lang="fr-FR" sz="3600" dirty="0">
                <a:latin typeface="Maiandra GD" pitchFamily="34" charset="0"/>
              </a:rPr>
              <a:t>Je les place toutes les deux dans un dossier appelé par exemple img. </a:t>
            </a:r>
            <a:r>
              <a:rPr lang="fr-FR" sz="3600" dirty="0" smtClean="0">
                <a:latin typeface="Maiandra GD" pitchFamily="34" charset="0"/>
              </a:rPr>
              <a:t>J'affiche </a:t>
            </a:r>
            <a:r>
              <a:rPr lang="fr-FR" sz="3600" dirty="0">
                <a:latin typeface="Maiandra GD" pitchFamily="34" charset="0"/>
              </a:rPr>
              <a:t>la </a:t>
            </a:r>
            <a:r>
              <a:rPr lang="fr-FR" sz="3600" dirty="0" smtClean="0">
                <a:latin typeface="Maiandra GD" pitchFamily="34" charset="0"/>
              </a:rPr>
              <a:t>version montagne_mini.jpg </a:t>
            </a:r>
            <a:r>
              <a:rPr lang="fr-FR" sz="3600" dirty="0">
                <a:latin typeface="Maiandra GD" pitchFamily="34" charset="0"/>
              </a:rPr>
              <a:t>sur ma page et je fais un lien vers montagne.jpg pour que </a:t>
            </a:r>
            <a:r>
              <a:rPr lang="fr-FR" sz="3600" dirty="0" smtClean="0">
                <a:latin typeface="Maiandra GD" pitchFamily="34" charset="0"/>
              </a:rPr>
              <a:t>l'image agrandie s'affiche </a:t>
            </a:r>
            <a:r>
              <a:rPr lang="fr-FR" sz="3600" dirty="0">
                <a:latin typeface="Maiandra GD" pitchFamily="34" charset="0"/>
              </a:rPr>
              <a:t>lorsqu'on clique sur la miniature</a:t>
            </a:r>
            <a:r>
              <a:rPr lang="fr-FR" sz="3600" dirty="0" smtClean="0">
                <a:latin typeface="Maiandra GD" pitchFamily="34" charset="0"/>
              </a:rPr>
              <a:t>.</a:t>
            </a:r>
          </a:p>
          <a:p>
            <a:pPr marL="0" indent="0" algn="just">
              <a:buNone/>
            </a:pPr>
            <a:endParaRPr lang="fr-FR" sz="3600" dirty="0" smtClean="0">
              <a:latin typeface="Maiandra GD" pitchFamily="34" charset="0"/>
            </a:endParaRPr>
          </a:p>
          <a:p>
            <a:pPr marL="0" indent="0" algn="just">
              <a:buNone/>
            </a:pPr>
            <a:r>
              <a:rPr lang="fr-FR" sz="3600" dirty="0">
                <a:latin typeface="Maiandra GD" pitchFamily="34" charset="0"/>
              </a:rPr>
              <a:t>Voici le code HTML que je vais utiliser pour cela :</a:t>
            </a:r>
          </a:p>
        </p:txBody>
      </p:sp>
    </p:spTree>
    <p:extLst>
      <p:ext uri="{BB962C8B-B14F-4D97-AF65-F5344CB8AC3E}">
        <p14:creationId xmlns:p14="http://schemas.microsoft.com/office/powerpoint/2010/main" val="95781971"/>
      </p:ext>
    </p:extLst>
  </p:cSld>
  <p:clrMapOvr>
    <a:masterClrMapping/>
  </p:clrMapOvr>
  <p:timing>
    <p:tnLst>
      <p:par>
        <p:cTn id="1" dur="indefinite" restart="never" nodeType="tmRoot"/>
      </p:par>
    </p:tnLst>
  </p:timing>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260648"/>
            <a:ext cx="8712968" cy="6336704"/>
          </a:xfrm>
        </p:spPr>
        <p:txBody>
          <a:bodyPr/>
          <a:lstStyle/>
          <a:p>
            <a:pPr marL="0" indent="0">
              <a:buNone/>
            </a:pPr>
            <a:r>
              <a:rPr lang="fr-FR" dirty="0">
                <a:latin typeface="Maiandra GD" pitchFamily="34" charset="0"/>
              </a:rPr>
              <a:t>1 </a:t>
            </a:r>
            <a:r>
              <a:rPr lang="fr-FR" dirty="0" smtClean="0">
                <a:latin typeface="Maiandra GD" pitchFamily="34" charset="0"/>
              </a:rPr>
              <a:t>  &lt;</a:t>
            </a:r>
            <a:r>
              <a:rPr lang="fr-FR" dirty="0">
                <a:solidFill>
                  <a:srgbClr val="92D050"/>
                </a:solidFill>
                <a:latin typeface="Maiandra GD" pitchFamily="34" charset="0"/>
              </a:rPr>
              <a:t>p</a:t>
            </a:r>
            <a:r>
              <a:rPr lang="fr-FR" dirty="0">
                <a:latin typeface="Maiandra GD" pitchFamily="34" charset="0"/>
              </a:rPr>
              <a:t>&gt;</a:t>
            </a:r>
          </a:p>
          <a:p>
            <a:pPr marL="514350" indent="-514350">
              <a:buAutoNum type="arabicPlain" startAt="2"/>
            </a:pPr>
            <a:r>
              <a:rPr lang="fr-FR" dirty="0" smtClean="0">
                <a:latin typeface="Maiandra GD" pitchFamily="34" charset="0"/>
              </a:rPr>
              <a:t>Vous </a:t>
            </a:r>
            <a:r>
              <a:rPr lang="fr-FR" dirty="0">
                <a:latin typeface="Maiandra GD" pitchFamily="34" charset="0"/>
              </a:rPr>
              <a:t>souhaitez voir </a:t>
            </a:r>
            <a:r>
              <a:rPr lang="fr-FR" dirty="0" smtClean="0">
                <a:latin typeface="Maiandra GD" pitchFamily="34" charset="0"/>
              </a:rPr>
              <a:t>l'image </a:t>
            </a:r>
            <a:r>
              <a:rPr lang="fr-FR" dirty="0">
                <a:latin typeface="Maiandra GD" pitchFamily="34" charset="0"/>
              </a:rPr>
              <a:t>dans sa taille </a:t>
            </a:r>
            <a:r>
              <a:rPr lang="fr-FR" dirty="0" smtClean="0">
                <a:latin typeface="Maiandra GD" pitchFamily="34" charset="0"/>
              </a:rPr>
              <a:t> </a:t>
            </a:r>
          </a:p>
          <a:p>
            <a:pPr marL="0" indent="0">
              <a:buNone/>
            </a:pPr>
            <a:r>
              <a:rPr lang="fr-FR" dirty="0">
                <a:latin typeface="Maiandra GD" pitchFamily="34" charset="0"/>
              </a:rPr>
              <a:t> </a:t>
            </a:r>
            <a:r>
              <a:rPr lang="fr-FR" dirty="0" smtClean="0">
                <a:latin typeface="Maiandra GD" pitchFamily="34" charset="0"/>
              </a:rPr>
              <a:t>    d</a:t>
            </a:r>
            <a:r>
              <a:rPr lang="fr-FR" dirty="0">
                <a:latin typeface="Maiandra GD" pitchFamily="34" charset="0"/>
              </a:rPr>
              <a:t>' origine </a:t>
            </a:r>
            <a:r>
              <a:rPr lang="fr-FR" dirty="0" smtClean="0">
                <a:latin typeface="Maiandra GD" pitchFamily="34" charset="0"/>
              </a:rPr>
              <a:t>? Cliquez </a:t>
            </a:r>
            <a:r>
              <a:rPr lang="fr-FR" dirty="0">
                <a:latin typeface="Maiandra GD" pitchFamily="34" charset="0"/>
              </a:rPr>
              <a:t>dessus !&lt;</a:t>
            </a:r>
            <a:r>
              <a:rPr lang="fr-FR" dirty="0">
                <a:solidFill>
                  <a:srgbClr val="92D050"/>
                </a:solidFill>
                <a:latin typeface="Maiandra GD" pitchFamily="34" charset="0"/>
              </a:rPr>
              <a:t>br</a:t>
            </a:r>
            <a:r>
              <a:rPr lang="fr-FR" dirty="0">
                <a:latin typeface="Maiandra GD" pitchFamily="34" charset="0"/>
              </a:rPr>
              <a:t> /&gt;</a:t>
            </a:r>
          </a:p>
          <a:p>
            <a:pPr marL="514350" indent="-514350">
              <a:buAutoNum type="arabicPlain" startAt="3"/>
            </a:pPr>
            <a:r>
              <a:rPr lang="fr-FR" dirty="0" smtClean="0">
                <a:latin typeface="Maiandra GD" pitchFamily="34" charset="0"/>
              </a:rPr>
              <a:t>&lt;</a:t>
            </a:r>
            <a:r>
              <a:rPr lang="fr-FR" dirty="0">
                <a:solidFill>
                  <a:srgbClr val="92D050"/>
                </a:solidFill>
                <a:latin typeface="Maiandra GD" pitchFamily="34" charset="0"/>
              </a:rPr>
              <a:t>a href </a:t>
            </a:r>
            <a:r>
              <a:rPr lang="fr-FR" dirty="0">
                <a:latin typeface="Maiandra GD" pitchFamily="34" charset="0"/>
              </a:rPr>
              <a:t>=</a:t>
            </a:r>
            <a:r>
              <a:rPr lang="fr-FR" dirty="0">
                <a:solidFill>
                  <a:srgbClr val="FF0000"/>
                </a:solidFill>
                <a:latin typeface="Maiandra GD" pitchFamily="34" charset="0"/>
              </a:rPr>
              <a:t>"</a:t>
            </a:r>
            <a:r>
              <a:rPr lang="fr-FR" dirty="0" smtClean="0">
                <a:solidFill>
                  <a:srgbClr val="FF0000"/>
                </a:solidFill>
                <a:latin typeface="Maiandra GD" pitchFamily="34" charset="0"/>
              </a:rPr>
              <a:t>img/montagne.jpg"</a:t>
            </a:r>
            <a:r>
              <a:rPr lang="fr-FR" dirty="0" smtClean="0">
                <a:latin typeface="Maiandra GD" pitchFamily="34" charset="0"/>
              </a:rPr>
              <a:t>&gt; &lt;</a:t>
            </a:r>
            <a:r>
              <a:rPr lang="fr-FR" dirty="0">
                <a:solidFill>
                  <a:srgbClr val="92D050"/>
                </a:solidFill>
                <a:latin typeface="Maiandra GD" pitchFamily="34" charset="0"/>
              </a:rPr>
              <a:t>img src </a:t>
            </a:r>
            <a:r>
              <a:rPr lang="fr-FR" dirty="0" smtClean="0">
                <a:solidFill>
                  <a:srgbClr val="92D050"/>
                </a:solidFill>
                <a:latin typeface="Maiandra GD" pitchFamily="34" charset="0"/>
              </a:rPr>
              <a:t>     </a:t>
            </a:r>
          </a:p>
          <a:p>
            <a:pPr marL="0" indent="0">
              <a:buNone/>
            </a:pPr>
            <a:r>
              <a:rPr lang="fr-FR" dirty="0">
                <a:latin typeface="Maiandra GD" pitchFamily="34" charset="0"/>
              </a:rPr>
              <a:t> </a:t>
            </a:r>
            <a:r>
              <a:rPr lang="fr-FR" dirty="0" smtClean="0">
                <a:latin typeface="Maiandra GD" pitchFamily="34" charset="0"/>
              </a:rPr>
              <a:t>    =</a:t>
            </a:r>
            <a:r>
              <a:rPr lang="fr-FR" dirty="0" smtClean="0">
                <a:solidFill>
                  <a:srgbClr val="FF0000"/>
                </a:solidFill>
                <a:latin typeface="Maiandra GD" pitchFamily="34" charset="0"/>
              </a:rPr>
              <a:t>"img/montagne_mini </a:t>
            </a:r>
            <a:r>
              <a:rPr lang="fr-FR" dirty="0">
                <a:solidFill>
                  <a:srgbClr val="FF0000"/>
                </a:solidFill>
                <a:latin typeface="Maiandra GD" pitchFamily="34" charset="0"/>
              </a:rPr>
              <a:t>.</a:t>
            </a:r>
            <a:r>
              <a:rPr lang="fr-FR" dirty="0" smtClean="0">
                <a:solidFill>
                  <a:srgbClr val="FF0000"/>
                </a:solidFill>
                <a:latin typeface="Maiandra GD" pitchFamily="34" charset="0"/>
              </a:rPr>
              <a:t>jpg</a:t>
            </a:r>
            <a:r>
              <a:rPr lang="fr-FR" dirty="0">
                <a:solidFill>
                  <a:srgbClr val="FF0000"/>
                </a:solidFill>
                <a:latin typeface="Maiandra GD" pitchFamily="34" charset="0"/>
              </a:rPr>
              <a:t>"</a:t>
            </a:r>
            <a:r>
              <a:rPr lang="fr-FR" dirty="0" smtClean="0">
                <a:solidFill>
                  <a:srgbClr val="FF0000"/>
                </a:solidFill>
                <a:latin typeface="Maiandra GD" pitchFamily="34" charset="0"/>
              </a:rPr>
              <a:t> </a:t>
            </a:r>
            <a:r>
              <a:rPr lang="fr-FR" dirty="0" smtClean="0">
                <a:solidFill>
                  <a:srgbClr val="92D050"/>
                </a:solidFill>
                <a:latin typeface="Maiandra GD" pitchFamily="34" charset="0"/>
              </a:rPr>
              <a:t>alt</a:t>
            </a:r>
            <a:r>
              <a:rPr lang="fr-FR" dirty="0" smtClean="0">
                <a:latin typeface="Maiandra GD" pitchFamily="34" charset="0"/>
              </a:rPr>
              <a:t> </a:t>
            </a:r>
            <a:r>
              <a:rPr lang="fr-FR" dirty="0">
                <a:latin typeface="Maiandra GD" pitchFamily="34" charset="0"/>
              </a:rPr>
              <a:t>=</a:t>
            </a:r>
            <a:r>
              <a:rPr lang="fr-FR" dirty="0">
                <a:solidFill>
                  <a:srgbClr val="FF0000"/>
                </a:solidFill>
                <a:latin typeface="Maiandra GD" pitchFamily="34" charset="0"/>
              </a:rPr>
              <a:t>" Photo de </a:t>
            </a:r>
            <a:r>
              <a:rPr lang="fr-FR" dirty="0" smtClean="0">
                <a:solidFill>
                  <a:srgbClr val="FF0000"/>
                </a:solidFill>
                <a:latin typeface="Maiandra GD" pitchFamily="34" charset="0"/>
              </a:rPr>
              <a:t>   </a:t>
            </a:r>
          </a:p>
          <a:p>
            <a:pPr marL="0" indent="0">
              <a:buNone/>
            </a:pPr>
            <a:r>
              <a:rPr lang="fr-FR" dirty="0">
                <a:latin typeface="Maiandra GD" pitchFamily="34" charset="0"/>
              </a:rPr>
              <a:t> </a:t>
            </a:r>
            <a:r>
              <a:rPr lang="fr-FR" dirty="0" smtClean="0">
                <a:latin typeface="Maiandra GD" pitchFamily="34" charset="0"/>
              </a:rPr>
              <a:t>     </a:t>
            </a:r>
            <a:r>
              <a:rPr lang="fr-FR" dirty="0" smtClean="0">
                <a:solidFill>
                  <a:srgbClr val="FF0000"/>
                </a:solidFill>
                <a:latin typeface="Maiandra GD" pitchFamily="34" charset="0"/>
              </a:rPr>
              <a:t>montagne </a:t>
            </a:r>
            <a:r>
              <a:rPr lang="fr-FR" dirty="0">
                <a:solidFill>
                  <a:srgbClr val="FF0000"/>
                </a:solidFill>
                <a:latin typeface="Maiandra GD" pitchFamily="34" charset="0"/>
              </a:rPr>
              <a:t>"</a:t>
            </a:r>
            <a:r>
              <a:rPr lang="fr-FR" dirty="0">
                <a:latin typeface="Maiandra GD" pitchFamily="34" charset="0"/>
              </a:rPr>
              <a:t> </a:t>
            </a:r>
            <a:r>
              <a:rPr lang="fr-FR" dirty="0">
                <a:solidFill>
                  <a:srgbClr val="92D050"/>
                </a:solidFill>
                <a:latin typeface="Maiandra GD" pitchFamily="34" charset="0"/>
              </a:rPr>
              <a:t>title</a:t>
            </a:r>
            <a:r>
              <a:rPr lang="fr-FR" dirty="0">
                <a:latin typeface="Maiandra GD" pitchFamily="34" charset="0"/>
              </a:rPr>
              <a:t> =</a:t>
            </a:r>
            <a:r>
              <a:rPr lang="fr-FR" dirty="0">
                <a:solidFill>
                  <a:srgbClr val="FF0000"/>
                </a:solidFill>
                <a:latin typeface="Maiandra GD" pitchFamily="34" charset="0"/>
              </a:rPr>
              <a:t>"</a:t>
            </a:r>
            <a:r>
              <a:rPr lang="fr-FR" dirty="0">
                <a:latin typeface="Maiandra GD" pitchFamily="34" charset="0"/>
              </a:rPr>
              <a:t> </a:t>
            </a:r>
            <a:r>
              <a:rPr lang="fr-FR" dirty="0">
                <a:solidFill>
                  <a:srgbClr val="FF0000"/>
                </a:solidFill>
                <a:latin typeface="Maiandra GD" pitchFamily="34" charset="0"/>
              </a:rPr>
              <a:t>Cliquez pour agrandir "</a:t>
            </a:r>
            <a:r>
              <a:rPr lang="fr-FR" dirty="0">
                <a:latin typeface="Maiandra GD" pitchFamily="34" charset="0"/>
              </a:rPr>
              <a:t> </a:t>
            </a:r>
            <a:r>
              <a:rPr lang="fr-FR" dirty="0" smtClean="0">
                <a:latin typeface="Maiandra GD" pitchFamily="34" charset="0"/>
              </a:rPr>
              <a:t>  </a:t>
            </a:r>
          </a:p>
          <a:p>
            <a:pPr marL="0" indent="0">
              <a:buNone/>
            </a:pPr>
            <a:r>
              <a:rPr lang="fr-FR" dirty="0">
                <a:latin typeface="Maiandra GD" pitchFamily="34" charset="0"/>
              </a:rPr>
              <a:t> </a:t>
            </a:r>
            <a:r>
              <a:rPr lang="fr-FR" dirty="0" smtClean="0">
                <a:latin typeface="Maiandra GD" pitchFamily="34" charset="0"/>
              </a:rPr>
              <a:t>    /&gt;&lt;/</a:t>
            </a:r>
            <a:r>
              <a:rPr lang="fr-FR" dirty="0">
                <a:solidFill>
                  <a:srgbClr val="92D050"/>
                </a:solidFill>
                <a:latin typeface="Maiandra GD" pitchFamily="34" charset="0"/>
              </a:rPr>
              <a:t>a</a:t>
            </a:r>
            <a:r>
              <a:rPr lang="fr-FR" dirty="0">
                <a:latin typeface="Maiandra GD" pitchFamily="34" charset="0"/>
              </a:rPr>
              <a:t>&gt;</a:t>
            </a:r>
          </a:p>
          <a:p>
            <a:pPr marL="0" indent="0">
              <a:buNone/>
            </a:pPr>
            <a:r>
              <a:rPr lang="fr-FR" dirty="0" smtClean="0">
                <a:latin typeface="Maiandra GD" pitchFamily="34" charset="0"/>
              </a:rPr>
              <a:t>4   </a:t>
            </a:r>
            <a:r>
              <a:rPr lang="fr-FR" dirty="0">
                <a:latin typeface="Maiandra GD" pitchFamily="34" charset="0"/>
              </a:rPr>
              <a:t>&lt;/</a:t>
            </a:r>
            <a:r>
              <a:rPr lang="fr-FR" dirty="0">
                <a:solidFill>
                  <a:srgbClr val="92D050"/>
                </a:solidFill>
                <a:latin typeface="Maiandra GD" pitchFamily="34" charset="0"/>
              </a:rPr>
              <a:t>p</a:t>
            </a:r>
            <a:r>
              <a:rPr lang="fr-FR" dirty="0">
                <a:latin typeface="Maiandra GD" pitchFamily="34" charset="0"/>
              </a:rPr>
              <a:t>&gt;</a:t>
            </a:r>
          </a:p>
        </p:txBody>
      </p:sp>
      <p:cxnSp>
        <p:nvCxnSpPr>
          <p:cNvPr id="5" name="Connecteur droit 4"/>
          <p:cNvCxnSpPr/>
          <p:nvPr/>
        </p:nvCxnSpPr>
        <p:spPr>
          <a:xfrm>
            <a:off x="683568" y="332656"/>
            <a:ext cx="0" cy="4608512"/>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654665851"/>
      </p:ext>
    </p:extLst>
  </p:cSld>
  <p:clrMapOvr>
    <a:masterClrMapping/>
  </p:clrMapOvr>
  <p:timing>
    <p:tnLst>
      <p:par>
        <p:cTn id="1" dur="indefinite" restart="never" nodeType="tmRoot"/>
      </p:par>
    </p:tnLst>
  </p:timing>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476672"/>
            <a:ext cx="8640960" cy="5976664"/>
          </a:xfrm>
        </p:spPr>
        <p:txBody>
          <a:bodyPr>
            <a:normAutofit/>
          </a:bodyPr>
          <a:lstStyle/>
          <a:p>
            <a:pPr marL="0" indent="0" algn="just">
              <a:buNone/>
            </a:pPr>
            <a:r>
              <a:rPr lang="fr-FR" sz="3600" dirty="0">
                <a:latin typeface="Maiandra GD" pitchFamily="34" charset="0"/>
              </a:rPr>
              <a:t>Parfois, certains navigateurs choisissent </a:t>
            </a:r>
            <a:r>
              <a:rPr lang="fr-FR" sz="3600" dirty="0" smtClean="0">
                <a:latin typeface="Maiandra GD" pitchFamily="34" charset="0"/>
              </a:rPr>
              <a:t>d'afficher </a:t>
            </a:r>
            <a:r>
              <a:rPr lang="fr-FR" sz="3600" dirty="0">
                <a:latin typeface="Maiandra GD" pitchFamily="34" charset="0"/>
              </a:rPr>
              <a:t>un cadre bleu (ou </a:t>
            </a:r>
            <a:r>
              <a:rPr lang="fr-FR" sz="3600" dirty="0" smtClean="0">
                <a:latin typeface="Maiandra GD" pitchFamily="34" charset="0"/>
              </a:rPr>
              <a:t>violet) pas </a:t>
            </a:r>
            <a:r>
              <a:rPr lang="fr-FR" sz="3600" dirty="0">
                <a:latin typeface="Maiandra GD" pitchFamily="34" charset="0"/>
              </a:rPr>
              <a:t>très esthétique autour de votre image cliquable. Heureusement, </a:t>
            </a:r>
            <a:r>
              <a:rPr lang="fr-FR" sz="3600" dirty="0" smtClean="0">
                <a:latin typeface="Maiandra GD" pitchFamily="34" charset="0"/>
              </a:rPr>
              <a:t>nous pourrons </a:t>
            </a:r>
            <a:r>
              <a:rPr lang="fr-FR" sz="3600" dirty="0">
                <a:latin typeface="Maiandra GD" pitchFamily="34" charset="0"/>
              </a:rPr>
              <a:t>retirer ce cadre dans peu de temps grâce au CSS.</a:t>
            </a:r>
          </a:p>
        </p:txBody>
      </p:sp>
      <p:pic>
        <p:nvPicPr>
          <p:cNvPr id="276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4150" y="4293096"/>
            <a:ext cx="1814314" cy="17423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4303079"/>
      </p:ext>
    </p:extLst>
  </p:cSld>
  <p:clrMapOvr>
    <a:masterClrMapping/>
  </p:clrMapOvr>
  <p:timing>
    <p:tnLst>
      <p:par>
        <p:cTn id="1" dur="indefinite" restart="never" nodeType="tmRoot"/>
      </p:par>
    </p:tnLst>
  </p:timing>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18864" y="2862064"/>
            <a:ext cx="8229600" cy="1143000"/>
          </a:xfrm>
        </p:spPr>
        <p:txBody>
          <a:bodyPr>
            <a:noAutofit/>
          </a:bodyPr>
          <a:lstStyle/>
          <a:p>
            <a:r>
              <a:rPr lang="fr-FR" sz="7200" dirty="0">
                <a:effectLst>
                  <a:outerShdw blurRad="38100" dist="38100" dir="2700000" algn="tl">
                    <a:srgbClr val="000000">
                      <a:alpha val="43137"/>
                    </a:srgbClr>
                  </a:outerShdw>
                </a:effectLst>
                <a:latin typeface="Maiandra GD" pitchFamily="34" charset="0"/>
              </a:rPr>
              <a:t>Les </a:t>
            </a:r>
            <a:r>
              <a:rPr lang="fr-FR" sz="7200" dirty="0" smtClean="0">
                <a:effectLst>
                  <a:outerShdw blurRad="38100" dist="38100" dir="2700000" algn="tl">
                    <a:srgbClr val="000000">
                      <a:alpha val="43137"/>
                    </a:srgbClr>
                  </a:outerShdw>
                </a:effectLst>
                <a:latin typeface="Maiandra GD" pitchFamily="34" charset="0"/>
              </a:rPr>
              <a:t>figures</a:t>
            </a:r>
            <a:endParaRPr lang="fr-FR" sz="7200" dirty="0">
              <a:effectLst>
                <a:outerShdw blurRad="38100" dist="38100" dir="2700000" algn="tl">
                  <a:srgbClr val="000000">
                    <a:alpha val="43137"/>
                  </a:srgbClr>
                </a:outerShdw>
              </a:effectLst>
              <a:latin typeface="Maiandra GD" pitchFamily="34" charset="0"/>
            </a:endParaRPr>
          </a:p>
        </p:txBody>
      </p:sp>
    </p:spTree>
    <p:extLst>
      <p:ext uri="{BB962C8B-B14F-4D97-AF65-F5344CB8AC3E}">
        <p14:creationId xmlns:p14="http://schemas.microsoft.com/office/powerpoint/2010/main" val="4000278663"/>
      </p:ext>
    </p:extLst>
  </p:cSld>
  <p:clrMapOvr>
    <a:masterClrMapping/>
  </p:clrMapOvr>
  <p:timing>
    <p:tnLst>
      <p:par>
        <p:cTn id="1" dur="indefinite" restart="never" nodeType="tmRoot"/>
      </p:par>
    </p:tnLst>
  </p:timing>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9512" y="260648"/>
            <a:ext cx="8784976" cy="6336704"/>
          </a:xfrm>
        </p:spPr>
        <p:txBody>
          <a:bodyPr>
            <a:normAutofit/>
          </a:bodyPr>
          <a:lstStyle/>
          <a:p>
            <a:pPr marL="0" indent="0" algn="just">
              <a:buNone/>
            </a:pPr>
            <a:r>
              <a:rPr lang="fr-FR" sz="3600" dirty="0">
                <a:latin typeface="Maiandra GD" pitchFamily="34" charset="0"/>
              </a:rPr>
              <a:t>Au cours </a:t>
            </a:r>
            <a:r>
              <a:rPr lang="fr-FR" sz="3600" dirty="0" smtClean="0">
                <a:latin typeface="Maiandra GD" pitchFamily="34" charset="0"/>
              </a:rPr>
              <a:t>de cette formation, </a:t>
            </a:r>
            <a:r>
              <a:rPr lang="fr-FR" sz="3600" dirty="0">
                <a:latin typeface="Maiandra GD" pitchFamily="34" charset="0"/>
              </a:rPr>
              <a:t>vous avez déjà rencontré plusieurs fois des </a:t>
            </a:r>
            <a:r>
              <a:rPr lang="fr-FR" sz="3600" dirty="0" smtClean="0">
                <a:latin typeface="Maiandra GD" pitchFamily="34" charset="0"/>
              </a:rPr>
              <a:t>figures</a:t>
            </a:r>
            <a:r>
              <a:rPr lang="fr-FR" sz="3600" dirty="0">
                <a:latin typeface="Maiandra GD" pitchFamily="34" charset="0"/>
              </a:rPr>
              <a:t>.</a:t>
            </a:r>
          </a:p>
          <a:p>
            <a:pPr marL="0" indent="0" algn="just">
              <a:buNone/>
            </a:pPr>
            <a:r>
              <a:rPr lang="fr-FR" sz="3600" dirty="0">
                <a:latin typeface="Maiandra GD" pitchFamily="34" charset="0"/>
              </a:rPr>
              <a:t>Ce sont des éléments qui viennent enrichir le texte pour compléter les informations de</a:t>
            </a:r>
          </a:p>
          <a:p>
            <a:pPr marL="0" indent="0" algn="just">
              <a:buNone/>
            </a:pPr>
            <a:r>
              <a:rPr lang="fr-FR" sz="3600" dirty="0" smtClean="0">
                <a:latin typeface="Maiandra GD" pitchFamily="34" charset="0"/>
              </a:rPr>
              <a:t>la page. Les figures </a:t>
            </a:r>
            <a:r>
              <a:rPr lang="fr-FR" sz="3600" dirty="0">
                <a:latin typeface="Maiandra GD" pitchFamily="34" charset="0"/>
              </a:rPr>
              <a:t>peuvent être de </a:t>
            </a:r>
            <a:r>
              <a:rPr lang="fr-FR" sz="3600" dirty="0" smtClean="0">
                <a:latin typeface="Maiandra GD" pitchFamily="34" charset="0"/>
              </a:rPr>
              <a:t>différents </a:t>
            </a:r>
            <a:r>
              <a:rPr lang="fr-FR" sz="3600" dirty="0">
                <a:latin typeface="Maiandra GD" pitchFamily="34" charset="0"/>
              </a:rPr>
              <a:t>types </a:t>
            </a:r>
            <a:r>
              <a:rPr lang="fr-FR" sz="3600" dirty="0" smtClean="0">
                <a:latin typeface="Maiandra GD" pitchFamily="34" charset="0"/>
              </a:rPr>
              <a:t>:</a:t>
            </a:r>
          </a:p>
          <a:p>
            <a:pPr marL="0" indent="0">
              <a:buNone/>
            </a:pPr>
            <a:r>
              <a:rPr lang="fr-FR" sz="3600" dirty="0" smtClean="0">
                <a:latin typeface="Maiandra GD" pitchFamily="34" charset="0"/>
              </a:rPr>
              <a:t>- images </a:t>
            </a:r>
            <a:r>
              <a:rPr lang="fr-FR" sz="3600" dirty="0">
                <a:latin typeface="Maiandra GD" pitchFamily="34" charset="0"/>
              </a:rPr>
              <a:t>;</a:t>
            </a:r>
          </a:p>
          <a:p>
            <a:pPr marL="0" indent="0">
              <a:buNone/>
            </a:pPr>
            <a:r>
              <a:rPr lang="fr-FR" sz="3600" dirty="0" smtClean="0">
                <a:latin typeface="Maiandra GD" pitchFamily="34" charset="0"/>
              </a:rPr>
              <a:t>- codes </a:t>
            </a:r>
            <a:r>
              <a:rPr lang="fr-FR" sz="3600" dirty="0">
                <a:latin typeface="Maiandra GD" pitchFamily="34" charset="0"/>
              </a:rPr>
              <a:t>source ;</a:t>
            </a:r>
          </a:p>
          <a:p>
            <a:pPr marL="0" indent="0">
              <a:buNone/>
            </a:pPr>
            <a:r>
              <a:rPr lang="fr-FR" sz="3600" dirty="0" smtClean="0">
                <a:latin typeface="Maiandra GD" pitchFamily="34" charset="0"/>
              </a:rPr>
              <a:t>- citations </a:t>
            </a:r>
            <a:r>
              <a:rPr lang="fr-FR" sz="3600" dirty="0">
                <a:latin typeface="Maiandra GD" pitchFamily="34" charset="0"/>
              </a:rPr>
              <a:t>;</a:t>
            </a:r>
          </a:p>
          <a:p>
            <a:pPr marL="0" indent="0">
              <a:buNone/>
            </a:pPr>
            <a:r>
              <a:rPr lang="fr-FR" sz="3600" dirty="0" smtClean="0">
                <a:latin typeface="Maiandra GD" pitchFamily="34" charset="0"/>
              </a:rPr>
              <a:t>- etc</a:t>
            </a:r>
            <a:r>
              <a:rPr lang="fr-FR" sz="3600" dirty="0">
                <a:latin typeface="Maiandra GD" pitchFamily="34" charset="0"/>
              </a:rPr>
              <a:t>.</a:t>
            </a:r>
          </a:p>
        </p:txBody>
      </p:sp>
    </p:spTree>
    <p:extLst>
      <p:ext uri="{BB962C8B-B14F-4D97-AF65-F5344CB8AC3E}">
        <p14:creationId xmlns:p14="http://schemas.microsoft.com/office/powerpoint/2010/main" val="73884060"/>
      </p:ext>
    </p:extLst>
  </p:cSld>
  <p:clrMapOvr>
    <a:masterClrMapping/>
  </p:clrMapOvr>
  <p:timing>
    <p:tnLst>
      <p:par>
        <p:cTn id="1" dur="indefinite" restart="never" nodeType="tmRoot"/>
      </p:par>
    </p:tnLst>
  </p:timing>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332656"/>
            <a:ext cx="8640960" cy="6192688"/>
          </a:xfrm>
        </p:spPr>
        <p:txBody>
          <a:bodyPr>
            <a:normAutofit/>
          </a:bodyPr>
          <a:lstStyle/>
          <a:p>
            <a:pPr marL="0" indent="0" algn="just">
              <a:buNone/>
            </a:pPr>
            <a:r>
              <a:rPr lang="fr-FR" sz="3600" dirty="0">
                <a:latin typeface="Maiandra GD" pitchFamily="34" charset="0"/>
              </a:rPr>
              <a:t>Bref, tout ce qui vient illustrer le texte est une </a:t>
            </a:r>
            <a:r>
              <a:rPr lang="fr-FR" sz="3600" dirty="0" smtClean="0">
                <a:latin typeface="Maiandra GD" pitchFamily="34" charset="0"/>
              </a:rPr>
              <a:t>figure</a:t>
            </a:r>
            <a:r>
              <a:rPr lang="fr-FR" sz="3600" dirty="0">
                <a:latin typeface="Maiandra GD" pitchFamily="34" charset="0"/>
              </a:rPr>
              <a:t>. Nous allons ici nous intéresser </a:t>
            </a:r>
            <a:r>
              <a:rPr lang="fr-FR" sz="3600" dirty="0" smtClean="0">
                <a:latin typeface="Maiandra GD" pitchFamily="34" charset="0"/>
              </a:rPr>
              <a:t>aux images </a:t>
            </a:r>
            <a:r>
              <a:rPr lang="fr-FR" sz="3600" dirty="0">
                <a:latin typeface="Maiandra GD" pitchFamily="34" charset="0"/>
              </a:rPr>
              <a:t>mais, contrairement à ce qu'on pourrait croire, les </a:t>
            </a:r>
            <a:r>
              <a:rPr lang="fr-FR" sz="3600" dirty="0" smtClean="0">
                <a:latin typeface="Maiandra GD" pitchFamily="34" charset="0"/>
              </a:rPr>
              <a:t>figures </a:t>
            </a:r>
            <a:r>
              <a:rPr lang="fr-FR" sz="3600" dirty="0">
                <a:latin typeface="Maiandra GD" pitchFamily="34" charset="0"/>
              </a:rPr>
              <a:t>ne sont pas </a:t>
            </a:r>
            <a:r>
              <a:rPr lang="fr-FR" sz="3600" dirty="0" smtClean="0">
                <a:latin typeface="Maiandra GD" pitchFamily="34" charset="0"/>
              </a:rPr>
              <a:t>forcément des </a:t>
            </a:r>
            <a:r>
              <a:rPr lang="fr-FR" sz="3600" dirty="0">
                <a:latin typeface="Maiandra GD" pitchFamily="34" charset="0"/>
              </a:rPr>
              <a:t>images : un code source aussi illustre le texte.</a:t>
            </a:r>
          </a:p>
        </p:txBody>
      </p:sp>
    </p:spTree>
    <p:extLst>
      <p:ext uri="{BB962C8B-B14F-4D97-AF65-F5344CB8AC3E}">
        <p14:creationId xmlns:p14="http://schemas.microsoft.com/office/powerpoint/2010/main" val="132302841"/>
      </p:ext>
    </p:extLst>
  </p:cSld>
  <p:clrMapOvr>
    <a:masterClrMapping/>
  </p:clrMapOvr>
  <p:timing>
    <p:tnLst>
      <p:par>
        <p:cTn id="1" dur="indefinite" restart="never" nodeType="tmRoot"/>
      </p:par>
    </p:tnLst>
  </p:timing>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6000" dirty="0">
                <a:effectLst>
                  <a:outerShdw blurRad="38100" dist="38100" dir="2700000" algn="tl">
                    <a:srgbClr val="000000">
                      <a:alpha val="43137"/>
                    </a:srgbClr>
                  </a:outerShdw>
                </a:effectLst>
              </a:rPr>
              <a:t>Création d'une </a:t>
            </a:r>
            <a:r>
              <a:rPr lang="fr-FR" sz="6000" dirty="0" smtClean="0">
                <a:effectLst>
                  <a:outerShdw blurRad="38100" dist="38100" dir="2700000" algn="tl">
                    <a:srgbClr val="000000">
                      <a:alpha val="43137"/>
                    </a:srgbClr>
                  </a:outerShdw>
                </a:effectLst>
              </a:rPr>
              <a:t>figure</a:t>
            </a:r>
            <a:endParaRPr lang="fr-FR" sz="6000" dirty="0">
              <a:effectLst>
                <a:outerShdw blurRad="38100" dist="38100" dir="2700000" algn="tl">
                  <a:srgbClr val="000000">
                    <a:alpha val="43137"/>
                  </a:srgbClr>
                </a:outerShdw>
              </a:effectLst>
            </a:endParaRPr>
          </a:p>
        </p:txBody>
      </p:sp>
      <p:sp>
        <p:nvSpPr>
          <p:cNvPr id="3" name="Espace réservé du contenu 2"/>
          <p:cNvSpPr>
            <a:spLocks noGrp="1"/>
          </p:cNvSpPr>
          <p:nvPr>
            <p:ph idx="1"/>
          </p:nvPr>
        </p:nvSpPr>
        <p:spPr/>
        <p:txBody>
          <a:bodyPr/>
          <a:lstStyle/>
          <a:p>
            <a:pPr marL="0" indent="0" algn="just">
              <a:buNone/>
            </a:pPr>
            <a:r>
              <a:rPr lang="fr-FR" dirty="0">
                <a:latin typeface="Maiandra GD" pitchFamily="34" charset="0"/>
              </a:rPr>
              <a:t>Reprenons par exemple cette capture d'écran du premier chapitre, représentée à </a:t>
            </a:r>
            <a:r>
              <a:rPr lang="fr-FR" dirty="0" smtClean="0">
                <a:latin typeface="Maiandra GD" pitchFamily="34" charset="0"/>
              </a:rPr>
              <a:t>la figure ci-dessous.</a:t>
            </a:r>
            <a:endParaRPr lang="fr-FR" dirty="0">
              <a:latin typeface="Maiandra GD" pitchFamily="34" charset="0"/>
            </a:endParaRPr>
          </a:p>
          <a:p>
            <a:pPr marL="0" indent="0" algn="just">
              <a:buNone/>
            </a:pPr>
            <a:r>
              <a:rPr lang="fr-FR" dirty="0">
                <a:latin typeface="Maiandra GD" pitchFamily="34" charset="0"/>
              </a:rPr>
              <a:t>En HTML5, on dispose de la balise &lt;figure&gt;. Voici comment on pourrait l'utiliser </a:t>
            </a:r>
            <a:r>
              <a:rPr lang="fr-FR" dirty="0" smtClean="0">
                <a:latin typeface="Maiandra GD" pitchFamily="34" charset="0"/>
              </a:rPr>
              <a:t>:</a:t>
            </a:r>
          </a:p>
          <a:p>
            <a:pPr marL="0" indent="0" algn="just">
              <a:buNone/>
            </a:pPr>
            <a:endParaRPr lang="fr-FR" dirty="0">
              <a:latin typeface="Maiandra GD" pitchFamily="34" charset="0"/>
            </a:endParaRPr>
          </a:p>
          <a:p>
            <a:pPr marL="0" indent="0" algn="just">
              <a:buNone/>
            </a:pPr>
            <a:r>
              <a:rPr lang="fr-FR" dirty="0">
                <a:latin typeface="Maiandra GD" pitchFamily="34" charset="0"/>
              </a:rPr>
              <a:t>1 </a:t>
            </a:r>
            <a:r>
              <a:rPr lang="fr-FR" dirty="0" smtClean="0">
                <a:latin typeface="Maiandra GD" pitchFamily="34" charset="0"/>
              </a:rPr>
              <a:t> &lt;</a:t>
            </a:r>
            <a:r>
              <a:rPr lang="fr-FR" dirty="0" smtClean="0">
                <a:solidFill>
                  <a:srgbClr val="92D050"/>
                </a:solidFill>
                <a:latin typeface="Maiandra GD" pitchFamily="34" charset="0"/>
              </a:rPr>
              <a:t>figure</a:t>
            </a:r>
            <a:r>
              <a:rPr lang="fr-FR" dirty="0" smtClean="0">
                <a:latin typeface="Maiandra GD" pitchFamily="34" charset="0"/>
              </a:rPr>
              <a:t>&gt;</a:t>
            </a:r>
            <a:endParaRPr lang="fr-FR" dirty="0">
              <a:latin typeface="Maiandra GD" pitchFamily="34" charset="0"/>
            </a:endParaRPr>
          </a:p>
        </p:txBody>
      </p:sp>
      <p:cxnSp>
        <p:nvCxnSpPr>
          <p:cNvPr id="5" name="Connecteur droit 4"/>
          <p:cNvCxnSpPr/>
          <p:nvPr/>
        </p:nvCxnSpPr>
        <p:spPr>
          <a:xfrm>
            <a:off x="899592" y="4725144"/>
            <a:ext cx="0" cy="864096"/>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337963245"/>
      </p:ext>
    </p:extLst>
  </p:cSld>
  <p:clrMapOvr>
    <a:masterClrMapping/>
  </p:clrMapOvr>
  <p:timing>
    <p:tnLst>
      <p:par>
        <p:cTn id="1" dur="indefinite" restart="never" nodeType="tmRoot"/>
      </p:par>
    </p:tnLst>
  </p:timing>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88640"/>
            <a:ext cx="8784976" cy="60486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3491880" y="6309320"/>
            <a:ext cx="3528392" cy="461665"/>
          </a:xfrm>
          <a:prstGeom prst="rect">
            <a:avLst/>
          </a:prstGeom>
        </p:spPr>
        <p:txBody>
          <a:bodyPr wrap="square">
            <a:spAutoFit/>
          </a:bodyPr>
          <a:lstStyle/>
          <a:p>
            <a:r>
              <a:rPr lang="fr-FR" sz="2400" dirty="0">
                <a:effectLst>
                  <a:outerShdw blurRad="38100" dist="38100" dir="2700000" algn="tl">
                    <a:srgbClr val="000000">
                      <a:alpha val="43137"/>
                    </a:srgbClr>
                  </a:outerShdw>
                </a:effectLst>
                <a:latin typeface="Maiandra GD" pitchFamily="34" charset="0"/>
              </a:rPr>
              <a:t>Le logiciel Bloc-Notes</a:t>
            </a:r>
          </a:p>
        </p:txBody>
      </p:sp>
    </p:spTree>
    <p:extLst>
      <p:ext uri="{BB962C8B-B14F-4D97-AF65-F5344CB8AC3E}">
        <p14:creationId xmlns:p14="http://schemas.microsoft.com/office/powerpoint/2010/main" val="1230892292"/>
      </p:ext>
    </p:extLst>
  </p:cSld>
  <p:clrMapOvr>
    <a:masterClrMapping/>
  </p:clrMapOvr>
  <p:timing>
    <p:tnLst>
      <p:par>
        <p:cTn id="1" dur="indefinite" restart="never" nodeType="tmRoot"/>
      </p:par>
    </p:tnLst>
  </p:timing>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44016" y="332656"/>
            <a:ext cx="8892480" cy="6120680"/>
          </a:xfrm>
        </p:spPr>
        <p:txBody>
          <a:bodyPr/>
          <a:lstStyle/>
          <a:p>
            <a:pPr marL="514350" indent="-514350">
              <a:buAutoNum type="arabicPlain" startAt="2"/>
            </a:pPr>
            <a:r>
              <a:rPr lang="fr-FR" dirty="0" smtClean="0">
                <a:latin typeface="Maiandra GD" pitchFamily="34" charset="0"/>
              </a:rPr>
              <a:t>        &lt;</a:t>
            </a:r>
            <a:r>
              <a:rPr lang="fr-FR" dirty="0">
                <a:solidFill>
                  <a:srgbClr val="92D050"/>
                </a:solidFill>
                <a:latin typeface="Maiandra GD" pitchFamily="34" charset="0"/>
              </a:rPr>
              <a:t>img src</a:t>
            </a:r>
            <a:r>
              <a:rPr lang="fr-FR" dirty="0" smtClean="0">
                <a:latin typeface="Maiandra GD" pitchFamily="34" charset="0"/>
              </a:rPr>
              <a:t>=</a:t>
            </a:r>
            <a:r>
              <a:rPr lang="fr-FR" dirty="0" smtClean="0">
                <a:solidFill>
                  <a:srgbClr val="FF0000"/>
                </a:solidFill>
                <a:latin typeface="Maiandra GD" pitchFamily="34" charset="0"/>
              </a:rPr>
              <a:t>"images / blocnotes.png"    </a:t>
            </a:r>
          </a:p>
          <a:p>
            <a:pPr marL="0" indent="0">
              <a:buNone/>
            </a:pPr>
            <a:r>
              <a:rPr lang="fr-FR" dirty="0">
                <a:solidFill>
                  <a:srgbClr val="FF0000"/>
                </a:solidFill>
                <a:latin typeface="Maiandra GD" pitchFamily="34" charset="0"/>
              </a:rPr>
              <a:t> </a:t>
            </a:r>
            <a:r>
              <a:rPr lang="fr-FR" dirty="0" smtClean="0">
                <a:solidFill>
                  <a:srgbClr val="FF0000"/>
                </a:solidFill>
                <a:latin typeface="Maiandra GD" pitchFamily="34" charset="0"/>
              </a:rPr>
              <a:t>    </a:t>
            </a:r>
            <a:r>
              <a:rPr lang="fr-FR" dirty="0" smtClean="0">
                <a:solidFill>
                  <a:srgbClr val="92D050"/>
                </a:solidFill>
                <a:latin typeface="Maiandra GD" pitchFamily="34" charset="0"/>
              </a:rPr>
              <a:t>alt</a:t>
            </a:r>
            <a:r>
              <a:rPr lang="fr-FR" dirty="0" smtClean="0">
                <a:latin typeface="Maiandra GD" pitchFamily="34" charset="0"/>
              </a:rPr>
              <a:t>=</a:t>
            </a:r>
            <a:r>
              <a:rPr lang="fr-FR" dirty="0" smtClean="0">
                <a:solidFill>
                  <a:srgbClr val="FF0000"/>
                </a:solidFill>
                <a:latin typeface="Maiandra GD" pitchFamily="34" charset="0"/>
              </a:rPr>
              <a:t>"Bloc - Notes" </a:t>
            </a:r>
            <a:r>
              <a:rPr lang="fr-FR" dirty="0" smtClean="0">
                <a:latin typeface="Maiandra GD" pitchFamily="34" charset="0"/>
              </a:rPr>
              <a:t>/&gt; </a:t>
            </a:r>
            <a:endParaRPr lang="fr-FR" dirty="0">
              <a:latin typeface="Maiandra GD" pitchFamily="34" charset="0"/>
            </a:endParaRPr>
          </a:p>
          <a:p>
            <a:pPr marL="514350" indent="-514350">
              <a:buAutoNum type="arabicPlain" startAt="3"/>
            </a:pPr>
            <a:r>
              <a:rPr lang="fr-FR" dirty="0" smtClean="0">
                <a:latin typeface="Maiandra GD" pitchFamily="34" charset="0"/>
              </a:rPr>
              <a:t>&lt;/ </a:t>
            </a:r>
            <a:r>
              <a:rPr lang="fr-FR" dirty="0">
                <a:solidFill>
                  <a:srgbClr val="92D050"/>
                </a:solidFill>
                <a:latin typeface="Maiandra GD" pitchFamily="34" charset="0"/>
              </a:rPr>
              <a:t>figure</a:t>
            </a:r>
            <a:r>
              <a:rPr lang="fr-FR" dirty="0">
                <a:latin typeface="Maiandra GD" pitchFamily="34" charset="0"/>
              </a:rPr>
              <a:t> </a:t>
            </a:r>
            <a:r>
              <a:rPr lang="fr-FR" dirty="0" smtClean="0">
                <a:latin typeface="Maiandra GD" pitchFamily="34" charset="0"/>
              </a:rPr>
              <a:t>&gt;</a:t>
            </a:r>
          </a:p>
          <a:p>
            <a:pPr marL="0" indent="0">
              <a:buNone/>
            </a:pPr>
            <a:endParaRPr lang="fr-FR" dirty="0">
              <a:latin typeface="Maiandra GD" pitchFamily="34" charset="0"/>
            </a:endParaRPr>
          </a:p>
          <a:p>
            <a:pPr marL="0" indent="0" algn="just">
              <a:buNone/>
            </a:pPr>
            <a:r>
              <a:rPr lang="fr-FR" dirty="0">
                <a:latin typeface="Maiandra GD" pitchFamily="34" charset="0"/>
              </a:rPr>
              <a:t>Une </a:t>
            </a:r>
            <a:r>
              <a:rPr lang="fr-FR" dirty="0" smtClean="0">
                <a:latin typeface="Maiandra GD" pitchFamily="34" charset="0"/>
              </a:rPr>
              <a:t>figure </a:t>
            </a:r>
            <a:r>
              <a:rPr lang="fr-FR" dirty="0">
                <a:latin typeface="Maiandra GD" pitchFamily="34" charset="0"/>
              </a:rPr>
              <a:t>est le plus souvent accompagnée d'une légende. Pour ajouter une </a:t>
            </a:r>
            <a:r>
              <a:rPr lang="fr-FR" dirty="0" smtClean="0">
                <a:latin typeface="Maiandra GD" pitchFamily="34" charset="0"/>
              </a:rPr>
              <a:t>légende, utilisez </a:t>
            </a:r>
            <a:r>
              <a:rPr lang="fr-FR" dirty="0">
                <a:latin typeface="Maiandra GD" pitchFamily="34" charset="0"/>
              </a:rPr>
              <a:t>la balise &lt;figcaption&gt; à l'intérieur de la balise &lt;figure&gt;, comme ceci :</a:t>
            </a:r>
          </a:p>
        </p:txBody>
      </p:sp>
      <p:cxnSp>
        <p:nvCxnSpPr>
          <p:cNvPr id="5" name="Connecteur droit 4"/>
          <p:cNvCxnSpPr/>
          <p:nvPr/>
        </p:nvCxnSpPr>
        <p:spPr>
          <a:xfrm>
            <a:off x="683568" y="260648"/>
            <a:ext cx="0" cy="1944216"/>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041475113"/>
      </p:ext>
    </p:extLst>
  </p:cSld>
  <p:clrMapOvr>
    <a:masterClrMapping/>
  </p:clrMapOvr>
  <p:timing>
    <p:tnLst>
      <p:par>
        <p:cTn id="1" dur="indefinite" restart="never" nodeType="tmRoot"/>
      </p:par>
    </p:tnLst>
  </p:timing>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23528" y="332656"/>
            <a:ext cx="8568952" cy="6192688"/>
          </a:xfrm>
        </p:spPr>
        <p:txBody>
          <a:bodyPr/>
          <a:lstStyle/>
          <a:p>
            <a:pPr marL="0" indent="0">
              <a:buNone/>
            </a:pPr>
            <a:r>
              <a:rPr lang="fr-FR" dirty="0">
                <a:latin typeface="Maiandra GD" pitchFamily="34" charset="0"/>
              </a:rPr>
              <a:t>1 </a:t>
            </a:r>
            <a:r>
              <a:rPr lang="fr-FR" dirty="0" smtClean="0">
                <a:latin typeface="Maiandra GD" pitchFamily="34" charset="0"/>
              </a:rPr>
              <a:t>  &lt;</a:t>
            </a:r>
            <a:r>
              <a:rPr lang="fr-FR" dirty="0">
                <a:latin typeface="Maiandra GD" pitchFamily="34" charset="0"/>
              </a:rPr>
              <a:t>figure &gt;</a:t>
            </a:r>
          </a:p>
          <a:p>
            <a:pPr marL="514350" indent="-514350">
              <a:buAutoNum type="arabicPlain" startAt="2"/>
            </a:pPr>
            <a:r>
              <a:rPr lang="fr-FR" dirty="0" smtClean="0">
                <a:latin typeface="Maiandra GD" pitchFamily="34" charset="0"/>
              </a:rPr>
              <a:t>     &lt;</a:t>
            </a:r>
            <a:r>
              <a:rPr lang="fr-FR" dirty="0">
                <a:latin typeface="Maiandra GD" pitchFamily="34" charset="0"/>
              </a:rPr>
              <a:t>img src=</a:t>
            </a:r>
            <a:r>
              <a:rPr lang="fr-FR" dirty="0">
                <a:solidFill>
                  <a:srgbClr val="FF0000"/>
                </a:solidFill>
                <a:latin typeface="Maiandra GD" pitchFamily="34" charset="0"/>
              </a:rPr>
              <a:t>"</a:t>
            </a:r>
            <a:r>
              <a:rPr lang="fr-FR" dirty="0">
                <a:latin typeface="Maiandra GD" pitchFamily="34" charset="0"/>
              </a:rPr>
              <a:t> </a:t>
            </a:r>
            <a:r>
              <a:rPr lang="fr-FR" dirty="0">
                <a:solidFill>
                  <a:srgbClr val="FF0000"/>
                </a:solidFill>
                <a:latin typeface="Maiandra GD" pitchFamily="34" charset="0"/>
              </a:rPr>
              <a:t>images / </a:t>
            </a:r>
            <a:r>
              <a:rPr lang="fr-FR" dirty="0" smtClean="0">
                <a:solidFill>
                  <a:srgbClr val="FF0000"/>
                </a:solidFill>
                <a:latin typeface="Maiandra GD" pitchFamily="34" charset="0"/>
              </a:rPr>
              <a:t>blocnotes.png</a:t>
            </a:r>
            <a:r>
              <a:rPr lang="fr-FR" dirty="0">
                <a:solidFill>
                  <a:srgbClr val="FF0000"/>
                </a:solidFill>
                <a:latin typeface="Maiandra GD" pitchFamily="34" charset="0"/>
              </a:rPr>
              <a:t>"</a:t>
            </a:r>
            <a:r>
              <a:rPr lang="fr-FR" dirty="0">
                <a:latin typeface="Maiandra GD" pitchFamily="34" charset="0"/>
              </a:rPr>
              <a:t> </a:t>
            </a:r>
            <a:r>
              <a:rPr lang="fr-FR" dirty="0" smtClean="0">
                <a:latin typeface="Maiandra GD" pitchFamily="34" charset="0"/>
              </a:rPr>
              <a:t>   </a:t>
            </a:r>
          </a:p>
          <a:p>
            <a:pPr marL="0" indent="0">
              <a:buNone/>
            </a:pPr>
            <a:r>
              <a:rPr lang="fr-FR" dirty="0" smtClean="0">
                <a:latin typeface="Maiandra GD" pitchFamily="34" charset="0"/>
              </a:rPr>
              <a:t>     alt</a:t>
            </a:r>
            <a:r>
              <a:rPr lang="fr-FR" dirty="0">
                <a:latin typeface="Maiandra GD" pitchFamily="34" charset="0"/>
              </a:rPr>
              <a:t>=</a:t>
            </a:r>
            <a:r>
              <a:rPr lang="fr-FR" dirty="0">
                <a:solidFill>
                  <a:srgbClr val="FF0000"/>
                </a:solidFill>
                <a:latin typeface="Maiandra GD" pitchFamily="34" charset="0"/>
              </a:rPr>
              <a:t>"Bloc - Notes " </a:t>
            </a:r>
            <a:r>
              <a:rPr lang="fr-FR" dirty="0">
                <a:latin typeface="Maiandra GD" pitchFamily="34" charset="0"/>
              </a:rPr>
              <a:t>/&gt;</a:t>
            </a:r>
          </a:p>
          <a:p>
            <a:pPr marL="514350" indent="-514350">
              <a:buAutoNum type="arabicPlain" startAt="3"/>
            </a:pPr>
            <a:r>
              <a:rPr lang="fr-FR" dirty="0" smtClean="0">
                <a:latin typeface="Maiandra GD" pitchFamily="34" charset="0"/>
              </a:rPr>
              <a:t>     &lt;</a:t>
            </a:r>
            <a:r>
              <a:rPr lang="fr-FR" dirty="0">
                <a:latin typeface="Maiandra GD" pitchFamily="34" charset="0"/>
              </a:rPr>
              <a:t>figcaption &gt;Le logiciel Bloc - Notes </a:t>
            </a:r>
            <a:r>
              <a:rPr lang="fr-FR" dirty="0" smtClean="0">
                <a:latin typeface="Maiandra GD" pitchFamily="34" charset="0"/>
              </a:rPr>
              <a:t>        </a:t>
            </a:r>
          </a:p>
          <a:p>
            <a:pPr marL="0" indent="0">
              <a:buNone/>
            </a:pPr>
            <a:r>
              <a:rPr lang="fr-FR" dirty="0">
                <a:latin typeface="Maiandra GD" pitchFamily="34" charset="0"/>
              </a:rPr>
              <a:t> </a:t>
            </a:r>
            <a:r>
              <a:rPr lang="fr-FR" dirty="0" smtClean="0">
                <a:latin typeface="Maiandra GD" pitchFamily="34" charset="0"/>
              </a:rPr>
              <a:t>        &lt;/figcaption &gt;</a:t>
            </a:r>
            <a:endParaRPr lang="fr-FR" dirty="0">
              <a:latin typeface="Maiandra GD" pitchFamily="34" charset="0"/>
            </a:endParaRPr>
          </a:p>
          <a:p>
            <a:pPr marL="0" indent="0">
              <a:buNone/>
            </a:pPr>
            <a:r>
              <a:rPr lang="fr-FR" dirty="0" smtClean="0">
                <a:latin typeface="Maiandra GD" pitchFamily="34" charset="0"/>
              </a:rPr>
              <a:t>4  &lt;/ </a:t>
            </a:r>
            <a:r>
              <a:rPr lang="fr-FR" dirty="0">
                <a:latin typeface="Maiandra GD" pitchFamily="34" charset="0"/>
              </a:rPr>
              <a:t>figure &gt;</a:t>
            </a:r>
          </a:p>
        </p:txBody>
      </p:sp>
      <p:cxnSp>
        <p:nvCxnSpPr>
          <p:cNvPr id="5" name="Connecteur droit 4"/>
          <p:cNvCxnSpPr/>
          <p:nvPr/>
        </p:nvCxnSpPr>
        <p:spPr>
          <a:xfrm>
            <a:off x="755576" y="332656"/>
            <a:ext cx="0" cy="3888432"/>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028962164"/>
      </p:ext>
    </p:extLst>
  </p:cSld>
  <p:clrMapOvr>
    <a:masterClrMapping/>
  </p:clrMapOvr>
  <p:timing>
    <p:tnLst>
      <p:par>
        <p:cTn id="1" dur="indefinite" restart="never" nodeType="tmRoot"/>
      </p:par>
    </p:tnLst>
  </p:timing>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502024"/>
            <a:ext cx="8229600" cy="1431032"/>
          </a:xfrm>
        </p:spPr>
        <p:txBody>
          <a:bodyPr>
            <a:noAutofit/>
          </a:bodyPr>
          <a:lstStyle/>
          <a:p>
            <a:r>
              <a:rPr lang="fr-FR" sz="4800" dirty="0">
                <a:effectLst>
                  <a:outerShdw blurRad="38100" dist="38100" dir="2700000" algn="tl">
                    <a:srgbClr val="000000">
                      <a:alpha val="43137"/>
                    </a:srgbClr>
                  </a:outerShdw>
                </a:effectLst>
                <a:latin typeface="Maiandra GD" pitchFamily="34" charset="0"/>
              </a:rPr>
              <a:t>Bien comprendre le rôle des </a:t>
            </a:r>
            <a:r>
              <a:rPr lang="fr-FR" sz="4800" dirty="0" smtClean="0">
                <a:effectLst>
                  <a:outerShdw blurRad="38100" dist="38100" dir="2700000" algn="tl">
                    <a:srgbClr val="000000">
                      <a:alpha val="43137"/>
                    </a:srgbClr>
                  </a:outerShdw>
                </a:effectLst>
                <a:latin typeface="Maiandra GD" pitchFamily="34" charset="0"/>
              </a:rPr>
              <a:t>figures</a:t>
            </a:r>
            <a:endParaRPr lang="fr-FR" sz="4800" dirty="0">
              <a:effectLst>
                <a:outerShdw blurRad="38100" dist="38100" dir="2700000" algn="tl">
                  <a:srgbClr val="000000">
                    <a:alpha val="43137"/>
                  </a:srgbClr>
                </a:outerShdw>
              </a:effectLst>
              <a:latin typeface="Maiandra GD" pitchFamily="34" charset="0"/>
            </a:endParaRPr>
          </a:p>
        </p:txBody>
      </p:sp>
    </p:spTree>
    <p:extLst>
      <p:ext uri="{BB962C8B-B14F-4D97-AF65-F5344CB8AC3E}">
        <p14:creationId xmlns:p14="http://schemas.microsoft.com/office/powerpoint/2010/main" val="1286148827"/>
      </p:ext>
    </p:extLst>
  </p:cSld>
  <p:clrMapOvr>
    <a:masterClrMapping/>
  </p:clrMapOvr>
  <p:timing>
    <p:tnLst>
      <p:par>
        <p:cTn id="1" dur="indefinite" restart="never" nodeType="tmRoot"/>
      </p:par>
    </p:tnLst>
  </p:timing>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332656"/>
            <a:ext cx="8640960" cy="6120680"/>
          </a:xfrm>
        </p:spPr>
        <p:txBody>
          <a:bodyPr>
            <a:normAutofit/>
          </a:bodyPr>
          <a:lstStyle/>
          <a:p>
            <a:pPr marL="0" indent="0" algn="just">
              <a:buNone/>
            </a:pPr>
            <a:r>
              <a:rPr lang="fr-FR" sz="3600" dirty="0">
                <a:latin typeface="Maiandra GD" pitchFamily="34" charset="0"/>
              </a:rPr>
              <a:t>Un peu plus tôt dans ce chapitre, je vous ai dit que les images devaient être </a:t>
            </a:r>
            <a:r>
              <a:rPr lang="fr-FR" sz="3600" dirty="0" smtClean="0">
                <a:latin typeface="Maiandra GD" pitchFamily="34" charset="0"/>
              </a:rPr>
              <a:t>situées dans </a:t>
            </a:r>
            <a:r>
              <a:rPr lang="fr-FR" sz="3600" dirty="0">
                <a:latin typeface="Maiandra GD" pitchFamily="34" charset="0"/>
              </a:rPr>
              <a:t>des paragraphes (placées à l'intérieur d'une balise &lt;p&gt;&lt;/p&gt;). Ce n'est pas tout </a:t>
            </a:r>
            <a:r>
              <a:rPr lang="fr-FR" sz="3600" dirty="0" smtClean="0">
                <a:latin typeface="Maiandra GD" pitchFamily="34" charset="0"/>
              </a:rPr>
              <a:t>à fait </a:t>
            </a:r>
            <a:r>
              <a:rPr lang="fr-FR" sz="3600" dirty="0">
                <a:latin typeface="Maiandra GD" pitchFamily="34" charset="0"/>
              </a:rPr>
              <a:t>vrai</a:t>
            </a:r>
            <a:r>
              <a:rPr lang="fr-FR" sz="3600" dirty="0" smtClean="0">
                <a:latin typeface="Maiandra GD" pitchFamily="34" charset="0"/>
              </a:rPr>
              <a:t>.</a:t>
            </a:r>
          </a:p>
          <a:p>
            <a:pPr marL="0" indent="0" algn="just">
              <a:buNone/>
            </a:pPr>
            <a:r>
              <a:rPr lang="fr-FR" sz="3600" dirty="0">
                <a:latin typeface="Maiandra GD" pitchFamily="34" charset="0"/>
              </a:rPr>
              <a:t>Si vous faites de votre image une </a:t>
            </a:r>
            <a:r>
              <a:rPr lang="fr-FR" sz="3600" dirty="0" smtClean="0">
                <a:latin typeface="Maiandra GD" pitchFamily="34" charset="0"/>
              </a:rPr>
              <a:t>figure</a:t>
            </a:r>
            <a:r>
              <a:rPr lang="fr-FR" sz="3600" dirty="0">
                <a:latin typeface="Maiandra GD" pitchFamily="34" charset="0"/>
              </a:rPr>
              <a:t>, l'image peut être située en-dehors d'un paragraphe.</a:t>
            </a:r>
          </a:p>
        </p:txBody>
      </p:sp>
    </p:spTree>
    <p:extLst>
      <p:ext uri="{BB962C8B-B14F-4D97-AF65-F5344CB8AC3E}">
        <p14:creationId xmlns:p14="http://schemas.microsoft.com/office/powerpoint/2010/main" val="3294311851"/>
      </p:ext>
    </p:extLst>
  </p:cSld>
  <p:clrMapOvr>
    <a:masterClrMapping/>
  </p:clrMapOvr>
  <p:timing>
    <p:tnLst>
      <p:par>
        <p:cTn id="1" dur="indefinite" restart="never" nodeType="tmRoot"/>
      </p:par>
    </p:tnLst>
  </p:timing>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9512" y="332656"/>
            <a:ext cx="8784976" cy="6264696"/>
          </a:xfrm>
        </p:spPr>
        <p:txBody>
          <a:bodyPr/>
          <a:lstStyle/>
          <a:p>
            <a:pPr marL="514350" indent="-514350">
              <a:buAutoNum type="arabicPlain"/>
            </a:pPr>
            <a:r>
              <a:rPr lang="fr-FR" dirty="0" smtClean="0">
                <a:latin typeface="Maiandra GD" pitchFamily="34" charset="0"/>
              </a:rPr>
              <a:t>  &lt;</a:t>
            </a:r>
            <a:r>
              <a:rPr lang="fr-FR" dirty="0">
                <a:latin typeface="Maiandra GD" pitchFamily="34" charset="0"/>
              </a:rPr>
              <a:t>p</a:t>
            </a:r>
            <a:r>
              <a:rPr lang="fr-FR" dirty="0" smtClean="0">
                <a:latin typeface="Maiandra GD" pitchFamily="34" charset="0"/>
              </a:rPr>
              <a:t>&gt; Connaissez </a:t>
            </a:r>
            <a:r>
              <a:rPr lang="fr-FR" dirty="0">
                <a:latin typeface="Maiandra GD" pitchFamily="34" charset="0"/>
              </a:rPr>
              <a:t>- vous le logiciel Bloc - </a:t>
            </a:r>
            <a:r>
              <a:rPr lang="fr-FR" dirty="0" smtClean="0">
                <a:latin typeface="Maiandra GD" pitchFamily="34" charset="0"/>
              </a:rPr>
              <a:t>  </a:t>
            </a:r>
          </a:p>
          <a:p>
            <a:pPr marL="0" indent="0">
              <a:buNone/>
            </a:pPr>
            <a:r>
              <a:rPr lang="fr-FR" dirty="0">
                <a:latin typeface="Maiandra GD" pitchFamily="34" charset="0"/>
              </a:rPr>
              <a:t> </a:t>
            </a:r>
            <a:r>
              <a:rPr lang="fr-FR" dirty="0" smtClean="0">
                <a:latin typeface="Maiandra GD" pitchFamily="34" charset="0"/>
              </a:rPr>
              <a:t>        Notes </a:t>
            </a:r>
            <a:r>
              <a:rPr lang="fr-FR" dirty="0">
                <a:latin typeface="Maiandra GD" pitchFamily="34" charset="0"/>
              </a:rPr>
              <a:t>? </a:t>
            </a:r>
            <a:r>
              <a:rPr lang="fr-FR" dirty="0" smtClean="0">
                <a:latin typeface="Maiandra GD" pitchFamily="34" charset="0"/>
              </a:rPr>
              <a:t>On </a:t>
            </a:r>
            <a:r>
              <a:rPr lang="fr-FR" dirty="0">
                <a:latin typeface="Maiandra GD" pitchFamily="34" charset="0"/>
              </a:rPr>
              <a:t>peut faire </a:t>
            </a:r>
            <a:r>
              <a:rPr lang="fr-FR" dirty="0" smtClean="0">
                <a:latin typeface="Maiandra GD" pitchFamily="34" charset="0"/>
              </a:rPr>
              <a:t>des sites </a:t>
            </a:r>
            <a:r>
              <a:rPr lang="fr-FR" dirty="0">
                <a:latin typeface="Maiandra GD" pitchFamily="34" charset="0"/>
              </a:rPr>
              <a:t>web avec </a:t>
            </a:r>
            <a:r>
              <a:rPr lang="fr-FR" dirty="0" smtClean="0">
                <a:latin typeface="Maiandra GD" pitchFamily="34" charset="0"/>
              </a:rPr>
              <a:t>       </a:t>
            </a:r>
          </a:p>
          <a:p>
            <a:pPr marL="0" indent="0">
              <a:buNone/>
            </a:pPr>
            <a:r>
              <a:rPr lang="fr-FR" dirty="0">
                <a:latin typeface="Maiandra GD" pitchFamily="34" charset="0"/>
              </a:rPr>
              <a:t> </a:t>
            </a:r>
            <a:r>
              <a:rPr lang="fr-FR" dirty="0" smtClean="0">
                <a:latin typeface="Maiandra GD" pitchFamily="34" charset="0"/>
              </a:rPr>
              <a:t>      !&lt;/</a:t>
            </a:r>
            <a:r>
              <a:rPr lang="fr-FR" dirty="0">
                <a:latin typeface="Maiandra GD" pitchFamily="34" charset="0"/>
              </a:rPr>
              <a:t>p&gt;</a:t>
            </a:r>
          </a:p>
          <a:p>
            <a:pPr marL="0" indent="0">
              <a:buNone/>
            </a:pPr>
            <a:r>
              <a:rPr lang="fr-FR" dirty="0">
                <a:latin typeface="Maiandra GD" pitchFamily="34" charset="0"/>
              </a:rPr>
              <a:t>2</a:t>
            </a:r>
          </a:p>
          <a:p>
            <a:pPr marL="0" indent="0">
              <a:buNone/>
            </a:pPr>
            <a:r>
              <a:rPr lang="fr-FR" dirty="0">
                <a:latin typeface="Maiandra GD" pitchFamily="34" charset="0"/>
              </a:rPr>
              <a:t>3 </a:t>
            </a:r>
            <a:r>
              <a:rPr lang="fr-FR" dirty="0" smtClean="0">
                <a:latin typeface="Maiandra GD" pitchFamily="34" charset="0"/>
              </a:rPr>
              <a:t>   &lt;</a:t>
            </a:r>
            <a:r>
              <a:rPr lang="fr-FR" dirty="0">
                <a:latin typeface="Maiandra GD" pitchFamily="34" charset="0"/>
              </a:rPr>
              <a:t>figure &gt;</a:t>
            </a:r>
          </a:p>
          <a:p>
            <a:pPr marL="514350" indent="-514350">
              <a:buAutoNum type="arabicPlain" startAt="4"/>
            </a:pPr>
            <a:r>
              <a:rPr lang="fr-FR" dirty="0" smtClean="0">
                <a:latin typeface="Maiandra GD" pitchFamily="34" charset="0"/>
              </a:rPr>
              <a:t>  &lt;</a:t>
            </a:r>
            <a:r>
              <a:rPr lang="fr-FR" dirty="0">
                <a:latin typeface="Maiandra GD" pitchFamily="34" charset="0"/>
              </a:rPr>
              <a:t>img src=</a:t>
            </a:r>
            <a:r>
              <a:rPr lang="fr-FR" dirty="0">
                <a:solidFill>
                  <a:srgbClr val="FF0000"/>
                </a:solidFill>
                <a:latin typeface="Maiandra GD" pitchFamily="34" charset="0"/>
              </a:rPr>
              <a:t>"</a:t>
            </a:r>
            <a:r>
              <a:rPr lang="fr-FR" dirty="0">
                <a:latin typeface="Maiandra GD" pitchFamily="34" charset="0"/>
              </a:rPr>
              <a:t> </a:t>
            </a:r>
            <a:r>
              <a:rPr lang="fr-FR" dirty="0">
                <a:solidFill>
                  <a:srgbClr val="FF0000"/>
                </a:solidFill>
                <a:latin typeface="Maiandra GD" pitchFamily="34" charset="0"/>
              </a:rPr>
              <a:t>images / </a:t>
            </a:r>
            <a:r>
              <a:rPr lang="fr-FR" dirty="0" smtClean="0">
                <a:solidFill>
                  <a:srgbClr val="FF0000"/>
                </a:solidFill>
                <a:latin typeface="Maiandra GD" pitchFamily="34" charset="0"/>
              </a:rPr>
              <a:t>blocnotes.png</a:t>
            </a:r>
            <a:r>
              <a:rPr lang="fr-FR" dirty="0">
                <a:solidFill>
                  <a:srgbClr val="FF0000"/>
                </a:solidFill>
                <a:latin typeface="Maiandra GD" pitchFamily="34" charset="0"/>
              </a:rPr>
              <a:t>" </a:t>
            </a:r>
            <a:r>
              <a:rPr lang="fr-FR" dirty="0" smtClean="0">
                <a:solidFill>
                  <a:srgbClr val="FF0000"/>
                </a:solidFill>
                <a:latin typeface="Maiandra GD" pitchFamily="34" charset="0"/>
              </a:rPr>
              <a:t>    </a:t>
            </a:r>
          </a:p>
          <a:p>
            <a:pPr marL="0" indent="0">
              <a:buNone/>
            </a:pPr>
            <a:r>
              <a:rPr lang="fr-FR" dirty="0">
                <a:latin typeface="Maiandra GD" pitchFamily="34" charset="0"/>
              </a:rPr>
              <a:t> </a:t>
            </a:r>
            <a:r>
              <a:rPr lang="fr-FR" dirty="0" smtClean="0">
                <a:latin typeface="Maiandra GD" pitchFamily="34" charset="0"/>
              </a:rPr>
              <a:t>       alt</a:t>
            </a:r>
            <a:r>
              <a:rPr lang="fr-FR" dirty="0">
                <a:latin typeface="Maiandra GD" pitchFamily="34" charset="0"/>
              </a:rPr>
              <a:t>=</a:t>
            </a:r>
            <a:r>
              <a:rPr lang="fr-FR" dirty="0">
                <a:solidFill>
                  <a:srgbClr val="FF0000"/>
                </a:solidFill>
                <a:latin typeface="Maiandra GD" pitchFamily="34" charset="0"/>
              </a:rPr>
              <a:t>"Bloc - Notes " </a:t>
            </a:r>
            <a:r>
              <a:rPr lang="fr-FR" dirty="0">
                <a:latin typeface="Maiandra GD" pitchFamily="34" charset="0"/>
              </a:rPr>
              <a:t>/&gt;</a:t>
            </a:r>
          </a:p>
          <a:p>
            <a:pPr marL="514350" indent="-514350">
              <a:buAutoNum type="arabicPlain" startAt="5"/>
            </a:pPr>
            <a:r>
              <a:rPr lang="fr-FR" dirty="0" smtClean="0">
                <a:latin typeface="Maiandra GD" pitchFamily="34" charset="0"/>
              </a:rPr>
              <a:t> &lt;figcaption&gt;Le </a:t>
            </a:r>
            <a:r>
              <a:rPr lang="fr-FR" dirty="0">
                <a:latin typeface="Maiandra GD" pitchFamily="34" charset="0"/>
              </a:rPr>
              <a:t>logiciel Bloc - Notes </a:t>
            </a:r>
            <a:r>
              <a:rPr lang="fr-FR" dirty="0" smtClean="0">
                <a:latin typeface="Maiandra GD" pitchFamily="34" charset="0"/>
              </a:rPr>
              <a:t>          </a:t>
            </a:r>
          </a:p>
          <a:p>
            <a:pPr marL="0" indent="0">
              <a:buNone/>
            </a:pPr>
            <a:r>
              <a:rPr lang="fr-FR" dirty="0">
                <a:latin typeface="Maiandra GD" pitchFamily="34" charset="0"/>
              </a:rPr>
              <a:t> </a:t>
            </a:r>
            <a:r>
              <a:rPr lang="fr-FR" dirty="0" smtClean="0">
                <a:latin typeface="Maiandra GD" pitchFamily="34" charset="0"/>
              </a:rPr>
              <a:t>     &lt;/ figcaption&gt;</a:t>
            </a:r>
            <a:endParaRPr lang="fr-FR" dirty="0">
              <a:latin typeface="Maiandra GD" pitchFamily="34" charset="0"/>
            </a:endParaRPr>
          </a:p>
          <a:p>
            <a:pPr marL="0" indent="0">
              <a:buNone/>
            </a:pPr>
            <a:r>
              <a:rPr lang="fr-FR" dirty="0">
                <a:latin typeface="Maiandra GD" pitchFamily="34" charset="0"/>
              </a:rPr>
              <a:t>6 </a:t>
            </a:r>
            <a:r>
              <a:rPr lang="fr-FR" dirty="0" smtClean="0">
                <a:latin typeface="Maiandra GD" pitchFamily="34" charset="0"/>
              </a:rPr>
              <a:t>   &lt;/ </a:t>
            </a:r>
            <a:r>
              <a:rPr lang="fr-FR" dirty="0">
                <a:latin typeface="Maiandra GD" pitchFamily="34" charset="0"/>
              </a:rPr>
              <a:t>figure &gt;</a:t>
            </a:r>
          </a:p>
        </p:txBody>
      </p:sp>
      <p:cxnSp>
        <p:nvCxnSpPr>
          <p:cNvPr id="5" name="Connecteur droit 4"/>
          <p:cNvCxnSpPr/>
          <p:nvPr/>
        </p:nvCxnSpPr>
        <p:spPr>
          <a:xfrm>
            <a:off x="683568" y="332656"/>
            <a:ext cx="0" cy="5976664"/>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445694931"/>
      </p:ext>
    </p:extLst>
  </p:cSld>
  <p:clrMapOvr>
    <a:masterClrMapping/>
  </p:clrMapOvr>
  <p:timing>
    <p:tnLst>
      <p:par>
        <p:cTn id="1" dur="indefinite" restart="never" nodeType="tmRoot"/>
      </p:par>
    </p:tnLst>
  </p:timing>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23528" y="404664"/>
            <a:ext cx="8496944" cy="6048672"/>
          </a:xfrm>
        </p:spPr>
        <p:txBody>
          <a:bodyPr>
            <a:normAutofit/>
          </a:bodyPr>
          <a:lstStyle/>
          <a:p>
            <a:pPr marL="0" indent="0" algn="just">
              <a:buNone/>
            </a:pPr>
            <a:r>
              <a:rPr lang="fr-FR" sz="3600" dirty="0">
                <a:latin typeface="Maiandra GD" pitchFamily="34" charset="0"/>
              </a:rPr>
              <a:t>Je ne vois pas vraiment de changement. Quand dois-je placer mon </a:t>
            </a:r>
            <a:r>
              <a:rPr lang="fr-FR" sz="3600" dirty="0" smtClean="0">
                <a:latin typeface="Maiandra GD" pitchFamily="34" charset="0"/>
              </a:rPr>
              <a:t>image dans </a:t>
            </a:r>
            <a:r>
              <a:rPr lang="fr-FR" sz="3600" dirty="0">
                <a:latin typeface="Maiandra GD" pitchFamily="34" charset="0"/>
              </a:rPr>
              <a:t>un paragraphe et quand dois-je la placer dans une </a:t>
            </a:r>
            <a:r>
              <a:rPr lang="fr-FR" sz="3600" dirty="0" smtClean="0">
                <a:latin typeface="Maiandra GD" pitchFamily="34" charset="0"/>
              </a:rPr>
              <a:t>figure </a:t>
            </a:r>
            <a:r>
              <a:rPr lang="fr-FR" sz="3600" dirty="0">
                <a:latin typeface="Maiandra GD" pitchFamily="34" charset="0"/>
              </a:rPr>
              <a:t>?</a:t>
            </a:r>
          </a:p>
        </p:txBody>
      </p:sp>
      <p:pic>
        <p:nvPicPr>
          <p:cNvPr id="296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38181" y="4005064"/>
            <a:ext cx="1238250" cy="1238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76719481"/>
      </p:ext>
    </p:extLst>
  </p:cSld>
  <p:clrMapOvr>
    <a:masterClrMapping/>
  </p:clrMapOvr>
  <p:timing>
    <p:tnLst>
      <p:par>
        <p:cTn id="1" dur="indefinite" restart="never" nodeType="tmRoot"/>
      </p:par>
    </p:tnLst>
  </p:timing>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9512" y="260648"/>
            <a:ext cx="8784976" cy="6264696"/>
          </a:xfrm>
        </p:spPr>
        <p:txBody>
          <a:bodyPr>
            <a:normAutofit/>
          </a:bodyPr>
          <a:lstStyle/>
          <a:p>
            <a:pPr marL="0" indent="0" algn="just">
              <a:buNone/>
            </a:pPr>
            <a:r>
              <a:rPr lang="fr-FR" sz="3600" dirty="0">
                <a:latin typeface="Maiandra GD" pitchFamily="34" charset="0"/>
              </a:rPr>
              <a:t>Bonne question ! Tout dépend de ce que votre image apporte au texte :</a:t>
            </a:r>
          </a:p>
          <a:p>
            <a:pPr marL="0" indent="0" algn="just">
              <a:buNone/>
            </a:pPr>
            <a:r>
              <a:rPr lang="fr-FR" sz="3600" dirty="0" smtClean="0">
                <a:latin typeface="Maiandra GD" pitchFamily="34" charset="0"/>
              </a:rPr>
              <a:t>- Si </a:t>
            </a:r>
            <a:r>
              <a:rPr lang="fr-FR" sz="3600" dirty="0">
                <a:latin typeface="Maiandra GD" pitchFamily="34" charset="0"/>
              </a:rPr>
              <a:t>elle n'apporte aucune information (c'est juste une illustration pour décorer</a:t>
            </a:r>
            <a:r>
              <a:rPr lang="fr-FR" sz="3600" dirty="0" smtClean="0">
                <a:latin typeface="Maiandra GD" pitchFamily="34" charset="0"/>
              </a:rPr>
              <a:t>): placez </a:t>
            </a:r>
            <a:r>
              <a:rPr lang="fr-FR" sz="3600" dirty="0">
                <a:latin typeface="Maiandra GD" pitchFamily="34" charset="0"/>
              </a:rPr>
              <a:t>l'image dans un paragraphe.</a:t>
            </a:r>
          </a:p>
          <a:p>
            <a:pPr marL="0" indent="0" algn="just">
              <a:buNone/>
            </a:pPr>
            <a:r>
              <a:rPr lang="fr-FR" sz="3600" dirty="0" smtClean="0">
                <a:latin typeface="Maiandra GD" pitchFamily="34" charset="0"/>
              </a:rPr>
              <a:t>- Si </a:t>
            </a:r>
            <a:r>
              <a:rPr lang="fr-FR" sz="3600" dirty="0">
                <a:latin typeface="Maiandra GD" pitchFamily="34" charset="0"/>
              </a:rPr>
              <a:t>elle apporte une information : placez l'image dans une </a:t>
            </a:r>
            <a:r>
              <a:rPr lang="fr-FR" sz="3600" dirty="0" smtClean="0">
                <a:latin typeface="Maiandra GD" pitchFamily="34" charset="0"/>
              </a:rPr>
              <a:t>figure</a:t>
            </a:r>
            <a:r>
              <a:rPr lang="fr-FR" sz="3600" dirty="0">
                <a:latin typeface="Maiandra GD" pitchFamily="34" charset="0"/>
              </a:rPr>
              <a:t>.</a:t>
            </a:r>
          </a:p>
        </p:txBody>
      </p:sp>
    </p:spTree>
    <p:extLst>
      <p:ext uri="{BB962C8B-B14F-4D97-AF65-F5344CB8AC3E}">
        <p14:creationId xmlns:p14="http://schemas.microsoft.com/office/powerpoint/2010/main" val="4092086817"/>
      </p:ext>
    </p:extLst>
  </p:cSld>
  <p:clrMapOvr>
    <a:masterClrMapping/>
  </p:clrMapOvr>
  <p:timing>
    <p:tnLst>
      <p:par>
        <p:cTn id="1" dur="indefinite" restart="never" nodeType="tmRoot"/>
      </p:par>
    </p:tnLst>
  </p:timing>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332656"/>
            <a:ext cx="8640960" cy="6192688"/>
          </a:xfrm>
        </p:spPr>
        <p:txBody>
          <a:bodyPr>
            <a:noAutofit/>
          </a:bodyPr>
          <a:lstStyle/>
          <a:p>
            <a:pPr marL="0" indent="0" algn="just">
              <a:buNone/>
            </a:pPr>
            <a:r>
              <a:rPr lang="fr-FR" sz="3400" dirty="0">
                <a:latin typeface="Maiandra GD" pitchFamily="34" charset="0"/>
              </a:rPr>
              <a:t>La balise &lt;figure&gt; a un rôle avant tout sémantique. Cela veut dire qu'elle indique </a:t>
            </a:r>
            <a:r>
              <a:rPr lang="fr-FR" sz="3400" dirty="0" smtClean="0">
                <a:latin typeface="Maiandra GD" pitchFamily="34" charset="0"/>
              </a:rPr>
              <a:t>à l'ordinateur </a:t>
            </a:r>
            <a:r>
              <a:rPr lang="fr-FR" sz="3400" dirty="0">
                <a:latin typeface="Maiandra GD" pitchFamily="34" charset="0"/>
              </a:rPr>
              <a:t>que l'image a du sens et qu'elle est importante pour la bonne </a:t>
            </a:r>
            <a:r>
              <a:rPr lang="fr-FR" sz="3400" dirty="0" smtClean="0">
                <a:latin typeface="Maiandra GD" pitchFamily="34" charset="0"/>
              </a:rPr>
              <a:t>compréhension du </a:t>
            </a:r>
            <a:r>
              <a:rPr lang="fr-FR" sz="3400" dirty="0">
                <a:latin typeface="Maiandra GD" pitchFamily="34" charset="0"/>
              </a:rPr>
              <a:t>texte. Cela peut permettre à un programme de récupérer toutes les </a:t>
            </a:r>
            <a:r>
              <a:rPr lang="fr-FR" sz="3400" dirty="0" smtClean="0">
                <a:latin typeface="Maiandra GD" pitchFamily="34" charset="0"/>
              </a:rPr>
              <a:t>figures du texte </a:t>
            </a:r>
            <a:r>
              <a:rPr lang="fr-FR" sz="3400" dirty="0">
                <a:latin typeface="Maiandra GD" pitchFamily="34" charset="0"/>
              </a:rPr>
              <a:t>et de les référencer dans une table des </a:t>
            </a:r>
            <a:r>
              <a:rPr lang="fr-FR" sz="3400" dirty="0" smtClean="0">
                <a:latin typeface="Maiandra GD" pitchFamily="34" charset="0"/>
              </a:rPr>
              <a:t>figures</a:t>
            </a:r>
            <a:r>
              <a:rPr lang="fr-FR" sz="3400" dirty="0">
                <a:latin typeface="Maiandra GD" pitchFamily="34" charset="0"/>
              </a:rPr>
              <a:t>, </a:t>
            </a:r>
            <a:r>
              <a:rPr lang="fr-FR" sz="3400" dirty="0" smtClean="0">
                <a:latin typeface="Maiandra GD" pitchFamily="34" charset="0"/>
              </a:rPr>
              <a:t>par </a:t>
            </a:r>
            <a:r>
              <a:rPr lang="fr-FR" sz="3400" dirty="0">
                <a:latin typeface="Maiandra GD" pitchFamily="34" charset="0"/>
              </a:rPr>
              <a:t>exemple</a:t>
            </a:r>
            <a:r>
              <a:rPr lang="fr-FR" sz="3400" dirty="0" smtClean="0">
                <a:latin typeface="Maiandra GD" pitchFamily="34" charset="0"/>
              </a:rPr>
              <a:t>.</a:t>
            </a:r>
          </a:p>
          <a:p>
            <a:pPr marL="0" indent="0" algn="just">
              <a:buNone/>
            </a:pPr>
            <a:r>
              <a:rPr lang="fr-FR" sz="3400" dirty="0">
                <a:latin typeface="Maiandra GD" pitchFamily="34" charset="0"/>
              </a:rPr>
              <a:t>Enfin, sachez qu'une figure peut très bien comporter plusieurs images. Voici un cas où cela se justifie :</a:t>
            </a:r>
          </a:p>
        </p:txBody>
      </p:sp>
    </p:spTree>
    <p:extLst>
      <p:ext uri="{BB962C8B-B14F-4D97-AF65-F5344CB8AC3E}">
        <p14:creationId xmlns:p14="http://schemas.microsoft.com/office/powerpoint/2010/main" val="187365505"/>
      </p:ext>
    </p:extLst>
  </p:cSld>
  <p:clrMapOvr>
    <a:masterClrMapping/>
  </p:clrMapOvr>
  <p:timing>
    <p:tnLst>
      <p:par>
        <p:cTn id="1" dur="indefinite" restart="never" nodeType="tmRoot"/>
      </p:par>
    </p:tnLst>
  </p:timing>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5496" y="332656"/>
            <a:ext cx="9036496" cy="6048672"/>
          </a:xfrm>
        </p:spPr>
        <p:txBody>
          <a:bodyPr>
            <a:normAutofit/>
          </a:bodyPr>
          <a:lstStyle/>
          <a:p>
            <a:pPr marL="0" indent="0">
              <a:buNone/>
            </a:pPr>
            <a:r>
              <a:rPr lang="fr-FR" dirty="0">
                <a:latin typeface="Maiandra GD" pitchFamily="34" charset="0"/>
              </a:rPr>
              <a:t>1 </a:t>
            </a:r>
            <a:r>
              <a:rPr lang="fr-FR" dirty="0" smtClean="0">
                <a:latin typeface="Maiandra GD" pitchFamily="34" charset="0"/>
              </a:rPr>
              <a:t> &lt;figure </a:t>
            </a:r>
            <a:r>
              <a:rPr lang="fr-FR" dirty="0">
                <a:latin typeface="Maiandra GD" pitchFamily="34" charset="0"/>
              </a:rPr>
              <a:t>&gt;</a:t>
            </a:r>
          </a:p>
          <a:p>
            <a:pPr marL="514350" indent="-514350">
              <a:buAutoNum type="arabicPlain" startAt="2"/>
            </a:pPr>
            <a:r>
              <a:rPr lang="fr-FR" dirty="0" smtClean="0">
                <a:latin typeface="Maiandra GD" pitchFamily="34" charset="0"/>
              </a:rPr>
              <a:t>  &lt;</a:t>
            </a:r>
            <a:r>
              <a:rPr lang="fr-FR" dirty="0" smtClean="0">
                <a:solidFill>
                  <a:srgbClr val="92D050"/>
                </a:solidFill>
                <a:latin typeface="Maiandra GD" pitchFamily="34" charset="0"/>
              </a:rPr>
              <a:t>img </a:t>
            </a:r>
            <a:r>
              <a:rPr lang="fr-FR" dirty="0">
                <a:solidFill>
                  <a:srgbClr val="92D050"/>
                </a:solidFill>
                <a:latin typeface="Maiandra GD" pitchFamily="34" charset="0"/>
              </a:rPr>
              <a:t>src</a:t>
            </a:r>
            <a:r>
              <a:rPr lang="fr-FR" dirty="0" smtClean="0">
                <a:latin typeface="Maiandra GD" pitchFamily="34" charset="0"/>
              </a:rPr>
              <a:t>=</a:t>
            </a:r>
            <a:r>
              <a:rPr lang="fr-FR" dirty="0" smtClean="0">
                <a:solidFill>
                  <a:srgbClr val="FF0000"/>
                </a:solidFill>
                <a:latin typeface="Maiandra GD" pitchFamily="34" charset="0"/>
              </a:rPr>
              <a:t>"images </a:t>
            </a:r>
            <a:r>
              <a:rPr lang="fr-FR" dirty="0">
                <a:solidFill>
                  <a:srgbClr val="FF0000"/>
                </a:solidFill>
                <a:latin typeface="Maiandra GD" pitchFamily="34" charset="0"/>
              </a:rPr>
              <a:t>/ </a:t>
            </a:r>
            <a:r>
              <a:rPr lang="fr-FR" dirty="0" smtClean="0">
                <a:solidFill>
                  <a:srgbClr val="FF0000"/>
                </a:solidFill>
                <a:latin typeface="Maiandra GD" pitchFamily="34" charset="0"/>
              </a:rPr>
              <a:t>internetexplorer.png"    </a:t>
            </a:r>
          </a:p>
          <a:p>
            <a:pPr marL="0" indent="0">
              <a:buNone/>
            </a:pPr>
            <a:r>
              <a:rPr lang="fr-FR" dirty="0">
                <a:latin typeface="Maiandra GD" pitchFamily="34" charset="0"/>
              </a:rPr>
              <a:t> </a:t>
            </a:r>
            <a:r>
              <a:rPr lang="fr-FR" dirty="0" smtClean="0">
                <a:latin typeface="Maiandra GD" pitchFamily="34" charset="0"/>
              </a:rPr>
              <a:t>   </a:t>
            </a:r>
            <a:r>
              <a:rPr lang="fr-FR" dirty="0" smtClean="0">
                <a:solidFill>
                  <a:srgbClr val="92D050"/>
                </a:solidFill>
                <a:latin typeface="Maiandra GD" pitchFamily="34" charset="0"/>
              </a:rPr>
              <a:t>alt</a:t>
            </a:r>
            <a:r>
              <a:rPr lang="fr-FR" dirty="0" smtClean="0">
                <a:latin typeface="Maiandra GD" pitchFamily="34" charset="0"/>
              </a:rPr>
              <a:t>=</a:t>
            </a:r>
            <a:r>
              <a:rPr lang="fr-FR" dirty="0" smtClean="0">
                <a:solidFill>
                  <a:srgbClr val="FF0000"/>
                </a:solidFill>
                <a:latin typeface="Maiandra GD" pitchFamily="34" charset="0"/>
              </a:rPr>
              <a:t>"Logo Internet Explorer </a:t>
            </a:r>
            <a:r>
              <a:rPr lang="fr-FR" dirty="0">
                <a:solidFill>
                  <a:srgbClr val="FF0000"/>
                </a:solidFill>
                <a:latin typeface="Maiandra GD" pitchFamily="34" charset="0"/>
              </a:rPr>
              <a:t>"</a:t>
            </a:r>
            <a:r>
              <a:rPr lang="fr-FR" dirty="0">
                <a:latin typeface="Maiandra GD" pitchFamily="34" charset="0"/>
              </a:rPr>
              <a:t> /&gt;</a:t>
            </a:r>
          </a:p>
          <a:p>
            <a:pPr marL="514350" indent="-514350">
              <a:buAutoNum type="arabicPlain" startAt="3"/>
            </a:pPr>
            <a:r>
              <a:rPr lang="fr-FR" dirty="0" smtClean="0">
                <a:latin typeface="Maiandra GD" pitchFamily="34" charset="0"/>
              </a:rPr>
              <a:t>  &lt;</a:t>
            </a:r>
            <a:r>
              <a:rPr lang="fr-FR" dirty="0" smtClean="0">
                <a:solidFill>
                  <a:srgbClr val="92D050"/>
                </a:solidFill>
                <a:latin typeface="Maiandra GD" pitchFamily="34" charset="0"/>
              </a:rPr>
              <a:t>img </a:t>
            </a:r>
            <a:r>
              <a:rPr lang="fr-FR" dirty="0">
                <a:solidFill>
                  <a:srgbClr val="92D050"/>
                </a:solidFill>
                <a:latin typeface="Maiandra GD" pitchFamily="34" charset="0"/>
              </a:rPr>
              <a:t>src</a:t>
            </a:r>
            <a:r>
              <a:rPr lang="fr-FR" dirty="0">
                <a:latin typeface="Maiandra GD" pitchFamily="34" charset="0"/>
              </a:rPr>
              <a:t>=</a:t>
            </a:r>
            <a:r>
              <a:rPr lang="fr-FR" dirty="0">
                <a:solidFill>
                  <a:srgbClr val="FF0000"/>
                </a:solidFill>
                <a:latin typeface="Maiandra GD" pitchFamily="34" charset="0"/>
              </a:rPr>
              <a:t>" images / </a:t>
            </a:r>
            <a:r>
              <a:rPr lang="fr-FR" dirty="0" smtClean="0">
                <a:solidFill>
                  <a:srgbClr val="FF0000"/>
                </a:solidFill>
                <a:latin typeface="Maiandra GD" pitchFamily="34" charset="0"/>
              </a:rPr>
              <a:t>firefox.png</a:t>
            </a:r>
            <a:r>
              <a:rPr lang="fr-FR" dirty="0">
                <a:solidFill>
                  <a:srgbClr val="FF0000"/>
                </a:solidFill>
                <a:latin typeface="Maiandra GD" pitchFamily="34" charset="0"/>
              </a:rPr>
              <a:t>" </a:t>
            </a:r>
            <a:r>
              <a:rPr lang="fr-FR" dirty="0">
                <a:solidFill>
                  <a:srgbClr val="92D050"/>
                </a:solidFill>
                <a:latin typeface="Maiandra GD" pitchFamily="34" charset="0"/>
              </a:rPr>
              <a:t>alt</a:t>
            </a:r>
            <a:r>
              <a:rPr lang="fr-FR" dirty="0" smtClean="0">
                <a:latin typeface="Maiandra GD" pitchFamily="34" charset="0"/>
              </a:rPr>
              <a:t>=</a:t>
            </a:r>
            <a:r>
              <a:rPr lang="fr-FR" dirty="0" smtClean="0">
                <a:solidFill>
                  <a:srgbClr val="FF0000"/>
                </a:solidFill>
                <a:latin typeface="Maiandra GD" pitchFamily="34" charset="0"/>
              </a:rPr>
              <a:t>"   </a:t>
            </a:r>
          </a:p>
          <a:p>
            <a:pPr marL="0" indent="0">
              <a:buNone/>
            </a:pPr>
            <a:r>
              <a:rPr lang="fr-FR" dirty="0">
                <a:solidFill>
                  <a:srgbClr val="FF0000"/>
                </a:solidFill>
                <a:latin typeface="Maiandra GD" pitchFamily="34" charset="0"/>
              </a:rPr>
              <a:t> </a:t>
            </a:r>
            <a:r>
              <a:rPr lang="fr-FR" dirty="0" smtClean="0">
                <a:solidFill>
                  <a:srgbClr val="FF0000"/>
                </a:solidFill>
                <a:latin typeface="Maiandra GD" pitchFamily="34" charset="0"/>
              </a:rPr>
              <a:t>    Logo </a:t>
            </a:r>
            <a:r>
              <a:rPr lang="fr-FR" dirty="0">
                <a:solidFill>
                  <a:srgbClr val="FF0000"/>
                </a:solidFill>
                <a:latin typeface="Maiandra GD" pitchFamily="34" charset="0"/>
              </a:rPr>
              <a:t>Mozilla Firefox " </a:t>
            </a:r>
            <a:r>
              <a:rPr lang="fr-FR" dirty="0">
                <a:latin typeface="Maiandra GD" pitchFamily="34" charset="0"/>
              </a:rPr>
              <a:t>/&gt;</a:t>
            </a:r>
          </a:p>
          <a:p>
            <a:pPr marL="514350" indent="-514350">
              <a:buAutoNum type="arabicPlain" startAt="4"/>
            </a:pPr>
            <a:r>
              <a:rPr lang="fr-FR" dirty="0" smtClean="0">
                <a:latin typeface="Maiandra GD" pitchFamily="34" charset="0"/>
              </a:rPr>
              <a:t>  &lt;</a:t>
            </a:r>
            <a:r>
              <a:rPr lang="fr-FR" dirty="0">
                <a:solidFill>
                  <a:srgbClr val="92D050"/>
                </a:solidFill>
                <a:latin typeface="Maiandra GD" pitchFamily="34" charset="0"/>
              </a:rPr>
              <a:t>img src</a:t>
            </a:r>
            <a:r>
              <a:rPr lang="fr-FR" dirty="0">
                <a:latin typeface="Maiandra GD" pitchFamily="34" charset="0"/>
              </a:rPr>
              <a:t>=</a:t>
            </a:r>
            <a:r>
              <a:rPr lang="fr-FR" dirty="0">
                <a:solidFill>
                  <a:srgbClr val="FF0000"/>
                </a:solidFill>
                <a:latin typeface="Maiandra GD" pitchFamily="34" charset="0"/>
              </a:rPr>
              <a:t>"</a:t>
            </a:r>
            <a:r>
              <a:rPr lang="fr-FR" dirty="0">
                <a:latin typeface="Maiandra GD" pitchFamily="34" charset="0"/>
              </a:rPr>
              <a:t> </a:t>
            </a:r>
            <a:r>
              <a:rPr lang="fr-FR" dirty="0">
                <a:solidFill>
                  <a:srgbClr val="FF0000"/>
                </a:solidFill>
                <a:latin typeface="Maiandra GD" pitchFamily="34" charset="0"/>
              </a:rPr>
              <a:t>images / </a:t>
            </a:r>
            <a:r>
              <a:rPr lang="fr-FR" dirty="0" smtClean="0">
                <a:solidFill>
                  <a:srgbClr val="FF0000"/>
                </a:solidFill>
                <a:latin typeface="Maiandra GD" pitchFamily="34" charset="0"/>
              </a:rPr>
              <a:t>chrome.png</a:t>
            </a:r>
            <a:r>
              <a:rPr lang="fr-FR" dirty="0">
                <a:solidFill>
                  <a:srgbClr val="FF0000"/>
                </a:solidFill>
                <a:latin typeface="Maiandra GD" pitchFamily="34" charset="0"/>
              </a:rPr>
              <a:t>" </a:t>
            </a:r>
            <a:r>
              <a:rPr lang="fr-FR" dirty="0">
                <a:solidFill>
                  <a:srgbClr val="92D050"/>
                </a:solidFill>
                <a:latin typeface="Maiandra GD" pitchFamily="34" charset="0"/>
              </a:rPr>
              <a:t>alt</a:t>
            </a:r>
            <a:r>
              <a:rPr lang="fr-FR" dirty="0">
                <a:latin typeface="Maiandra GD" pitchFamily="34" charset="0"/>
              </a:rPr>
              <a:t>=</a:t>
            </a:r>
            <a:r>
              <a:rPr lang="fr-FR" dirty="0">
                <a:solidFill>
                  <a:srgbClr val="FF0000"/>
                </a:solidFill>
                <a:latin typeface="Maiandra GD" pitchFamily="34" charset="0"/>
              </a:rPr>
              <a:t>" </a:t>
            </a:r>
            <a:r>
              <a:rPr lang="fr-FR" dirty="0" smtClean="0">
                <a:solidFill>
                  <a:srgbClr val="FF0000"/>
                </a:solidFill>
                <a:latin typeface="Maiandra GD" pitchFamily="34" charset="0"/>
              </a:rPr>
              <a:t> </a:t>
            </a:r>
          </a:p>
          <a:p>
            <a:pPr marL="0" indent="0">
              <a:buNone/>
            </a:pPr>
            <a:r>
              <a:rPr lang="fr-FR" dirty="0">
                <a:solidFill>
                  <a:srgbClr val="FF0000"/>
                </a:solidFill>
                <a:latin typeface="Maiandra GD" pitchFamily="34" charset="0"/>
              </a:rPr>
              <a:t> </a:t>
            </a:r>
            <a:r>
              <a:rPr lang="fr-FR" dirty="0" smtClean="0">
                <a:solidFill>
                  <a:srgbClr val="FF0000"/>
                </a:solidFill>
                <a:latin typeface="Maiandra GD" pitchFamily="34" charset="0"/>
              </a:rPr>
              <a:t>    Logo </a:t>
            </a:r>
            <a:r>
              <a:rPr lang="fr-FR" dirty="0">
                <a:solidFill>
                  <a:srgbClr val="FF0000"/>
                </a:solidFill>
                <a:latin typeface="Maiandra GD" pitchFamily="34" charset="0"/>
              </a:rPr>
              <a:t>Google Chrome "</a:t>
            </a:r>
            <a:r>
              <a:rPr lang="fr-FR" dirty="0">
                <a:latin typeface="Maiandra GD" pitchFamily="34" charset="0"/>
              </a:rPr>
              <a:t> /&gt;</a:t>
            </a:r>
          </a:p>
          <a:p>
            <a:pPr marL="514350" indent="-514350">
              <a:buAutoNum type="arabicPlain" startAt="5"/>
            </a:pPr>
            <a:r>
              <a:rPr lang="fr-FR" dirty="0" smtClean="0">
                <a:latin typeface="Maiandra GD" pitchFamily="34" charset="0"/>
              </a:rPr>
              <a:t> &lt;</a:t>
            </a:r>
            <a:r>
              <a:rPr lang="fr-FR" dirty="0">
                <a:latin typeface="Maiandra GD" pitchFamily="34" charset="0"/>
              </a:rPr>
              <a:t>figcaption &gt;Logos des </a:t>
            </a:r>
            <a:r>
              <a:rPr lang="fr-FR" dirty="0" smtClean="0">
                <a:latin typeface="Maiandra GD" pitchFamily="34" charset="0"/>
              </a:rPr>
              <a:t>différents navigateurs     </a:t>
            </a:r>
          </a:p>
          <a:p>
            <a:pPr marL="0" indent="0">
              <a:buNone/>
            </a:pPr>
            <a:r>
              <a:rPr lang="fr-FR" dirty="0">
                <a:latin typeface="Maiandra GD" pitchFamily="34" charset="0"/>
              </a:rPr>
              <a:t> </a:t>
            </a:r>
            <a:r>
              <a:rPr lang="fr-FR" dirty="0" smtClean="0">
                <a:latin typeface="Maiandra GD" pitchFamily="34" charset="0"/>
              </a:rPr>
              <a:t>    &lt;/ </a:t>
            </a:r>
            <a:r>
              <a:rPr lang="fr-FR" dirty="0">
                <a:latin typeface="Maiandra GD" pitchFamily="34" charset="0"/>
              </a:rPr>
              <a:t>figcaption &gt;</a:t>
            </a:r>
          </a:p>
          <a:p>
            <a:pPr marL="0" indent="0">
              <a:buNone/>
            </a:pPr>
            <a:r>
              <a:rPr lang="fr-FR" dirty="0">
                <a:latin typeface="Maiandra GD" pitchFamily="34" charset="0"/>
              </a:rPr>
              <a:t>6 </a:t>
            </a:r>
            <a:r>
              <a:rPr lang="fr-FR" dirty="0" smtClean="0">
                <a:latin typeface="Maiandra GD" pitchFamily="34" charset="0"/>
              </a:rPr>
              <a:t> &lt;/ </a:t>
            </a:r>
            <a:r>
              <a:rPr lang="fr-FR" dirty="0">
                <a:latin typeface="Maiandra GD" pitchFamily="34" charset="0"/>
              </a:rPr>
              <a:t>figure &gt;</a:t>
            </a:r>
          </a:p>
        </p:txBody>
      </p:sp>
      <p:cxnSp>
        <p:nvCxnSpPr>
          <p:cNvPr id="5" name="Connecteur droit 4"/>
          <p:cNvCxnSpPr/>
          <p:nvPr/>
        </p:nvCxnSpPr>
        <p:spPr>
          <a:xfrm>
            <a:off x="467544" y="332656"/>
            <a:ext cx="0" cy="5904656"/>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634535460"/>
      </p:ext>
    </p:extLst>
  </p:cSld>
  <p:clrMapOvr>
    <a:masterClrMapping/>
  </p:clrMapOvr>
  <p:timing>
    <p:tnLst>
      <p:par>
        <p:cTn id="1" dur="indefinite" restart="never" nodeType="tmRoot"/>
      </p:par>
    </p:tnLst>
  </p:timing>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08920"/>
            <a:ext cx="8229600" cy="1143000"/>
          </a:xfrm>
        </p:spPr>
        <p:txBody>
          <a:bodyPr>
            <a:noAutofit/>
          </a:bodyPr>
          <a:lstStyle/>
          <a:p>
            <a:r>
              <a:rPr lang="fr-FR" sz="7200" dirty="0">
                <a:effectLst>
                  <a:outerShdw blurRad="38100" dist="38100" dir="2700000" algn="tl">
                    <a:srgbClr val="000000">
                      <a:alpha val="43137"/>
                    </a:srgbClr>
                  </a:outerShdw>
                </a:effectLst>
                <a:latin typeface="Maiandra GD" pitchFamily="34" charset="0"/>
              </a:rPr>
              <a:t>En résumé</a:t>
            </a:r>
          </a:p>
        </p:txBody>
      </p:sp>
    </p:spTree>
    <p:extLst>
      <p:ext uri="{BB962C8B-B14F-4D97-AF65-F5344CB8AC3E}">
        <p14:creationId xmlns:p14="http://schemas.microsoft.com/office/powerpoint/2010/main" val="552906385"/>
      </p:ext>
    </p:extLst>
  </p:cSld>
  <p:clrMapOvr>
    <a:masterClrMapping/>
  </p:clrMapOvr>
  <p:timing>
    <p:tnLst>
      <p:par>
        <p:cTn id="1" dur="indefinite" restart="never" nodeType="tmRoot"/>
      </p:par>
    </p:tnLst>
  </p:timing>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332656"/>
            <a:ext cx="8640960" cy="6264696"/>
          </a:xfrm>
        </p:spPr>
        <p:txBody>
          <a:bodyPr>
            <a:normAutofit/>
          </a:bodyPr>
          <a:lstStyle/>
          <a:p>
            <a:pPr marL="0" indent="0" algn="just">
              <a:buNone/>
            </a:pPr>
            <a:r>
              <a:rPr lang="fr-FR" dirty="0" smtClean="0">
                <a:latin typeface="Maiandra GD" pitchFamily="34" charset="0"/>
              </a:rPr>
              <a:t>- Il </a:t>
            </a:r>
            <a:r>
              <a:rPr lang="fr-FR" dirty="0">
                <a:latin typeface="Maiandra GD" pitchFamily="34" charset="0"/>
              </a:rPr>
              <a:t>existe plusieurs formats d'images adaptées au Web :</a:t>
            </a:r>
          </a:p>
          <a:p>
            <a:pPr marL="0" indent="0" algn="just">
              <a:buNone/>
            </a:pPr>
            <a:r>
              <a:rPr lang="fr-FR" dirty="0" smtClean="0">
                <a:latin typeface="Maiandra GD" pitchFamily="34" charset="0"/>
              </a:rPr>
              <a:t>- JPEG </a:t>
            </a:r>
            <a:r>
              <a:rPr lang="fr-FR" dirty="0">
                <a:latin typeface="Maiandra GD" pitchFamily="34" charset="0"/>
              </a:rPr>
              <a:t>: pour les photos ;</a:t>
            </a:r>
          </a:p>
          <a:p>
            <a:pPr marL="0" indent="0" algn="just">
              <a:buNone/>
            </a:pPr>
            <a:r>
              <a:rPr lang="fr-FR" dirty="0" smtClean="0">
                <a:latin typeface="Maiandra GD" pitchFamily="34" charset="0"/>
              </a:rPr>
              <a:t>- PNG </a:t>
            </a:r>
            <a:r>
              <a:rPr lang="fr-FR" dirty="0">
                <a:latin typeface="Maiandra GD" pitchFamily="34" charset="0"/>
              </a:rPr>
              <a:t>: pour toutes les autres illustrations ;</a:t>
            </a:r>
          </a:p>
          <a:p>
            <a:pPr algn="just">
              <a:buFontTx/>
              <a:buChar char="-"/>
            </a:pPr>
            <a:r>
              <a:rPr lang="fr-FR" dirty="0" smtClean="0">
                <a:latin typeface="Maiandra GD" pitchFamily="34" charset="0"/>
              </a:rPr>
              <a:t>GIF </a:t>
            </a:r>
            <a:r>
              <a:rPr lang="fr-FR" dirty="0">
                <a:latin typeface="Maiandra GD" pitchFamily="34" charset="0"/>
              </a:rPr>
              <a:t>: similaire au PNG, plus limité en nombre de couleurs mais qui peut </a:t>
            </a:r>
            <a:r>
              <a:rPr lang="fr-FR" dirty="0" smtClean="0">
                <a:latin typeface="Maiandra GD" pitchFamily="34" charset="0"/>
              </a:rPr>
              <a:t>être animé.</a:t>
            </a:r>
          </a:p>
          <a:p>
            <a:pPr marL="0" indent="0" algn="just">
              <a:buNone/>
            </a:pPr>
            <a:r>
              <a:rPr lang="fr-FR" dirty="0" smtClean="0"/>
              <a:t>- </a:t>
            </a:r>
            <a:r>
              <a:rPr lang="fr-FR" dirty="0" smtClean="0">
                <a:latin typeface="Maiandra GD" pitchFamily="34" charset="0"/>
              </a:rPr>
              <a:t>On </a:t>
            </a:r>
            <a:r>
              <a:rPr lang="fr-FR" dirty="0">
                <a:latin typeface="Maiandra GD" pitchFamily="34" charset="0"/>
              </a:rPr>
              <a:t>insère une image avec la balise &lt;img /&gt;. Elle doit obligatoirement </a:t>
            </a:r>
            <a:r>
              <a:rPr lang="fr-FR" dirty="0" smtClean="0">
                <a:latin typeface="Maiandra GD" pitchFamily="34" charset="0"/>
              </a:rPr>
              <a:t>comporter au </a:t>
            </a:r>
            <a:r>
              <a:rPr lang="fr-FR" dirty="0">
                <a:latin typeface="Maiandra GD" pitchFamily="34" charset="0"/>
              </a:rPr>
              <a:t>moins ces deux attributs : src (nom de l'image) et alt (courte description </a:t>
            </a:r>
            <a:r>
              <a:rPr lang="fr-FR" dirty="0" smtClean="0">
                <a:latin typeface="Maiandra GD" pitchFamily="34" charset="0"/>
              </a:rPr>
              <a:t>de l'image</a:t>
            </a:r>
            <a:r>
              <a:rPr lang="fr-FR" dirty="0">
                <a:latin typeface="Maiandra GD" pitchFamily="34" charset="0"/>
              </a:rPr>
              <a:t>).</a:t>
            </a:r>
          </a:p>
        </p:txBody>
      </p:sp>
    </p:spTree>
    <p:extLst>
      <p:ext uri="{BB962C8B-B14F-4D97-AF65-F5344CB8AC3E}">
        <p14:creationId xmlns:p14="http://schemas.microsoft.com/office/powerpoint/2010/main" val="1692498273"/>
      </p:ext>
    </p:extLst>
  </p:cSld>
  <p:clrMapOvr>
    <a:masterClrMapping/>
  </p:clrMapOvr>
  <p:timing>
    <p:tnLst>
      <p:par>
        <p:cTn id="1" dur="indefinite" restart="never" nodeType="tmRoot"/>
      </p:par>
    </p:tnLst>
  </p:timing>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332656"/>
            <a:ext cx="8640960" cy="6120680"/>
          </a:xfrm>
        </p:spPr>
        <p:txBody>
          <a:bodyPr>
            <a:normAutofit/>
          </a:bodyPr>
          <a:lstStyle/>
          <a:p>
            <a:pPr algn="just">
              <a:buFontTx/>
              <a:buChar char="-"/>
            </a:pPr>
            <a:r>
              <a:rPr lang="fr-FR" sz="3600" dirty="0" smtClean="0">
                <a:latin typeface="Maiandra GD" pitchFamily="34" charset="0"/>
              </a:rPr>
              <a:t>Si </a:t>
            </a:r>
            <a:r>
              <a:rPr lang="fr-FR" sz="3600" dirty="0">
                <a:latin typeface="Maiandra GD" pitchFamily="34" charset="0"/>
              </a:rPr>
              <a:t>une image illustre le texte (et n'est pas seulement décorative), il est conseillé </a:t>
            </a:r>
            <a:r>
              <a:rPr lang="fr-FR" sz="3600" dirty="0" smtClean="0">
                <a:latin typeface="Maiandra GD" pitchFamily="34" charset="0"/>
              </a:rPr>
              <a:t>de la placer au sein d'une balise &lt;figure&gt;. </a:t>
            </a:r>
          </a:p>
          <a:p>
            <a:pPr marL="0" indent="0" algn="just">
              <a:buNone/>
            </a:pPr>
            <a:r>
              <a:rPr lang="fr-FR" sz="3600" dirty="0" smtClean="0">
                <a:latin typeface="Maiandra GD" pitchFamily="34" charset="0"/>
              </a:rPr>
              <a:t>La balise &lt;figcaption&gt; permet d'écrire la légende de l'image.</a:t>
            </a:r>
            <a:endParaRPr lang="fr-FR" sz="3600" dirty="0">
              <a:latin typeface="Maiandra GD" pitchFamily="34" charset="0"/>
            </a:endParaRPr>
          </a:p>
        </p:txBody>
      </p:sp>
    </p:spTree>
    <p:extLst>
      <p:ext uri="{BB962C8B-B14F-4D97-AF65-F5344CB8AC3E}">
        <p14:creationId xmlns:p14="http://schemas.microsoft.com/office/powerpoint/2010/main" val="1627735434"/>
      </p:ext>
    </p:extLst>
  </p:cSld>
  <p:clrMapOvr>
    <a:masterClrMapping/>
  </p:clrMapOvr>
  <p:timing>
    <p:tnLst>
      <p:par>
        <p:cTn id="1" dur="indefinite" restart="never" nodeType="tmRoot"/>
      </p:par>
    </p:tnLst>
  </p:timing>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1268760"/>
            <a:ext cx="8229600" cy="2592288"/>
          </a:xfrm>
        </p:spPr>
        <p:txBody>
          <a:bodyPr>
            <a:normAutofit fontScale="90000"/>
          </a:bodyPr>
          <a:lstStyle/>
          <a:p>
            <a:r>
              <a:rPr lang="fr-FR" sz="4900" dirty="0" smtClean="0">
                <a:effectLst>
                  <a:outerShdw blurRad="38100" dist="38100" dir="2700000" algn="tl">
                    <a:srgbClr val="000000">
                      <a:alpha val="43137"/>
                    </a:srgbClr>
                  </a:outerShdw>
                </a:effectLst>
                <a:latin typeface="Maiandra GD" pitchFamily="34" charset="0"/>
              </a:rPr>
              <a:t/>
            </a:r>
            <a:br>
              <a:rPr lang="fr-FR" sz="4900" dirty="0" smtClean="0">
                <a:effectLst>
                  <a:outerShdw blurRad="38100" dist="38100" dir="2700000" algn="tl">
                    <a:srgbClr val="000000">
                      <a:alpha val="43137"/>
                    </a:srgbClr>
                  </a:outerShdw>
                </a:effectLst>
                <a:latin typeface="Maiandra GD" pitchFamily="34" charset="0"/>
              </a:rPr>
            </a:br>
            <a:r>
              <a:rPr lang="fr-FR" sz="5300" dirty="0" smtClean="0">
                <a:effectLst>
                  <a:outerShdw blurRad="38100" dist="38100" dir="2700000" algn="tl">
                    <a:srgbClr val="000000">
                      <a:alpha val="43137"/>
                    </a:srgbClr>
                  </a:outerShdw>
                </a:effectLst>
                <a:latin typeface="Maiandra GD" pitchFamily="34" charset="0"/>
              </a:rPr>
              <a:t>Deuxième </a:t>
            </a:r>
            <a:r>
              <a:rPr lang="fr-FR" sz="5300" dirty="0">
                <a:effectLst>
                  <a:outerShdw blurRad="38100" dist="38100" dir="2700000" algn="tl">
                    <a:srgbClr val="000000">
                      <a:alpha val="43137"/>
                    </a:srgbClr>
                  </a:outerShdw>
                </a:effectLst>
                <a:latin typeface="Maiandra GD" pitchFamily="34" charset="0"/>
              </a:rPr>
              <a:t>partie</a:t>
            </a:r>
            <a:br>
              <a:rPr lang="fr-FR" sz="5300" dirty="0">
                <a:effectLst>
                  <a:outerShdw blurRad="38100" dist="38100" dir="2700000" algn="tl">
                    <a:srgbClr val="000000">
                      <a:alpha val="43137"/>
                    </a:srgbClr>
                  </a:outerShdw>
                </a:effectLst>
                <a:latin typeface="Maiandra GD" pitchFamily="34" charset="0"/>
              </a:rPr>
            </a:br>
            <a:r>
              <a:rPr lang="fr-FR" sz="5300" dirty="0">
                <a:effectLst>
                  <a:outerShdw blurRad="38100" dist="38100" dir="2700000" algn="tl">
                    <a:srgbClr val="000000">
                      <a:alpha val="43137"/>
                    </a:srgbClr>
                  </a:outerShdw>
                </a:effectLst>
                <a:latin typeface="Maiandra GD" pitchFamily="34" charset="0"/>
              </a:rPr>
              <a:t>Les joies de la mise en forme</a:t>
            </a:r>
            <a:br>
              <a:rPr lang="fr-FR" sz="5300" dirty="0">
                <a:effectLst>
                  <a:outerShdw blurRad="38100" dist="38100" dir="2700000" algn="tl">
                    <a:srgbClr val="000000">
                      <a:alpha val="43137"/>
                    </a:srgbClr>
                  </a:outerShdw>
                </a:effectLst>
                <a:latin typeface="Maiandra GD" pitchFamily="34" charset="0"/>
              </a:rPr>
            </a:br>
            <a:r>
              <a:rPr lang="fr-FR" sz="5300" dirty="0">
                <a:effectLst>
                  <a:outerShdw blurRad="38100" dist="38100" dir="2700000" algn="tl">
                    <a:srgbClr val="000000">
                      <a:alpha val="43137"/>
                    </a:srgbClr>
                  </a:outerShdw>
                </a:effectLst>
                <a:latin typeface="Maiandra GD" pitchFamily="34" charset="0"/>
              </a:rPr>
              <a:t>avec CSS</a:t>
            </a:r>
            <a:r>
              <a:rPr lang="fr-FR" dirty="0"/>
              <a:t/>
            </a:r>
            <a:br>
              <a:rPr lang="fr-FR" dirty="0"/>
            </a:br>
            <a:endParaRPr lang="fr-FR" dirty="0"/>
          </a:p>
        </p:txBody>
      </p:sp>
    </p:spTree>
    <p:extLst>
      <p:ext uri="{BB962C8B-B14F-4D97-AF65-F5344CB8AC3E}">
        <p14:creationId xmlns:p14="http://schemas.microsoft.com/office/powerpoint/2010/main" val="3492098198"/>
      </p:ext>
    </p:extLst>
  </p:cSld>
  <p:clrMapOvr>
    <a:masterClrMapping/>
  </p:clrMapOvr>
  <p:timing>
    <p:tnLst>
      <p:par>
        <p:cTn id="1" dur="indefinite" restart="never" nodeType="tmRoot"/>
      </p:par>
    </p:tnLst>
  </p:timing>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sz="5400" dirty="0">
                <a:effectLst>
                  <a:outerShdw blurRad="38100" dist="38100" dir="2700000" algn="tl">
                    <a:srgbClr val="000000">
                      <a:alpha val="43137"/>
                    </a:srgbClr>
                  </a:outerShdw>
                </a:effectLst>
                <a:latin typeface="Maiandra GD" pitchFamily="34" charset="0"/>
              </a:rPr>
              <a:t>Mettre en place le </a:t>
            </a:r>
            <a:r>
              <a:rPr lang="fr-FR" sz="5400" dirty="0" smtClean="0">
                <a:effectLst>
                  <a:outerShdw blurRad="38100" dist="38100" dir="2700000" algn="tl">
                    <a:srgbClr val="000000">
                      <a:alpha val="43137"/>
                    </a:srgbClr>
                  </a:outerShdw>
                </a:effectLst>
                <a:latin typeface="Maiandra GD" pitchFamily="34" charset="0"/>
              </a:rPr>
              <a:t>CSS</a:t>
            </a:r>
            <a:endParaRPr lang="fr-FR" sz="5400" dirty="0">
              <a:effectLst>
                <a:outerShdw blurRad="38100" dist="38100" dir="2700000" algn="tl">
                  <a:srgbClr val="000000">
                    <a:alpha val="43137"/>
                  </a:srgbClr>
                </a:outerShdw>
              </a:effectLst>
              <a:latin typeface="Maiandra GD" pitchFamily="34" charset="0"/>
            </a:endParaRPr>
          </a:p>
        </p:txBody>
      </p:sp>
      <p:sp>
        <p:nvSpPr>
          <p:cNvPr id="3" name="Espace réservé du contenu 2"/>
          <p:cNvSpPr>
            <a:spLocks noGrp="1"/>
          </p:cNvSpPr>
          <p:nvPr>
            <p:ph idx="1"/>
          </p:nvPr>
        </p:nvSpPr>
        <p:spPr>
          <a:xfrm>
            <a:off x="179512" y="1600200"/>
            <a:ext cx="8712968" cy="5069160"/>
          </a:xfrm>
        </p:spPr>
        <p:txBody>
          <a:bodyPr>
            <a:normAutofit/>
          </a:bodyPr>
          <a:lstStyle/>
          <a:p>
            <a:pPr marL="0" indent="0" algn="just">
              <a:buNone/>
            </a:pPr>
            <a:r>
              <a:rPr lang="fr-FR" sz="3400" dirty="0" smtClean="0">
                <a:latin typeface="Maiandra GD" pitchFamily="34" charset="0"/>
              </a:rPr>
              <a:t>Après </a:t>
            </a:r>
            <a:r>
              <a:rPr lang="fr-FR" sz="3400" dirty="0">
                <a:latin typeface="Maiandra GD" pitchFamily="34" charset="0"/>
              </a:rPr>
              <a:t>avoir passé toute une première partie du cours à ne travailler que sur le </a:t>
            </a:r>
            <a:r>
              <a:rPr lang="fr-FR" sz="3400" dirty="0" smtClean="0">
                <a:latin typeface="Maiandra GD" pitchFamily="34" charset="0"/>
              </a:rPr>
              <a:t>HTML, nous </a:t>
            </a:r>
            <a:r>
              <a:rPr lang="fr-FR" sz="3400" dirty="0">
                <a:latin typeface="Maiandra GD" pitchFamily="34" charset="0"/>
              </a:rPr>
              <a:t>allons maintenant découvrir le CSS que j'avais volontairement mis à l'écart. </a:t>
            </a:r>
            <a:endParaRPr lang="fr-FR" sz="3400" dirty="0" smtClean="0">
              <a:latin typeface="Maiandra GD" pitchFamily="34" charset="0"/>
            </a:endParaRPr>
          </a:p>
          <a:p>
            <a:pPr marL="0" indent="0" algn="just">
              <a:buNone/>
            </a:pPr>
            <a:r>
              <a:rPr lang="fr-FR" sz="3400" dirty="0" smtClean="0">
                <a:latin typeface="Maiandra GD" pitchFamily="34" charset="0"/>
              </a:rPr>
              <a:t>Le CSS </a:t>
            </a:r>
            <a:r>
              <a:rPr lang="fr-FR" sz="3400" dirty="0">
                <a:latin typeface="Maiandra GD" pitchFamily="34" charset="0"/>
              </a:rPr>
              <a:t>n'est pas plus compliqué que le HTML. </a:t>
            </a:r>
            <a:endParaRPr lang="fr-FR" sz="3400" dirty="0" smtClean="0">
              <a:latin typeface="Maiandra GD" pitchFamily="34" charset="0"/>
            </a:endParaRPr>
          </a:p>
          <a:p>
            <a:pPr marL="0" indent="0" algn="just">
              <a:buNone/>
            </a:pPr>
            <a:r>
              <a:rPr lang="fr-FR" sz="3400" dirty="0" smtClean="0">
                <a:latin typeface="Maiandra GD" pitchFamily="34" charset="0"/>
              </a:rPr>
              <a:t>Il </a:t>
            </a:r>
            <a:r>
              <a:rPr lang="fr-FR" sz="3400" dirty="0">
                <a:latin typeface="Maiandra GD" pitchFamily="34" charset="0"/>
              </a:rPr>
              <a:t>vient le compléter pour vous aider </a:t>
            </a:r>
            <a:r>
              <a:rPr lang="fr-FR" sz="3400" dirty="0" smtClean="0">
                <a:latin typeface="Maiandra GD" pitchFamily="34" charset="0"/>
              </a:rPr>
              <a:t>à mettre </a:t>
            </a:r>
            <a:r>
              <a:rPr lang="fr-FR" sz="3400" dirty="0">
                <a:latin typeface="Maiandra GD" pitchFamily="34" charset="0"/>
              </a:rPr>
              <a:t>en forme votre page web.</a:t>
            </a:r>
          </a:p>
        </p:txBody>
      </p:sp>
    </p:spTree>
    <p:extLst>
      <p:ext uri="{BB962C8B-B14F-4D97-AF65-F5344CB8AC3E}">
        <p14:creationId xmlns:p14="http://schemas.microsoft.com/office/powerpoint/2010/main" val="3380627160"/>
      </p:ext>
    </p:extLst>
  </p:cSld>
  <p:clrMapOvr>
    <a:masterClrMapping/>
  </p:clrMapOvr>
  <p:timing>
    <p:tnLst>
      <p:par>
        <p:cTn id="1" dur="indefinite" restart="never" nodeType="tmRoot"/>
      </p:par>
    </p:tnLst>
  </p:timing>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404664"/>
            <a:ext cx="8640960" cy="6048672"/>
          </a:xfrm>
        </p:spPr>
        <p:txBody>
          <a:bodyPr/>
          <a:lstStyle/>
          <a:p>
            <a:pPr marL="0" indent="0" algn="just">
              <a:buNone/>
            </a:pPr>
            <a:r>
              <a:rPr lang="fr-FR" dirty="0">
                <a:latin typeface="Maiandra GD" pitchFamily="34" charset="0"/>
              </a:rPr>
              <a:t>Dans ce premier chapitre sur le CSS, nous allons voir la théorie sur le CSS : </a:t>
            </a:r>
            <a:r>
              <a:rPr lang="fr-FR" dirty="0" smtClean="0">
                <a:latin typeface="Maiandra GD" pitchFamily="34" charset="0"/>
              </a:rPr>
              <a:t>qu'est-ce que </a:t>
            </a:r>
            <a:r>
              <a:rPr lang="fr-FR" dirty="0">
                <a:latin typeface="Maiandra GD" pitchFamily="34" charset="0"/>
              </a:rPr>
              <a:t>c'est ? À quoi cela ressemble-t-il ? Où est-ce qu'on écrit du code CSS ? Ces </a:t>
            </a:r>
            <a:r>
              <a:rPr lang="fr-FR" dirty="0" smtClean="0">
                <a:latin typeface="Maiandra GD" pitchFamily="34" charset="0"/>
              </a:rPr>
              <a:t>aspects théoriques </a:t>
            </a:r>
            <a:r>
              <a:rPr lang="fr-FR" dirty="0">
                <a:latin typeface="Maiandra GD" pitchFamily="34" charset="0"/>
              </a:rPr>
              <a:t>ne sont pas bien compliqués mais vous devez obligatoirement les connaître </a:t>
            </a:r>
            <a:r>
              <a:rPr lang="fr-FR" dirty="0" smtClean="0">
                <a:latin typeface="Maiandra GD" pitchFamily="34" charset="0"/>
              </a:rPr>
              <a:t>car c'est </a:t>
            </a:r>
            <a:r>
              <a:rPr lang="fr-FR" dirty="0">
                <a:latin typeface="Maiandra GD" pitchFamily="34" charset="0"/>
              </a:rPr>
              <a:t>la base du CSS. </a:t>
            </a:r>
            <a:endParaRPr lang="fr-FR" dirty="0" smtClean="0">
              <a:latin typeface="Maiandra GD" pitchFamily="34" charset="0"/>
            </a:endParaRPr>
          </a:p>
          <a:p>
            <a:pPr marL="0" indent="0" algn="just">
              <a:buNone/>
            </a:pPr>
            <a:r>
              <a:rPr lang="fr-FR" dirty="0" smtClean="0">
                <a:latin typeface="Maiandra GD" pitchFamily="34" charset="0"/>
              </a:rPr>
              <a:t>C'est </a:t>
            </a:r>
            <a:r>
              <a:rPr lang="fr-FR" dirty="0">
                <a:latin typeface="Maiandra GD" pitchFamily="34" charset="0"/>
              </a:rPr>
              <a:t>d'ailleurs la seule chose que je vous demanderai de retenir </a:t>
            </a:r>
            <a:r>
              <a:rPr lang="fr-FR" dirty="0" smtClean="0">
                <a:latin typeface="Maiandra GD" pitchFamily="34" charset="0"/>
              </a:rPr>
              <a:t>par cœur </a:t>
            </a:r>
            <a:r>
              <a:rPr lang="fr-FR" dirty="0">
                <a:latin typeface="Maiandra GD" pitchFamily="34" charset="0"/>
              </a:rPr>
              <a:t>en </a:t>
            </a:r>
            <a:r>
              <a:rPr lang="fr-FR" dirty="0" smtClean="0">
                <a:latin typeface="Maiandra GD" pitchFamily="34" charset="0"/>
              </a:rPr>
              <a:t>CSS.</a:t>
            </a:r>
            <a:endParaRPr lang="fr-FR" dirty="0">
              <a:latin typeface="Maiandra GD" pitchFamily="34" charset="0"/>
            </a:endParaRPr>
          </a:p>
        </p:txBody>
      </p:sp>
    </p:spTree>
    <p:extLst>
      <p:ext uri="{BB962C8B-B14F-4D97-AF65-F5344CB8AC3E}">
        <p14:creationId xmlns:p14="http://schemas.microsoft.com/office/powerpoint/2010/main" val="1414877844"/>
      </p:ext>
    </p:extLst>
  </p:cSld>
  <p:clrMapOvr>
    <a:masterClrMapping/>
  </p:clrMapOvr>
  <p:timing>
    <p:tnLst>
      <p:par>
        <p:cTn id="1" dur="indefinite" restart="never" nodeType="tmRoot"/>
      </p:par>
    </p:tnLst>
  </p:timing>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188640"/>
            <a:ext cx="8229600" cy="1143000"/>
          </a:xfrm>
        </p:spPr>
        <p:txBody>
          <a:bodyPr>
            <a:normAutofit/>
          </a:bodyPr>
          <a:lstStyle/>
          <a:p>
            <a:r>
              <a:rPr lang="fr-FR" sz="5400" dirty="0">
                <a:effectLst>
                  <a:outerShdw blurRad="38100" dist="38100" dir="2700000" algn="tl">
                    <a:srgbClr val="000000">
                      <a:alpha val="43137"/>
                    </a:srgbClr>
                  </a:outerShdw>
                </a:effectLst>
                <a:latin typeface="Maiandra GD" pitchFamily="34" charset="0"/>
              </a:rPr>
              <a:t>La petite histoire du CSS</a:t>
            </a:r>
          </a:p>
        </p:txBody>
      </p:sp>
      <p:sp>
        <p:nvSpPr>
          <p:cNvPr id="3" name="Espace réservé du contenu 2"/>
          <p:cNvSpPr>
            <a:spLocks noGrp="1"/>
          </p:cNvSpPr>
          <p:nvPr>
            <p:ph idx="1"/>
          </p:nvPr>
        </p:nvSpPr>
        <p:spPr>
          <a:xfrm>
            <a:off x="251520" y="1556792"/>
            <a:ext cx="8640960" cy="5040560"/>
          </a:xfrm>
        </p:spPr>
        <p:txBody>
          <a:bodyPr>
            <a:normAutofit/>
          </a:bodyPr>
          <a:lstStyle/>
          <a:p>
            <a:pPr marL="0" indent="0" algn="just">
              <a:buNone/>
            </a:pPr>
            <a:r>
              <a:rPr lang="fr-FR" dirty="0">
                <a:latin typeface="Maiandra GD" pitchFamily="34" charset="0"/>
              </a:rPr>
              <a:t>Je vous avais avertis dès le début de ce cours : nous allons apprendre deux langages.</a:t>
            </a:r>
          </a:p>
          <a:p>
            <a:pPr marL="0" indent="0" algn="just">
              <a:buNone/>
            </a:pPr>
            <a:r>
              <a:rPr lang="fr-FR" dirty="0">
                <a:latin typeface="Maiandra GD" pitchFamily="34" charset="0"/>
              </a:rPr>
              <a:t>Nous avons déjà bien entamé notre découverte du HTML, même s'il reste encore </a:t>
            </a:r>
            <a:r>
              <a:rPr lang="fr-FR" dirty="0" smtClean="0">
                <a:latin typeface="Maiandra GD" pitchFamily="34" charset="0"/>
              </a:rPr>
              <a:t>de nombreuses choses </a:t>
            </a:r>
            <a:r>
              <a:rPr lang="fr-FR" dirty="0">
                <a:latin typeface="Maiandra GD" pitchFamily="34" charset="0"/>
              </a:rPr>
              <a:t>à apprendre (nous y reviendrons dans quelques chapitres). </a:t>
            </a:r>
            <a:endParaRPr lang="fr-FR" dirty="0" smtClean="0">
              <a:latin typeface="Maiandra GD" pitchFamily="34" charset="0"/>
            </a:endParaRPr>
          </a:p>
          <a:p>
            <a:pPr marL="0" indent="0" algn="just">
              <a:buNone/>
            </a:pPr>
            <a:r>
              <a:rPr lang="fr-FR" dirty="0" smtClean="0">
                <a:latin typeface="Maiandra GD" pitchFamily="34" charset="0"/>
              </a:rPr>
              <a:t>En revanche, il </a:t>
            </a:r>
            <a:r>
              <a:rPr lang="fr-FR" dirty="0">
                <a:latin typeface="Maiandra GD" pitchFamily="34" charset="0"/>
              </a:rPr>
              <a:t>est temps maintenant de nous intéresser au CSS.</a:t>
            </a:r>
          </a:p>
        </p:txBody>
      </p:sp>
    </p:spTree>
    <p:extLst>
      <p:ext uri="{BB962C8B-B14F-4D97-AF65-F5344CB8AC3E}">
        <p14:creationId xmlns:p14="http://schemas.microsoft.com/office/powerpoint/2010/main" val="1981518358"/>
      </p:ext>
    </p:extLst>
  </p:cSld>
  <p:clrMapOvr>
    <a:masterClrMapping/>
  </p:clrMapOvr>
  <p:timing>
    <p:tnLst>
      <p:par>
        <p:cTn id="1" dur="indefinite" restart="never" nodeType="tmRoot"/>
      </p:par>
    </p:tnLst>
  </p:timing>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1124744"/>
            <a:ext cx="8640960" cy="5472608"/>
          </a:xfrm>
        </p:spPr>
        <p:txBody>
          <a:bodyPr/>
          <a:lstStyle/>
          <a:p>
            <a:pPr marL="0" indent="0" algn="just">
              <a:buNone/>
            </a:pPr>
            <a:r>
              <a:rPr lang="fr-FR" sz="3600" dirty="0">
                <a:effectLst>
                  <a:outerShdw blurRad="38100" dist="38100" dir="2700000" algn="tl">
                    <a:srgbClr val="000000">
                      <a:alpha val="43137"/>
                    </a:srgbClr>
                  </a:outerShdw>
                </a:effectLst>
                <a:latin typeface="Maiandra GD" pitchFamily="34" charset="0"/>
              </a:rPr>
              <a:t>CSS</a:t>
            </a:r>
            <a:r>
              <a:rPr lang="fr-FR" sz="3600" dirty="0">
                <a:latin typeface="Maiandra GD" pitchFamily="34" charset="0"/>
              </a:rPr>
              <a:t> (</a:t>
            </a:r>
            <a:r>
              <a:rPr lang="fr-FR" sz="3600" i="1" dirty="0">
                <a:latin typeface="Maiandra GD" pitchFamily="34" charset="0"/>
              </a:rPr>
              <a:t>Cascading Style Sheets </a:t>
            </a:r>
            <a:r>
              <a:rPr lang="fr-FR" sz="3600" dirty="0">
                <a:latin typeface="Maiandra GD" pitchFamily="34" charset="0"/>
              </a:rPr>
              <a:t>), c'est cet autre langage qui vient compléter le HTML.</a:t>
            </a:r>
          </a:p>
          <a:p>
            <a:pPr marL="0" indent="0" algn="just">
              <a:buNone/>
            </a:pPr>
            <a:r>
              <a:rPr lang="fr-FR" sz="3600" dirty="0">
                <a:latin typeface="Maiandra GD" pitchFamily="34" charset="0"/>
              </a:rPr>
              <a:t>Vous vous souvenez de son rôle ? Gérer la mise en forme de votre site</a:t>
            </a:r>
            <a:r>
              <a:rPr lang="fr-FR" sz="3600" dirty="0" smtClean="0">
                <a:latin typeface="Maiandra GD" pitchFamily="34" charset="0"/>
              </a:rPr>
              <a:t>.</a:t>
            </a:r>
          </a:p>
          <a:p>
            <a:pPr marL="0" indent="0" algn="just">
              <a:buNone/>
            </a:pPr>
            <a:endParaRPr lang="fr-FR" sz="2400" dirty="0" smtClean="0">
              <a:latin typeface="Maiandra GD" pitchFamily="34" charset="0"/>
            </a:endParaRPr>
          </a:p>
          <a:p>
            <a:pPr marL="0" indent="0" algn="just">
              <a:buNone/>
            </a:pPr>
            <a:endParaRPr lang="fr-FR" sz="4400" dirty="0" smtClean="0">
              <a:solidFill>
                <a:srgbClr val="FF0000"/>
              </a:solidFill>
              <a:effectLst>
                <a:outerShdw blurRad="38100" dist="38100" dir="2700000" algn="tl">
                  <a:srgbClr val="000000">
                    <a:alpha val="43137"/>
                  </a:srgbClr>
                </a:outerShdw>
              </a:effectLst>
              <a:latin typeface="Maiandra GD" pitchFamily="34" charset="0"/>
            </a:endParaRPr>
          </a:p>
          <a:p>
            <a:pPr marL="0" indent="0" algn="just">
              <a:buNone/>
            </a:pPr>
            <a:endParaRPr lang="fr-FR" dirty="0">
              <a:solidFill>
                <a:srgbClr val="FF0000"/>
              </a:solidFill>
              <a:effectLst>
                <a:outerShdw blurRad="38100" dist="38100" dir="2700000" algn="tl">
                  <a:srgbClr val="000000">
                    <a:alpha val="43137"/>
                  </a:srgbClr>
                </a:outerShdw>
              </a:effectLst>
              <a:latin typeface="Maiandra GD" pitchFamily="34" charset="0"/>
            </a:endParaRPr>
          </a:p>
        </p:txBody>
      </p:sp>
    </p:spTree>
    <p:extLst>
      <p:ext uri="{BB962C8B-B14F-4D97-AF65-F5344CB8AC3E}">
        <p14:creationId xmlns:p14="http://schemas.microsoft.com/office/powerpoint/2010/main" val="3484954952"/>
      </p:ext>
    </p:extLst>
  </p:cSld>
  <p:clrMapOvr>
    <a:masterClrMapping/>
  </p:clrMapOvr>
  <p:timing>
    <p:tnLst>
      <p:par>
        <p:cTn id="1" dur="indefinite" restart="never" nodeType="tmRoot"/>
      </p:par>
    </p:tnLst>
  </p:timing>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solidFill>
                  <a:srgbClr val="FF0000"/>
                </a:solidFill>
                <a:effectLst>
                  <a:outerShdw blurRad="38100" dist="38100" dir="2700000" algn="tl">
                    <a:srgbClr val="000000">
                      <a:alpha val="43137"/>
                    </a:srgbClr>
                  </a:outerShdw>
                </a:effectLst>
                <a:latin typeface="Maiandra GD" pitchFamily="34" charset="0"/>
              </a:rPr>
              <a:t>Petit rappel : à quoi sert CSS ?</a:t>
            </a:r>
            <a:endParaRPr lang="fr-FR" dirty="0"/>
          </a:p>
        </p:txBody>
      </p:sp>
      <p:sp>
        <p:nvSpPr>
          <p:cNvPr id="3" name="Espace réservé du contenu 2"/>
          <p:cNvSpPr>
            <a:spLocks noGrp="1"/>
          </p:cNvSpPr>
          <p:nvPr>
            <p:ph idx="1"/>
          </p:nvPr>
        </p:nvSpPr>
        <p:spPr/>
        <p:txBody>
          <a:bodyPr>
            <a:normAutofit/>
          </a:bodyPr>
          <a:lstStyle/>
          <a:p>
            <a:pPr marL="0" indent="0" algn="just">
              <a:buNone/>
            </a:pPr>
            <a:r>
              <a:rPr lang="fr-FR" sz="3600" dirty="0">
                <a:latin typeface="Maiandra GD" pitchFamily="34" charset="0"/>
              </a:rPr>
              <a:t>CSS ? C'est lui qui vous permet de choisir la couleur de votre texte. Lui qui vous </a:t>
            </a:r>
            <a:r>
              <a:rPr lang="fr-FR" sz="3600" dirty="0" smtClean="0">
                <a:latin typeface="Maiandra GD" pitchFamily="34" charset="0"/>
              </a:rPr>
              <a:t>permet de </a:t>
            </a:r>
            <a:r>
              <a:rPr lang="fr-FR" sz="3600" dirty="0">
                <a:latin typeface="Maiandra GD" pitchFamily="34" charset="0"/>
              </a:rPr>
              <a:t>sélectionner la police utilisée sur votre site. Lui encore qui permet de </a:t>
            </a:r>
            <a:r>
              <a:rPr lang="fr-FR" sz="3600" dirty="0" smtClean="0">
                <a:latin typeface="Maiandra GD" pitchFamily="34" charset="0"/>
              </a:rPr>
              <a:t>définir </a:t>
            </a:r>
            <a:r>
              <a:rPr lang="fr-FR" sz="3600" dirty="0">
                <a:latin typeface="Maiandra GD" pitchFamily="34" charset="0"/>
              </a:rPr>
              <a:t>la </a:t>
            </a:r>
            <a:r>
              <a:rPr lang="fr-FR" sz="3600" dirty="0" smtClean="0">
                <a:latin typeface="Maiandra GD" pitchFamily="34" charset="0"/>
              </a:rPr>
              <a:t>taille du </a:t>
            </a:r>
            <a:r>
              <a:rPr lang="fr-FR" sz="3600" dirty="0">
                <a:latin typeface="Maiandra GD" pitchFamily="34" charset="0"/>
              </a:rPr>
              <a:t>texte, les bordures, le fond. . .</a:t>
            </a:r>
          </a:p>
        </p:txBody>
      </p:sp>
    </p:spTree>
    <p:extLst>
      <p:ext uri="{BB962C8B-B14F-4D97-AF65-F5344CB8AC3E}">
        <p14:creationId xmlns:p14="http://schemas.microsoft.com/office/powerpoint/2010/main" val="1199477978"/>
      </p:ext>
    </p:extLst>
  </p:cSld>
  <p:clrMapOvr>
    <a:masterClrMapping/>
  </p:clrMapOvr>
  <p:timing>
    <p:tnLst>
      <p:par>
        <p:cTn id="1" dur="indefinite" restart="never" nodeType="tmRoot"/>
      </p:par>
    </p:tnLst>
  </p:timing>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476672"/>
            <a:ext cx="8229600" cy="6048672"/>
          </a:xfrm>
        </p:spPr>
        <p:txBody>
          <a:bodyPr>
            <a:normAutofit/>
          </a:bodyPr>
          <a:lstStyle/>
          <a:p>
            <a:pPr marL="0" indent="0" algn="just">
              <a:buNone/>
            </a:pPr>
            <a:r>
              <a:rPr lang="fr-FR" sz="3600" dirty="0">
                <a:latin typeface="Maiandra GD" pitchFamily="34" charset="0"/>
              </a:rPr>
              <a:t>Et aussi, c'est lui qui permet de faire la mise en page de votre site. Vous pourrez dire </a:t>
            </a:r>
            <a:r>
              <a:rPr lang="fr-FR" sz="3600" dirty="0" smtClean="0">
                <a:latin typeface="Maiandra GD" pitchFamily="34" charset="0"/>
              </a:rPr>
              <a:t>: je </a:t>
            </a:r>
            <a:r>
              <a:rPr lang="fr-FR" sz="3600" dirty="0">
                <a:latin typeface="Maiandra GD" pitchFamily="34" charset="0"/>
              </a:rPr>
              <a:t>veux que mon menu soit à gauche et occupe telle largeur, que l'en-tête de mon </a:t>
            </a:r>
            <a:r>
              <a:rPr lang="fr-FR" sz="3600" dirty="0" smtClean="0">
                <a:latin typeface="Maiandra GD" pitchFamily="34" charset="0"/>
              </a:rPr>
              <a:t>site soit </a:t>
            </a:r>
            <a:r>
              <a:rPr lang="fr-FR" sz="3600" dirty="0">
                <a:latin typeface="Maiandra GD" pitchFamily="34" charset="0"/>
              </a:rPr>
              <a:t>calé en haut et qu'il soit toujours visible, etc.</a:t>
            </a:r>
          </a:p>
          <a:p>
            <a:pPr marL="0" indent="0" algn="just">
              <a:buNone/>
            </a:pPr>
            <a:r>
              <a:rPr lang="fr-FR" sz="3600" dirty="0">
                <a:latin typeface="Maiandra GD" pitchFamily="34" charset="0"/>
              </a:rPr>
              <a:t>Souvenez-vous de ce petit comparatif que nous avions vu dès le premier chapitre </a:t>
            </a:r>
            <a:r>
              <a:rPr lang="fr-FR" sz="3600" dirty="0" smtClean="0">
                <a:latin typeface="Maiandra GD" pitchFamily="34" charset="0"/>
              </a:rPr>
              <a:t>(figure</a:t>
            </a:r>
            <a:r>
              <a:rPr lang="fr-FR" sz="3600" dirty="0">
                <a:latin typeface="Maiandra GD" pitchFamily="34" charset="0"/>
              </a:rPr>
              <a:t> </a:t>
            </a:r>
            <a:r>
              <a:rPr lang="fr-FR" sz="3600" dirty="0" smtClean="0">
                <a:latin typeface="Maiandra GD" pitchFamily="34" charset="0"/>
              </a:rPr>
              <a:t>ci-dessous).</a:t>
            </a:r>
            <a:endParaRPr lang="fr-FR" sz="3600" dirty="0">
              <a:latin typeface="Maiandra GD" pitchFamily="34" charset="0"/>
            </a:endParaRPr>
          </a:p>
        </p:txBody>
      </p:sp>
    </p:spTree>
    <p:extLst>
      <p:ext uri="{BB962C8B-B14F-4D97-AF65-F5344CB8AC3E}">
        <p14:creationId xmlns:p14="http://schemas.microsoft.com/office/powerpoint/2010/main" val="2110704260"/>
      </p:ext>
    </p:extLst>
  </p:cSld>
  <p:clrMapOvr>
    <a:masterClrMapping/>
  </p:clrMapOvr>
  <p:timing>
    <p:tnLst>
      <p:par>
        <p:cTn id="1" dur="indefinite" restart="never" nodeType="tmRoot"/>
      </p:par>
    </p:tnLst>
  </p:timing>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008" y="116632"/>
            <a:ext cx="8964488" cy="6669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95209975"/>
      </p:ext>
    </p:extLst>
  </p:cSld>
  <p:clrMapOvr>
    <a:masterClrMapping/>
  </p:clrMapOvr>
  <p:timing>
    <p:tnLst>
      <p:par>
        <p:cTn id="1" dur="indefinite" restart="never" nodeType="tmRoot"/>
      </p:par>
    </p:tnLst>
  </p:timing>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332656"/>
            <a:ext cx="8640960" cy="6264696"/>
          </a:xfrm>
        </p:spPr>
        <p:txBody>
          <a:bodyPr>
            <a:normAutofit/>
          </a:bodyPr>
          <a:lstStyle/>
          <a:p>
            <a:pPr marL="0" indent="0" algn="just">
              <a:buNone/>
            </a:pPr>
            <a:r>
              <a:rPr lang="fr-FR" sz="3600" dirty="0">
                <a:latin typeface="Maiandra GD" pitchFamily="34" charset="0"/>
              </a:rPr>
              <a:t>Grâce au HTML, nous avons pu rédiger le contenu de notre site mais il est brut </a:t>
            </a:r>
            <a:r>
              <a:rPr lang="fr-FR" sz="3600" dirty="0" smtClean="0">
                <a:latin typeface="Maiandra GD" pitchFamily="34" charset="0"/>
              </a:rPr>
              <a:t>de décoffrage</a:t>
            </a:r>
            <a:r>
              <a:rPr lang="fr-FR" sz="3600" dirty="0">
                <a:latin typeface="Maiandra GD" pitchFamily="34" charset="0"/>
              </a:rPr>
              <a:t>. </a:t>
            </a:r>
            <a:endParaRPr lang="fr-FR" sz="3600" dirty="0" smtClean="0">
              <a:latin typeface="Maiandra GD" pitchFamily="34" charset="0"/>
            </a:endParaRPr>
          </a:p>
          <a:p>
            <a:pPr marL="0" indent="0" algn="just">
              <a:buNone/>
            </a:pPr>
            <a:r>
              <a:rPr lang="fr-FR" sz="3600" dirty="0" smtClean="0">
                <a:latin typeface="Maiandra GD" pitchFamily="34" charset="0"/>
              </a:rPr>
              <a:t>Le </a:t>
            </a:r>
            <a:r>
              <a:rPr lang="fr-FR" sz="3600" dirty="0">
                <a:latin typeface="Maiandra GD" pitchFamily="34" charset="0"/>
              </a:rPr>
              <a:t>CSS vient compléter ce code pour mettre en forme tout cela et </a:t>
            </a:r>
            <a:r>
              <a:rPr lang="fr-FR" sz="3600" dirty="0" smtClean="0">
                <a:latin typeface="Maiandra GD" pitchFamily="34" charset="0"/>
              </a:rPr>
              <a:t>donner </a:t>
            </a:r>
            <a:r>
              <a:rPr lang="fr-FR" sz="3600" dirty="0">
                <a:latin typeface="Maiandra GD" pitchFamily="34" charset="0"/>
              </a:rPr>
              <a:t>au contenu l'apparence que l'on souhaite.</a:t>
            </a:r>
          </a:p>
        </p:txBody>
      </p:sp>
    </p:spTree>
    <p:extLst>
      <p:ext uri="{BB962C8B-B14F-4D97-AF65-F5344CB8AC3E}">
        <p14:creationId xmlns:p14="http://schemas.microsoft.com/office/powerpoint/2010/main" val="2919345674"/>
      </p:ext>
    </p:extLst>
  </p:cSld>
  <p:clrMapOvr>
    <a:masterClrMapping/>
  </p:clrMapOvr>
  <p:timing>
    <p:tnLst>
      <p:par>
        <p:cTn id="1" dur="indefinite" restart="never" nodeType="tmRoot"/>
      </p:par>
    </p:tnLst>
  </p:timing>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850106"/>
          </a:xfrm>
        </p:spPr>
        <p:txBody>
          <a:bodyPr/>
          <a:lstStyle/>
          <a:p>
            <a:r>
              <a:rPr lang="fr-FR" dirty="0">
                <a:effectLst>
                  <a:outerShdw blurRad="38100" dist="38100" dir="2700000" algn="tl">
                    <a:srgbClr val="000000">
                      <a:alpha val="43137"/>
                    </a:srgbClr>
                  </a:outerShdw>
                </a:effectLst>
                <a:latin typeface="Maiandra GD" pitchFamily="34" charset="0"/>
              </a:rPr>
              <a:t>CSS : des débuts </a:t>
            </a:r>
            <a:r>
              <a:rPr lang="fr-FR" dirty="0" smtClean="0">
                <a:effectLst>
                  <a:outerShdw blurRad="38100" dist="38100" dir="2700000" algn="tl">
                    <a:srgbClr val="000000">
                      <a:alpha val="43137"/>
                    </a:srgbClr>
                  </a:outerShdw>
                </a:effectLst>
                <a:latin typeface="Maiandra GD" pitchFamily="34" charset="0"/>
              </a:rPr>
              <a:t>difficiles</a:t>
            </a:r>
            <a:endParaRPr lang="fr-FR" dirty="0">
              <a:effectLst>
                <a:outerShdw blurRad="38100" dist="38100" dir="2700000" algn="tl">
                  <a:srgbClr val="000000">
                    <a:alpha val="43137"/>
                  </a:srgbClr>
                </a:outerShdw>
              </a:effectLst>
              <a:latin typeface="Maiandra GD" pitchFamily="34" charset="0"/>
            </a:endParaRPr>
          </a:p>
        </p:txBody>
      </p:sp>
      <p:sp>
        <p:nvSpPr>
          <p:cNvPr id="3" name="Espace réservé du contenu 2"/>
          <p:cNvSpPr>
            <a:spLocks noGrp="1"/>
          </p:cNvSpPr>
          <p:nvPr>
            <p:ph idx="1"/>
          </p:nvPr>
        </p:nvSpPr>
        <p:spPr>
          <a:xfrm>
            <a:off x="107504" y="1124744"/>
            <a:ext cx="8964488" cy="5544616"/>
          </a:xfrm>
        </p:spPr>
        <p:txBody>
          <a:bodyPr>
            <a:normAutofit/>
          </a:bodyPr>
          <a:lstStyle/>
          <a:p>
            <a:pPr marL="0" indent="0" algn="just">
              <a:buNone/>
            </a:pPr>
            <a:r>
              <a:rPr lang="fr-FR" dirty="0">
                <a:latin typeface="Maiandra GD" pitchFamily="34" charset="0"/>
              </a:rPr>
              <a:t>Il faut savoir qu'aux débuts </a:t>
            </a:r>
            <a:r>
              <a:rPr lang="fr-FR" dirty="0" smtClean="0">
                <a:latin typeface="Maiandra GD" pitchFamily="34" charset="0"/>
              </a:rPr>
              <a:t>du Web</a:t>
            </a:r>
            <a:r>
              <a:rPr lang="fr-FR" dirty="0">
                <a:latin typeface="Maiandra GD" pitchFamily="34" charset="0"/>
              </a:rPr>
              <a:t>, CSS n'existait pas. En fait, il n'y avait </a:t>
            </a:r>
            <a:r>
              <a:rPr lang="fr-FR" dirty="0" smtClean="0">
                <a:latin typeface="Maiandra GD" pitchFamily="34" charset="0"/>
              </a:rPr>
              <a:t>initialement que </a:t>
            </a:r>
            <a:r>
              <a:rPr lang="fr-FR" dirty="0">
                <a:latin typeface="Maiandra GD" pitchFamily="34" charset="0"/>
              </a:rPr>
              <a:t>le langage </a:t>
            </a:r>
            <a:r>
              <a:rPr lang="fr-FR" dirty="0" smtClean="0">
                <a:latin typeface="Maiandra GD" pitchFamily="34" charset="0"/>
              </a:rPr>
              <a:t>HTML</a:t>
            </a:r>
            <a:r>
              <a:rPr lang="fr-FR" dirty="0">
                <a:latin typeface="Maiandra GD" pitchFamily="34" charset="0"/>
              </a:rPr>
              <a:t>. Le HTML est né en 1991 et CSS en 1996. Alors, vous vous </a:t>
            </a:r>
            <a:r>
              <a:rPr lang="fr-FR" dirty="0" smtClean="0">
                <a:latin typeface="Maiandra GD" pitchFamily="34" charset="0"/>
              </a:rPr>
              <a:t>dites sûrement </a:t>
            </a:r>
            <a:r>
              <a:rPr lang="fr-FR" dirty="0">
                <a:latin typeface="Maiandra GD" pitchFamily="34" charset="0"/>
              </a:rPr>
              <a:t>: comment faisait-on la mise en forme de 1991 à 1996 ? </a:t>
            </a:r>
            <a:endParaRPr lang="fr-FR" dirty="0" smtClean="0">
              <a:latin typeface="Maiandra GD" pitchFamily="34" charset="0"/>
            </a:endParaRPr>
          </a:p>
          <a:p>
            <a:pPr marL="0" indent="0" algn="just">
              <a:buNone/>
            </a:pPr>
            <a:r>
              <a:rPr lang="fr-FR" dirty="0" smtClean="0">
                <a:latin typeface="Maiandra GD" pitchFamily="34" charset="0"/>
              </a:rPr>
              <a:t>Eh </a:t>
            </a:r>
            <a:r>
              <a:rPr lang="fr-FR" dirty="0">
                <a:latin typeface="Maiandra GD" pitchFamily="34" charset="0"/>
              </a:rPr>
              <a:t>bien, </a:t>
            </a:r>
            <a:r>
              <a:rPr lang="fr-FR" dirty="0" smtClean="0">
                <a:latin typeface="Maiandra GD" pitchFamily="34" charset="0"/>
              </a:rPr>
              <a:t>uniquement en </a:t>
            </a:r>
            <a:r>
              <a:rPr lang="fr-FR" dirty="0">
                <a:latin typeface="Maiandra GD" pitchFamily="34" charset="0"/>
              </a:rPr>
              <a:t>HTML! Il y avait en </a:t>
            </a:r>
            <a:r>
              <a:rPr lang="fr-FR" dirty="0" smtClean="0">
                <a:latin typeface="Maiandra GD" pitchFamily="34" charset="0"/>
              </a:rPr>
              <a:t>effet </a:t>
            </a:r>
            <a:r>
              <a:rPr lang="fr-FR" dirty="0">
                <a:latin typeface="Maiandra GD" pitchFamily="34" charset="0"/>
              </a:rPr>
              <a:t>des balises HTML dédiées à la mise en forme. &lt;</a:t>
            </a:r>
            <a:r>
              <a:rPr lang="fr-FR" dirty="0" smtClean="0">
                <a:latin typeface="Maiandra GD" pitchFamily="34" charset="0"/>
              </a:rPr>
              <a:t>font color</a:t>
            </a:r>
            <a:r>
              <a:rPr lang="fr-FR" dirty="0">
                <a:latin typeface="Maiandra GD" pitchFamily="34" charset="0"/>
              </a:rPr>
              <a:t>="#aab1c3"&gt;, par exemple, permettait de </a:t>
            </a:r>
            <a:r>
              <a:rPr lang="fr-FR" dirty="0" smtClean="0">
                <a:latin typeface="Maiandra GD" pitchFamily="34" charset="0"/>
              </a:rPr>
              <a:t>définir </a:t>
            </a:r>
            <a:r>
              <a:rPr lang="fr-FR" dirty="0">
                <a:latin typeface="Maiandra GD" pitchFamily="34" charset="0"/>
              </a:rPr>
              <a:t>la couleur du texte.</a:t>
            </a:r>
          </a:p>
        </p:txBody>
      </p:sp>
    </p:spTree>
    <p:extLst>
      <p:ext uri="{BB962C8B-B14F-4D97-AF65-F5344CB8AC3E}">
        <p14:creationId xmlns:p14="http://schemas.microsoft.com/office/powerpoint/2010/main" val="3220114191"/>
      </p:ext>
    </p:extLst>
  </p:cSld>
  <p:clrMapOvr>
    <a:masterClrMapping/>
  </p:clrMapOvr>
  <p:timing>
    <p:tnLst>
      <p:par>
        <p:cTn id="1" dur="indefinite" restart="never" nodeType="tmRoot"/>
      </p:par>
    </p:tnLst>
  </p:timing>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9512" y="188640"/>
            <a:ext cx="8712968" cy="6525344"/>
          </a:xfrm>
        </p:spPr>
        <p:txBody>
          <a:bodyPr>
            <a:normAutofit lnSpcReduction="10000"/>
          </a:bodyPr>
          <a:lstStyle/>
          <a:p>
            <a:pPr marL="0" indent="0" algn="just">
              <a:buNone/>
            </a:pPr>
            <a:r>
              <a:rPr lang="fr-FR" dirty="0">
                <a:latin typeface="Maiandra GD" pitchFamily="34" charset="0"/>
              </a:rPr>
              <a:t>Cependant, les pages HTML commençaient à devenir assez complexes. Il y avait de </a:t>
            </a:r>
            <a:r>
              <a:rPr lang="fr-FR" dirty="0" smtClean="0">
                <a:latin typeface="Maiandra GD" pitchFamily="34" charset="0"/>
              </a:rPr>
              <a:t>plus en </a:t>
            </a:r>
            <a:r>
              <a:rPr lang="fr-FR" dirty="0">
                <a:latin typeface="Maiandra GD" pitchFamily="34" charset="0"/>
              </a:rPr>
              <a:t>plus de balises et c'était un joyeux mélange entre le fond et la forme, qui rendait </a:t>
            </a:r>
            <a:r>
              <a:rPr lang="fr-FR" dirty="0" smtClean="0">
                <a:latin typeface="Maiandra GD" pitchFamily="34" charset="0"/>
              </a:rPr>
              <a:t>la mise </a:t>
            </a:r>
            <a:r>
              <a:rPr lang="fr-FR" dirty="0">
                <a:latin typeface="Maiandra GD" pitchFamily="34" charset="0"/>
              </a:rPr>
              <a:t>à jour des pages web de plus en plus complexe. C'est pour cela que l'on a créé </a:t>
            </a:r>
            <a:r>
              <a:rPr lang="fr-FR" dirty="0" smtClean="0">
                <a:latin typeface="Maiandra GD" pitchFamily="34" charset="0"/>
              </a:rPr>
              <a:t>le langage </a:t>
            </a:r>
            <a:r>
              <a:rPr lang="fr-FR" dirty="0">
                <a:latin typeface="Maiandra GD" pitchFamily="34" charset="0"/>
              </a:rPr>
              <a:t>CSS</a:t>
            </a:r>
            <a:r>
              <a:rPr lang="fr-FR" dirty="0" smtClean="0">
                <a:latin typeface="Maiandra GD" pitchFamily="34" charset="0"/>
              </a:rPr>
              <a:t>.</a:t>
            </a:r>
          </a:p>
          <a:p>
            <a:pPr marL="0" indent="0" algn="just">
              <a:buNone/>
            </a:pPr>
            <a:r>
              <a:rPr lang="fr-FR" dirty="0">
                <a:latin typeface="Maiandra GD" pitchFamily="34" charset="0"/>
              </a:rPr>
              <a:t>Cependant, le CSS n'a pas été </a:t>
            </a:r>
            <a:r>
              <a:rPr lang="fr-FR" dirty="0" smtClean="0">
                <a:latin typeface="Maiandra GD" pitchFamily="34" charset="0"/>
              </a:rPr>
              <a:t>adopté immédiatement </a:t>
            </a:r>
            <a:r>
              <a:rPr lang="fr-FR" dirty="0">
                <a:latin typeface="Maiandra GD" pitchFamily="34" charset="0"/>
              </a:rPr>
              <a:t>par les webmasters, loin de là.</a:t>
            </a:r>
          </a:p>
          <a:p>
            <a:pPr marL="0" indent="0" algn="just">
              <a:buNone/>
            </a:pPr>
            <a:r>
              <a:rPr lang="fr-FR" dirty="0">
                <a:latin typeface="Maiandra GD" pitchFamily="34" charset="0"/>
              </a:rPr>
              <a:t>Il fallait se défaire de certaines </a:t>
            </a:r>
            <a:r>
              <a:rPr lang="fr-FR" dirty="0" smtClean="0">
                <a:latin typeface="Maiandra GD" pitchFamily="34" charset="0"/>
              </a:rPr>
              <a:t>mauvaises habitudes </a:t>
            </a:r>
            <a:r>
              <a:rPr lang="fr-FR" dirty="0">
                <a:latin typeface="Maiandra GD" pitchFamily="34" charset="0"/>
              </a:rPr>
              <a:t>et cela a pris du temps. Encore</a:t>
            </a:r>
          </a:p>
          <a:p>
            <a:pPr marL="0" indent="0" algn="just">
              <a:buNone/>
            </a:pPr>
            <a:r>
              <a:rPr lang="fr-FR" dirty="0">
                <a:latin typeface="Maiandra GD" pitchFamily="34" charset="0"/>
              </a:rPr>
              <a:t>aujourd'hui, on peut trouver des sites web avec des balises HTML de mise en forme,</a:t>
            </a:r>
          </a:p>
          <a:p>
            <a:pPr marL="0" indent="0" algn="just">
              <a:buNone/>
            </a:pPr>
            <a:r>
              <a:rPr lang="fr-FR" dirty="0">
                <a:latin typeface="Maiandra GD" pitchFamily="34" charset="0"/>
              </a:rPr>
              <a:t>anciennes et obsolètes, comme &lt;font&gt; !</a:t>
            </a:r>
          </a:p>
        </p:txBody>
      </p:sp>
    </p:spTree>
    <p:extLst>
      <p:ext uri="{BB962C8B-B14F-4D97-AF65-F5344CB8AC3E}">
        <p14:creationId xmlns:p14="http://schemas.microsoft.com/office/powerpoint/2010/main" val="3691370346"/>
      </p:ext>
    </p:extLst>
  </p:cSld>
  <p:clrMapOvr>
    <a:masterClrMapping/>
  </p:clrMapOvr>
  <p:timing>
    <p:tnLst>
      <p:par>
        <p:cTn id="1" dur="indefinite" restart="never" nodeType="tmRoot"/>
      </p:par>
    </p:tnLst>
  </p:timing>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274638"/>
            <a:ext cx="8280920" cy="1143000"/>
          </a:xfrm>
        </p:spPr>
        <p:txBody>
          <a:bodyPr>
            <a:noAutofit/>
          </a:bodyPr>
          <a:lstStyle/>
          <a:p>
            <a:r>
              <a:rPr lang="fr-FR" dirty="0">
                <a:effectLst>
                  <a:outerShdw blurRad="38100" dist="38100" dir="2700000" algn="tl">
                    <a:srgbClr val="000000">
                      <a:alpha val="43137"/>
                    </a:srgbClr>
                  </a:outerShdw>
                </a:effectLst>
                <a:latin typeface="Maiandra GD" pitchFamily="34" charset="0"/>
              </a:rPr>
              <a:t>CSS : la prise en charge des navigateurs</a:t>
            </a:r>
          </a:p>
        </p:txBody>
      </p:sp>
      <p:sp>
        <p:nvSpPr>
          <p:cNvPr id="3" name="Espace réservé du contenu 2"/>
          <p:cNvSpPr>
            <a:spLocks noGrp="1"/>
          </p:cNvSpPr>
          <p:nvPr>
            <p:ph idx="1"/>
          </p:nvPr>
        </p:nvSpPr>
        <p:spPr>
          <a:xfrm>
            <a:off x="251520" y="1927373"/>
            <a:ext cx="8712968" cy="4525963"/>
          </a:xfrm>
        </p:spPr>
        <p:txBody>
          <a:bodyPr/>
          <a:lstStyle/>
          <a:p>
            <a:pPr marL="0" indent="0" algn="just">
              <a:buNone/>
            </a:pPr>
            <a:r>
              <a:rPr lang="fr-FR" dirty="0">
                <a:latin typeface="Maiandra GD" pitchFamily="34" charset="0"/>
              </a:rPr>
              <a:t>Tout comme le HTML, le CSS a évolué. Je vous avais indiqué qu'il y avait </a:t>
            </a:r>
            <a:r>
              <a:rPr lang="fr-FR" dirty="0" smtClean="0">
                <a:latin typeface="Maiandra GD" pitchFamily="34" charset="0"/>
              </a:rPr>
              <a:t>quatre versions </a:t>
            </a:r>
            <a:r>
              <a:rPr lang="fr-FR" dirty="0">
                <a:latin typeface="Maiandra GD" pitchFamily="34" charset="0"/>
              </a:rPr>
              <a:t>importantes </a:t>
            </a:r>
            <a:r>
              <a:rPr lang="fr-FR" dirty="0" smtClean="0">
                <a:latin typeface="Maiandra GD" pitchFamily="34" charset="0"/>
              </a:rPr>
              <a:t>de </a:t>
            </a:r>
            <a:r>
              <a:rPr lang="fr-FR" dirty="0">
                <a:latin typeface="Maiandra GD" pitchFamily="34" charset="0"/>
              </a:rPr>
              <a:t>CSS </a:t>
            </a:r>
            <a:r>
              <a:rPr lang="fr-FR" dirty="0" smtClean="0">
                <a:latin typeface="Maiandra GD" pitchFamily="34" charset="0"/>
              </a:rPr>
              <a:t>:</a:t>
            </a:r>
          </a:p>
          <a:p>
            <a:pPr marL="0" indent="0">
              <a:buNone/>
            </a:pPr>
            <a:r>
              <a:rPr lang="fr-FR" dirty="0" smtClean="0">
                <a:latin typeface="Maiandra GD" pitchFamily="34" charset="0"/>
              </a:rPr>
              <a:t>- CSS </a:t>
            </a:r>
            <a:r>
              <a:rPr lang="fr-FR" dirty="0">
                <a:latin typeface="Maiandra GD" pitchFamily="34" charset="0"/>
              </a:rPr>
              <a:t>1 ;</a:t>
            </a:r>
          </a:p>
          <a:p>
            <a:pPr marL="0" indent="0">
              <a:buNone/>
            </a:pPr>
            <a:r>
              <a:rPr lang="fr-FR" dirty="0" smtClean="0">
                <a:latin typeface="Maiandra GD" pitchFamily="34" charset="0"/>
              </a:rPr>
              <a:t>- CSS </a:t>
            </a:r>
            <a:r>
              <a:rPr lang="fr-FR" dirty="0">
                <a:latin typeface="Maiandra GD" pitchFamily="34" charset="0"/>
              </a:rPr>
              <a:t>2.0 ;</a:t>
            </a:r>
          </a:p>
          <a:p>
            <a:pPr marL="0" indent="0">
              <a:buNone/>
            </a:pPr>
            <a:r>
              <a:rPr lang="fr-FR" dirty="0" smtClean="0">
                <a:latin typeface="Maiandra GD" pitchFamily="34" charset="0"/>
              </a:rPr>
              <a:t>- CSS </a:t>
            </a:r>
            <a:r>
              <a:rPr lang="fr-FR" dirty="0">
                <a:latin typeface="Maiandra GD" pitchFamily="34" charset="0"/>
              </a:rPr>
              <a:t>2.1 ;</a:t>
            </a:r>
          </a:p>
          <a:p>
            <a:pPr marL="0" indent="0">
              <a:buNone/>
            </a:pPr>
            <a:r>
              <a:rPr lang="fr-FR" dirty="0" smtClean="0">
                <a:latin typeface="Maiandra GD" pitchFamily="34" charset="0"/>
              </a:rPr>
              <a:t>- CSS </a:t>
            </a:r>
            <a:r>
              <a:rPr lang="fr-FR" dirty="0">
                <a:latin typeface="Maiandra GD" pitchFamily="34" charset="0"/>
              </a:rPr>
              <a:t>3.</a:t>
            </a:r>
          </a:p>
        </p:txBody>
      </p:sp>
    </p:spTree>
    <p:extLst>
      <p:ext uri="{BB962C8B-B14F-4D97-AF65-F5344CB8AC3E}">
        <p14:creationId xmlns:p14="http://schemas.microsoft.com/office/powerpoint/2010/main" val="2461945050"/>
      </p:ext>
    </p:extLst>
  </p:cSld>
  <p:clrMapOvr>
    <a:masterClrMapping/>
  </p:clrMapOvr>
  <p:timing>
    <p:tnLst>
      <p:par>
        <p:cTn id="1" dur="indefinite" restart="never" nodeType="tmRoot"/>
      </p:par>
    </p:tnLst>
  </p:timing>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332656"/>
            <a:ext cx="8640960" cy="6336704"/>
          </a:xfrm>
        </p:spPr>
        <p:txBody>
          <a:bodyPr>
            <a:normAutofit/>
          </a:bodyPr>
          <a:lstStyle/>
          <a:p>
            <a:pPr marL="0" indent="0" algn="just">
              <a:buNone/>
            </a:pPr>
            <a:r>
              <a:rPr lang="fr-FR" dirty="0">
                <a:latin typeface="Maiandra GD" pitchFamily="34" charset="0"/>
              </a:rPr>
              <a:t>En fait, la version CSS 3 n'est pas encore totalement </a:t>
            </a:r>
            <a:r>
              <a:rPr lang="fr-FR" dirty="0" smtClean="0">
                <a:latin typeface="Maiandra GD" pitchFamily="34" charset="0"/>
              </a:rPr>
              <a:t>finalisée </a:t>
            </a:r>
            <a:r>
              <a:rPr lang="fr-FR" dirty="0">
                <a:latin typeface="Maiandra GD" pitchFamily="34" charset="0"/>
              </a:rPr>
              <a:t>(ce n'est </a:t>
            </a:r>
            <a:r>
              <a:rPr lang="fr-FR" dirty="0" smtClean="0">
                <a:latin typeface="Maiandra GD" pitchFamily="34" charset="0"/>
              </a:rPr>
              <a:t>pas encore </a:t>
            </a:r>
            <a:r>
              <a:rPr lang="fr-FR" dirty="0">
                <a:latin typeface="Maiandra GD" pitchFamily="34" charset="0"/>
              </a:rPr>
              <a:t>une version </a:t>
            </a:r>
            <a:r>
              <a:rPr lang="fr-FR" dirty="0" smtClean="0">
                <a:latin typeface="Maiandra GD" pitchFamily="34" charset="0"/>
              </a:rPr>
              <a:t>officielle</a:t>
            </a:r>
            <a:r>
              <a:rPr lang="fr-FR" dirty="0">
                <a:latin typeface="Maiandra GD" pitchFamily="34" charset="0"/>
              </a:rPr>
              <a:t>). Cependant, elle est bien avancée et </a:t>
            </a:r>
            <a:r>
              <a:rPr lang="fr-FR" dirty="0" smtClean="0">
                <a:latin typeface="Maiandra GD" pitchFamily="34" charset="0"/>
              </a:rPr>
              <a:t>aujourd'hui déjà </a:t>
            </a:r>
            <a:r>
              <a:rPr lang="fr-FR" dirty="0">
                <a:latin typeface="Maiandra GD" pitchFamily="34" charset="0"/>
              </a:rPr>
              <a:t>bien prise en charge par de </a:t>
            </a:r>
            <a:r>
              <a:rPr lang="fr-FR" dirty="0" smtClean="0">
                <a:latin typeface="Maiandra GD" pitchFamily="34" charset="0"/>
              </a:rPr>
              <a:t>nombreux  navigateurs</a:t>
            </a:r>
            <a:r>
              <a:rPr lang="fr-FR" dirty="0">
                <a:latin typeface="Maiandra GD" pitchFamily="34" charset="0"/>
              </a:rPr>
              <a:t>, ce qui fait qu'on </a:t>
            </a:r>
            <a:r>
              <a:rPr lang="fr-FR" dirty="0" smtClean="0">
                <a:latin typeface="Maiandra GD" pitchFamily="34" charset="0"/>
              </a:rPr>
              <a:t>peut déjà </a:t>
            </a:r>
            <a:r>
              <a:rPr lang="fr-FR" dirty="0">
                <a:latin typeface="Maiandra GD" pitchFamily="34" charset="0"/>
              </a:rPr>
              <a:t>s'en servir. Il serait dommage de passer à côté car CSS 3 apporte </a:t>
            </a:r>
            <a:r>
              <a:rPr lang="fr-FR" dirty="0" smtClean="0">
                <a:latin typeface="Maiandra GD" pitchFamily="34" charset="0"/>
              </a:rPr>
              <a:t>de nombreuses </a:t>
            </a:r>
            <a:r>
              <a:rPr lang="fr-FR" dirty="0">
                <a:latin typeface="Maiandra GD" pitchFamily="34" charset="0"/>
              </a:rPr>
              <a:t>fonctionnalités à CSS (leur nombre double par rapport à </a:t>
            </a:r>
            <a:r>
              <a:rPr lang="fr-FR" dirty="0" smtClean="0">
                <a:latin typeface="Maiandra GD" pitchFamily="34" charset="0"/>
              </a:rPr>
              <a:t>CSS 2.1 </a:t>
            </a:r>
            <a:r>
              <a:rPr lang="fr-FR" dirty="0">
                <a:latin typeface="Maiandra GD" pitchFamily="34" charset="0"/>
              </a:rPr>
              <a:t>!). Nous nous baserons donc dans ce cours sur CSS 3, qui reprend </a:t>
            </a:r>
            <a:r>
              <a:rPr lang="fr-FR" dirty="0" smtClean="0">
                <a:latin typeface="Maiandra GD" pitchFamily="34" charset="0"/>
              </a:rPr>
              <a:t>et complète </a:t>
            </a:r>
            <a:r>
              <a:rPr lang="fr-FR" dirty="0">
                <a:latin typeface="Maiandra GD" pitchFamily="34" charset="0"/>
              </a:rPr>
              <a:t>la plupart des fonctionnalités de CSS 2.1.</a:t>
            </a:r>
          </a:p>
        </p:txBody>
      </p:sp>
      <p:pic>
        <p:nvPicPr>
          <p:cNvPr id="317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10214" y="5877272"/>
            <a:ext cx="1238250" cy="79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50322042"/>
      </p:ext>
    </p:extLst>
  </p:cSld>
  <p:clrMapOvr>
    <a:masterClrMapping/>
  </p:clrMapOvr>
  <p:timing>
    <p:tnLst>
      <p:par>
        <p:cTn id="1" dur="indefinite" restart="never" nodeType="tmRoot"/>
      </p:par>
    </p:tnLst>
  </p:timing>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188640"/>
            <a:ext cx="8640960" cy="6480720"/>
          </a:xfrm>
        </p:spPr>
        <p:txBody>
          <a:bodyPr>
            <a:normAutofit/>
          </a:bodyPr>
          <a:lstStyle/>
          <a:p>
            <a:pPr marL="0" indent="0" algn="just">
              <a:buNone/>
            </a:pPr>
            <a:r>
              <a:rPr lang="fr-FR" dirty="0">
                <a:latin typeface="Maiandra GD" pitchFamily="34" charset="0"/>
              </a:rPr>
              <a:t>Ce sont les navigateurs web qui font le travail le plus complexe : ils doivent lire le </a:t>
            </a:r>
            <a:r>
              <a:rPr lang="fr-FR" dirty="0" smtClean="0">
                <a:latin typeface="Maiandra GD" pitchFamily="34" charset="0"/>
              </a:rPr>
              <a:t>code CSS </a:t>
            </a:r>
            <a:r>
              <a:rPr lang="fr-FR" dirty="0">
                <a:latin typeface="Maiandra GD" pitchFamily="34" charset="0"/>
              </a:rPr>
              <a:t>et comprendre comment </a:t>
            </a:r>
            <a:r>
              <a:rPr lang="fr-FR" dirty="0" smtClean="0">
                <a:latin typeface="Maiandra GD" pitchFamily="34" charset="0"/>
              </a:rPr>
              <a:t>afficher </a:t>
            </a:r>
            <a:r>
              <a:rPr lang="fr-FR" dirty="0">
                <a:latin typeface="Maiandra GD" pitchFamily="34" charset="0"/>
              </a:rPr>
              <a:t>la page.</a:t>
            </a:r>
          </a:p>
          <a:p>
            <a:pPr marL="0" indent="0" algn="just">
              <a:buNone/>
            </a:pPr>
            <a:r>
              <a:rPr lang="fr-FR" dirty="0">
                <a:latin typeface="Maiandra GD" pitchFamily="34" charset="0"/>
              </a:rPr>
              <a:t>Au début des années 2000, Internet Explorer était le navigateur le plus répandu </a:t>
            </a:r>
            <a:r>
              <a:rPr lang="fr-FR" dirty="0" smtClean="0">
                <a:latin typeface="Maiandra GD" pitchFamily="34" charset="0"/>
              </a:rPr>
              <a:t>mais sa </a:t>
            </a:r>
            <a:r>
              <a:rPr lang="fr-FR" dirty="0">
                <a:latin typeface="Maiandra GD" pitchFamily="34" charset="0"/>
              </a:rPr>
              <a:t>gestion du CSS est longtemps restée assez médiocre (pour ne pas dire </a:t>
            </a:r>
            <a:r>
              <a:rPr lang="fr-FR" dirty="0" smtClean="0">
                <a:latin typeface="Maiandra GD" pitchFamily="34" charset="0"/>
              </a:rPr>
              <a:t>carrément mauvaise</a:t>
            </a:r>
            <a:r>
              <a:rPr lang="fr-FR" dirty="0">
                <a:latin typeface="Maiandra GD" pitchFamily="34" charset="0"/>
              </a:rPr>
              <a:t>). C'était la grande époque de la version 6 (IE6), hélas encore utilisée </a:t>
            </a:r>
            <a:r>
              <a:rPr lang="fr-FR" dirty="0" smtClean="0">
                <a:latin typeface="Maiandra GD" pitchFamily="34" charset="0"/>
              </a:rPr>
              <a:t>aujourd'hui par </a:t>
            </a:r>
            <a:r>
              <a:rPr lang="fr-FR" dirty="0">
                <a:latin typeface="Maiandra GD" pitchFamily="34" charset="0"/>
              </a:rPr>
              <a:t>une petite partie des internautes (heureusement, cette proportion tend </a:t>
            </a:r>
            <a:r>
              <a:rPr lang="fr-FR" dirty="0" smtClean="0">
                <a:latin typeface="Maiandra GD" pitchFamily="34" charset="0"/>
              </a:rPr>
              <a:t>à diminuer</a:t>
            </a:r>
            <a:r>
              <a:rPr lang="fr-FR" dirty="0">
                <a:latin typeface="Maiandra GD" pitchFamily="34" charset="0"/>
              </a:rPr>
              <a:t>).</a:t>
            </a:r>
          </a:p>
        </p:txBody>
      </p:sp>
    </p:spTree>
    <p:extLst>
      <p:ext uri="{BB962C8B-B14F-4D97-AF65-F5344CB8AC3E}">
        <p14:creationId xmlns:p14="http://schemas.microsoft.com/office/powerpoint/2010/main" val="2184990343"/>
      </p:ext>
    </p:extLst>
  </p:cSld>
  <p:clrMapOvr>
    <a:masterClrMapping/>
  </p:clrMapOvr>
  <p:timing>
    <p:tnLst>
      <p:par>
        <p:cTn id="1" dur="indefinite" restart="never" nodeType="tmRoot"/>
      </p:par>
    </p:tnLst>
  </p:timing>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332656"/>
            <a:ext cx="8640960" cy="6192688"/>
          </a:xfrm>
        </p:spPr>
        <p:txBody>
          <a:bodyPr>
            <a:normAutofit/>
          </a:bodyPr>
          <a:lstStyle/>
          <a:p>
            <a:pPr marL="0" indent="0" algn="just">
              <a:buNone/>
            </a:pPr>
            <a:r>
              <a:rPr lang="fr-FR" sz="3600" dirty="0">
                <a:latin typeface="Maiandra GD" pitchFamily="34" charset="0"/>
              </a:rPr>
              <a:t>Depuis, de nombreux navigateurs sont arrivés et ont chahuté Internet Explorer : </a:t>
            </a:r>
            <a:r>
              <a:rPr lang="fr-FR" sz="3600" dirty="0" smtClean="0">
                <a:latin typeface="Maiandra GD" pitchFamily="34" charset="0"/>
              </a:rPr>
              <a:t>Mozilla Firefox </a:t>
            </a:r>
            <a:r>
              <a:rPr lang="fr-FR" sz="3600" dirty="0">
                <a:latin typeface="Maiandra GD" pitchFamily="34" charset="0"/>
              </a:rPr>
              <a:t>bien sûr, mais aussi Google Chrome. Et je ne vous parle pas du succès des </a:t>
            </a:r>
            <a:r>
              <a:rPr lang="fr-FR" sz="3600" dirty="0" smtClean="0">
                <a:latin typeface="Maiandra GD" pitchFamily="34" charset="0"/>
              </a:rPr>
              <a:t>Mac et </a:t>
            </a:r>
            <a:r>
              <a:rPr lang="fr-FR" sz="3600" dirty="0">
                <a:latin typeface="Maiandra GD" pitchFamily="34" charset="0"/>
              </a:rPr>
              <a:t>iPhone avec leur navigateur Safari. Cela a incité Microsoft à réagir et publier (</a:t>
            </a:r>
            <a:r>
              <a:rPr lang="fr-FR" sz="3600" dirty="0" smtClean="0">
                <a:latin typeface="Maiandra GD" pitchFamily="34" charset="0"/>
              </a:rPr>
              <a:t>après une </a:t>
            </a:r>
            <a:r>
              <a:rPr lang="fr-FR" sz="3600" dirty="0">
                <a:latin typeface="Maiandra GD" pitchFamily="34" charset="0"/>
              </a:rPr>
              <a:t>longue période d'inactivité) IE 7, puis IE 8 et IE 9. On parle déjà de IE 10.</a:t>
            </a:r>
          </a:p>
        </p:txBody>
      </p:sp>
    </p:spTree>
    <p:extLst>
      <p:ext uri="{BB962C8B-B14F-4D97-AF65-F5344CB8AC3E}">
        <p14:creationId xmlns:p14="http://schemas.microsoft.com/office/powerpoint/2010/main" val="1963133745"/>
      </p:ext>
    </p:extLst>
  </p:cSld>
  <p:clrMapOvr>
    <a:masterClrMapping/>
  </p:clrMapOvr>
  <p:timing>
    <p:tnLst>
      <p:par>
        <p:cTn id="1" dur="indefinite" restart="never" nodeType="tmRoot"/>
      </p:par>
    </p:tnLst>
  </p:timing>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3006080"/>
            <a:ext cx="8229600" cy="1143000"/>
          </a:xfrm>
        </p:spPr>
        <p:txBody>
          <a:bodyPr>
            <a:noAutofit/>
          </a:bodyPr>
          <a:lstStyle/>
          <a:p>
            <a:r>
              <a:rPr lang="fr-FR" i="1" dirty="0">
                <a:effectLst>
                  <a:outerShdw blurRad="38100" dist="38100" dir="2700000" algn="tl">
                    <a:srgbClr val="000000">
                      <a:alpha val="43137"/>
                    </a:srgbClr>
                  </a:outerShdw>
                </a:effectLst>
                <a:latin typeface="Maiandra GD" pitchFamily="34" charset="0"/>
              </a:rPr>
              <a:t>Que faut-il retenir de tout cela ?</a:t>
            </a:r>
          </a:p>
        </p:txBody>
      </p:sp>
    </p:spTree>
    <p:extLst>
      <p:ext uri="{BB962C8B-B14F-4D97-AF65-F5344CB8AC3E}">
        <p14:creationId xmlns:p14="http://schemas.microsoft.com/office/powerpoint/2010/main" val="2284557517"/>
      </p:ext>
    </p:extLst>
  </p:cSld>
  <p:clrMapOvr>
    <a:masterClrMapping/>
  </p:clrMapOvr>
  <p:timing>
    <p:tnLst>
      <p:par>
        <p:cTn id="1" dur="indefinite" restart="never" nodeType="tmRoot"/>
      </p:par>
    </p:tnLst>
  </p:timing>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44016" y="188640"/>
            <a:ext cx="8892480" cy="6597352"/>
          </a:xfrm>
        </p:spPr>
        <p:txBody>
          <a:bodyPr>
            <a:normAutofit lnSpcReduction="10000"/>
          </a:bodyPr>
          <a:lstStyle/>
          <a:p>
            <a:pPr marL="0" indent="0" algn="just">
              <a:buNone/>
            </a:pPr>
            <a:r>
              <a:rPr lang="fr-FR" dirty="0">
                <a:latin typeface="Maiandra GD" pitchFamily="34" charset="0"/>
              </a:rPr>
              <a:t>Que les navigateurs ne connaissent pas toutes les </a:t>
            </a:r>
            <a:r>
              <a:rPr lang="fr-FR" dirty="0" smtClean="0">
                <a:latin typeface="Maiandra GD" pitchFamily="34" charset="0"/>
              </a:rPr>
              <a:t>propriétés </a:t>
            </a:r>
            <a:r>
              <a:rPr lang="fr-FR" dirty="0">
                <a:latin typeface="Maiandra GD" pitchFamily="34" charset="0"/>
              </a:rPr>
              <a:t>CSS qui existent. Plus le navigateur est vieux, moins il connaît de </a:t>
            </a:r>
            <a:r>
              <a:rPr lang="fr-FR" dirty="0" smtClean="0">
                <a:latin typeface="Maiandra GD" pitchFamily="34" charset="0"/>
              </a:rPr>
              <a:t>fonctionnalités CSS.</a:t>
            </a:r>
          </a:p>
          <a:p>
            <a:pPr marL="0" indent="0">
              <a:buNone/>
            </a:pPr>
            <a:r>
              <a:rPr lang="fr-FR" dirty="0">
                <a:latin typeface="Maiandra GD" pitchFamily="34" charset="0"/>
              </a:rPr>
              <a:t>Je vais vous présenter dans ce cours un certain nombre de fonctionnalités de CSS </a:t>
            </a:r>
            <a:r>
              <a:rPr lang="fr-FR" dirty="0" smtClean="0">
                <a:latin typeface="Maiandra GD" pitchFamily="34" charset="0"/>
              </a:rPr>
              <a:t>qui ne </a:t>
            </a:r>
            <a:r>
              <a:rPr lang="fr-FR" dirty="0">
                <a:latin typeface="Maiandra GD" pitchFamily="34" charset="0"/>
              </a:rPr>
              <a:t>marchent pas forcément sur les navigateurs les plus vieux. </a:t>
            </a:r>
            <a:endParaRPr lang="fr-FR" dirty="0" smtClean="0">
              <a:latin typeface="Maiandra GD" pitchFamily="34" charset="0"/>
            </a:endParaRPr>
          </a:p>
          <a:p>
            <a:pPr marL="0" indent="0" algn="just">
              <a:buNone/>
            </a:pPr>
            <a:r>
              <a:rPr lang="fr-FR" dirty="0" smtClean="0">
                <a:latin typeface="Maiandra GD" pitchFamily="34" charset="0"/>
              </a:rPr>
              <a:t>Je </a:t>
            </a:r>
            <a:r>
              <a:rPr lang="fr-FR" dirty="0">
                <a:latin typeface="Maiandra GD" pitchFamily="34" charset="0"/>
              </a:rPr>
              <a:t>ne peux pas </a:t>
            </a:r>
            <a:r>
              <a:rPr lang="fr-FR" dirty="0" smtClean="0">
                <a:latin typeface="Maiandra GD" pitchFamily="34" charset="0"/>
              </a:rPr>
              <a:t>l'éviter, c'est </a:t>
            </a:r>
            <a:r>
              <a:rPr lang="fr-FR" dirty="0">
                <a:latin typeface="Maiandra GD" pitchFamily="34" charset="0"/>
              </a:rPr>
              <a:t>comme cela : aucun navigateur ne connaît parfaitement toutes les </a:t>
            </a:r>
            <a:r>
              <a:rPr lang="fr-FR" dirty="0" smtClean="0">
                <a:latin typeface="Maiandra GD" pitchFamily="34" charset="0"/>
              </a:rPr>
              <a:t>fonctionnalités CSS </a:t>
            </a:r>
            <a:r>
              <a:rPr lang="fr-FR" dirty="0">
                <a:latin typeface="Maiandra GD" pitchFamily="34" charset="0"/>
              </a:rPr>
              <a:t>de toute façon </a:t>
            </a:r>
            <a:r>
              <a:rPr lang="fr-FR" dirty="0" smtClean="0">
                <a:latin typeface="Maiandra GD" pitchFamily="34" charset="0"/>
              </a:rPr>
              <a:t>! </a:t>
            </a:r>
          </a:p>
          <a:p>
            <a:pPr marL="0" indent="0" algn="just">
              <a:buNone/>
            </a:pPr>
            <a:r>
              <a:rPr lang="fr-FR" dirty="0" smtClean="0">
                <a:latin typeface="Maiandra GD" pitchFamily="34" charset="0"/>
              </a:rPr>
              <a:t>Au </a:t>
            </a:r>
            <a:r>
              <a:rPr lang="fr-FR" dirty="0">
                <a:latin typeface="Maiandra GD" pitchFamily="34" charset="0"/>
              </a:rPr>
              <a:t>pire, si le navigateur ne connaît pas une propriété CSS, </a:t>
            </a:r>
            <a:r>
              <a:rPr lang="fr-FR" dirty="0" smtClean="0">
                <a:latin typeface="Maiandra GD" pitchFamily="34" charset="0"/>
              </a:rPr>
              <a:t>il l'ignore </a:t>
            </a:r>
            <a:r>
              <a:rPr lang="fr-FR" dirty="0">
                <a:latin typeface="Maiandra GD" pitchFamily="34" charset="0"/>
              </a:rPr>
              <a:t>et ne met pas en forme, mais cela ne fait pas planter votre page : celle-ci </a:t>
            </a:r>
            <a:r>
              <a:rPr lang="fr-FR" dirty="0" smtClean="0">
                <a:latin typeface="Maiandra GD" pitchFamily="34" charset="0"/>
              </a:rPr>
              <a:t>sera donc </a:t>
            </a:r>
            <a:r>
              <a:rPr lang="fr-FR" dirty="0">
                <a:latin typeface="Maiandra GD" pitchFamily="34" charset="0"/>
              </a:rPr>
              <a:t>toujours lisible.</a:t>
            </a:r>
          </a:p>
        </p:txBody>
      </p:sp>
    </p:spTree>
    <p:extLst>
      <p:ext uri="{BB962C8B-B14F-4D97-AF65-F5344CB8AC3E}">
        <p14:creationId xmlns:p14="http://schemas.microsoft.com/office/powerpoint/2010/main" val="110063148"/>
      </p:ext>
    </p:extLst>
  </p:cSld>
  <p:clrMapOvr>
    <a:masterClrMapping/>
  </p:clrMapOvr>
  <p:timing>
    <p:tnLst>
      <p:par>
        <p:cTn id="1" dur="indefinite" restart="never" nodeType="tmRoot"/>
      </p:par>
    </p:tnLst>
  </p:timing>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9512" y="297712"/>
            <a:ext cx="8712968" cy="6299640"/>
          </a:xfrm>
        </p:spPr>
        <p:txBody>
          <a:bodyPr/>
          <a:lstStyle/>
          <a:p>
            <a:pPr marL="0" indent="0" algn="just">
              <a:buNone/>
            </a:pPr>
            <a:r>
              <a:rPr lang="fr-FR" dirty="0">
                <a:latin typeface="Maiandra GD" pitchFamily="34" charset="0"/>
              </a:rPr>
              <a:t>Je vous recommande fortement de mettre dans vos favoris les sites </a:t>
            </a:r>
            <a:r>
              <a:rPr lang="fr-FR" i="1" dirty="0" smtClean="0">
                <a:effectLst>
                  <a:outerShdw blurRad="38100" dist="38100" dir="2700000" algn="tl">
                    <a:srgbClr val="000000">
                      <a:alpha val="43137"/>
                    </a:srgbClr>
                  </a:outerShdw>
                </a:effectLst>
                <a:latin typeface="Maiandra GD" pitchFamily="34" charset="0"/>
                <a:hlinkClick r:id="rId2"/>
              </a:rPr>
              <a:t>www.caniuse.com</a:t>
            </a:r>
            <a:r>
              <a:rPr lang="fr-FR" dirty="0" smtClean="0">
                <a:latin typeface="Maiandra GD" pitchFamily="34" charset="0"/>
              </a:rPr>
              <a:t> et </a:t>
            </a:r>
            <a:r>
              <a:rPr lang="fr-FR" i="1" dirty="0" smtClean="0">
                <a:effectLst>
                  <a:outerShdw blurRad="38100" dist="38100" dir="2700000" algn="tl">
                    <a:srgbClr val="000000">
                      <a:alpha val="43137"/>
                    </a:srgbClr>
                  </a:outerShdw>
                </a:effectLst>
                <a:latin typeface="Maiandra GD" pitchFamily="34" charset="0"/>
                <a:hlinkClick r:id="rId3"/>
              </a:rPr>
              <a:t>www.normansb</a:t>
            </a:r>
            <a:r>
              <a:rPr lang="fr-FR" i="1" u="sng" dirty="0" smtClean="0">
                <a:solidFill>
                  <a:srgbClr val="0070C0"/>
                </a:solidFill>
                <a:effectLst>
                  <a:outerShdw blurRad="38100" dist="38100" dir="2700000" algn="tl">
                    <a:srgbClr val="000000">
                      <a:alpha val="43137"/>
                    </a:srgbClr>
                  </a:outerShdw>
                </a:effectLst>
                <a:latin typeface="Maiandra GD" pitchFamily="34" charset="0"/>
                <a:hlinkClick r:id="rId3"/>
              </a:rPr>
              <a:t>log</a:t>
            </a:r>
            <a:r>
              <a:rPr lang="fr-FR" i="1" u="sng" dirty="0" smtClean="0">
                <a:solidFill>
                  <a:srgbClr val="0070C0"/>
                </a:solidFill>
                <a:effectLst>
                  <a:outerShdw blurRad="38100" dist="38100" dir="2700000" algn="tl">
                    <a:srgbClr val="000000">
                      <a:alpha val="43137"/>
                    </a:srgbClr>
                  </a:outerShdw>
                </a:effectLst>
                <a:latin typeface="Maiandra GD" pitchFamily="34" charset="0"/>
              </a:rPr>
              <a:t>.de</a:t>
            </a:r>
            <a:r>
              <a:rPr lang="fr-FR" dirty="0" smtClean="0">
                <a:solidFill>
                  <a:srgbClr val="0070C0"/>
                </a:solidFill>
                <a:latin typeface="Maiandra GD" pitchFamily="34" charset="0"/>
              </a:rPr>
              <a:t> </a:t>
            </a:r>
            <a:r>
              <a:rPr lang="fr-FR" dirty="0">
                <a:latin typeface="Maiandra GD" pitchFamily="34" charset="0"/>
              </a:rPr>
              <a:t>qui proposent des tables de compatibilité des </a:t>
            </a:r>
            <a:r>
              <a:rPr lang="fr-FR" dirty="0" smtClean="0">
                <a:latin typeface="Maiandra GD" pitchFamily="34" charset="0"/>
              </a:rPr>
              <a:t>fonctionnalités de </a:t>
            </a:r>
            <a:r>
              <a:rPr lang="fr-FR" dirty="0">
                <a:latin typeface="Maiandra GD" pitchFamily="34" charset="0"/>
              </a:rPr>
              <a:t>HTML et CSS sur </a:t>
            </a:r>
            <a:r>
              <a:rPr lang="fr-FR" dirty="0" smtClean="0">
                <a:latin typeface="Maiandra GD" pitchFamily="34" charset="0"/>
              </a:rPr>
              <a:t>différents </a:t>
            </a:r>
            <a:r>
              <a:rPr lang="fr-FR" dirty="0">
                <a:latin typeface="Maiandra GD" pitchFamily="34" charset="0"/>
              </a:rPr>
              <a:t>navigateurs (et sur leurs </a:t>
            </a:r>
            <a:r>
              <a:rPr lang="fr-FR" dirty="0" smtClean="0">
                <a:latin typeface="Maiandra GD" pitchFamily="34" charset="0"/>
              </a:rPr>
              <a:t>différentes </a:t>
            </a:r>
            <a:r>
              <a:rPr lang="fr-FR" dirty="0">
                <a:latin typeface="Maiandra GD" pitchFamily="34" charset="0"/>
              </a:rPr>
              <a:t>versions). </a:t>
            </a:r>
            <a:endParaRPr lang="fr-FR" dirty="0" smtClean="0">
              <a:latin typeface="Maiandra GD" pitchFamily="34" charset="0"/>
            </a:endParaRPr>
          </a:p>
          <a:p>
            <a:pPr marL="0" indent="0" algn="just">
              <a:buNone/>
            </a:pPr>
            <a:r>
              <a:rPr lang="fr-FR" dirty="0" smtClean="0">
                <a:latin typeface="Maiandra GD" pitchFamily="34" charset="0"/>
              </a:rPr>
              <a:t>Regardez en </a:t>
            </a:r>
            <a:r>
              <a:rPr lang="fr-FR" dirty="0">
                <a:latin typeface="Maiandra GD" pitchFamily="34" charset="0"/>
              </a:rPr>
              <a:t>particulier les tables de compatibilité pour CSS de www.caniuse.com </a:t>
            </a:r>
            <a:r>
              <a:rPr lang="fr-FR" dirty="0" smtClean="0">
                <a:latin typeface="Maiandra GD" pitchFamily="34" charset="0"/>
              </a:rPr>
              <a:t>(figure ci-dessous).</a:t>
            </a:r>
            <a:endParaRPr lang="fr-FR" dirty="0">
              <a:latin typeface="Maiandra GD" pitchFamily="34" charset="0"/>
            </a:endParaRPr>
          </a:p>
        </p:txBody>
      </p:sp>
    </p:spTree>
    <p:extLst>
      <p:ext uri="{BB962C8B-B14F-4D97-AF65-F5344CB8AC3E}">
        <p14:creationId xmlns:p14="http://schemas.microsoft.com/office/powerpoint/2010/main" val="1893283669"/>
      </p:ext>
    </p:extLst>
  </p:cSld>
  <p:clrMapOvr>
    <a:masterClrMapping/>
  </p:clrMapOvr>
  <p:timing>
    <p:tnLst>
      <p:par>
        <p:cTn id="1" dur="indefinite" restart="never" nodeType="tmRoot"/>
      </p:par>
    </p:tnLst>
  </p:timing>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008" y="188640"/>
            <a:ext cx="8964488" cy="6480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23447489"/>
      </p:ext>
    </p:extLst>
  </p:cSld>
  <p:clrMapOvr>
    <a:masterClrMapping/>
  </p:clrMapOvr>
  <p:timing>
    <p:tnLst>
      <p:par>
        <p:cTn id="1" dur="indefinite" restart="never" nodeType="tmRoot"/>
      </p:par>
    </p:tnLst>
  </p:timing>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924944"/>
            <a:ext cx="8229600" cy="1143000"/>
          </a:xfrm>
        </p:spPr>
        <p:txBody>
          <a:bodyPr>
            <a:normAutofit/>
          </a:bodyPr>
          <a:lstStyle/>
          <a:p>
            <a:r>
              <a:rPr lang="fr-FR" sz="6000" i="1" dirty="0">
                <a:effectLst>
                  <a:outerShdw blurRad="38100" dist="38100" dir="2700000" algn="tl">
                    <a:srgbClr val="000000">
                      <a:alpha val="43137"/>
                    </a:srgbClr>
                  </a:outerShdw>
                </a:effectLst>
                <a:latin typeface="Maiandra GD" pitchFamily="34" charset="0"/>
              </a:rPr>
              <a:t>Où écrit-on le CSS ?</a:t>
            </a:r>
          </a:p>
        </p:txBody>
      </p:sp>
    </p:spTree>
    <p:extLst>
      <p:ext uri="{BB962C8B-B14F-4D97-AF65-F5344CB8AC3E}">
        <p14:creationId xmlns:p14="http://schemas.microsoft.com/office/powerpoint/2010/main" val="1919723306"/>
      </p:ext>
    </p:extLst>
  </p:cSld>
  <p:clrMapOvr>
    <a:masterClrMapping/>
  </p:clrMapOvr>
  <p:timing>
    <p:tnLst>
      <p:par>
        <p:cTn id="1" dur="indefinite" restart="never" nodeType="tmRoot"/>
      </p:par>
    </p:tnLst>
  </p:timing>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23528" y="404664"/>
            <a:ext cx="8568952" cy="6048672"/>
          </a:xfrm>
        </p:spPr>
        <p:txBody>
          <a:bodyPr/>
          <a:lstStyle/>
          <a:p>
            <a:pPr marL="0" indent="0" algn="just">
              <a:buNone/>
            </a:pPr>
            <a:r>
              <a:rPr lang="fr-FR" dirty="0">
                <a:latin typeface="Maiandra GD" pitchFamily="34" charset="0"/>
              </a:rPr>
              <a:t>Vous avez le choix car on peut écrire du code en langage CSS à trois endroits </a:t>
            </a:r>
            <a:r>
              <a:rPr lang="fr-FR" dirty="0" smtClean="0">
                <a:latin typeface="Maiandra GD" pitchFamily="34" charset="0"/>
              </a:rPr>
              <a:t>différents </a:t>
            </a:r>
            <a:r>
              <a:rPr lang="fr-FR" dirty="0">
                <a:latin typeface="Maiandra GD" pitchFamily="34" charset="0"/>
              </a:rPr>
              <a:t>:</a:t>
            </a:r>
          </a:p>
          <a:p>
            <a:pPr marL="0" indent="0" algn="just">
              <a:buNone/>
            </a:pPr>
            <a:r>
              <a:rPr lang="fr-FR" dirty="0" smtClean="0">
                <a:latin typeface="Maiandra GD" pitchFamily="34" charset="0"/>
              </a:rPr>
              <a:t>- dans </a:t>
            </a:r>
            <a:r>
              <a:rPr lang="fr-FR" dirty="0">
                <a:latin typeface="Maiandra GD" pitchFamily="34" charset="0"/>
              </a:rPr>
              <a:t>un </a:t>
            </a:r>
            <a:r>
              <a:rPr lang="fr-FR" dirty="0" smtClean="0">
                <a:latin typeface="Maiandra GD" pitchFamily="34" charset="0"/>
              </a:rPr>
              <a:t>fichier </a:t>
            </a:r>
            <a:r>
              <a:rPr lang="fr-FR" dirty="0">
                <a:latin typeface="Maiandra GD" pitchFamily="34" charset="0"/>
              </a:rPr>
              <a:t>.css (méthode la </a:t>
            </a:r>
            <a:r>
              <a:rPr lang="fr-FR" dirty="0" smtClean="0">
                <a:latin typeface="Maiandra GD" pitchFamily="34" charset="0"/>
              </a:rPr>
              <a:t>plus recommandée </a:t>
            </a:r>
            <a:r>
              <a:rPr lang="fr-FR" dirty="0">
                <a:latin typeface="Maiandra GD" pitchFamily="34" charset="0"/>
              </a:rPr>
              <a:t>) ;</a:t>
            </a:r>
          </a:p>
          <a:p>
            <a:pPr algn="just">
              <a:buFontTx/>
              <a:buChar char="-"/>
            </a:pPr>
            <a:r>
              <a:rPr lang="fr-FR" dirty="0" smtClean="0">
                <a:latin typeface="Maiandra GD" pitchFamily="34" charset="0"/>
              </a:rPr>
              <a:t>dans </a:t>
            </a:r>
            <a:r>
              <a:rPr lang="fr-FR" dirty="0">
                <a:latin typeface="Maiandra GD" pitchFamily="34" charset="0"/>
              </a:rPr>
              <a:t>l'en-tête &lt;head&gt; du </a:t>
            </a:r>
            <a:r>
              <a:rPr lang="fr-FR" dirty="0" smtClean="0">
                <a:latin typeface="Maiandra GD" pitchFamily="34" charset="0"/>
              </a:rPr>
              <a:t>fichier </a:t>
            </a:r>
            <a:r>
              <a:rPr lang="fr-FR" dirty="0">
                <a:latin typeface="Maiandra GD" pitchFamily="34" charset="0"/>
              </a:rPr>
              <a:t>HTML</a:t>
            </a:r>
            <a:r>
              <a:rPr lang="fr-FR" dirty="0" smtClean="0">
                <a:latin typeface="Maiandra GD" pitchFamily="34" charset="0"/>
              </a:rPr>
              <a:t>;</a:t>
            </a:r>
          </a:p>
          <a:p>
            <a:pPr marL="0" indent="0" algn="just">
              <a:buNone/>
            </a:pPr>
            <a:r>
              <a:rPr lang="fr-FR" dirty="0" smtClean="0">
                <a:latin typeface="Maiandra GD" pitchFamily="34" charset="0"/>
              </a:rPr>
              <a:t>- directement </a:t>
            </a:r>
            <a:r>
              <a:rPr lang="fr-FR" dirty="0">
                <a:latin typeface="Maiandra GD" pitchFamily="34" charset="0"/>
              </a:rPr>
              <a:t>dans les balises du </a:t>
            </a:r>
            <a:r>
              <a:rPr lang="fr-FR" dirty="0" smtClean="0">
                <a:latin typeface="Maiandra GD" pitchFamily="34" charset="0"/>
              </a:rPr>
              <a:t>fichier </a:t>
            </a:r>
            <a:r>
              <a:rPr lang="fr-FR" dirty="0">
                <a:latin typeface="Maiandra GD" pitchFamily="34" charset="0"/>
              </a:rPr>
              <a:t>HTML via un attribut style (méthode </a:t>
            </a:r>
            <a:r>
              <a:rPr lang="fr-FR" dirty="0" smtClean="0">
                <a:latin typeface="Maiandra GD" pitchFamily="34" charset="0"/>
              </a:rPr>
              <a:t>la moins </a:t>
            </a:r>
            <a:r>
              <a:rPr lang="fr-FR" dirty="0">
                <a:latin typeface="Maiandra GD" pitchFamily="34" charset="0"/>
              </a:rPr>
              <a:t>recommandée</a:t>
            </a:r>
            <a:r>
              <a:rPr lang="fr-FR" dirty="0" smtClean="0">
                <a:latin typeface="Maiandra GD" pitchFamily="34" charset="0"/>
              </a:rPr>
              <a:t>).</a:t>
            </a:r>
          </a:p>
          <a:p>
            <a:pPr marL="0" indent="0" algn="just">
              <a:buNone/>
            </a:pPr>
            <a:r>
              <a:rPr lang="fr-FR" dirty="0" smtClean="0">
                <a:latin typeface="Maiandra GD" pitchFamily="34" charset="0"/>
              </a:rPr>
              <a:t>Je vais vous présenter ces trois méthodes mais sachez d'ores et déjà que la première. . . est </a:t>
            </a:r>
            <a:r>
              <a:rPr lang="fr-FR" dirty="0">
                <a:latin typeface="Maiandra GD" pitchFamily="34" charset="0"/>
              </a:rPr>
              <a:t>la meilleure.</a:t>
            </a:r>
          </a:p>
        </p:txBody>
      </p:sp>
    </p:spTree>
    <p:extLst>
      <p:ext uri="{BB962C8B-B14F-4D97-AF65-F5344CB8AC3E}">
        <p14:creationId xmlns:p14="http://schemas.microsoft.com/office/powerpoint/2010/main" val="3969593758"/>
      </p:ext>
    </p:extLst>
  </p:cSld>
  <p:clrMapOvr>
    <a:masterClrMapping/>
  </p:clrMapOvr>
  <p:timing>
    <p:tnLst>
      <p:par>
        <p:cTn id="1" dur="indefinite" restart="never" nodeType="tmRoot"/>
      </p:par>
    </p:tnLst>
  </p:timing>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79512" y="2708920"/>
            <a:ext cx="8784976" cy="1791072"/>
          </a:xfrm>
        </p:spPr>
        <p:txBody>
          <a:bodyPr>
            <a:normAutofit/>
          </a:bodyPr>
          <a:lstStyle/>
          <a:p>
            <a:r>
              <a:rPr lang="fr-FR" dirty="0">
                <a:effectLst>
                  <a:outerShdw blurRad="38100" dist="38100" dir="2700000" algn="tl">
                    <a:srgbClr val="000000">
                      <a:alpha val="43137"/>
                    </a:srgbClr>
                  </a:outerShdw>
                </a:effectLst>
                <a:latin typeface="Maiandra GD" pitchFamily="34" charset="0"/>
              </a:rPr>
              <a:t>Dans un </a:t>
            </a:r>
            <a:r>
              <a:rPr lang="fr-FR" dirty="0" smtClean="0">
                <a:effectLst>
                  <a:outerShdw blurRad="38100" dist="38100" dir="2700000" algn="tl">
                    <a:srgbClr val="000000">
                      <a:alpha val="43137"/>
                    </a:srgbClr>
                  </a:outerShdw>
                </a:effectLst>
                <a:latin typeface="Maiandra GD" pitchFamily="34" charset="0"/>
              </a:rPr>
              <a:t>fichier </a:t>
            </a:r>
            <a:r>
              <a:rPr lang="fr-FR" dirty="0">
                <a:effectLst>
                  <a:outerShdw blurRad="38100" dist="38100" dir="2700000" algn="tl">
                    <a:srgbClr val="000000">
                      <a:alpha val="43137"/>
                    </a:srgbClr>
                  </a:outerShdw>
                </a:effectLst>
                <a:latin typeface="Maiandra GD" pitchFamily="34" charset="0"/>
              </a:rPr>
              <a:t>.css (recommandé)</a:t>
            </a:r>
          </a:p>
        </p:txBody>
      </p:sp>
    </p:spTree>
    <p:extLst>
      <p:ext uri="{BB962C8B-B14F-4D97-AF65-F5344CB8AC3E}">
        <p14:creationId xmlns:p14="http://schemas.microsoft.com/office/powerpoint/2010/main" val="2695944210"/>
      </p:ext>
    </p:extLst>
  </p:cSld>
  <p:clrMapOvr>
    <a:masterClrMapping/>
  </p:clrMapOvr>
  <p:timing>
    <p:tnLst>
      <p:par>
        <p:cTn id="1" dur="indefinite" restart="never" nodeType="tmRoot"/>
      </p:par>
    </p:tnLst>
  </p:timing>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476672"/>
            <a:ext cx="8640960" cy="6048672"/>
          </a:xfrm>
        </p:spPr>
        <p:txBody>
          <a:bodyPr/>
          <a:lstStyle/>
          <a:p>
            <a:pPr marL="0" indent="0" algn="just">
              <a:buNone/>
            </a:pPr>
            <a:r>
              <a:rPr lang="fr-FR" dirty="0">
                <a:latin typeface="Maiandra GD" pitchFamily="34" charset="0"/>
              </a:rPr>
              <a:t>Comme je viens de vous le dire, on écrit le plus souvent le code CSS dans un </a:t>
            </a:r>
            <a:r>
              <a:rPr lang="fr-FR" dirty="0" smtClean="0">
                <a:latin typeface="Maiandra GD" pitchFamily="34" charset="0"/>
              </a:rPr>
              <a:t>fichier</a:t>
            </a:r>
            <a:r>
              <a:rPr lang="fr-FR" dirty="0">
                <a:latin typeface="Maiandra GD" pitchFamily="34" charset="0"/>
              </a:rPr>
              <a:t> </a:t>
            </a:r>
            <a:r>
              <a:rPr lang="fr-FR" dirty="0" smtClean="0">
                <a:latin typeface="Maiandra GD" pitchFamily="34" charset="0"/>
              </a:rPr>
              <a:t>spécial </a:t>
            </a:r>
            <a:r>
              <a:rPr lang="fr-FR" dirty="0">
                <a:latin typeface="Maiandra GD" pitchFamily="34" charset="0"/>
              </a:rPr>
              <a:t>ayant l'extension .css (contrairement aux </a:t>
            </a:r>
            <a:r>
              <a:rPr lang="fr-FR" dirty="0" smtClean="0">
                <a:latin typeface="Maiandra GD" pitchFamily="34" charset="0"/>
              </a:rPr>
              <a:t>fichiers </a:t>
            </a:r>
            <a:r>
              <a:rPr lang="fr-FR" dirty="0">
                <a:latin typeface="Maiandra GD" pitchFamily="34" charset="0"/>
              </a:rPr>
              <a:t>HTML qui ont </a:t>
            </a:r>
            <a:r>
              <a:rPr lang="fr-FR" dirty="0" smtClean="0">
                <a:latin typeface="Maiandra GD" pitchFamily="34" charset="0"/>
              </a:rPr>
              <a:t>l'extension .html</a:t>
            </a:r>
            <a:r>
              <a:rPr lang="fr-FR" dirty="0">
                <a:latin typeface="Maiandra GD" pitchFamily="34" charset="0"/>
              </a:rPr>
              <a:t>). C'est la méthode la plus pratique et la plus souple. Cela nous évite de </a:t>
            </a:r>
            <a:r>
              <a:rPr lang="fr-FR" dirty="0" smtClean="0">
                <a:latin typeface="Maiandra GD" pitchFamily="34" charset="0"/>
              </a:rPr>
              <a:t>tout mélanger </a:t>
            </a:r>
            <a:r>
              <a:rPr lang="fr-FR" dirty="0">
                <a:latin typeface="Maiandra GD" pitchFamily="34" charset="0"/>
              </a:rPr>
              <a:t>dans un même </a:t>
            </a:r>
            <a:r>
              <a:rPr lang="fr-FR" dirty="0" smtClean="0">
                <a:latin typeface="Maiandra GD" pitchFamily="34" charset="0"/>
              </a:rPr>
              <a:t>fichier</a:t>
            </a:r>
            <a:r>
              <a:rPr lang="fr-FR" dirty="0">
                <a:latin typeface="Maiandra GD" pitchFamily="34" charset="0"/>
              </a:rPr>
              <a:t>. J'utiliserai cette technique dans toute la suite de </a:t>
            </a:r>
            <a:r>
              <a:rPr lang="fr-FR" dirty="0" smtClean="0">
                <a:latin typeface="Maiandra GD" pitchFamily="34" charset="0"/>
              </a:rPr>
              <a:t>ce cours.</a:t>
            </a:r>
          </a:p>
          <a:p>
            <a:pPr marL="0" indent="0" algn="just">
              <a:buNone/>
            </a:pPr>
            <a:endParaRPr lang="fr-FR" sz="1100" dirty="0" smtClean="0">
              <a:latin typeface="Maiandra GD" pitchFamily="34" charset="0"/>
            </a:endParaRPr>
          </a:p>
          <a:p>
            <a:pPr marL="0" indent="0" algn="just">
              <a:buNone/>
            </a:pPr>
            <a:r>
              <a:rPr lang="fr-FR" dirty="0">
                <a:latin typeface="Maiandra GD" pitchFamily="34" charset="0"/>
              </a:rPr>
              <a:t>Commençons à pratiquer dès maintenant ! Nous allons partir du </a:t>
            </a:r>
            <a:r>
              <a:rPr lang="fr-FR" dirty="0" smtClean="0">
                <a:latin typeface="Maiandra GD" pitchFamily="34" charset="0"/>
              </a:rPr>
              <a:t>fichier </a:t>
            </a:r>
            <a:r>
              <a:rPr lang="fr-FR" dirty="0">
                <a:latin typeface="Maiandra GD" pitchFamily="34" charset="0"/>
              </a:rPr>
              <a:t>HTML suivant :</a:t>
            </a:r>
          </a:p>
        </p:txBody>
      </p:sp>
    </p:spTree>
    <p:extLst>
      <p:ext uri="{BB962C8B-B14F-4D97-AF65-F5344CB8AC3E}">
        <p14:creationId xmlns:p14="http://schemas.microsoft.com/office/powerpoint/2010/main" val="136297935"/>
      </p:ext>
    </p:extLst>
  </p:cSld>
  <p:clrMapOvr>
    <a:masterClrMapping/>
  </p:clrMapOvr>
  <p:timing>
    <p:tnLst>
      <p:par>
        <p:cTn id="1" dur="indefinite" restart="never" nodeType="tmRoot"/>
      </p:par>
    </p:tnLst>
  </p:timing>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512" y="116632"/>
            <a:ext cx="8820471" cy="6597352"/>
          </a:xfrm>
          <a:prstGeom prst="rect">
            <a:avLst/>
          </a:prstGeom>
        </p:spPr>
      </p:pic>
    </p:spTree>
    <p:extLst>
      <p:ext uri="{BB962C8B-B14F-4D97-AF65-F5344CB8AC3E}">
        <p14:creationId xmlns:p14="http://schemas.microsoft.com/office/powerpoint/2010/main" val="3472956193"/>
      </p:ext>
    </p:extLst>
  </p:cSld>
  <p:clrMapOvr>
    <a:masterClrMapping/>
  </p:clrMapOvr>
  <p:timing>
    <p:tnLst>
      <p:par>
        <p:cTn id="1" dur="indefinite" restart="never" nodeType="tmRoot"/>
      </p:par>
    </p:tnLst>
  </p:timing>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9512" y="332656"/>
            <a:ext cx="8784976" cy="6192688"/>
          </a:xfrm>
        </p:spPr>
        <p:txBody>
          <a:bodyPr/>
          <a:lstStyle/>
          <a:p>
            <a:pPr marL="0" indent="0" algn="just">
              <a:buNone/>
            </a:pPr>
            <a:r>
              <a:rPr lang="fr-FR" dirty="0">
                <a:latin typeface="Maiandra GD" pitchFamily="34" charset="0"/>
              </a:rPr>
              <a:t>Vous noterez le contenu de la ligne 5, </a:t>
            </a:r>
            <a:endParaRPr lang="fr-FR" dirty="0" smtClean="0">
              <a:latin typeface="Maiandra GD" pitchFamily="34" charset="0"/>
            </a:endParaRPr>
          </a:p>
          <a:p>
            <a:pPr marL="0" indent="0" algn="just">
              <a:buNone/>
            </a:pPr>
            <a:r>
              <a:rPr lang="fr-FR" dirty="0" smtClean="0">
                <a:latin typeface="Maiandra GD" pitchFamily="34" charset="0"/>
              </a:rPr>
              <a:t>&lt;</a:t>
            </a:r>
            <a:r>
              <a:rPr lang="fr-FR" dirty="0">
                <a:latin typeface="Maiandra GD" pitchFamily="34" charset="0"/>
              </a:rPr>
              <a:t>link rel=</a:t>
            </a:r>
            <a:r>
              <a:rPr lang="fr-FR" dirty="0">
                <a:solidFill>
                  <a:srgbClr val="FF0000"/>
                </a:solidFill>
                <a:latin typeface="Maiandra GD" pitchFamily="34" charset="0"/>
              </a:rPr>
              <a:t>"stylesheet"</a:t>
            </a:r>
            <a:r>
              <a:rPr lang="fr-FR" dirty="0">
                <a:latin typeface="Maiandra GD" pitchFamily="34" charset="0"/>
              </a:rPr>
              <a:t> href=</a:t>
            </a:r>
            <a:r>
              <a:rPr lang="fr-FR" dirty="0">
                <a:solidFill>
                  <a:srgbClr val="FF0000"/>
                </a:solidFill>
                <a:latin typeface="Maiandra GD" pitchFamily="34" charset="0"/>
              </a:rPr>
              <a:t>"style.css</a:t>
            </a:r>
            <a:r>
              <a:rPr lang="fr-FR" dirty="0" smtClean="0">
                <a:solidFill>
                  <a:srgbClr val="FF0000"/>
                </a:solidFill>
                <a:latin typeface="Maiandra GD" pitchFamily="34" charset="0"/>
              </a:rPr>
              <a:t>"</a:t>
            </a:r>
            <a:r>
              <a:rPr lang="fr-FR" dirty="0" smtClean="0">
                <a:latin typeface="Maiandra GD" pitchFamily="34" charset="0"/>
              </a:rPr>
              <a:t>/&gt; </a:t>
            </a:r>
            <a:r>
              <a:rPr lang="fr-FR" dirty="0">
                <a:latin typeface="Maiandra GD" pitchFamily="34" charset="0"/>
              </a:rPr>
              <a:t>: c'est elle qui indique que ce </a:t>
            </a:r>
            <a:r>
              <a:rPr lang="fr-FR" dirty="0" smtClean="0">
                <a:latin typeface="Maiandra GD" pitchFamily="34" charset="0"/>
              </a:rPr>
              <a:t>fichier </a:t>
            </a:r>
            <a:r>
              <a:rPr lang="fr-FR" dirty="0">
                <a:latin typeface="Maiandra GD" pitchFamily="34" charset="0"/>
              </a:rPr>
              <a:t>HTML est associé à un </a:t>
            </a:r>
            <a:r>
              <a:rPr lang="fr-FR" dirty="0" smtClean="0">
                <a:latin typeface="Maiandra GD" pitchFamily="34" charset="0"/>
              </a:rPr>
              <a:t>fichier </a:t>
            </a:r>
            <a:r>
              <a:rPr lang="fr-FR" dirty="0">
                <a:latin typeface="Maiandra GD" pitchFamily="34" charset="0"/>
              </a:rPr>
              <a:t>appelé </a:t>
            </a:r>
            <a:r>
              <a:rPr lang="fr-FR" dirty="0" smtClean="0">
                <a:latin typeface="Maiandra GD" pitchFamily="34" charset="0"/>
              </a:rPr>
              <a:t>style.css et </a:t>
            </a:r>
            <a:r>
              <a:rPr lang="fr-FR" dirty="0">
                <a:latin typeface="Maiandra GD" pitchFamily="34" charset="0"/>
              </a:rPr>
              <a:t>chargé de la mise en forme.</a:t>
            </a:r>
          </a:p>
          <a:p>
            <a:pPr marL="0" indent="0" algn="just">
              <a:buNone/>
            </a:pPr>
            <a:r>
              <a:rPr lang="fr-FR" dirty="0">
                <a:latin typeface="Maiandra GD" pitchFamily="34" charset="0"/>
              </a:rPr>
              <a:t>Enregistrez ce </a:t>
            </a:r>
            <a:r>
              <a:rPr lang="fr-FR" dirty="0" smtClean="0">
                <a:latin typeface="Maiandra GD" pitchFamily="34" charset="0"/>
              </a:rPr>
              <a:t>fichier </a:t>
            </a:r>
            <a:r>
              <a:rPr lang="fr-FR" dirty="0">
                <a:latin typeface="Maiandra GD" pitchFamily="34" charset="0"/>
              </a:rPr>
              <a:t>sous le nom que vous voulez (par exemple page.html). Pour </a:t>
            </a:r>
            <a:r>
              <a:rPr lang="fr-FR" dirty="0" smtClean="0">
                <a:latin typeface="Maiandra GD" pitchFamily="34" charset="0"/>
              </a:rPr>
              <a:t>le moment</a:t>
            </a:r>
            <a:r>
              <a:rPr lang="fr-FR" dirty="0">
                <a:latin typeface="Maiandra GD" pitchFamily="34" charset="0"/>
              </a:rPr>
              <a:t>, rien d'extraordinaire à part la nouvelle balise que nous </a:t>
            </a:r>
            <a:r>
              <a:rPr lang="fr-FR" dirty="0" smtClean="0">
                <a:latin typeface="Maiandra GD" pitchFamily="34" charset="0"/>
              </a:rPr>
              <a:t>avons </a:t>
            </a:r>
            <a:r>
              <a:rPr lang="fr-FR" dirty="0">
                <a:latin typeface="Maiandra GD" pitchFamily="34" charset="0"/>
              </a:rPr>
              <a:t>ajoutée.</a:t>
            </a:r>
          </a:p>
        </p:txBody>
      </p:sp>
    </p:spTree>
    <p:extLst>
      <p:ext uri="{BB962C8B-B14F-4D97-AF65-F5344CB8AC3E}">
        <p14:creationId xmlns:p14="http://schemas.microsoft.com/office/powerpoint/2010/main" val="1181118078"/>
      </p:ext>
    </p:extLst>
  </p:cSld>
  <p:clrMapOvr>
    <a:masterClrMapping/>
  </p:clrMapOvr>
  <p:timing>
    <p:tnLst>
      <p:par>
        <p:cTn id="1" dur="indefinite" restart="never" nodeType="tmRoot"/>
      </p:par>
    </p:tnLst>
  </p:timing>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404664"/>
            <a:ext cx="8640960" cy="6192688"/>
          </a:xfrm>
        </p:spPr>
        <p:txBody>
          <a:bodyPr/>
          <a:lstStyle/>
          <a:p>
            <a:pPr marL="0" indent="0" algn="just">
              <a:buNone/>
            </a:pPr>
            <a:r>
              <a:rPr lang="fr-FR" dirty="0" smtClean="0">
                <a:latin typeface="Maiandra GD" pitchFamily="34" charset="0"/>
              </a:rPr>
              <a:t>Maintenant, créez un nouveau fichier vide dans votre éditeur de texte (par exemple Notepad++) et copiez-y ce bout de code CSS (rassurez-vous, je vous expliquerai tout à l'heure ce qu'il veut dire) :</a:t>
            </a:r>
          </a:p>
          <a:p>
            <a:pPr marL="0" indent="0" algn="just">
              <a:buNone/>
            </a:pPr>
            <a:endParaRPr lang="fr-FR" sz="1600" dirty="0" smtClean="0">
              <a:latin typeface="Maiandra GD" pitchFamily="34" charset="0"/>
            </a:endParaRPr>
          </a:p>
          <a:p>
            <a:pPr marL="0" indent="0">
              <a:buNone/>
            </a:pPr>
            <a:r>
              <a:rPr lang="fr-FR" dirty="0" smtClean="0">
                <a:latin typeface="Maiandra GD" pitchFamily="34" charset="0"/>
              </a:rPr>
              <a:t>1   p</a:t>
            </a:r>
            <a:endParaRPr lang="fr-FR" dirty="0">
              <a:latin typeface="Maiandra GD" pitchFamily="34" charset="0"/>
            </a:endParaRPr>
          </a:p>
          <a:p>
            <a:pPr marL="0" indent="0">
              <a:buNone/>
            </a:pPr>
            <a:r>
              <a:rPr lang="fr-FR" dirty="0">
                <a:latin typeface="Maiandra GD" pitchFamily="34" charset="0"/>
              </a:rPr>
              <a:t>2 </a:t>
            </a:r>
            <a:r>
              <a:rPr lang="fr-FR" dirty="0" smtClean="0">
                <a:latin typeface="Maiandra GD" pitchFamily="34" charset="0"/>
              </a:rPr>
              <a:t> {</a:t>
            </a:r>
            <a:endParaRPr lang="fr-FR" dirty="0">
              <a:latin typeface="Maiandra GD" pitchFamily="34" charset="0"/>
            </a:endParaRPr>
          </a:p>
          <a:p>
            <a:pPr marL="0" indent="0">
              <a:buNone/>
            </a:pPr>
            <a:r>
              <a:rPr lang="fr-FR" dirty="0" smtClean="0">
                <a:latin typeface="Maiandra GD" pitchFamily="34" charset="0"/>
              </a:rPr>
              <a:t>3               </a:t>
            </a:r>
            <a:r>
              <a:rPr lang="fr-FR" dirty="0" smtClean="0">
                <a:solidFill>
                  <a:srgbClr val="00B0F0"/>
                </a:solidFill>
                <a:latin typeface="Maiandra GD" pitchFamily="34" charset="0"/>
              </a:rPr>
              <a:t>color</a:t>
            </a:r>
            <a:r>
              <a:rPr lang="fr-FR" dirty="0" smtClean="0">
                <a:latin typeface="Maiandra GD" pitchFamily="34" charset="0"/>
              </a:rPr>
              <a:t> </a:t>
            </a:r>
            <a:r>
              <a:rPr lang="fr-FR" dirty="0">
                <a:latin typeface="Maiandra GD" pitchFamily="34" charset="0"/>
              </a:rPr>
              <a:t>: blue ;</a:t>
            </a:r>
          </a:p>
          <a:p>
            <a:pPr marL="0" indent="0">
              <a:buNone/>
            </a:pPr>
            <a:r>
              <a:rPr lang="fr-FR" dirty="0" smtClean="0">
                <a:latin typeface="Maiandra GD" pitchFamily="34" charset="0"/>
              </a:rPr>
              <a:t>4  </a:t>
            </a:r>
            <a:r>
              <a:rPr lang="fr-FR" dirty="0">
                <a:latin typeface="Maiandra GD" pitchFamily="34" charset="0"/>
              </a:rPr>
              <a:t>}</a:t>
            </a:r>
          </a:p>
        </p:txBody>
      </p:sp>
      <p:cxnSp>
        <p:nvCxnSpPr>
          <p:cNvPr id="5" name="Connecteur droit 4"/>
          <p:cNvCxnSpPr/>
          <p:nvPr/>
        </p:nvCxnSpPr>
        <p:spPr>
          <a:xfrm>
            <a:off x="611560" y="3212976"/>
            <a:ext cx="0" cy="2736304"/>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571272678"/>
      </p:ext>
    </p:extLst>
  </p:cSld>
  <p:clrMapOvr>
    <a:masterClrMapping/>
  </p:clrMapOvr>
  <p:timing>
    <p:tnLst>
      <p:par>
        <p:cTn id="1" dur="indefinite" restart="never" nodeType="tmRoot"/>
      </p:par>
    </p:tnLst>
  </p:timing>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332656"/>
            <a:ext cx="8640960" cy="6264696"/>
          </a:xfrm>
        </p:spPr>
        <p:txBody>
          <a:bodyPr/>
          <a:lstStyle/>
          <a:p>
            <a:pPr marL="0" indent="0">
              <a:buNone/>
            </a:pPr>
            <a:r>
              <a:rPr lang="fr-FR" dirty="0">
                <a:latin typeface="Maiandra GD" pitchFamily="34" charset="0"/>
              </a:rPr>
              <a:t>Pour activer la coloration du code </a:t>
            </a:r>
            <a:r>
              <a:rPr lang="fr-FR" dirty="0" smtClean="0">
                <a:latin typeface="Maiandra GD" pitchFamily="34" charset="0"/>
              </a:rPr>
              <a:t>dans</a:t>
            </a:r>
          </a:p>
          <a:p>
            <a:pPr marL="0" indent="0">
              <a:buNone/>
            </a:pPr>
            <a:r>
              <a:rPr lang="fr-FR" dirty="0" smtClean="0">
                <a:latin typeface="Maiandra GD" pitchFamily="34" charset="0"/>
              </a:rPr>
              <a:t>Notepad</a:t>
            </a:r>
            <a:r>
              <a:rPr lang="fr-FR" dirty="0">
                <a:latin typeface="Maiandra GD" pitchFamily="34" charset="0"/>
              </a:rPr>
              <a:t>++, passez par les menus</a:t>
            </a:r>
          </a:p>
          <a:p>
            <a:pPr marL="0" indent="0">
              <a:buNone/>
            </a:pPr>
            <a:r>
              <a:rPr lang="fr-FR" dirty="0">
                <a:latin typeface="Maiandra GD" pitchFamily="34" charset="0"/>
              </a:rPr>
              <a:t>Langage &gt; C &gt; CSS</a:t>
            </a:r>
            <a:r>
              <a:rPr lang="fr-FR" dirty="0" smtClean="0">
                <a:latin typeface="Maiandra GD" pitchFamily="34" charset="0"/>
              </a:rPr>
              <a:t>.</a:t>
            </a:r>
          </a:p>
          <a:p>
            <a:pPr marL="0" indent="0" algn="just">
              <a:buNone/>
            </a:pPr>
            <a:r>
              <a:rPr lang="fr-FR" dirty="0">
                <a:latin typeface="Maiandra GD" pitchFamily="34" charset="0"/>
              </a:rPr>
              <a:t>Enregistrez le </a:t>
            </a:r>
            <a:r>
              <a:rPr lang="fr-FR" dirty="0" smtClean="0">
                <a:latin typeface="Maiandra GD" pitchFamily="34" charset="0"/>
              </a:rPr>
              <a:t>fichier </a:t>
            </a:r>
            <a:r>
              <a:rPr lang="fr-FR" dirty="0">
                <a:latin typeface="Maiandra GD" pitchFamily="34" charset="0"/>
              </a:rPr>
              <a:t>en lui donnant un nom qui se termine par .css, comme style.css.</a:t>
            </a:r>
          </a:p>
          <a:p>
            <a:pPr marL="0" indent="0" algn="just">
              <a:buNone/>
            </a:pPr>
            <a:r>
              <a:rPr lang="fr-FR" dirty="0">
                <a:latin typeface="Maiandra GD" pitchFamily="34" charset="0"/>
              </a:rPr>
              <a:t>Placez ce </a:t>
            </a:r>
            <a:r>
              <a:rPr lang="fr-FR" dirty="0" smtClean="0">
                <a:latin typeface="Maiandra GD" pitchFamily="34" charset="0"/>
              </a:rPr>
              <a:t>fichier </a:t>
            </a:r>
            <a:r>
              <a:rPr lang="fr-FR" dirty="0">
                <a:latin typeface="Maiandra GD" pitchFamily="34" charset="0"/>
              </a:rPr>
              <a:t>.css dans le même dossier que votre </a:t>
            </a:r>
            <a:r>
              <a:rPr lang="fr-FR" dirty="0" smtClean="0">
                <a:latin typeface="Maiandra GD" pitchFamily="34" charset="0"/>
              </a:rPr>
              <a:t>fichier </a:t>
            </a:r>
            <a:r>
              <a:rPr lang="fr-FR" dirty="0">
                <a:latin typeface="Maiandra GD" pitchFamily="34" charset="0"/>
              </a:rPr>
              <a:t>.html.</a:t>
            </a:r>
          </a:p>
          <a:p>
            <a:pPr marL="0" indent="0" algn="just">
              <a:buNone/>
            </a:pPr>
            <a:r>
              <a:rPr lang="fr-FR" dirty="0">
                <a:latin typeface="Maiandra GD" pitchFamily="34" charset="0"/>
              </a:rPr>
              <a:t>Dans Notepad++, vous devriez observer quelque chose de similaire à la </a:t>
            </a:r>
            <a:r>
              <a:rPr lang="fr-FR" dirty="0" smtClean="0">
                <a:latin typeface="Maiandra GD" pitchFamily="34" charset="0"/>
              </a:rPr>
              <a:t>figure ci-dessous.</a:t>
            </a:r>
            <a:endParaRPr lang="fr-FR" dirty="0">
              <a:latin typeface="Maiandra GD" pitchFamily="34" charset="0"/>
            </a:endParaRPr>
          </a:p>
        </p:txBody>
      </p:sp>
    </p:spTree>
    <p:extLst>
      <p:ext uri="{BB962C8B-B14F-4D97-AF65-F5344CB8AC3E}">
        <p14:creationId xmlns:p14="http://schemas.microsoft.com/office/powerpoint/2010/main" val="3015293673"/>
      </p:ext>
    </p:extLst>
  </p:cSld>
  <p:clrMapOvr>
    <a:masterClrMapping/>
  </p:clrMapOvr>
  <p:timing>
    <p:tnLst>
      <p:par>
        <p:cTn id="1" dur="indefinite" restart="never" nodeType="tmRoot"/>
      </p:par>
    </p:tnLst>
  </p:timing>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27592"/>
            <a:ext cx="8784976" cy="6469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2408880" y="6525344"/>
            <a:ext cx="4539384" cy="400110"/>
          </a:xfrm>
          <a:prstGeom prst="rect">
            <a:avLst/>
          </a:prstGeom>
        </p:spPr>
        <p:txBody>
          <a:bodyPr wrap="none">
            <a:spAutoFit/>
          </a:bodyPr>
          <a:lstStyle/>
          <a:p>
            <a:r>
              <a:rPr lang="fr-FR" sz="2000" dirty="0">
                <a:solidFill>
                  <a:srgbClr val="FF0000"/>
                </a:solidFill>
                <a:effectLst>
                  <a:outerShdw blurRad="38100" dist="38100" dir="2700000" algn="tl">
                    <a:srgbClr val="000000">
                      <a:alpha val="43137"/>
                    </a:srgbClr>
                  </a:outerShdw>
                </a:effectLst>
                <a:latin typeface="Maiandra GD" pitchFamily="34" charset="0"/>
              </a:rPr>
              <a:t>Fichiers HTML et CSS dans Notepad++</a:t>
            </a:r>
          </a:p>
        </p:txBody>
      </p:sp>
    </p:spTree>
    <p:extLst>
      <p:ext uri="{BB962C8B-B14F-4D97-AF65-F5344CB8AC3E}">
        <p14:creationId xmlns:p14="http://schemas.microsoft.com/office/powerpoint/2010/main" val="808940738"/>
      </p:ext>
    </p:extLst>
  </p:cSld>
  <p:clrMapOvr>
    <a:masterClrMapping/>
  </p:clrMapOvr>
  <p:timing>
    <p:tnLst>
      <p:par>
        <p:cTn id="1" dur="indefinite" restart="never" nodeType="tmRoot"/>
      </p:par>
    </p:tnLst>
  </p:timing>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332656"/>
            <a:ext cx="8640960" cy="6192688"/>
          </a:xfrm>
        </p:spPr>
        <p:txBody>
          <a:bodyPr>
            <a:normAutofit/>
          </a:bodyPr>
          <a:lstStyle/>
          <a:p>
            <a:pPr marL="0" indent="0" algn="just">
              <a:buNone/>
            </a:pPr>
            <a:r>
              <a:rPr lang="fr-FR" sz="3600" dirty="0">
                <a:latin typeface="Maiandra GD" pitchFamily="34" charset="0"/>
              </a:rPr>
              <a:t>Dans votre explorateur de </a:t>
            </a:r>
            <a:r>
              <a:rPr lang="fr-FR" sz="3600" dirty="0" smtClean="0">
                <a:latin typeface="Maiandra GD" pitchFamily="34" charset="0"/>
              </a:rPr>
              <a:t>fichiers</a:t>
            </a:r>
            <a:r>
              <a:rPr lang="fr-FR" sz="3600" dirty="0">
                <a:latin typeface="Maiandra GD" pitchFamily="34" charset="0"/>
              </a:rPr>
              <a:t>, vous devriez les voir apparaître côte à côte. </a:t>
            </a:r>
            <a:r>
              <a:rPr lang="fr-FR" sz="3600" dirty="0" smtClean="0">
                <a:latin typeface="Maiandra GD" pitchFamily="34" charset="0"/>
              </a:rPr>
              <a:t>D'un côté </a:t>
            </a:r>
            <a:r>
              <a:rPr lang="fr-FR" sz="3600" dirty="0">
                <a:latin typeface="Maiandra GD" pitchFamily="34" charset="0"/>
              </a:rPr>
              <a:t>le .html, de l'autre le .css, comme à la </a:t>
            </a:r>
            <a:r>
              <a:rPr lang="fr-FR" sz="3600" dirty="0" smtClean="0">
                <a:latin typeface="Maiandra GD" pitchFamily="34" charset="0"/>
              </a:rPr>
              <a:t>figure ci-dessous.</a:t>
            </a:r>
            <a:endParaRPr lang="fr-FR" sz="3600" dirty="0">
              <a:latin typeface="Maiandra GD" pitchFamily="34" charset="0"/>
            </a:endParaRPr>
          </a:p>
        </p:txBody>
      </p:sp>
    </p:spTree>
    <p:extLst>
      <p:ext uri="{BB962C8B-B14F-4D97-AF65-F5344CB8AC3E}">
        <p14:creationId xmlns:p14="http://schemas.microsoft.com/office/powerpoint/2010/main" val="2480928756"/>
      </p:ext>
    </p:extLst>
  </p:cSld>
  <p:clrMapOvr>
    <a:masterClrMapping/>
  </p:clrMapOvr>
  <p:timing>
    <p:tnLst>
      <p:par>
        <p:cTn id="1" dur="indefinite" restart="never" nodeType="tmRoot"/>
      </p:par>
    </p:tnLst>
  </p:timing>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96" y="116632"/>
            <a:ext cx="9036496" cy="6224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259632" y="6341258"/>
            <a:ext cx="7128792" cy="461665"/>
          </a:xfrm>
          <a:prstGeom prst="rect">
            <a:avLst/>
          </a:prstGeom>
        </p:spPr>
        <p:txBody>
          <a:bodyPr wrap="square">
            <a:spAutoFit/>
          </a:bodyPr>
          <a:lstStyle/>
          <a:p>
            <a:r>
              <a:rPr lang="fr-FR" sz="2400" dirty="0">
                <a:effectLst>
                  <a:outerShdw blurRad="38100" dist="38100" dir="2700000" algn="tl">
                    <a:srgbClr val="000000">
                      <a:alpha val="43137"/>
                    </a:srgbClr>
                  </a:outerShdw>
                </a:effectLst>
                <a:latin typeface="Maiandra GD" pitchFamily="34" charset="0"/>
              </a:rPr>
              <a:t>Fichiers HTML et CSS dans l'explorateur de </a:t>
            </a:r>
            <a:r>
              <a:rPr lang="fr-FR" sz="2400" dirty="0" smtClean="0">
                <a:effectLst>
                  <a:outerShdw blurRad="38100" dist="38100" dir="2700000" algn="tl">
                    <a:srgbClr val="000000">
                      <a:alpha val="43137"/>
                    </a:srgbClr>
                  </a:outerShdw>
                </a:effectLst>
                <a:latin typeface="Maiandra GD" pitchFamily="34" charset="0"/>
              </a:rPr>
              <a:t>Fichiers</a:t>
            </a:r>
            <a:endParaRPr lang="fr-FR" sz="2400" dirty="0">
              <a:effectLst>
                <a:outerShdw blurRad="38100" dist="38100" dir="2700000" algn="tl">
                  <a:srgbClr val="000000">
                    <a:alpha val="43137"/>
                  </a:srgbClr>
                </a:outerShdw>
              </a:effectLst>
              <a:latin typeface="Maiandra GD" pitchFamily="34" charset="0"/>
            </a:endParaRPr>
          </a:p>
        </p:txBody>
      </p:sp>
    </p:spTree>
    <p:extLst>
      <p:ext uri="{BB962C8B-B14F-4D97-AF65-F5344CB8AC3E}">
        <p14:creationId xmlns:p14="http://schemas.microsoft.com/office/powerpoint/2010/main" val="1701030846"/>
      </p:ext>
    </p:extLst>
  </p:cSld>
  <p:clrMapOvr>
    <a:masterClrMapping/>
  </p:clrMapOvr>
  <p:timing>
    <p:tnLst>
      <p:par>
        <p:cTn id="1" dur="indefinite" restart="never" nodeType="tmRoot"/>
      </p:par>
    </p:tnLst>
  </p:timing>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9512" y="332656"/>
            <a:ext cx="8712968" cy="6264696"/>
          </a:xfrm>
        </p:spPr>
        <p:txBody>
          <a:bodyPr>
            <a:normAutofit/>
          </a:bodyPr>
          <a:lstStyle/>
          <a:p>
            <a:pPr marL="0" indent="0" algn="just">
              <a:buNone/>
            </a:pPr>
            <a:r>
              <a:rPr lang="fr-FR" sz="3600" dirty="0">
                <a:latin typeface="Maiandra GD" pitchFamily="34" charset="0"/>
              </a:rPr>
              <a:t>Ouvrez maintenant votre </a:t>
            </a:r>
            <a:r>
              <a:rPr lang="fr-FR" sz="3600" dirty="0" smtClean="0">
                <a:latin typeface="Maiandra GD" pitchFamily="34" charset="0"/>
              </a:rPr>
              <a:t>fichier </a:t>
            </a:r>
            <a:r>
              <a:rPr lang="fr-FR" sz="3600" dirty="0">
                <a:latin typeface="Maiandra GD" pitchFamily="34" charset="0"/>
              </a:rPr>
              <a:t>page.html dans votre navigateur pour le tester, </a:t>
            </a:r>
            <a:r>
              <a:rPr lang="fr-FR" sz="3600" dirty="0" smtClean="0">
                <a:latin typeface="Maiandra GD" pitchFamily="34" charset="0"/>
              </a:rPr>
              <a:t>comme vous </a:t>
            </a:r>
            <a:r>
              <a:rPr lang="fr-FR" sz="3600" dirty="0">
                <a:latin typeface="Maiandra GD" pitchFamily="34" charset="0"/>
              </a:rPr>
              <a:t>le faites d'habitude. Regardez, c'est magique : vos paragraphes sont écrits en </a:t>
            </a:r>
            <a:r>
              <a:rPr lang="fr-FR" sz="3600" dirty="0" smtClean="0">
                <a:latin typeface="Maiandra GD" pitchFamily="34" charset="0"/>
              </a:rPr>
              <a:t>bleu, comme </a:t>
            </a:r>
            <a:r>
              <a:rPr lang="fr-FR" sz="3600" dirty="0">
                <a:latin typeface="Maiandra GD" pitchFamily="34" charset="0"/>
              </a:rPr>
              <a:t>dans la </a:t>
            </a:r>
            <a:r>
              <a:rPr lang="fr-FR" sz="3600" dirty="0" smtClean="0">
                <a:latin typeface="Maiandra GD" pitchFamily="34" charset="0"/>
              </a:rPr>
              <a:t>figure ci-dessous !</a:t>
            </a:r>
          </a:p>
          <a:p>
            <a:pPr marL="0" indent="0" algn="just">
              <a:buNone/>
            </a:pPr>
            <a:r>
              <a:rPr lang="fr-FR" sz="3600" dirty="0">
                <a:solidFill>
                  <a:srgbClr val="FF0000"/>
                </a:solidFill>
                <a:latin typeface="Maiandra GD" pitchFamily="34" charset="0"/>
              </a:rPr>
              <a:t>Il est inutile d'ouvrir directement le </a:t>
            </a:r>
            <a:r>
              <a:rPr lang="fr-FR" sz="3600" dirty="0" smtClean="0">
                <a:solidFill>
                  <a:srgbClr val="FF0000"/>
                </a:solidFill>
                <a:latin typeface="Maiandra GD" pitchFamily="34" charset="0"/>
              </a:rPr>
              <a:t>fichier </a:t>
            </a:r>
            <a:r>
              <a:rPr lang="fr-FR" sz="3600" dirty="0">
                <a:solidFill>
                  <a:srgbClr val="FF0000"/>
                </a:solidFill>
                <a:latin typeface="Maiandra GD" pitchFamily="34" charset="0"/>
              </a:rPr>
              <a:t>style.css dans le navigateur. </a:t>
            </a:r>
            <a:r>
              <a:rPr lang="fr-FR" sz="3600" dirty="0" smtClean="0">
                <a:solidFill>
                  <a:srgbClr val="FF0000"/>
                </a:solidFill>
                <a:latin typeface="Maiandra GD" pitchFamily="34" charset="0"/>
              </a:rPr>
              <a:t>Il faut </a:t>
            </a:r>
            <a:r>
              <a:rPr lang="fr-FR" sz="3600" dirty="0">
                <a:solidFill>
                  <a:srgbClr val="FF0000"/>
                </a:solidFill>
                <a:latin typeface="Maiandra GD" pitchFamily="34" charset="0"/>
              </a:rPr>
              <a:t>ouvrir le </a:t>
            </a:r>
            <a:r>
              <a:rPr lang="fr-FR" sz="3600" dirty="0" smtClean="0">
                <a:solidFill>
                  <a:srgbClr val="FF0000"/>
                </a:solidFill>
                <a:latin typeface="Maiandra GD" pitchFamily="34" charset="0"/>
              </a:rPr>
              <a:t>fichier </a:t>
            </a:r>
            <a:r>
              <a:rPr lang="fr-FR" sz="3600" dirty="0">
                <a:solidFill>
                  <a:srgbClr val="FF0000"/>
                </a:solidFill>
                <a:latin typeface="Maiandra GD" pitchFamily="34" charset="0"/>
              </a:rPr>
              <a:t>page.html (il fera automatiquement appel au </a:t>
            </a:r>
            <a:r>
              <a:rPr lang="fr-FR" sz="3600" dirty="0" smtClean="0">
                <a:solidFill>
                  <a:srgbClr val="FF0000"/>
                </a:solidFill>
                <a:latin typeface="Maiandra GD" pitchFamily="34" charset="0"/>
              </a:rPr>
              <a:t>fichier</a:t>
            </a:r>
            <a:r>
              <a:rPr lang="fr-FR" sz="3600" dirty="0">
                <a:solidFill>
                  <a:srgbClr val="FF0000"/>
                </a:solidFill>
                <a:latin typeface="Maiandra GD" pitchFamily="34" charset="0"/>
              </a:rPr>
              <a:t> </a:t>
            </a:r>
            <a:r>
              <a:rPr lang="fr-FR" sz="3600" dirty="0" smtClean="0">
                <a:solidFill>
                  <a:srgbClr val="FF0000"/>
                </a:solidFill>
                <a:latin typeface="Maiandra GD" pitchFamily="34" charset="0"/>
              </a:rPr>
              <a:t>style.css</a:t>
            </a:r>
            <a:r>
              <a:rPr lang="fr-FR" sz="3600" dirty="0">
                <a:solidFill>
                  <a:srgbClr val="FF0000"/>
                </a:solidFill>
                <a:latin typeface="Maiandra GD" pitchFamily="34" charset="0"/>
              </a:rPr>
              <a:t>).</a:t>
            </a:r>
            <a:endParaRPr lang="fr-FR" sz="3600" dirty="0" smtClean="0">
              <a:solidFill>
                <a:srgbClr val="FF0000"/>
              </a:solidFill>
              <a:latin typeface="Maiandra GD" pitchFamily="34" charset="0"/>
            </a:endParaRPr>
          </a:p>
          <a:p>
            <a:pPr marL="0" indent="0" algn="just">
              <a:buNone/>
            </a:pPr>
            <a:endParaRPr lang="fr-FR" sz="3600" dirty="0">
              <a:latin typeface="Maiandra GD" pitchFamily="34" charset="0"/>
            </a:endParaRPr>
          </a:p>
          <a:p>
            <a:pPr marL="0" indent="0">
              <a:buNone/>
            </a:pPr>
            <a:endParaRPr lang="fr-FR"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23373" y="5805264"/>
            <a:ext cx="1238250" cy="86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47460961"/>
      </p:ext>
    </p:extLst>
  </p:cSld>
  <p:clrMapOvr>
    <a:masterClrMapping/>
  </p:clrMapOvr>
  <p:timing>
    <p:tnLst>
      <p:par>
        <p:cTn id="1" dur="indefinite" restart="never" nodeType="tmRoot"/>
      </p:par>
    </p:tnLst>
  </p:timing>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3" y="188640"/>
            <a:ext cx="8784976" cy="5976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2699792" y="6290156"/>
            <a:ext cx="5256584" cy="523220"/>
          </a:xfrm>
          <a:prstGeom prst="rect">
            <a:avLst/>
          </a:prstGeom>
        </p:spPr>
        <p:txBody>
          <a:bodyPr wrap="square">
            <a:spAutoFit/>
          </a:bodyPr>
          <a:lstStyle/>
          <a:p>
            <a:r>
              <a:rPr lang="fr-FR" sz="2800" dirty="0">
                <a:effectLst>
                  <a:outerShdw blurRad="38100" dist="38100" dir="2700000" algn="tl">
                    <a:srgbClr val="000000">
                      <a:alpha val="43137"/>
                    </a:srgbClr>
                  </a:outerShdw>
                </a:effectLst>
                <a:latin typeface="Maiandra GD" pitchFamily="34" charset="0"/>
              </a:rPr>
              <a:t>Le texte est écrit en bleu</a:t>
            </a:r>
          </a:p>
        </p:txBody>
      </p:sp>
    </p:spTree>
    <p:extLst>
      <p:ext uri="{BB962C8B-B14F-4D97-AF65-F5344CB8AC3E}">
        <p14:creationId xmlns:p14="http://schemas.microsoft.com/office/powerpoint/2010/main" val="995785622"/>
      </p:ext>
    </p:extLst>
  </p:cSld>
  <p:clrMapOvr>
    <a:masterClrMapping/>
  </p:clrMapOvr>
  <p:timing>
    <p:tnLst>
      <p:par>
        <p:cTn id="1" dur="indefinite" restart="never" nodeType="tmRoot"/>
      </p:par>
    </p:tnLst>
  </p:timing>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862064"/>
            <a:ext cx="8229600" cy="1143000"/>
          </a:xfrm>
        </p:spPr>
        <p:txBody>
          <a:bodyPr>
            <a:noAutofit/>
          </a:bodyPr>
          <a:lstStyle/>
          <a:p>
            <a:r>
              <a:rPr lang="fr-FR" dirty="0">
                <a:effectLst>
                  <a:outerShdw blurRad="38100" dist="38100" dir="2700000" algn="tl">
                    <a:srgbClr val="000000">
                      <a:alpha val="43137"/>
                    </a:srgbClr>
                  </a:outerShdw>
                </a:effectLst>
                <a:latin typeface="Maiandra GD" pitchFamily="34" charset="0"/>
              </a:rPr>
              <a:t>Dans l'en-tête &lt;head&gt; du </a:t>
            </a:r>
            <a:r>
              <a:rPr lang="fr-FR" dirty="0" smtClean="0">
                <a:effectLst>
                  <a:outerShdw blurRad="38100" dist="38100" dir="2700000" algn="tl">
                    <a:srgbClr val="000000">
                      <a:alpha val="43137"/>
                    </a:srgbClr>
                  </a:outerShdw>
                </a:effectLst>
                <a:latin typeface="Maiandra GD" pitchFamily="34" charset="0"/>
              </a:rPr>
              <a:t>fichier </a:t>
            </a:r>
            <a:r>
              <a:rPr lang="fr-FR" dirty="0">
                <a:effectLst>
                  <a:outerShdw blurRad="38100" dist="38100" dir="2700000" algn="tl">
                    <a:srgbClr val="000000">
                      <a:alpha val="43137"/>
                    </a:srgbClr>
                  </a:outerShdw>
                </a:effectLst>
                <a:latin typeface="Maiandra GD" pitchFamily="34" charset="0"/>
              </a:rPr>
              <a:t>HTML</a:t>
            </a:r>
          </a:p>
        </p:txBody>
      </p:sp>
    </p:spTree>
    <p:extLst>
      <p:ext uri="{BB962C8B-B14F-4D97-AF65-F5344CB8AC3E}">
        <p14:creationId xmlns:p14="http://schemas.microsoft.com/office/powerpoint/2010/main" val="2900850707"/>
      </p:ext>
    </p:extLst>
  </p:cSld>
  <p:clrMapOvr>
    <a:masterClrMapping/>
  </p:clrMapOvr>
  <p:timing>
    <p:tnLst>
      <p:par>
        <p:cTn id="1" dur="indefinite" restart="never" nodeType="tmRoot"/>
      </p:par>
    </p:tnLst>
  </p:timing>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332656"/>
            <a:ext cx="8568952" cy="6264696"/>
          </a:xfrm>
        </p:spPr>
        <p:txBody>
          <a:bodyPr>
            <a:normAutofit lnSpcReduction="10000"/>
          </a:bodyPr>
          <a:lstStyle/>
          <a:p>
            <a:pPr marL="0" indent="0" algn="just">
              <a:buNone/>
            </a:pPr>
            <a:r>
              <a:rPr lang="fr-FR" sz="3600" dirty="0">
                <a:latin typeface="Maiandra GD" pitchFamily="34" charset="0"/>
              </a:rPr>
              <a:t>Il existe une autre méthode pour utiliser du CSS dans ses </a:t>
            </a:r>
            <a:r>
              <a:rPr lang="fr-FR" sz="3600" dirty="0" smtClean="0">
                <a:latin typeface="Maiandra GD" pitchFamily="34" charset="0"/>
              </a:rPr>
              <a:t>fichiers </a:t>
            </a:r>
            <a:r>
              <a:rPr lang="fr-FR" sz="3600" dirty="0">
                <a:latin typeface="Maiandra GD" pitchFamily="34" charset="0"/>
              </a:rPr>
              <a:t>HTML : cela </a:t>
            </a:r>
            <a:r>
              <a:rPr lang="fr-FR" sz="3600" dirty="0" smtClean="0">
                <a:latin typeface="Maiandra GD" pitchFamily="34" charset="0"/>
              </a:rPr>
              <a:t>consiste à </a:t>
            </a:r>
            <a:r>
              <a:rPr lang="fr-FR" sz="3600" dirty="0">
                <a:latin typeface="Maiandra GD" pitchFamily="34" charset="0"/>
              </a:rPr>
              <a:t>insérer le code CSS directement dans une balise </a:t>
            </a:r>
            <a:r>
              <a:rPr lang="fr-FR" sz="3600" dirty="0">
                <a:effectLst>
                  <a:outerShdw blurRad="38100" dist="38100" dir="2700000" algn="tl">
                    <a:srgbClr val="000000">
                      <a:alpha val="43137"/>
                    </a:srgbClr>
                  </a:outerShdw>
                </a:effectLst>
                <a:latin typeface="Maiandra GD" pitchFamily="34" charset="0"/>
              </a:rPr>
              <a:t>&lt;style&gt; </a:t>
            </a:r>
            <a:r>
              <a:rPr lang="fr-FR" sz="3600" dirty="0">
                <a:latin typeface="Maiandra GD" pitchFamily="34" charset="0"/>
              </a:rPr>
              <a:t>à l'intérieur de </a:t>
            </a:r>
            <a:r>
              <a:rPr lang="fr-FR" sz="3600" dirty="0" smtClean="0">
                <a:latin typeface="Maiandra GD" pitchFamily="34" charset="0"/>
              </a:rPr>
              <a:t>l'en-tête </a:t>
            </a:r>
            <a:r>
              <a:rPr lang="fr-FR" sz="3600" dirty="0" smtClean="0">
                <a:effectLst>
                  <a:outerShdw blurRad="38100" dist="38100" dir="2700000" algn="tl">
                    <a:srgbClr val="000000">
                      <a:alpha val="43137"/>
                    </a:srgbClr>
                  </a:outerShdw>
                </a:effectLst>
                <a:latin typeface="Maiandra GD" pitchFamily="34" charset="0"/>
              </a:rPr>
              <a:t>&lt;head</a:t>
            </a:r>
            <a:r>
              <a:rPr lang="fr-FR" sz="3600" dirty="0">
                <a:effectLst>
                  <a:outerShdw blurRad="38100" dist="38100" dir="2700000" algn="tl">
                    <a:srgbClr val="000000">
                      <a:alpha val="43137"/>
                    </a:srgbClr>
                  </a:outerShdw>
                </a:effectLst>
                <a:latin typeface="Maiandra GD" pitchFamily="34" charset="0"/>
              </a:rPr>
              <a:t>&gt;</a:t>
            </a:r>
            <a:r>
              <a:rPr lang="fr-FR" sz="3600" dirty="0">
                <a:latin typeface="Maiandra GD" pitchFamily="34" charset="0"/>
              </a:rPr>
              <a:t>.</a:t>
            </a:r>
          </a:p>
          <a:p>
            <a:pPr marL="0" indent="0" algn="just">
              <a:buNone/>
            </a:pPr>
            <a:r>
              <a:rPr lang="fr-FR" sz="3600" dirty="0">
                <a:latin typeface="Maiandra GD" pitchFamily="34" charset="0"/>
              </a:rPr>
              <a:t>Voici comment on peut obtenir exactement le même résultat avec un seul </a:t>
            </a:r>
            <a:r>
              <a:rPr lang="fr-FR" sz="3600" dirty="0" smtClean="0">
                <a:latin typeface="Maiandra GD" pitchFamily="34" charset="0"/>
              </a:rPr>
              <a:t>fichier </a:t>
            </a:r>
            <a:r>
              <a:rPr lang="fr-FR" sz="3600" dirty="0">
                <a:latin typeface="Maiandra GD" pitchFamily="34" charset="0"/>
              </a:rPr>
              <a:t>.</a:t>
            </a:r>
            <a:r>
              <a:rPr lang="fr-FR" sz="3600" dirty="0" smtClean="0">
                <a:latin typeface="Maiandra GD" pitchFamily="34" charset="0"/>
              </a:rPr>
              <a:t>html </a:t>
            </a:r>
          </a:p>
          <a:p>
            <a:pPr marL="0" indent="0" algn="just">
              <a:buNone/>
            </a:pPr>
            <a:r>
              <a:rPr lang="fr-FR" sz="3600" dirty="0" smtClean="0">
                <a:latin typeface="Maiandra GD" pitchFamily="34" charset="0"/>
              </a:rPr>
              <a:t>qui </a:t>
            </a:r>
            <a:r>
              <a:rPr lang="fr-FR" sz="3600" dirty="0">
                <a:latin typeface="Maiandra GD" pitchFamily="34" charset="0"/>
              </a:rPr>
              <a:t>contient le code CSS (lignes 5 à 10) </a:t>
            </a:r>
            <a:r>
              <a:rPr lang="fr-FR" sz="3600" dirty="0" smtClean="0">
                <a:latin typeface="Maiandra GD" pitchFamily="34" charset="0"/>
              </a:rPr>
              <a:t>:</a:t>
            </a:r>
          </a:p>
          <a:p>
            <a:pPr marL="0" indent="0" algn="just">
              <a:buNone/>
            </a:pPr>
            <a:r>
              <a:rPr lang="fr-FR" sz="3600" dirty="0">
                <a:effectLst>
                  <a:outerShdw blurRad="38100" dist="38100" dir="2700000" algn="tl">
                    <a:srgbClr val="000000">
                      <a:alpha val="43137"/>
                    </a:srgbClr>
                  </a:outerShdw>
                </a:effectLst>
                <a:latin typeface="Maiandra GD" pitchFamily="34" charset="0"/>
              </a:rPr>
              <a:t>Testez, vous verrez que le résultat est le même</a:t>
            </a:r>
            <a:r>
              <a:rPr lang="fr-FR" sz="3600" dirty="0" smtClean="0">
                <a:effectLst>
                  <a:outerShdw blurRad="38100" dist="38100" dir="2700000" algn="tl">
                    <a:srgbClr val="000000">
                      <a:alpha val="43137"/>
                    </a:srgbClr>
                  </a:outerShdw>
                </a:effectLst>
                <a:latin typeface="Maiandra GD" pitchFamily="34" charset="0"/>
              </a:rPr>
              <a:t>.</a:t>
            </a:r>
            <a:endParaRPr lang="fr-FR" sz="3600" dirty="0">
              <a:effectLst>
                <a:outerShdw blurRad="38100" dist="38100" dir="2700000" algn="tl">
                  <a:srgbClr val="000000">
                    <a:alpha val="43137"/>
                  </a:srgbClr>
                </a:outerShdw>
              </a:effectLst>
              <a:latin typeface="Maiandra GD" pitchFamily="34" charset="0"/>
            </a:endParaRPr>
          </a:p>
        </p:txBody>
      </p:sp>
    </p:spTree>
    <p:extLst>
      <p:ext uri="{BB962C8B-B14F-4D97-AF65-F5344CB8AC3E}">
        <p14:creationId xmlns:p14="http://schemas.microsoft.com/office/powerpoint/2010/main" val="2962766648"/>
      </p:ext>
    </p:extLst>
  </p:cSld>
  <p:clrMapOvr>
    <a:masterClrMapping/>
  </p:clrMapOvr>
  <p:timing>
    <p:tnLst>
      <p:par>
        <p:cTn id="1" dur="indefinite" restart="never" nodeType="tmRoot"/>
      </p:par>
    </p:tnLst>
  </p:timing>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496" y="188640"/>
            <a:ext cx="9036496" cy="6597352"/>
          </a:xfrm>
          <a:prstGeom prst="rect">
            <a:avLst/>
          </a:prstGeom>
        </p:spPr>
      </p:pic>
    </p:spTree>
    <p:extLst>
      <p:ext uri="{BB962C8B-B14F-4D97-AF65-F5344CB8AC3E}">
        <p14:creationId xmlns:p14="http://schemas.microsoft.com/office/powerpoint/2010/main" val="3824874870"/>
      </p:ext>
    </p:extLst>
  </p:cSld>
  <p:clrMapOvr>
    <a:masterClrMapping/>
  </p:clrMapOvr>
  <p:timing>
    <p:tnLst>
      <p:par>
        <p:cTn id="1" dur="indefinite" restart="never" nodeType="tmRoot"/>
      </p:par>
    </p:tnLst>
  </p:timing>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39552" y="2718048"/>
            <a:ext cx="8229600" cy="1431032"/>
          </a:xfrm>
        </p:spPr>
        <p:txBody>
          <a:bodyPr>
            <a:noAutofit/>
          </a:bodyPr>
          <a:lstStyle/>
          <a:p>
            <a:r>
              <a:rPr lang="fr-FR" sz="4800" dirty="0">
                <a:effectLst>
                  <a:outerShdw blurRad="38100" dist="38100" dir="2700000" algn="tl">
                    <a:srgbClr val="000000">
                      <a:alpha val="43137"/>
                    </a:srgbClr>
                  </a:outerShdw>
                </a:effectLst>
                <a:latin typeface="Maiandra GD" pitchFamily="34" charset="0"/>
              </a:rPr>
              <a:t>Directement dans les balises </a:t>
            </a:r>
            <a:r>
              <a:rPr lang="fr-FR" sz="4800" dirty="0" smtClean="0">
                <a:effectLst>
                  <a:outerShdw blurRad="38100" dist="38100" dir="2700000" algn="tl">
                    <a:srgbClr val="000000">
                      <a:alpha val="43137"/>
                    </a:srgbClr>
                  </a:outerShdw>
                </a:effectLst>
                <a:latin typeface="Maiandra GD" pitchFamily="34" charset="0"/>
              </a:rPr>
              <a:t/>
            </a:r>
            <a:br>
              <a:rPr lang="fr-FR" sz="4800" dirty="0" smtClean="0">
                <a:effectLst>
                  <a:outerShdw blurRad="38100" dist="38100" dir="2700000" algn="tl">
                    <a:srgbClr val="000000">
                      <a:alpha val="43137"/>
                    </a:srgbClr>
                  </a:outerShdw>
                </a:effectLst>
                <a:latin typeface="Maiandra GD" pitchFamily="34" charset="0"/>
              </a:rPr>
            </a:br>
            <a:r>
              <a:rPr lang="fr-FR" sz="4800" dirty="0" smtClean="0">
                <a:effectLst>
                  <a:outerShdw blurRad="38100" dist="38100" dir="2700000" algn="tl">
                    <a:srgbClr val="000000">
                      <a:alpha val="43137"/>
                    </a:srgbClr>
                  </a:outerShdw>
                </a:effectLst>
                <a:latin typeface="Maiandra GD" pitchFamily="34" charset="0"/>
              </a:rPr>
              <a:t>(</a:t>
            </a:r>
            <a:r>
              <a:rPr lang="fr-FR" sz="4800" dirty="0">
                <a:effectLst>
                  <a:outerShdw blurRad="38100" dist="38100" dir="2700000" algn="tl">
                    <a:srgbClr val="000000">
                      <a:alpha val="43137"/>
                    </a:srgbClr>
                  </a:outerShdw>
                </a:effectLst>
                <a:latin typeface="Maiandra GD" pitchFamily="34" charset="0"/>
              </a:rPr>
              <a:t>non recommandé)</a:t>
            </a:r>
          </a:p>
        </p:txBody>
      </p:sp>
    </p:spTree>
    <p:extLst>
      <p:ext uri="{BB962C8B-B14F-4D97-AF65-F5344CB8AC3E}">
        <p14:creationId xmlns:p14="http://schemas.microsoft.com/office/powerpoint/2010/main" val="2820084822"/>
      </p:ext>
    </p:extLst>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332656"/>
            <a:ext cx="8640960" cy="6264696"/>
          </a:xfrm>
        </p:spPr>
        <p:txBody>
          <a:bodyPr>
            <a:normAutofit/>
          </a:bodyPr>
          <a:lstStyle/>
          <a:p>
            <a:pPr marL="0" indent="0" algn="just">
              <a:buNone/>
            </a:pPr>
            <a:r>
              <a:rPr lang="fr-FR" sz="3600" dirty="0">
                <a:latin typeface="Maiandra GD" pitchFamily="34" charset="0"/>
              </a:rPr>
              <a:t>Dernière méthode, à manipuler avec précaution : vous pouvez ajouter un attribut </a:t>
            </a:r>
            <a:r>
              <a:rPr lang="fr-FR" sz="3600" dirty="0" smtClean="0">
                <a:latin typeface="Maiandra GD" pitchFamily="34" charset="0"/>
              </a:rPr>
              <a:t>style à </a:t>
            </a:r>
            <a:r>
              <a:rPr lang="fr-FR" sz="3600" dirty="0">
                <a:latin typeface="Maiandra GD" pitchFamily="34" charset="0"/>
              </a:rPr>
              <a:t>n'importe quelle balise</a:t>
            </a:r>
            <a:r>
              <a:rPr lang="fr-FR" sz="3600" dirty="0" smtClean="0">
                <a:latin typeface="Maiandra GD" pitchFamily="34" charset="0"/>
              </a:rPr>
              <a:t>.</a:t>
            </a:r>
          </a:p>
          <a:p>
            <a:pPr marL="0" indent="0" algn="just">
              <a:buNone/>
            </a:pPr>
            <a:r>
              <a:rPr lang="fr-FR" sz="3600" dirty="0" smtClean="0">
                <a:latin typeface="Maiandra GD" pitchFamily="34" charset="0"/>
              </a:rPr>
              <a:t> </a:t>
            </a:r>
            <a:r>
              <a:rPr lang="fr-FR" sz="3600" dirty="0">
                <a:latin typeface="Maiandra GD" pitchFamily="34" charset="0"/>
              </a:rPr>
              <a:t>Vous insérerez votre code CSS directement dans cet attribut :</a:t>
            </a:r>
          </a:p>
        </p:txBody>
      </p:sp>
    </p:spTree>
    <p:extLst>
      <p:ext uri="{BB962C8B-B14F-4D97-AF65-F5344CB8AC3E}">
        <p14:creationId xmlns:p14="http://schemas.microsoft.com/office/powerpoint/2010/main" val="959669808"/>
      </p:ext>
    </p:extLst>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016" y="100849"/>
            <a:ext cx="8892480" cy="6712527"/>
          </a:xfrm>
          <a:prstGeom prst="rect">
            <a:avLst/>
          </a:prstGeom>
        </p:spPr>
      </p:pic>
    </p:spTree>
    <p:extLst>
      <p:ext uri="{BB962C8B-B14F-4D97-AF65-F5344CB8AC3E}">
        <p14:creationId xmlns:p14="http://schemas.microsoft.com/office/powerpoint/2010/main" val="4024255975"/>
      </p:ext>
    </p:extLst>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404664"/>
            <a:ext cx="8640960" cy="6120680"/>
          </a:xfrm>
        </p:spPr>
        <p:txBody>
          <a:bodyPr>
            <a:normAutofit/>
          </a:bodyPr>
          <a:lstStyle/>
          <a:p>
            <a:pPr marL="0" indent="0" algn="just">
              <a:buNone/>
            </a:pPr>
            <a:r>
              <a:rPr lang="fr-FR" sz="3600" dirty="0">
                <a:latin typeface="Maiandra GD" pitchFamily="34" charset="0"/>
              </a:rPr>
              <a:t>Cette fois, seule le texte du premier paragraphe (ligne 11), dont la balise contient </a:t>
            </a:r>
            <a:r>
              <a:rPr lang="fr-FR" sz="3600" dirty="0" smtClean="0">
                <a:latin typeface="Maiandra GD" pitchFamily="34" charset="0"/>
              </a:rPr>
              <a:t>le code </a:t>
            </a:r>
            <a:r>
              <a:rPr lang="fr-FR" sz="3600" dirty="0">
                <a:latin typeface="Maiandra GD" pitchFamily="34" charset="0"/>
              </a:rPr>
              <a:t>CSS, sera coloré en bleu </a:t>
            </a:r>
            <a:r>
              <a:rPr lang="fr-FR" sz="3600" dirty="0" smtClean="0">
                <a:latin typeface="Maiandra GD" pitchFamily="34" charset="0"/>
              </a:rPr>
              <a:t>(figure ci-dessous).</a:t>
            </a:r>
            <a:endParaRPr lang="fr-FR" sz="3600" dirty="0">
              <a:latin typeface="Maiandra GD" pitchFamily="34" charset="0"/>
            </a:endParaRPr>
          </a:p>
        </p:txBody>
      </p:sp>
    </p:spTree>
    <p:extLst>
      <p:ext uri="{BB962C8B-B14F-4D97-AF65-F5344CB8AC3E}">
        <p14:creationId xmlns:p14="http://schemas.microsoft.com/office/powerpoint/2010/main" val="2739771205"/>
      </p:ext>
    </p:extLst>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008" y="188640"/>
            <a:ext cx="8964488" cy="6480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20853218"/>
      </p:ext>
    </p:extLst>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18864" y="2852936"/>
            <a:ext cx="8229600" cy="1143000"/>
          </a:xfrm>
        </p:spPr>
        <p:txBody>
          <a:bodyPr>
            <a:normAutofit/>
          </a:bodyPr>
          <a:lstStyle/>
          <a:p>
            <a:r>
              <a:rPr lang="fr-FR" sz="5400" dirty="0">
                <a:effectLst>
                  <a:outerShdw blurRad="38100" dist="38100" dir="2700000" algn="tl">
                    <a:srgbClr val="000000">
                      <a:alpha val="43137"/>
                    </a:srgbClr>
                  </a:outerShdw>
                </a:effectLst>
                <a:latin typeface="Maiandra GD" pitchFamily="34" charset="0"/>
              </a:rPr>
              <a:t>Quelle méthode choisir ?</a:t>
            </a:r>
          </a:p>
        </p:txBody>
      </p:sp>
    </p:spTree>
    <p:extLst>
      <p:ext uri="{BB962C8B-B14F-4D97-AF65-F5344CB8AC3E}">
        <p14:creationId xmlns:p14="http://schemas.microsoft.com/office/powerpoint/2010/main" val="1403313373"/>
      </p:ext>
    </p:extLst>
  </p:cSld>
  <p:clrMapOvr>
    <a:masterClrMapping/>
  </p:clrMapOvr>
  <p:timing>
    <p:tnLst>
      <p:par>
        <p:cTn id="1" dur="indefinite" restart="never" nodeType="tmRoot"/>
      </p:par>
    </p:tnLst>
  </p:timing>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476672"/>
            <a:ext cx="8229600" cy="5649491"/>
          </a:xfrm>
        </p:spPr>
        <p:txBody>
          <a:bodyPr>
            <a:normAutofit/>
          </a:bodyPr>
          <a:lstStyle/>
          <a:p>
            <a:pPr marL="0" indent="0" algn="just">
              <a:buNone/>
            </a:pPr>
            <a:r>
              <a:rPr lang="fr-FR" sz="3600" dirty="0">
                <a:solidFill>
                  <a:srgbClr val="0070C0"/>
                </a:solidFill>
                <a:latin typeface="Maiandra GD" pitchFamily="34" charset="0"/>
              </a:rPr>
              <a:t>Je trouve que la première méthode que tu recommandes est plus </a:t>
            </a:r>
            <a:r>
              <a:rPr lang="fr-FR" sz="3600" dirty="0" smtClean="0">
                <a:solidFill>
                  <a:srgbClr val="0070C0"/>
                </a:solidFill>
                <a:latin typeface="Maiandra GD" pitchFamily="34" charset="0"/>
              </a:rPr>
              <a:t>compliquée que </a:t>
            </a:r>
            <a:r>
              <a:rPr lang="fr-FR" sz="3600" dirty="0">
                <a:solidFill>
                  <a:srgbClr val="0070C0"/>
                </a:solidFill>
                <a:latin typeface="Maiandra GD" pitchFamily="34" charset="0"/>
              </a:rPr>
              <a:t>les deux autres ! Pourquoi nous conseilles-tu de créer deux </a:t>
            </a:r>
            <a:r>
              <a:rPr lang="fr-FR" sz="3600" dirty="0" smtClean="0">
                <a:solidFill>
                  <a:srgbClr val="0070C0"/>
                </a:solidFill>
                <a:latin typeface="Maiandra GD" pitchFamily="34" charset="0"/>
              </a:rPr>
              <a:t>fichiers</a:t>
            </a:r>
            <a:r>
              <a:rPr lang="fr-FR" sz="3600" dirty="0">
                <a:solidFill>
                  <a:srgbClr val="0070C0"/>
                </a:solidFill>
                <a:latin typeface="Maiandra GD" pitchFamily="34" charset="0"/>
              </a:rPr>
              <a:t>, </a:t>
            </a:r>
            <a:r>
              <a:rPr lang="fr-FR" sz="3600" dirty="0" smtClean="0">
                <a:solidFill>
                  <a:srgbClr val="0070C0"/>
                </a:solidFill>
                <a:latin typeface="Maiandra GD" pitchFamily="34" charset="0"/>
              </a:rPr>
              <a:t>j'étais bien</a:t>
            </a:r>
            <a:r>
              <a:rPr lang="fr-FR" sz="3600" dirty="0">
                <a:solidFill>
                  <a:srgbClr val="0070C0"/>
                </a:solidFill>
                <a:latin typeface="Maiandra GD" pitchFamily="34" charset="0"/>
              </a:rPr>
              <a:t>, moi, avec juste un </a:t>
            </a:r>
            <a:r>
              <a:rPr lang="fr-FR" sz="3600" dirty="0" smtClean="0">
                <a:solidFill>
                  <a:srgbClr val="0070C0"/>
                </a:solidFill>
                <a:latin typeface="Maiandra GD" pitchFamily="34" charset="0"/>
              </a:rPr>
              <a:t>fichier </a:t>
            </a:r>
            <a:r>
              <a:rPr lang="fr-FR" sz="3600" dirty="0">
                <a:solidFill>
                  <a:srgbClr val="0070C0"/>
                </a:solidFill>
                <a:latin typeface="Maiandra GD" pitchFamily="34" charset="0"/>
              </a:rPr>
              <a:t>.html !</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20272" y="5157192"/>
            <a:ext cx="1238250" cy="1238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19767053"/>
      </p:ext>
    </p:extLst>
  </p:cSld>
  <p:clrMapOvr>
    <a:masterClrMapping/>
  </p:clrMapOvr>
  <p:timing>
    <p:tnLst>
      <p:par>
        <p:cTn id="1" dur="indefinite" restart="never" nodeType="tmRoot"/>
      </p:par>
    </p:tnLst>
  </p:timing>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404664"/>
            <a:ext cx="8640960" cy="6120680"/>
          </a:xfrm>
        </p:spPr>
        <p:txBody>
          <a:bodyPr>
            <a:normAutofit/>
          </a:bodyPr>
          <a:lstStyle/>
          <a:p>
            <a:pPr marL="0" indent="0" algn="just">
              <a:buNone/>
            </a:pPr>
            <a:r>
              <a:rPr lang="fr-FR" sz="3600" dirty="0">
                <a:latin typeface="Maiandra GD" pitchFamily="34" charset="0"/>
              </a:rPr>
              <a:t>Je vous recommande fortement de prendre l'habitude de travailler avec la </a:t>
            </a:r>
            <a:r>
              <a:rPr lang="fr-FR" sz="3600" dirty="0" smtClean="0">
                <a:latin typeface="Maiandra GD" pitchFamily="34" charset="0"/>
              </a:rPr>
              <a:t>première méthode </a:t>
            </a:r>
            <a:r>
              <a:rPr lang="fr-FR" sz="3600" dirty="0">
                <a:latin typeface="Maiandra GD" pitchFamily="34" charset="0"/>
              </a:rPr>
              <a:t>parce que c'est celle utilisée par la majorité des webmasters. . . Pourquoi ?</a:t>
            </a:r>
          </a:p>
        </p:txBody>
      </p:sp>
    </p:spTree>
    <p:extLst>
      <p:ext uri="{BB962C8B-B14F-4D97-AF65-F5344CB8AC3E}">
        <p14:creationId xmlns:p14="http://schemas.microsoft.com/office/powerpoint/2010/main" val="703509193"/>
      </p:ext>
    </p:extLst>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332656"/>
            <a:ext cx="8640960" cy="6192688"/>
          </a:xfrm>
        </p:spPr>
        <p:txBody>
          <a:bodyPr>
            <a:normAutofit/>
          </a:bodyPr>
          <a:lstStyle/>
          <a:p>
            <a:pPr marL="0" indent="0" algn="just">
              <a:buNone/>
            </a:pPr>
            <a:r>
              <a:rPr lang="fr-FR" sz="3600" dirty="0">
                <a:latin typeface="Maiandra GD" pitchFamily="34" charset="0"/>
              </a:rPr>
              <a:t>Pour le moment, vous faites vos tests sur un seul </a:t>
            </a:r>
            <a:r>
              <a:rPr lang="fr-FR" sz="3600" dirty="0" smtClean="0">
                <a:latin typeface="Maiandra GD" pitchFamily="34" charset="0"/>
              </a:rPr>
              <a:t>fichier </a:t>
            </a:r>
            <a:r>
              <a:rPr lang="fr-FR" sz="3600" dirty="0">
                <a:latin typeface="Maiandra GD" pitchFamily="34" charset="0"/>
              </a:rPr>
              <a:t>HTML. Cependant, votre </a:t>
            </a:r>
            <a:r>
              <a:rPr lang="fr-FR" sz="3600" dirty="0" smtClean="0">
                <a:latin typeface="Maiandra GD" pitchFamily="34" charset="0"/>
              </a:rPr>
              <a:t>site sera </a:t>
            </a:r>
            <a:r>
              <a:rPr lang="fr-FR" sz="3600" dirty="0">
                <a:latin typeface="Maiandra GD" pitchFamily="34" charset="0"/>
              </a:rPr>
              <a:t>plus tard constitué de plusieurs pages HTML, on est d'accord ? Imaginez : si </a:t>
            </a:r>
            <a:r>
              <a:rPr lang="fr-FR" sz="3600" dirty="0" smtClean="0">
                <a:latin typeface="Maiandra GD" pitchFamily="34" charset="0"/>
              </a:rPr>
              <a:t>vous placez </a:t>
            </a:r>
            <a:r>
              <a:rPr lang="fr-FR" sz="3600" dirty="0">
                <a:latin typeface="Maiandra GD" pitchFamily="34" charset="0"/>
              </a:rPr>
              <a:t>le code CSS directement dans le </a:t>
            </a:r>
            <a:r>
              <a:rPr lang="fr-FR" sz="3600" dirty="0" smtClean="0">
                <a:latin typeface="Maiandra GD" pitchFamily="34" charset="0"/>
              </a:rPr>
              <a:t>fichier </a:t>
            </a:r>
            <a:r>
              <a:rPr lang="fr-FR" sz="3600" dirty="0">
                <a:latin typeface="Maiandra GD" pitchFamily="34" charset="0"/>
              </a:rPr>
              <a:t>HTML, il faudra copier ce code </a:t>
            </a:r>
            <a:r>
              <a:rPr lang="fr-FR" sz="3600" dirty="0" smtClean="0">
                <a:latin typeface="Maiandra GD" pitchFamily="34" charset="0"/>
              </a:rPr>
              <a:t>dans tous </a:t>
            </a:r>
            <a:r>
              <a:rPr lang="fr-FR" sz="3600" dirty="0">
                <a:latin typeface="Maiandra GD" pitchFamily="34" charset="0"/>
              </a:rPr>
              <a:t>les </a:t>
            </a:r>
            <a:r>
              <a:rPr lang="fr-FR" sz="3600" dirty="0" smtClean="0">
                <a:latin typeface="Maiandra GD" pitchFamily="34" charset="0"/>
              </a:rPr>
              <a:t>fichiers </a:t>
            </a:r>
            <a:r>
              <a:rPr lang="fr-FR" sz="3600" dirty="0">
                <a:latin typeface="Maiandra GD" pitchFamily="34" charset="0"/>
              </a:rPr>
              <a:t>HTML de votre site ! </a:t>
            </a:r>
          </a:p>
        </p:txBody>
      </p:sp>
    </p:spTree>
    <p:extLst>
      <p:ext uri="{BB962C8B-B14F-4D97-AF65-F5344CB8AC3E}">
        <p14:creationId xmlns:p14="http://schemas.microsoft.com/office/powerpoint/2010/main" val="194092181"/>
      </p:ext>
    </p:extLst>
  </p:cSld>
  <p:clrMapOvr>
    <a:masterClrMapping/>
  </p:clrMapOvr>
  <p:timing>
    <p:tnLst>
      <p:par>
        <p:cTn id="1" dur="indefinite" restart="never" nodeType="tmRoot"/>
      </p:par>
    </p:tnLst>
  </p:timing>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260648"/>
            <a:ext cx="8712968" cy="5865515"/>
          </a:xfrm>
        </p:spPr>
        <p:txBody>
          <a:bodyPr/>
          <a:lstStyle/>
          <a:p>
            <a:pPr marL="0" indent="0" algn="just">
              <a:buNone/>
            </a:pPr>
            <a:r>
              <a:rPr lang="fr-FR" sz="3600" dirty="0">
                <a:latin typeface="Maiandra GD" pitchFamily="34" charset="0"/>
              </a:rPr>
              <a:t>Et si demain vous changez d'avis, par exemple si vous voulez que vos paragraphes soient écrits en rouge et non en bleu, il faudra modifier chaque fichier HTML un à un, comme le montre la figure </a:t>
            </a:r>
            <a:r>
              <a:rPr lang="fr-FR" sz="3600" dirty="0" smtClean="0">
                <a:latin typeface="Maiandra GD" pitchFamily="34" charset="0"/>
              </a:rPr>
              <a:t>ci-dessous</a:t>
            </a:r>
            <a:r>
              <a:rPr lang="fr-FR" sz="3600" dirty="0">
                <a:latin typeface="Maiandra GD" pitchFamily="34" charset="0"/>
              </a:rPr>
              <a:t>.</a:t>
            </a:r>
          </a:p>
          <a:p>
            <a:pPr marL="0" indent="0">
              <a:buNone/>
            </a:pPr>
            <a:endParaRPr lang="fr-FR" dirty="0"/>
          </a:p>
        </p:txBody>
      </p:sp>
    </p:spTree>
    <p:extLst>
      <p:ext uri="{BB962C8B-B14F-4D97-AF65-F5344CB8AC3E}">
        <p14:creationId xmlns:p14="http://schemas.microsoft.com/office/powerpoint/2010/main" val="1692678888"/>
      </p:ext>
    </p:extLst>
  </p:cSld>
  <p:clrMapOvr>
    <a:masterClrMapping/>
  </p:clrMapOvr>
  <p:timing>
    <p:tnLst>
      <p:par>
        <p:cTn id="1" dur="indefinite" restart="never" nodeType="tmRoot"/>
      </p:par>
    </p:tnLst>
  </p:timing>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188640"/>
            <a:ext cx="8964487" cy="61015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467544" y="6290156"/>
            <a:ext cx="8208912" cy="523220"/>
          </a:xfrm>
          <a:prstGeom prst="rect">
            <a:avLst/>
          </a:prstGeom>
        </p:spPr>
        <p:txBody>
          <a:bodyPr wrap="square">
            <a:spAutoFit/>
          </a:bodyPr>
          <a:lstStyle/>
          <a:p>
            <a:pPr algn="ctr"/>
            <a:r>
              <a:rPr lang="fr-FR" sz="2800" dirty="0">
                <a:effectLst>
                  <a:outerShdw blurRad="38100" dist="38100" dir="2700000" algn="tl">
                    <a:srgbClr val="000000">
                      <a:alpha val="43137"/>
                    </a:srgbClr>
                  </a:outerShdw>
                </a:effectLst>
                <a:latin typeface="Maiandra GD" pitchFamily="34" charset="0"/>
              </a:rPr>
              <a:t>Le code CSS est répété dans chaque </a:t>
            </a:r>
            <a:r>
              <a:rPr lang="fr-FR" sz="2800" dirty="0" smtClean="0">
                <a:effectLst>
                  <a:outerShdw blurRad="38100" dist="38100" dir="2700000" algn="tl">
                    <a:srgbClr val="000000">
                      <a:alpha val="43137"/>
                    </a:srgbClr>
                  </a:outerShdw>
                </a:effectLst>
                <a:latin typeface="Maiandra GD" pitchFamily="34" charset="0"/>
              </a:rPr>
              <a:t>fichier </a:t>
            </a:r>
            <a:r>
              <a:rPr lang="fr-FR" sz="2800" dirty="0">
                <a:effectLst>
                  <a:outerShdw blurRad="38100" dist="38100" dir="2700000" algn="tl">
                    <a:srgbClr val="000000">
                      <a:alpha val="43137"/>
                    </a:srgbClr>
                  </a:outerShdw>
                </a:effectLst>
                <a:latin typeface="Maiandra GD" pitchFamily="34" charset="0"/>
              </a:rPr>
              <a:t>HTML</a:t>
            </a:r>
          </a:p>
        </p:txBody>
      </p:sp>
    </p:spTree>
    <p:extLst>
      <p:ext uri="{BB962C8B-B14F-4D97-AF65-F5344CB8AC3E}">
        <p14:creationId xmlns:p14="http://schemas.microsoft.com/office/powerpoint/2010/main" val="283687767"/>
      </p:ext>
    </p:extLst>
  </p:cSld>
  <p:clrMapOvr>
    <a:masterClrMapping/>
  </p:clrMapOvr>
  <p:timing>
    <p:tnLst>
      <p:par>
        <p:cTn id="1" dur="indefinite" restart="never" nodeType="tmRoot"/>
      </p:par>
    </p:tnLst>
  </p:timing>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404664"/>
            <a:ext cx="8229600" cy="6120680"/>
          </a:xfrm>
        </p:spPr>
        <p:txBody>
          <a:bodyPr>
            <a:normAutofit/>
          </a:bodyPr>
          <a:lstStyle/>
          <a:p>
            <a:pPr marL="0" indent="0" algn="just">
              <a:buNone/>
            </a:pPr>
            <a:r>
              <a:rPr lang="fr-FR" sz="3600" dirty="0">
                <a:latin typeface="Maiandra GD" pitchFamily="34" charset="0"/>
              </a:rPr>
              <a:t>Si vous travaillez avec un </a:t>
            </a:r>
            <a:r>
              <a:rPr lang="fr-FR" sz="3600" dirty="0" smtClean="0">
                <a:latin typeface="Maiandra GD" pitchFamily="34" charset="0"/>
              </a:rPr>
              <a:t>fichier </a:t>
            </a:r>
            <a:r>
              <a:rPr lang="fr-FR" sz="3600" dirty="0">
                <a:latin typeface="Maiandra GD" pitchFamily="34" charset="0"/>
              </a:rPr>
              <a:t>CSS externe, vous n'aurez besoin d'écrire cette </a:t>
            </a:r>
            <a:r>
              <a:rPr lang="fr-FR" sz="3600" dirty="0" smtClean="0">
                <a:latin typeface="Maiandra GD" pitchFamily="34" charset="0"/>
              </a:rPr>
              <a:t>instruction qu'une </a:t>
            </a:r>
            <a:r>
              <a:rPr lang="fr-FR" sz="3600" dirty="0">
                <a:latin typeface="Maiandra GD" pitchFamily="34" charset="0"/>
              </a:rPr>
              <a:t>seule fois pour tout votre site, comme le montre la </a:t>
            </a:r>
            <a:r>
              <a:rPr lang="fr-FR" sz="3600" dirty="0" smtClean="0">
                <a:latin typeface="Maiandra GD" pitchFamily="34" charset="0"/>
              </a:rPr>
              <a:t>figure ci-dessous.</a:t>
            </a:r>
            <a:endParaRPr lang="fr-FR" sz="3600" dirty="0">
              <a:latin typeface="Maiandra GD" pitchFamily="34" charset="0"/>
            </a:endParaRPr>
          </a:p>
        </p:txBody>
      </p:sp>
    </p:spTree>
    <p:extLst>
      <p:ext uri="{BB962C8B-B14F-4D97-AF65-F5344CB8AC3E}">
        <p14:creationId xmlns:p14="http://schemas.microsoft.com/office/powerpoint/2010/main" val="112287886"/>
      </p:ext>
    </p:extLst>
  </p:cSld>
  <p:clrMapOvr>
    <a:masterClrMapping/>
  </p:clrMapOvr>
  <p:timing>
    <p:tnLst>
      <p:par>
        <p:cTn id="1" dur="indefinite" restart="never" nodeType="tmRoot"/>
      </p:par>
    </p:tnLst>
  </p:timing>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116632"/>
            <a:ext cx="8964488" cy="6192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360040" y="6381328"/>
            <a:ext cx="8604448" cy="461665"/>
          </a:xfrm>
          <a:prstGeom prst="rect">
            <a:avLst/>
          </a:prstGeom>
        </p:spPr>
        <p:txBody>
          <a:bodyPr wrap="square">
            <a:spAutoFit/>
          </a:bodyPr>
          <a:lstStyle/>
          <a:p>
            <a:pPr algn="ctr"/>
            <a:r>
              <a:rPr lang="fr-FR" sz="2400" dirty="0">
                <a:effectLst>
                  <a:outerShdw blurRad="38100" dist="38100" dir="2700000" algn="tl">
                    <a:srgbClr val="000000">
                      <a:alpha val="43137"/>
                    </a:srgbClr>
                  </a:outerShdw>
                </a:effectLst>
                <a:latin typeface="Maiandra GD" pitchFamily="34" charset="0"/>
              </a:rPr>
              <a:t>Le code CSS est donné une fois pour toutes dans un </a:t>
            </a:r>
            <a:r>
              <a:rPr lang="fr-FR" sz="2400" dirty="0" smtClean="0">
                <a:effectLst>
                  <a:outerShdw blurRad="38100" dist="38100" dir="2700000" algn="tl">
                    <a:srgbClr val="000000">
                      <a:alpha val="43137"/>
                    </a:srgbClr>
                  </a:outerShdw>
                </a:effectLst>
                <a:latin typeface="Maiandra GD" pitchFamily="34" charset="0"/>
              </a:rPr>
              <a:t>fichier </a:t>
            </a:r>
            <a:r>
              <a:rPr lang="fr-FR" sz="2400" dirty="0">
                <a:effectLst>
                  <a:outerShdw blurRad="38100" dist="38100" dir="2700000" algn="tl">
                    <a:srgbClr val="000000">
                      <a:alpha val="43137"/>
                    </a:srgbClr>
                  </a:outerShdw>
                </a:effectLst>
                <a:latin typeface="Maiandra GD" pitchFamily="34" charset="0"/>
              </a:rPr>
              <a:t>CSS</a:t>
            </a:r>
          </a:p>
        </p:txBody>
      </p:sp>
    </p:spTree>
    <p:extLst>
      <p:ext uri="{BB962C8B-B14F-4D97-AF65-F5344CB8AC3E}">
        <p14:creationId xmlns:p14="http://schemas.microsoft.com/office/powerpoint/2010/main" val="730321764"/>
      </p:ext>
    </p:extLst>
  </p:cSld>
  <p:clrMapOvr>
    <a:masterClrMapping/>
  </p:clrMapOvr>
  <p:timing>
    <p:tnLst>
      <p:par>
        <p:cTn id="1" dur="indefinite" restart="never" nodeType="tmRoot"/>
      </p:par>
    </p:tnLst>
  </p:timing>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2934072"/>
            <a:ext cx="8229600" cy="1143000"/>
          </a:xfrm>
        </p:spPr>
        <p:txBody>
          <a:bodyPr>
            <a:noAutofit/>
          </a:bodyPr>
          <a:lstStyle/>
          <a:p>
            <a:r>
              <a:rPr lang="fr-FR" dirty="0">
                <a:effectLst>
                  <a:outerShdw blurRad="38100" dist="38100" dir="2700000" algn="tl">
                    <a:srgbClr val="000000">
                      <a:alpha val="43137"/>
                    </a:srgbClr>
                  </a:outerShdw>
                </a:effectLst>
                <a:latin typeface="Maiandra GD" pitchFamily="34" charset="0"/>
              </a:rPr>
              <a:t>Appliquer un style : sélectionner une balise</a:t>
            </a:r>
          </a:p>
        </p:txBody>
      </p:sp>
    </p:spTree>
    <p:extLst>
      <p:ext uri="{BB962C8B-B14F-4D97-AF65-F5344CB8AC3E}">
        <p14:creationId xmlns:p14="http://schemas.microsoft.com/office/powerpoint/2010/main" val="20293883"/>
      </p:ext>
    </p:extLst>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332656"/>
            <a:ext cx="8568952" cy="6120680"/>
          </a:xfrm>
        </p:spPr>
        <p:txBody>
          <a:bodyPr>
            <a:normAutofit/>
          </a:bodyPr>
          <a:lstStyle/>
          <a:p>
            <a:pPr marL="0" indent="0" algn="just">
              <a:buNone/>
            </a:pPr>
            <a:r>
              <a:rPr lang="fr-FR" sz="3600" dirty="0">
                <a:latin typeface="Maiandra GD" pitchFamily="34" charset="0"/>
              </a:rPr>
              <a:t>Maintenant que nous savons où placer le code CSS, intéressons-nous de plus près à </a:t>
            </a:r>
            <a:r>
              <a:rPr lang="fr-FR" sz="3600" dirty="0" smtClean="0">
                <a:latin typeface="Maiandra GD" pitchFamily="34" charset="0"/>
              </a:rPr>
              <a:t>ce code</a:t>
            </a:r>
            <a:r>
              <a:rPr lang="fr-FR" sz="3600" dirty="0">
                <a:latin typeface="Maiandra GD" pitchFamily="34" charset="0"/>
              </a:rPr>
              <a:t>. Je vous ai </a:t>
            </a:r>
            <a:r>
              <a:rPr lang="fr-FR" sz="3600" dirty="0" smtClean="0">
                <a:latin typeface="Maiandra GD" pitchFamily="34" charset="0"/>
              </a:rPr>
              <a:t>donné, sans </a:t>
            </a:r>
            <a:r>
              <a:rPr lang="fr-FR" sz="3600" dirty="0">
                <a:latin typeface="Maiandra GD" pitchFamily="34" charset="0"/>
              </a:rPr>
              <a:t>vous l'expliquer, </a:t>
            </a:r>
            <a:r>
              <a:rPr lang="fr-FR" sz="3600" dirty="0" smtClean="0">
                <a:latin typeface="Maiandra GD" pitchFamily="34" charset="0"/>
              </a:rPr>
              <a:t>un premier bout </a:t>
            </a:r>
            <a:r>
              <a:rPr lang="fr-FR" sz="3600" dirty="0">
                <a:latin typeface="Maiandra GD" pitchFamily="34" charset="0"/>
              </a:rPr>
              <a:t>de code CSS </a:t>
            </a:r>
            <a:r>
              <a:rPr lang="fr-FR" sz="3600" dirty="0" smtClean="0">
                <a:latin typeface="Maiandra GD" pitchFamily="34" charset="0"/>
              </a:rPr>
              <a:t>:</a:t>
            </a:r>
          </a:p>
        </p:txBody>
      </p:sp>
      <p:sp>
        <p:nvSpPr>
          <p:cNvPr id="4" name="Rectangle 3"/>
          <p:cNvSpPr/>
          <p:nvPr/>
        </p:nvSpPr>
        <p:spPr>
          <a:xfrm>
            <a:off x="755576" y="2996952"/>
            <a:ext cx="4572000" cy="2308324"/>
          </a:xfrm>
          <a:prstGeom prst="rect">
            <a:avLst/>
          </a:prstGeom>
        </p:spPr>
        <p:txBody>
          <a:bodyPr>
            <a:spAutoFit/>
          </a:bodyPr>
          <a:lstStyle/>
          <a:p>
            <a:pPr algn="just"/>
            <a:endParaRPr lang="fr-FR" sz="1600" dirty="0">
              <a:latin typeface="Maiandra GD" pitchFamily="34" charset="0"/>
            </a:endParaRPr>
          </a:p>
          <a:p>
            <a:r>
              <a:rPr lang="fr-FR" sz="3200" dirty="0">
                <a:latin typeface="Maiandra GD" pitchFamily="34" charset="0"/>
              </a:rPr>
              <a:t>1   p</a:t>
            </a:r>
          </a:p>
          <a:p>
            <a:r>
              <a:rPr lang="fr-FR" sz="3200" dirty="0">
                <a:latin typeface="Maiandra GD" pitchFamily="34" charset="0"/>
              </a:rPr>
              <a:t>2  {</a:t>
            </a:r>
          </a:p>
          <a:p>
            <a:r>
              <a:rPr lang="fr-FR" sz="3200" dirty="0">
                <a:latin typeface="Maiandra GD" pitchFamily="34" charset="0"/>
              </a:rPr>
              <a:t>3           </a:t>
            </a:r>
            <a:r>
              <a:rPr lang="fr-FR" sz="3200" dirty="0" smtClean="0">
                <a:solidFill>
                  <a:srgbClr val="00B0F0"/>
                </a:solidFill>
                <a:latin typeface="Maiandra GD" pitchFamily="34" charset="0"/>
              </a:rPr>
              <a:t>color</a:t>
            </a:r>
            <a:r>
              <a:rPr lang="fr-FR" sz="3200" dirty="0" smtClean="0">
                <a:latin typeface="Maiandra GD" pitchFamily="34" charset="0"/>
              </a:rPr>
              <a:t> </a:t>
            </a:r>
            <a:r>
              <a:rPr lang="fr-FR" sz="3200" dirty="0">
                <a:latin typeface="Maiandra GD" pitchFamily="34" charset="0"/>
              </a:rPr>
              <a:t>: blue ;</a:t>
            </a:r>
          </a:p>
          <a:p>
            <a:r>
              <a:rPr lang="fr-FR" sz="3200" dirty="0">
                <a:latin typeface="Maiandra GD" pitchFamily="34" charset="0"/>
              </a:rPr>
              <a:t>4  }</a:t>
            </a:r>
          </a:p>
        </p:txBody>
      </p:sp>
      <p:cxnSp>
        <p:nvCxnSpPr>
          <p:cNvPr id="5" name="Connecteur droit 4"/>
          <p:cNvCxnSpPr/>
          <p:nvPr/>
        </p:nvCxnSpPr>
        <p:spPr>
          <a:xfrm>
            <a:off x="1187624" y="3212976"/>
            <a:ext cx="0" cy="2736304"/>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134434598"/>
      </p:ext>
    </p:extLst>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260648"/>
            <a:ext cx="8640960" cy="6192688"/>
          </a:xfrm>
        </p:spPr>
        <p:txBody>
          <a:bodyPr>
            <a:normAutofit/>
          </a:bodyPr>
          <a:lstStyle/>
          <a:p>
            <a:pPr marL="0" indent="0" algn="just">
              <a:buNone/>
            </a:pPr>
            <a:r>
              <a:rPr lang="fr-FR" sz="3600" dirty="0">
                <a:latin typeface="Maiandra GD" pitchFamily="34" charset="0"/>
              </a:rPr>
              <a:t>Dans un code CSS comme celui-ci, on trouve trois éléments </a:t>
            </a:r>
            <a:r>
              <a:rPr lang="fr-FR" sz="3600" dirty="0" smtClean="0">
                <a:latin typeface="Maiandra GD" pitchFamily="34" charset="0"/>
              </a:rPr>
              <a:t>différents :</a:t>
            </a:r>
          </a:p>
          <a:p>
            <a:pPr marL="0" indent="0" algn="just">
              <a:buNone/>
            </a:pPr>
            <a:endParaRPr lang="fr-FR" sz="2400" dirty="0" smtClean="0">
              <a:latin typeface="Maiandra GD" pitchFamily="34" charset="0"/>
            </a:endParaRPr>
          </a:p>
          <a:p>
            <a:pPr algn="just">
              <a:buFontTx/>
              <a:buChar char="-"/>
            </a:pPr>
            <a:r>
              <a:rPr lang="fr-FR" sz="3600" b="1" dirty="0" smtClean="0">
                <a:effectLst>
                  <a:outerShdw blurRad="38100" dist="38100" dir="2700000" algn="tl">
                    <a:srgbClr val="000000">
                      <a:alpha val="43137"/>
                    </a:srgbClr>
                  </a:outerShdw>
                </a:effectLst>
                <a:latin typeface="Maiandra GD" pitchFamily="34" charset="0"/>
              </a:rPr>
              <a:t>Des </a:t>
            </a:r>
            <a:r>
              <a:rPr lang="fr-FR" sz="3600" b="1" dirty="0">
                <a:effectLst>
                  <a:outerShdw blurRad="38100" dist="38100" dir="2700000" algn="tl">
                    <a:srgbClr val="000000">
                      <a:alpha val="43137"/>
                    </a:srgbClr>
                  </a:outerShdw>
                </a:effectLst>
                <a:latin typeface="Maiandra GD" pitchFamily="34" charset="0"/>
              </a:rPr>
              <a:t>noms de balises </a:t>
            </a:r>
            <a:r>
              <a:rPr lang="fr-FR" sz="3600" dirty="0">
                <a:latin typeface="Maiandra GD" pitchFamily="34" charset="0"/>
              </a:rPr>
              <a:t>: </a:t>
            </a:r>
            <a:r>
              <a:rPr lang="fr-FR" sz="3600" dirty="0" smtClean="0">
                <a:latin typeface="Maiandra GD" pitchFamily="34" charset="0"/>
              </a:rPr>
              <a:t>on </a:t>
            </a:r>
            <a:r>
              <a:rPr lang="fr-FR" sz="3600" dirty="0">
                <a:latin typeface="Maiandra GD" pitchFamily="34" charset="0"/>
              </a:rPr>
              <a:t>écrit les noms des balises dont on veut </a:t>
            </a:r>
            <a:r>
              <a:rPr lang="fr-FR" sz="3600" dirty="0" smtClean="0">
                <a:latin typeface="Maiandra GD" pitchFamily="34" charset="0"/>
              </a:rPr>
              <a:t>modifier l'apparence. Par exemple</a:t>
            </a:r>
            <a:r>
              <a:rPr lang="fr-FR" sz="3600" dirty="0">
                <a:latin typeface="Maiandra GD" pitchFamily="34" charset="0"/>
              </a:rPr>
              <a:t>, si je veux </a:t>
            </a:r>
            <a:r>
              <a:rPr lang="fr-FR" sz="3600" dirty="0" smtClean="0">
                <a:latin typeface="Maiandra GD" pitchFamily="34" charset="0"/>
              </a:rPr>
              <a:t>modifier </a:t>
            </a:r>
            <a:r>
              <a:rPr lang="fr-FR" sz="3600" dirty="0">
                <a:latin typeface="Maiandra GD" pitchFamily="34" charset="0"/>
              </a:rPr>
              <a:t>l'apparence de tous les paragraphes &lt;p&gt;, </a:t>
            </a:r>
            <a:r>
              <a:rPr lang="fr-FR" sz="3600" dirty="0" smtClean="0">
                <a:latin typeface="Maiandra GD" pitchFamily="34" charset="0"/>
              </a:rPr>
              <a:t>je dois </a:t>
            </a:r>
            <a:r>
              <a:rPr lang="fr-FR" sz="3600" dirty="0">
                <a:latin typeface="Maiandra GD" pitchFamily="34" charset="0"/>
              </a:rPr>
              <a:t>écrire p.</a:t>
            </a:r>
          </a:p>
        </p:txBody>
      </p:sp>
    </p:spTree>
    <p:extLst>
      <p:ext uri="{BB962C8B-B14F-4D97-AF65-F5344CB8AC3E}">
        <p14:creationId xmlns:p14="http://schemas.microsoft.com/office/powerpoint/2010/main" val="1454622725"/>
      </p:ext>
    </p:extLst>
  </p:cSld>
  <p:clrMapOvr>
    <a:masterClrMapping/>
  </p:clrMapOvr>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179512" y="332656"/>
            <a:ext cx="8712968" cy="6120680"/>
          </a:xfrm>
        </p:spPr>
        <p:txBody>
          <a:bodyPr>
            <a:normAutofit/>
          </a:bodyPr>
          <a:lstStyle/>
          <a:p>
            <a:pPr algn="just">
              <a:buFontTx/>
              <a:buChar char="-"/>
            </a:pPr>
            <a:r>
              <a:rPr lang="fr-FR" sz="3600" b="1" dirty="0" smtClean="0">
                <a:effectLst>
                  <a:outerShdw blurRad="38100" dist="38100" dir="2700000" algn="tl">
                    <a:srgbClr val="000000">
                      <a:alpha val="43137"/>
                    </a:srgbClr>
                  </a:outerShdw>
                </a:effectLst>
                <a:latin typeface="Maiandra GD" pitchFamily="34" charset="0"/>
              </a:rPr>
              <a:t>Des </a:t>
            </a:r>
            <a:r>
              <a:rPr lang="fr-FR" sz="3600" b="1" dirty="0">
                <a:effectLst>
                  <a:outerShdw blurRad="38100" dist="38100" dir="2700000" algn="tl">
                    <a:srgbClr val="000000">
                      <a:alpha val="43137"/>
                    </a:srgbClr>
                  </a:outerShdw>
                </a:effectLst>
                <a:latin typeface="Maiandra GD" pitchFamily="34" charset="0"/>
              </a:rPr>
              <a:t>propriétés CSS :</a:t>
            </a:r>
            <a:r>
              <a:rPr lang="fr-FR" sz="3600" dirty="0">
                <a:latin typeface="Maiandra GD" pitchFamily="34" charset="0"/>
              </a:rPr>
              <a:t> les  </a:t>
            </a:r>
            <a:r>
              <a:rPr lang="fr-FR" sz="3600" dirty="0" smtClean="0">
                <a:latin typeface="Maiandra GD" pitchFamily="34" charset="0"/>
              </a:rPr>
              <a:t>effets </a:t>
            </a:r>
            <a:r>
              <a:rPr lang="fr-FR" sz="3600" dirty="0">
                <a:latin typeface="Maiandra GD" pitchFamily="34" charset="0"/>
              </a:rPr>
              <a:t>de style  de la page sont rangés dans des </a:t>
            </a:r>
            <a:r>
              <a:rPr lang="fr-FR" sz="3600" dirty="0" smtClean="0">
                <a:latin typeface="Maiandra GD" pitchFamily="34" charset="0"/>
              </a:rPr>
              <a:t>propriétés. </a:t>
            </a:r>
            <a:r>
              <a:rPr lang="fr-FR" sz="3600" dirty="0">
                <a:latin typeface="Maiandra GD" pitchFamily="34" charset="0"/>
              </a:rPr>
              <a:t>Il y a par exemple la propriété color qui </a:t>
            </a:r>
            <a:r>
              <a:rPr lang="fr-FR" sz="3600" dirty="0" smtClean="0">
                <a:latin typeface="Maiandra GD" pitchFamily="34" charset="0"/>
              </a:rPr>
              <a:t>permet d'indiquer </a:t>
            </a:r>
            <a:r>
              <a:rPr lang="fr-FR" sz="3600" dirty="0">
                <a:latin typeface="Maiandra GD" pitchFamily="34" charset="0"/>
              </a:rPr>
              <a:t>la couleur </a:t>
            </a:r>
            <a:r>
              <a:rPr lang="fr-FR" sz="3600" dirty="0" smtClean="0">
                <a:latin typeface="Maiandra GD" pitchFamily="34" charset="0"/>
              </a:rPr>
              <a:t>du texte</a:t>
            </a:r>
            <a:r>
              <a:rPr lang="fr-FR" sz="3600" dirty="0">
                <a:latin typeface="Maiandra GD" pitchFamily="34" charset="0"/>
              </a:rPr>
              <a:t>, font-size qui </a:t>
            </a:r>
            <a:r>
              <a:rPr lang="fr-FR" sz="3600" dirty="0" smtClean="0">
                <a:latin typeface="Maiandra GD" pitchFamily="34" charset="0"/>
              </a:rPr>
              <a:t>permet d'indiquer </a:t>
            </a:r>
            <a:r>
              <a:rPr lang="fr-FR" sz="3600" dirty="0">
                <a:latin typeface="Maiandra GD" pitchFamily="34" charset="0"/>
              </a:rPr>
              <a:t>la taille du texte, etc. Il y a beaucoup </a:t>
            </a:r>
            <a:r>
              <a:rPr lang="fr-FR" sz="3600" dirty="0" smtClean="0">
                <a:latin typeface="Maiandra GD" pitchFamily="34" charset="0"/>
              </a:rPr>
              <a:t>de propriétés </a:t>
            </a:r>
            <a:r>
              <a:rPr lang="fr-FR" sz="3600" dirty="0">
                <a:latin typeface="Maiandra GD" pitchFamily="34" charset="0"/>
              </a:rPr>
              <a:t>CSS et, comme je vous l'ai dit, je ne vous obligerai pas à les </a:t>
            </a:r>
            <a:r>
              <a:rPr lang="fr-FR" sz="3600" dirty="0" smtClean="0">
                <a:latin typeface="Maiandra GD" pitchFamily="34" charset="0"/>
              </a:rPr>
              <a:t>connaître toutes </a:t>
            </a:r>
            <a:r>
              <a:rPr lang="fr-FR" sz="3600" dirty="0">
                <a:latin typeface="Maiandra GD" pitchFamily="34" charset="0"/>
              </a:rPr>
              <a:t>par </a:t>
            </a:r>
            <a:r>
              <a:rPr lang="fr-FR" sz="3600" dirty="0" smtClean="0">
                <a:latin typeface="Maiandra GD" pitchFamily="34" charset="0"/>
              </a:rPr>
              <a:t>cœur.</a:t>
            </a:r>
            <a:endParaRPr lang="fr-FR" sz="3600" dirty="0">
              <a:latin typeface="Maiandra GD" pitchFamily="34" charset="0"/>
            </a:endParaRPr>
          </a:p>
        </p:txBody>
      </p:sp>
    </p:spTree>
    <p:extLst>
      <p:ext uri="{BB962C8B-B14F-4D97-AF65-F5344CB8AC3E}">
        <p14:creationId xmlns:p14="http://schemas.microsoft.com/office/powerpoint/2010/main" val="3790886498"/>
      </p:ext>
    </p:extLst>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67544" y="332656"/>
            <a:ext cx="8229600" cy="5721499"/>
          </a:xfrm>
        </p:spPr>
        <p:txBody>
          <a:bodyPr>
            <a:normAutofit/>
          </a:bodyPr>
          <a:lstStyle/>
          <a:p>
            <a:pPr algn="just">
              <a:buFontTx/>
              <a:buChar char="-"/>
            </a:pPr>
            <a:r>
              <a:rPr lang="fr-FR" sz="3600" b="1" dirty="0" smtClean="0">
                <a:effectLst>
                  <a:outerShdw blurRad="38100" dist="38100" dir="2700000" algn="tl">
                    <a:srgbClr val="000000">
                      <a:alpha val="43137"/>
                    </a:srgbClr>
                  </a:outerShdw>
                </a:effectLst>
                <a:latin typeface="Maiandra GD" pitchFamily="34" charset="0"/>
              </a:rPr>
              <a:t>Les </a:t>
            </a:r>
            <a:r>
              <a:rPr lang="fr-FR" sz="3600" b="1" dirty="0">
                <a:effectLst>
                  <a:outerShdw blurRad="38100" dist="38100" dir="2700000" algn="tl">
                    <a:srgbClr val="000000">
                      <a:alpha val="43137"/>
                    </a:srgbClr>
                  </a:outerShdw>
                </a:effectLst>
                <a:latin typeface="Maiandra GD" pitchFamily="34" charset="0"/>
              </a:rPr>
              <a:t>valeurs : </a:t>
            </a:r>
            <a:r>
              <a:rPr lang="fr-FR" sz="3600" dirty="0">
                <a:latin typeface="Maiandra GD" pitchFamily="34" charset="0"/>
              </a:rPr>
              <a:t>pour chaque propriété CSS, on doit indiquer une valeur. </a:t>
            </a:r>
            <a:r>
              <a:rPr lang="fr-FR" sz="3600" dirty="0" smtClean="0">
                <a:latin typeface="Maiandra GD" pitchFamily="34" charset="0"/>
              </a:rPr>
              <a:t>Par exemple, pour </a:t>
            </a:r>
            <a:r>
              <a:rPr lang="fr-FR" sz="3600" dirty="0">
                <a:latin typeface="Maiandra GD" pitchFamily="34" charset="0"/>
              </a:rPr>
              <a:t>la propriété color, il faut indiquer le nom de la couleur. Pour font-size, </a:t>
            </a:r>
            <a:r>
              <a:rPr lang="fr-FR" sz="3600" dirty="0" smtClean="0">
                <a:latin typeface="Maiandra GD" pitchFamily="34" charset="0"/>
              </a:rPr>
              <a:t>il faut </a:t>
            </a:r>
            <a:r>
              <a:rPr lang="fr-FR" sz="3600" dirty="0">
                <a:latin typeface="Maiandra GD" pitchFamily="34" charset="0"/>
              </a:rPr>
              <a:t>indiquer quelle taille on veut, etc.</a:t>
            </a:r>
          </a:p>
        </p:txBody>
      </p:sp>
    </p:spTree>
    <p:extLst>
      <p:ext uri="{BB962C8B-B14F-4D97-AF65-F5344CB8AC3E}">
        <p14:creationId xmlns:p14="http://schemas.microsoft.com/office/powerpoint/2010/main" val="2254786815"/>
      </p:ext>
    </p:extLst>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251520" y="332656"/>
            <a:ext cx="8640960" cy="6120680"/>
          </a:xfrm>
        </p:spPr>
        <p:txBody>
          <a:bodyPr>
            <a:normAutofit/>
          </a:bodyPr>
          <a:lstStyle/>
          <a:p>
            <a:pPr marL="0" indent="0" algn="just">
              <a:buNone/>
            </a:pPr>
            <a:r>
              <a:rPr lang="fr-FR" sz="3600" dirty="0">
                <a:latin typeface="Maiandra GD" pitchFamily="34" charset="0"/>
              </a:rPr>
              <a:t>Schématiquement, une feuille de style CSS ressemble donc à cela </a:t>
            </a:r>
            <a:r>
              <a:rPr lang="fr-FR" sz="3600" dirty="0" smtClean="0">
                <a:latin typeface="Maiandra GD" pitchFamily="34" charset="0"/>
              </a:rPr>
              <a:t>:</a:t>
            </a:r>
          </a:p>
          <a:p>
            <a:pPr marL="0" indent="0" algn="just">
              <a:buNone/>
            </a:pPr>
            <a:endParaRPr lang="fr-FR" sz="3600" dirty="0" smtClean="0">
              <a:latin typeface="Maiandra GD" pitchFamily="34" charset="0"/>
            </a:endParaRPr>
          </a:p>
          <a:p>
            <a:pPr marL="0" indent="0">
              <a:buNone/>
            </a:pPr>
            <a:r>
              <a:rPr lang="fr-FR" sz="3600" dirty="0" smtClean="0">
                <a:latin typeface="Maiandra GD" pitchFamily="34" charset="0"/>
              </a:rPr>
              <a:t>1    </a:t>
            </a:r>
            <a:r>
              <a:rPr lang="fr-FR" sz="3600" dirty="0">
                <a:latin typeface="Maiandra GD" pitchFamily="34" charset="0"/>
              </a:rPr>
              <a:t>balise1</a:t>
            </a:r>
          </a:p>
          <a:p>
            <a:pPr marL="0" indent="0">
              <a:buNone/>
            </a:pPr>
            <a:r>
              <a:rPr lang="fr-FR" sz="3600" dirty="0">
                <a:latin typeface="Maiandra GD" pitchFamily="34" charset="0"/>
              </a:rPr>
              <a:t>2 </a:t>
            </a:r>
            <a:r>
              <a:rPr lang="fr-FR" sz="3600" dirty="0" smtClean="0">
                <a:latin typeface="Maiandra GD" pitchFamily="34" charset="0"/>
              </a:rPr>
              <a:t>  {</a:t>
            </a:r>
            <a:endParaRPr lang="fr-FR" sz="3600" dirty="0">
              <a:latin typeface="Maiandra GD" pitchFamily="34" charset="0"/>
            </a:endParaRPr>
          </a:p>
          <a:p>
            <a:pPr marL="0" indent="0">
              <a:buNone/>
            </a:pPr>
            <a:r>
              <a:rPr lang="fr-FR" sz="3600" dirty="0">
                <a:latin typeface="Maiandra GD" pitchFamily="34" charset="0"/>
              </a:rPr>
              <a:t>3 </a:t>
            </a:r>
            <a:r>
              <a:rPr lang="fr-FR" sz="3600" dirty="0" smtClean="0">
                <a:latin typeface="Maiandra GD" pitchFamily="34" charset="0"/>
              </a:rPr>
              <a:t>          propriete1 </a:t>
            </a:r>
            <a:r>
              <a:rPr lang="fr-FR" sz="3600" dirty="0">
                <a:latin typeface="Maiandra GD" pitchFamily="34" charset="0"/>
              </a:rPr>
              <a:t>: valeur1 ;</a:t>
            </a:r>
          </a:p>
          <a:p>
            <a:pPr marL="0" indent="0">
              <a:buNone/>
            </a:pPr>
            <a:r>
              <a:rPr lang="fr-FR" sz="3600" dirty="0">
                <a:latin typeface="Maiandra GD" pitchFamily="34" charset="0"/>
              </a:rPr>
              <a:t>4 </a:t>
            </a:r>
            <a:r>
              <a:rPr lang="fr-FR" sz="3600" dirty="0" smtClean="0">
                <a:latin typeface="Maiandra GD" pitchFamily="34" charset="0"/>
              </a:rPr>
              <a:t>          propriete2 </a:t>
            </a:r>
            <a:r>
              <a:rPr lang="fr-FR" sz="3600" dirty="0">
                <a:latin typeface="Maiandra GD" pitchFamily="34" charset="0"/>
              </a:rPr>
              <a:t>: valeur2 ;</a:t>
            </a:r>
          </a:p>
        </p:txBody>
      </p:sp>
      <p:cxnSp>
        <p:nvCxnSpPr>
          <p:cNvPr id="4" name="Connecteur droit 3"/>
          <p:cNvCxnSpPr/>
          <p:nvPr/>
        </p:nvCxnSpPr>
        <p:spPr>
          <a:xfrm>
            <a:off x="755576" y="2132856"/>
            <a:ext cx="0" cy="2736304"/>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966625805"/>
      </p:ext>
    </p:extLst>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016" y="116632"/>
            <a:ext cx="8820472" cy="6669359"/>
          </a:xfrm>
          <a:prstGeom prst="rect">
            <a:avLst/>
          </a:prstGeom>
        </p:spPr>
      </p:pic>
    </p:spTree>
    <p:extLst>
      <p:ext uri="{BB962C8B-B14F-4D97-AF65-F5344CB8AC3E}">
        <p14:creationId xmlns:p14="http://schemas.microsoft.com/office/powerpoint/2010/main" val="4204210992"/>
      </p:ext>
    </p:extLst>
  </p:cSld>
  <p:clrMapOvr>
    <a:masterClrMapping/>
  </p:clrMapOvr>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72008" y="188640"/>
            <a:ext cx="8964488" cy="6408712"/>
          </a:xfrm>
        </p:spPr>
        <p:txBody>
          <a:bodyPr>
            <a:normAutofit fontScale="92500" lnSpcReduction="10000"/>
          </a:bodyPr>
          <a:lstStyle/>
          <a:p>
            <a:pPr marL="0" indent="0" algn="just">
              <a:buNone/>
            </a:pPr>
            <a:r>
              <a:rPr lang="fr-FR" sz="3600" dirty="0">
                <a:latin typeface="Maiandra GD" pitchFamily="34" charset="0"/>
              </a:rPr>
              <a:t>Vous repérez dans cet extrait de code les balises, propriétés et valeurs dont je viens </a:t>
            </a:r>
            <a:r>
              <a:rPr lang="fr-FR" sz="3600" dirty="0" smtClean="0">
                <a:latin typeface="Maiandra GD" pitchFamily="34" charset="0"/>
              </a:rPr>
              <a:t>de vous </a:t>
            </a:r>
            <a:r>
              <a:rPr lang="fr-FR" sz="3600" dirty="0">
                <a:latin typeface="Maiandra GD" pitchFamily="34" charset="0"/>
              </a:rPr>
              <a:t>parler</a:t>
            </a:r>
            <a:r>
              <a:rPr lang="fr-FR" sz="3600" dirty="0" smtClean="0">
                <a:latin typeface="Maiandra GD" pitchFamily="34" charset="0"/>
              </a:rPr>
              <a:t>.</a:t>
            </a:r>
          </a:p>
          <a:p>
            <a:pPr marL="0" indent="0" algn="just">
              <a:buNone/>
            </a:pPr>
            <a:r>
              <a:rPr lang="fr-FR" sz="3600" dirty="0">
                <a:latin typeface="Maiandra GD" pitchFamily="34" charset="0"/>
              </a:rPr>
              <a:t>Comme vous le voyez, on écrit le nom de la balise (par exemple h1) et on ouvre des</a:t>
            </a:r>
          </a:p>
          <a:p>
            <a:pPr marL="0" indent="0" algn="just">
              <a:buNone/>
            </a:pPr>
            <a:r>
              <a:rPr lang="fr-FR" sz="3600" dirty="0">
                <a:latin typeface="Maiandra GD" pitchFamily="34" charset="0"/>
              </a:rPr>
              <a:t>accolades pour, à l'intérieur, mettre les propriétés et valeurs que l'on souhaite. </a:t>
            </a:r>
            <a:endParaRPr lang="fr-FR" sz="3600" dirty="0" smtClean="0">
              <a:latin typeface="Maiandra GD" pitchFamily="34" charset="0"/>
            </a:endParaRPr>
          </a:p>
          <a:p>
            <a:pPr marL="0" indent="0" algn="just">
              <a:buNone/>
            </a:pPr>
            <a:r>
              <a:rPr lang="fr-FR" sz="3600" dirty="0" smtClean="0">
                <a:latin typeface="Maiandra GD" pitchFamily="34" charset="0"/>
              </a:rPr>
              <a:t>On peut mettre </a:t>
            </a:r>
            <a:r>
              <a:rPr lang="fr-FR" sz="3600" dirty="0">
                <a:latin typeface="Maiandra GD" pitchFamily="34" charset="0"/>
              </a:rPr>
              <a:t>autant de propriétés que l'on veut à l'intérieur des accolades. Chaque </a:t>
            </a:r>
            <a:r>
              <a:rPr lang="fr-FR" sz="3600" dirty="0" smtClean="0">
                <a:latin typeface="Maiandra GD" pitchFamily="34" charset="0"/>
              </a:rPr>
              <a:t>propriété est </a:t>
            </a:r>
            <a:r>
              <a:rPr lang="fr-FR" sz="3600" dirty="0">
                <a:latin typeface="Maiandra GD" pitchFamily="34" charset="0"/>
              </a:rPr>
              <a:t>suivie du symbole  deux-points </a:t>
            </a:r>
            <a:r>
              <a:rPr lang="fr-FR" sz="3600" dirty="0" smtClean="0">
                <a:latin typeface="Maiandra GD" pitchFamily="34" charset="0"/>
              </a:rPr>
              <a:t>    ( </a:t>
            </a:r>
            <a:r>
              <a:rPr lang="fr-FR" sz="3600" dirty="0">
                <a:latin typeface="Maiandra GD" pitchFamily="34" charset="0"/>
              </a:rPr>
              <a:t>: ) puis de la valeur correspondante. </a:t>
            </a:r>
            <a:endParaRPr lang="fr-FR" sz="3600" dirty="0" smtClean="0">
              <a:latin typeface="Maiandra GD" pitchFamily="34" charset="0"/>
            </a:endParaRPr>
          </a:p>
          <a:p>
            <a:pPr marL="0" indent="0" algn="just">
              <a:buNone/>
            </a:pPr>
            <a:r>
              <a:rPr lang="fr-FR" sz="3600" dirty="0" smtClean="0">
                <a:latin typeface="Maiandra GD" pitchFamily="34" charset="0"/>
              </a:rPr>
              <a:t>Enfin, chaque </a:t>
            </a:r>
            <a:r>
              <a:rPr lang="fr-FR" sz="3600" dirty="0">
                <a:latin typeface="Maiandra GD" pitchFamily="34" charset="0"/>
              </a:rPr>
              <a:t>ligne se termine par un point-virgule ( ; ).</a:t>
            </a:r>
            <a:endParaRPr lang="fr-FR" sz="3600" dirty="0">
              <a:latin typeface="Maiandra GD" pitchFamily="34" charset="0"/>
            </a:endParaRPr>
          </a:p>
        </p:txBody>
      </p:sp>
    </p:spTree>
    <p:extLst>
      <p:ext uri="{BB962C8B-B14F-4D97-AF65-F5344CB8AC3E}">
        <p14:creationId xmlns:p14="http://schemas.microsoft.com/office/powerpoint/2010/main" val="4205238560"/>
      </p:ext>
    </p:extLst>
  </p:cSld>
  <p:clrMapOvr>
    <a:masterClrMapping/>
  </p:clrMapOvr>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57200" y="332656"/>
            <a:ext cx="8229600" cy="6192688"/>
          </a:xfrm>
        </p:spPr>
        <p:txBody>
          <a:bodyPr/>
          <a:lstStyle/>
          <a:p>
            <a:endParaRPr lang="fr-FR" dirty="0"/>
          </a:p>
        </p:txBody>
      </p:sp>
    </p:spTree>
    <p:extLst>
      <p:ext uri="{BB962C8B-B14F-4D97-AF65-F5344CB8AC3E}">
        <p14:creationId xmlns:p14="http://schemas.microsoft.com/office/powerpoint/2010/main" val="2768280377"/>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30953</TotalTime>
  <Words>15288</Words>
  <Application>Microsoft Office PowerPoint</Application>
  <PresentationFormat>Affichage à l'écran (4:3)</PresentationFormat>
  <Paragraphs>905</Paragraphs>
  <Slides>339</Slides>
  <Notes>4</Notes>
  <HiddenSlides>0</HiddenSlides>
  <MMClips>0</MMClips>
  <ScaleCrop>false</ScaleCrop>
  <HeadingPairs>
    <vt:vector size="4" baseType="variant">
      <vt:variant>
        <vt:lpstr>Thème</vt:lpstr>
      </vt:variant>
      <vt:variant>
        <vt:i4>1</vt:i4>
      </vt:variant>
      <vt:variant>
        <vt:lpstr>Titres des diapositives</vt:lpstr>
      </vt:variant>
      <vt:variant>
        <vt:i4>339</vt:i4>
      </vt:variant>
    </vt:vector>
  </HeadingPairs>
  <TitlesOfParts>
    <vt:vector size="340" baseType="lpstr">
      <vt:lpstr>Thème Office</vt:lpstr>
      <vt:lpstr>HTML ET CSS</vt:lpstr>
      <vt:lpstr>Introduction</vt:lpstr>
      <vt:lpstr>Présentation PowerPoint</vt:lpstr>
      <vt:lpstr>Présentation PowerPoint</vt:lpstr>
      <vt:lpstr>Présentation PowerPoint</vt:lpstr>
      <vt:lpstr>HTML5 ET CSS3,</vt:lpstr>
      <vt:lpstr>Présentation PowerPoint</vt:lpstr>
      <vt:lpstr>Présentation PowerPoint</vt:lpstr>
      <vt:lpstr>Présentation PowerPoint</vt:lpstr>
      <vt:lpstr>Qu'allez-vous apprendre en suivant cette formation ?</vt:lpstr>
      <vt:lpstr>Présentation PowerPoint</vt:lpstr>
      <vt:lpstr>Présentation PowerPoint</vt:lpstr>
      <vt:lpstr>Présentation PowerPoint</vt:lpstr>
      <vt:lpstr>Présentation PowerPoint</vt:lpstr>
      <vt:lpstr>Présentation PowerPoint</vt:lpstr>
      <vt:lpstr>web</vt:lpstr>
      <vt:lpstr>Le fonctionnement des sites web</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HTML et CSS : deux langages pour créer un site web</vt:lpstr>
      <vt:lpstr>Les rôles de HTML et CSS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Les différentes versions de HTML et CSS</vt:lpstr>
      <vt:lpstr>Les versions de HTML</vt:lpstr>
      <vt:lpstr>Présentation PowerPoint</vt:lpstr>
      <vt:lpstr>Présentation PowerPoint</vt:lpstr>
      <vt:lpstr>Les versions de CSS</vt:lpstr>
      <vt:lpstr>Présentation PowerPoint</vt:lpstr>
      <vt:lpstr>Présentation PowerPoint</vt:lpstr>
      <vt:lpstr>L'éditeur de texte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Sous Windows</vt:lpstr>
      <vt:lpstr>Présentation PowerPoint</vt:lpstr>
      <vt:lpstr>Présentation PowerPoint</vt:lpstr>
      <vt:lpstr>Présentation PowerPoint</vt:lpstr>
      <vt:lpstr>Présentation PowerPoint</vt:lpstr>
      <vt:lpstr>Présentation PowerPoint</vt:lpstr>
      <vt:lpstr>Présentation PowerPoint</vt:lpstr>
      <vt:lpstr>Sous Mac OS X</vt:lpstr>
      <vt:lpstr>Sous Linux</vt:lpstr>
      <vt:lpstr>Les navigateurs</vt:lpstr>
      <vt:lpstr>Pourquoi le navigateur est important</vt:lpstr>
      <vt:lpstr>Présentation PowerPoint</vt:lpstr>
      <vt:lpstr>Présentation PowerPoint</vt:lpstr>
      <vt:lpstr>Les navigateurs sur ordinateur</vt:lpstr>
      <vt:lpstr>Présentation PowerPoint</vt:lpstr>
      <vt:lpstr>Présentation PowerPoint</vt:lpstr>
      <vt:lpstr>Présentation PowerPoint</vt:lpstr>
      <vt:lpstr>Présentation PowerPoint</vt:lpstr>
      <vt:lpstr>Présentation PowerPoint</vt:lpstr>
      <vt:lpstr>Comprendre les différences entre navigateurs</vt:lpstr>
      <vt:lpstr>Présentation PowerPoint</vt:lpstr>
      <vt:lpstr>Présentation PowerPoint</vt:lpstr>
      <vt:lpstr>Présentation PowerPoint</vt:lpstr>
      <vt:lpstr>Présentation PowerPoint</vt:lpstr>
      <vt:lpstr>Présentation PowerPoint</vt:lpstr>
      <vt:lpstr>Présentation PowerPoint</vt:lpstr>
      <vt:lpstr>Les navigateurs sur mobile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En résumé</vt:lpstr>
      <vt:lpstr>Présentation PowerPoint</vt:lpstr>
      <vt:lpstr>Présentation PowerPoint</vt:lpstr>
      <vt:lpstr>Présentation PowerPoint</vt:lpstr>
      <vt:lpstr>Les balises et leurs attributs</vt:lpstr>
      <vt:lpstr>Présentation PowerPoint</vt:lpstr>
      <vt:lpstr>Présentation PowerPoint</vt:lpstr>
      <vt:lpstr>Les balises</vt:lpstr>
      <vt:lpstr>Présentation PowerPoint</vt:lpstr>
      <vt:lpstr>Les balises en paires</vt:lpstr>
      <vt:lpstr>Présentation PowerPoint</vt:lpstr>
      <vt:lpstr>Les balises orphelines</vt:lpstr>
      <vt:lpstr>Présentation PowerPoint</vt:lpstr>
      <vt:lpstr>Les attributs</vt:lpstr>
      <vt:lpstr>Présentation PowerPoint</vt:lpstr>
      <vt:lpstr>Présentation PowerPoint</vt:lpstr>
      <vt:lpstr>Présentation PowerPoint</vt:lpstr>
      <vt:lpstr>Structure de base d'une page HTML5</vt:lpstr>
      <vt:lpstr>Présentation PowerPoint</vt:lpstr>
      <vt:lpstr>Présentation PowerPoint</vt:lpstr>
      <vt:lpstr>Présentation PowerPoint</vt:lpstr>
      <vt:lpstr>Présentation PowerPoint</vt:lpstr>
      <vt:lpstr>Le doctype</vt:lpstr>
      <vt:lpstr>Présentation PowerPoint</vt:lpstr>
      <vt:lpstr>Présentation PowerPoint</vt:lpstr>
      <vt:lpstr>La balise &lt;/html&gt;</vt:lpstr>
      <vt:lpstr>L'en-tête &lt;head&gt; et le corps &lt;body&gt;</vt:lpstr>
      <vt:lpstr>Présentation PowerPoint</vt:lpstr>
      <vt:lpstr>L'encodage (charset)</vt:lpstr>
      <vt:lpstr>Présentation PowerPoint</vt:lpstr>
      <vt:lpstr>Présentation PowerPoint</vt:lpstr>
      <vt:lpstr>Présentation PowerPoint</vt:lpstr>
      <vt:lpstr>Présentation PowerPoint</vt:lpstr>
      <vt:lpstr>Le titre principal de la page</vt:lpstr>
      <vt:lpstr>Présentation PowerPoint</vt:lpstr>
      <vt:lpstr>Présentation PowerPoint</vt:lpstr>
      <vt:lpstr>Présentation PowerPoint</vt:lpstr>
      <vt:lpstr>Les commentaires</vt:lpstr>
      <vt:lpstr>Présentation PowerPoint</vt:lpstr>
      <vt:lpstr>Insérer un commentaire</vt:lpstr>
      <vt:lpstr>Présentation PowerPoint</vt:lpstr>
      <vt:lpstr>Tout le monde peut voir vos commentaires. . . et tout votre code HTML!</vt:lpstr>
      <vt:lpstr>Présentation PowerPoint</vt:lpstr>
      <vt:lpstr>En résumé</vt:lpstr>
      <vt:lpstr>Présentation PowerPoint</vt:lpstr>
      <vt:lpstr>Présentation PowerPoint</vt:lpstr>
      <vt:lpstr>Présentation PowerPoint</vt:lpstr>
      <vt:lpstr>Présentation PowerPoint</vt:lpstr>
      <vt:lpstr>Organiser son texte</vt:lpstr>
      <vt:lpstr>Présentation PowerPoint</vt:lpstr>
      <vt:lpstr>Présentation PowerPoint</vt:lpstr>
      <vt:lpstr>Les paragraphes</vt:lpstr>
      <vt:lpstr>Présentation PowerPoint</vt:lpstr>
      <vt:lpstr>Présentation PowerPoint</vt:lpstr>
      <vt:lpstr>Sauter une ligne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Les titres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Allez, je vous donne un exemple d'utilisation des titres dans une page web (vous allez voir que je ne me sers pas de toutes les balises) :</vt:lpstr>
      <vt:lpstr>Présentation PowerPoint</vt:lpstr>
      <vt:lpstr>Présentation PowerPoint</vt:lpstr>
      <vt:lpstr>Présentation PowerPoint</vt:lpstr>
      <vt:lpstr>Présentation PowerPoint</vt:lpstr>
      <vt:lpstr>La mise en valeur</vt:lpstr>
      <vt:lpstr>Présentation PowerPoint</vt:lpstr>
      <vt:lpstr>Mettre un peu en valeur</vt:lpstr>
      <vt:lpstr>Présentation PowerPoint</vt:lpstr>
      <vt:lpstr>Présentation PowerPoint</vt:lpstr>
      <vt:lpstr>Mettre bien en valeur</vt:lpstr>
      <vt:lpstr>Présentation PowerPoint</vt:lpstr>
      <vt:lpstr>Présentation PowerPoint</vt:lpstr>
      <vt:lpstr>Marquer le texte</vt:lpstr>
      <vt:lpstr>Présentation PowerPoint</vt:lpstr>
      <vt:lpstr>Présentation PowerPoint</vt:lpstr>
      <vt:lpstr>N'oubliez pas : HTML pour le fond, CSS pour la forme</vt:lpstr>
      <vt:lpstr>Présentation PowerPoint</vt:lpstr>
      <vt:lpstr>Présentation PowerPoint</vt:lpstr>
      <vt:lpstr>Mais alors, comment fait-on pour mettre spéciquement en gras, pour écrire en rouge, et tout et tout ?</vt:lpstr>
      <vt:lpstr>Présentation PowerPoint</vt:lpstr>
      <vt:lpstr>Les listes</vt:lpstr>
      <vt:lpstr>Présentation PowerPoint</vt:lpstr>
      <vt:lpstr>Liste non ordonnée</vt:lpstr>
      <vt:lpstr>Présentation PowerPoint</vt:lpstr>
      <vt:lpstr>Présentation PowerPoint</vt:lpstr>
      <vt:lpstr>Présentation PowerPoint</vt:lpstr>
      <vt:lpstr>Présentation PowerPoint</vt:lpstr>
      <vt:lpstr>Liste ordonnée</vt:lpstr>
      <vt:lpstr>Présentation PowerPoint</vt:lpstr>
      <vt:lpstr>Présentation PowerPoint</vt:lpstr>
      <vt:lpstr>Présentation PowerPoint</vt:lpstr>
      <vt:lpstr>En résumé</vt:lpstr>
      <vt:lpstr>Présentation PowerPoint</vt:lpstr>
      <vt:lpstr>Présentation PowerPoint</vt:lpstr>
      <vt:lpstr>Créer des liens</vt:lpstr>
      <vt:lpstr>Présentation PowerPoint</vt:lpstr>
      <vt:lpstr>Présentation PowerPoint</vt:lpstr>
      <vt:lpstr>Un lien vers un autre site</vt:lpstr>
      <vt:lpstr>Présentation PowerPoint</vt:lpstr>
      <vt:lpstr>Présentation PowerPoint</vt:lpstr>
      <vt:lpstr>Présentation PowerPoint</vt:lpstr>
      <vt:lpstr>Présentation PowerPoint</vt:lpstr>
      <vt:lpstr>Un lien vers une autre page de son site</vt:lpstr>
      <vt:lpstr>Deux pages situées dans un même dossier</vt:lpstr>
      <vt:lpstr>Présentation PowerPoint</vt:lpstr>
      <vt:lpstr>Présentation PowerPoint</vt:lpstr>
      <vt:lpstr>Présentation PowerPoint</vt:lpstr>
      <vt:lpstr>Deux pages situées dans des dossiers différents</vt:lpstr>
      <vt:lpstr>Présentation PowerPoint</vt:lpstr>
      <vt:lpstr>Présentation PowerPoint</vt:lpstr>
      <vt:lpstr>Présentation PowerPoint</vt:lpstr>
      <vt:lpstr>Un lien vers une ancre</vt:lpstr>
      <vt:lpstr>Présentation PowerPoint</vt:lpstr>
      <vt:lpstr>Présentation PowerPoint</vt:lpstr>
      <vt:lpstr>Présentation PowerPoint</vt:lpstr>
      <vt:lpstr>Présentation PowerPoint</vt:lpstr>
      <vt:lpstr>Lien vers une ancre située dans une autre page</vt:lpstr>
      <vt:lpstr>Présentation PowerPoint</vt:lpstr>
      <vt:lpstr>Cas pratiques d'utilisation des liens</vt:lpstr>
      <vt:lpstr>Un lien qui affiche une infobulle au survol</vt:lpstr>
      <vt:lpstr>Présentation PowerPoint</vt:lpstr>
      <vt:lpstr>Un lien qui ouvre une nouvelle fenêtre</vt:lpstr>
      <vt:lpstr>Présentation PowerPoint</vt:lpstr>
      <vt:lpstr>Un lien pour envoyer un e-mail</vt:lpstr>
      <vt:lpstr>Présentation PowerPoint</vt:lpstr>
      <vt:lpstr>Un lien pour télécharger un fichier</vt:lpstr>
      <vt:lpstr>Présentation PowerPoint</vt:lpstr>
      <vt:lpstr>En résumé</vt:lpstr>
      <vt:lpstr>Présentation PowerPoint</vt:lpstr>
      <vt:lpstr>Présentation PowerPoint</vt:lpstr>
      <vt:lpstr>Les images</vt:lpstr>
      <vt:lpstr>Présentation PowerPoint</vt:lpstr>
      <vt:lpstr>Les différents formats d'images</vt:lpstr>
      <vt:lpstr>Présentation PowerPoint</vt:lpstr>
      <vt:lpstr>Présentation PowerPoint</vt:lpstr>
      <vt:lpstr>Présentation PowerPoint</vt:lpstr>
      <vt:lpstr>Le JPEG</vt:lpstr>
      <vt:lpstr>Présentation PowerPoint</vt:lpstr>
      <vt:lpstr>Présentation PowerPoint</vt:lpstr>
      <vt:lpstr>Le PNG</vt:lpstr>
      <vt:lpstr>Présentation PowerPoint</vt:lpstr>
      <vt:lpstr>Présentation PowerPoint</vt:lpstr>
      <vt:lpstr>Présentation PowerPoint</vt:lpstr>
      <vt:lpstr>Présentation PowerPoint</vt:lpstr>
      <vt:lpstr>Le GIF</vt:lpstr>
      <vt:lpstr>Il existe un format adapté à chaque image</vt:lpstr>
      <vt:lpstr>Présentation PowerPoint</vt:lpstr>
      <vt:lpstr>Les erreurs à éviter</vt:lpstr>
      <vt:lpstr>Bannissez les autres formats</vt:lpstr>
      <vt:lpstr>Choisissez bien le nom de votre image</vt:lpstr>
      <vt:lpstr>Insérer une image</vt:lpstr>
      <vt:lpstr>Insertion d'une image</vt:lpstr>
      <vt:lpstr>Présentation PowerPoint</vt:lpstr>
      <vt:lpstr>Présentation PowerPoint</vt:lpstr>
      <vt:lpstr>Présentation PowerPoint</vt:lpstr>
      <vt:lpstr>Présentation PowerPoint</vt:lpstr>
      <vt:lpstr>Présentation PowerPoint</vt:lpstr>
      <vt:lpstr>Ajouter une infobulle</vt:lpstr>
      <vt:lpstr>Présentation PowerPoint</vt:lpstr>
      <vt:lpstr>Miniature cliquable</vt:lpstr>
      <vt:lpstr>Présentation PowerPoint</vt:lpstr>
      <vt:lpstr>Présentation PowerPoint</vt:lpstr>
      <vt:lpstr>Présentation PowerPoint</vt:lpstr>
      <vt:lpstr>Présentation PowerPoint</vt:lpstr>
      <vt:lpstr>Les figures</vt:lpstr>
      <vt:lpstr>Présentation PowerPoint</vt:lpstr>
      <vt:lpstr>Présentation PowerPoint</vt:lpstr>
      <vt:lpstr>Création d'une figure</vt:lpstr>
      <vt:lpstr>Présentation PowerPoint</vt:lpstr>
      <vt:lpstr>Présentation PowerPoint</vt:lpstr>
      <vt:lpstr>Présentation PowerPoint</vt:lpstr>
      <vt:lpstr>Bien comprendre le rôle des figures</vt:lpstr>
      <vt:lpstr>Présentation PowerPoint</vt:lpstr>
      <vt:lpstr>Présentation PowerPoint</vt:lpstr>
      <vt:lpstr>Présentation PowerPoint</vt:lpstr>
      <vt:lpstr>Présentation PowerPoint</vt:lpstr>
      <vt:lpstr>Présentation PowerPoint</vt:lpstr>
      <vt:lpstr>Présentation PowerPoint</vt:lpstr>
      <vt:lpstr>En résumé</vt:lpstr>
      <vt:lpstr>Présentation PowerPoint</vt:lpstr>
      <vt:lpstr>Présentation PowerPoint</vt:lpstr>
      <vt:lpstr> Deuxième partie Les joies de la mise en forme avec CSS </vt:lpstr>
      <vt:lpstr>Mettre en place le CSS</vt:lpstr>
      <vt:lpstr>Présentation PowerPoint</vt:lpstr>
      <vt:lpstr>La petite histoire du CSS</vt:lpstr>
      <vt:lpstr>Présentation PowerPoint</vt:lpstr>
      <vt:lpstr>Petit rappel : à quoi sert CSS ?</vt:lpstr>
      <vt:lpstr>Présentation PowerPoint</vt:lpstr>
      <vt:lpstr>Présentation PowerPoint</vt:lpstr>
      <vt:lpstr>Présentation PowerPoint</vt:lpstr>
      <vt:lpstr>CSS : des débuts difficiles</vt:lpstr>
      <vt:lpstr>Présentation PowerPoint</vt:lpstr>
      <vt:lpstr>CSS : la prise en charge des navigateurs</vt:lpstr>
      <vt:lpstr>Présentation PowerPoint</vt:lpstr>
      <vt:lpstr>Présentation PowerPoint</vt:lpstr>
      <vt:lpstr>Présentation PowerPoint</vt:lpstr>
      <vt:lpstr>Que faut-il retenir de tout cela ?</vt:lpstr>
      <vt:lpstr>Présentation PowerPoint</vt:lpstr>
      <vt:lpstr>Présentation PowerPoint</vt:lpstr>
      <vt:lpstr>Présentation PowerPoint</vt:lpstr>
      <vt:lpstr>Où écrit-on le CSS ?</vt:lpstr>
      <vt:lpstr>Présentation PowerPoint</vt:lpstr>
      <vt:lpstr>Dans un fichier .css (recommandé)</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Dans l'en-tête &lt;head&gt; du fichier HTML</vt:lpstr>
      <vt:lpstr>Présentation PowerPoint</vt:lpstr>
      <vt:lpstr>Présentation PowerPoint</vt:lpstr>
      <vt:lpstr>Directement dans les balises  (non recommandé)</vt:lpstr>
      <vt:lpstr>Présentation PowerPoint</vt:lpstr>
      <vt:lpstr>Présentation PowerPoint</vt:lpstr>
      <vt:lpstr>Présentation PowerPoint</vt:lpstr>
      <vt:lpstr>Présentation PowerPoint</vt:lpstr>
      <vt:lpstr>Quelle méthode choisir ?</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Appliquer un style : sélectionner une balise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HTML ET CSS</dc:title>
  <dc:creator>Emilie</dc:creator>
  <cp:lastModifiedBy>Emilie</cp:lastModifiedBy>
  <cp:revision>273</cp:revision>
  <dcterms:created xsi:type="dcterms:W3CDTF">2019-11-12T10:59:32Z</dcterms:created>
  <dcterms:modified xsi:type="dcterms:W3CDTF">2019-12-18T18:01:53Z</dcterms:modified>
</cp:coreProperties>
</file>